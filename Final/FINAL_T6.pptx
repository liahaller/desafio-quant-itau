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  <p:sldMasterId id="2147483746" r:id="rId5"/>
  </p:sldMasterIdLst>
  <p:notesMasterIdLst>
    <p:notesMasterId r:id="rId39"/>
  </p:notesMasterIdLst>
  <p:sldIdLst>
    <p:sldId id="256" r:id="rId6"/>
    <p:sldId id="307" r:id="rId7"/>
    <p:sldId id="282" r:id="rId8"/>
    <p:sldId id="291" r:id="rId9"/>
    <p:sldId id="292" r:id="rId10"/>
    <p:sldId id="258" r:id="rId11"/>
    <p:sldId id="322" r:id="rId12"/>
    <p:sldId id="321" r:id="rId13"/>
    <p:sldId id="274" r:id="rId14"/>
    <p:sldId id="275" r:id="rId15"/>
    <p:sldId id="276" r:id="rId16"/>
    <p:sldId id="261" r:id="rId17"/>
    <p:sldId id="320" r:id="rId18"/>
    <p:sldId id="305" r:id="rId19"/>
    <p:sldId id="285" r:id="rId20"/>
    <p:sldId id="319" r:id="rId21"/>
    <p:sldId id="259" r:id="rId22"/>
    <p:sldId id="260" r:id="rId23"/>
    <p:sldId id="315" r:id="rId24"/>
    <p:sldId id="262" r:id="rId25"/>
    <p:sldId id="263" r:id="rId26"/>
    <p:sldId id="264" r:id="rId27"/>
    <p:sldId id="265" r:id="rId28"/>
    <p:sldId id="316" r:id="rId29"/>
    <p:sldId id="317" r:id="rId30"/>
    <p:sldId id="268" r:id="rId31"/>
    <p:sldId id="269" r:id="rId32"/>
    <p:sldId id="270" r:id="rId33"/>
    <p:sldId id="271" r:id="rId34"/>
    <p:sldId id="272" r:id="rId35"/>
    <p:sldId id="318" r:id="rId36"/>
    <p:sldId id="273" r:id="rId37"/>
    <p:sldId id="267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E2C"/>
    <a:srgbClr val="24374A"/>
    <a:srgbClr val="9BAEC0"/>
    <a:srgbClr val="728293"/>
    <a:srgbClr val="F5A623"/>
    <a:srgbClr val="7F9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6" dt="2026-09-18T22:42:29.070"/>
    <p1510:client id="{1FB6A036-C9A8-0DB6-B8E8-6660BC30423E}" v="4" dt="2026-09-18T22:22:08.099"/>
    <p1510:client id="{9A80E55D-9C1C-4CF9-A5EB-245C9D2F4FDF}" v="1166" dt="2026-09-18T23:15:28.946"/>
    <p1510:client id="{AF76CFF2-0A4C-3A9F-26A7-EB6D269628B2}" v="20" dt="2026-09-18T23:47:30.459"/>
    <p1510:client id="{B9DDB9E6-1D82-E201-33EF-6DB9807279E1}" v="3" dt="2026-09-18T16:12:53.958"/>
    <p1510:client id="{F0E8A655-A536-8E0C-2D44-A05C4498CEB1}" v="299" dt="2026-09-18T00:18:24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6370a6c0-7b90-4709-bd6e-59c28ede833b::" providerId="AD" clId="Web-{4582B94D-1D7B-95AE-6988-A78C495B3FEB}"/>
    <pc:docChg chg="modSld">
      <pc:chgData name="Guest User" userId="S::urn:spo:tenantanon#6370a6c0-7b90-4709-bd6e-59c28ede833b::" providerId="AD" clId="Web-{4582B94D-1D7B-95AE-6988-A78C495B3FEB}" dt="2026-09-16T23:59:56.087" v="16" actId="20577"/>
      <pc:docMkLst>
        <pc:docMk/>
      </pc:docMkLst>
      <pc:sldChg chg="modSp">
        <pc:chgData name="Guest User" userId="S::urn:spo:tenantanon#6370a6c0-7b90-4709-bd6e-59c28ede833b::" providerId="AD" clId="Web-{4582B94D-1D7B-95AE-6988-A78C495B3FEB}" dt="2026-09-16T23:59:56.087" v="16" actId="20577"/>
        <pc:sldMkLst>
          <pc:docMk/>
          <pc:sldMk cId="0" sldId="257"/>
        </pc:sldMkLst>
        <pc:spChg chg="mod">
          <ac:chgData name="Guest User" userId="S::urn:spo:tenantanon#6370a6c0-7b90-4709-bd6e-59c28ede833b::" providerId="AD" clId="Web-{4582B94D-1D7B-95AE-6988-A78C495B3FEB}" dt="2026-09-16T23:59:56.087" v="16" actId="20577"/>
          <ac:spMkLst>
            <pc:docMk/>
            <pc:sldMk cId="0" sldId="257"/>
            <ac:spMk id="5" creationId="{00000000-0000-0000-0000-000000000000}"/>
          </ac:spMkLst>
        </pc:spChg>
      </pc:sldChg>
    </pc:docChg>
  </pc:docChgLst>
  <pc:docChgLst>
    <pc:chgData name="Guest User" userId="S::urn:spo:tenantanon#6370a6c0-7b90-4709-bd6e-59c28ede833b::" providerId="AD" clId="Web-{A561BD78-AC76-5B12-57A4-5A4E2F8CCEB0}"/>
    <pc:docChg chg="addSld modSld sldOrd">
      <pc:chgData name="Guest User" userId="S::urn:spo:tenantanon#6370a6c0-7b90-4709-bd6e-59c28ede833b::" providerId="AD" clId="Web-{A561BD78-AC76-5B12-57A4-5A4E2F8CCEB0}" dt="2026-09-17T00:00:27.896" v="71" actId="20577"/>
      <pc:docMkLst>
        <pc:docMk/>
      </pc:docMkLst>
      <pc:sldChg chg="modSp">
        <pc:chgData name="Guest User" userId="S::urn:spo:tenantanon#6370a6c0-7b90-4709-bd6e-59c28ede833b::" providerId="AD" clId="Web-{A561BD78-AC76-5B12-57A4-5A4E2F8CCEB0}" dt="2026-09-16T23:59:42.238" v="55" actId="20577"/>
        <pc:sldMkLst>
          <pc:docMk/>
          <pc:sldMk cId="0" sldId="257"/>
        </pc:sldMkLst>
        <pc:spChg chg="mod">
          <ac:chgData name="Guest User" userId="S::urn:spo:tenantanon#6370a6c0-7b90-4709-bd6e-59c28ede833b::" providerId="AD" clId="Web-{A561BD78-AC76-5B12-57A4-5A4E2F8CCEB0}" dt="2026-09-16T23:59:42.238" v="55" actId="20577"/>
          <ac:spMkLst>
            <pc:docMk/>
            <pc:sldMk cId="0" sldId="257"/>
            <ac:spMk id="5" creationId="{00000000-0000-0000-0000-000000000000}"/>
          </ac:spMkLst>
        </pc:spChg>
      </pc:sldChg>
      <pc:sldChg chg="addSp modSp new">
        <pc:chgData name="Guest User" userId="S::urn:spo:tenantanon#6370a6c0-7b90-4709-bd6e-59c28ede833b::" providerId="AD" clId="Web-{A561BD78-AC76-5B12-57A4-5A4E2F8CCEB0}" dt="2026-09-17T00:00:27.896" v="71" actId="20577"/>
        <pc:sldMkLst>
          <pc:docMk/>
          <pc:sldMk cId="3769131820" sldId="276"/>
        </pc:sldMkLst>
        <pc:spChg chg="add mod">
          <ac:chgData name="Guest User" userId="S::urn:spo:tenantanon#6370a6c0-7b90-4709-bd6e-59c28ede833b::" providerId="AD" clId="Web-{A561BD78-AC76-5B12-57A4-5A4E2F8CCEB0}" dt="2026-09-17T00:00:27.896" v="71" actId="20577"/>
          <ac:spMkLst>
            <pc:docMk/>
            <pc:sldMk cId="3769131820" sldId="276"/>
            <ac:spMk id="2" creationId="{BCBC75B4-CAB3-C358-51F5-AB9FC92AEBC5}"/>
          </ac:spMkLst>
        </pc:spChg>
      </pc:sldChg>
    </pc:docChg>
  </pc:docChgLst>
  <pc:docChgLst>
    <pc:chgData name="Guest User" userId="S::urn:spo:tenantanon#6370a6c0-7b90-4709-bd6e-59c28ede833b::" providerId="AD" clId="Web-{1FB6A036-C9A8-0DB6-B8E8-6660BC30423E}"/>
    <pc:docChg chg="modSld">
      <pc:chgData name="Guest User" userId="S::urn:spo:tenantanon#6370a6c0-7b90-4709-bd6e-59c28ede833b::" providerId="AD" clId="Web-{1FB6A036-C9A8-0DB6-B8E8-6660BC30423E}" dt="2026-09-18T22:22:08.099" v="3" actId="1076"/>
      <pc:docMkLst>
        <pc:docMk/>
      </pc:docMkLst>
      <pc:sldChg chg="addSp modSp">
        <pc:chgData name="Guest User" userId="S::urn:spo:tenantanon#6370a6c0-7b90-4709-bd6e-59c28ede833b::" providerId="AD" clId="Web-{1FB6A036-C9A8-0DB6-B8E8-6660BC30423E}" dt="2026-09-18T22:22:08.099" v="3" actId="1076"/>
        <pc:sldMkLst>
          <pc:docMk/>
          <pc:sldMk cId="0" sldId="257"/>
        </pc:sldMkLst>
        <pc:picChg chg="add mod">
          <ac:chgData name="Guest User" userId="S::urn:spo:tenantanon#6370a6c0-7b90-4709-bd6e-59c28ede833b::" providerId="AD" clId="Web-{1FB6A036-C9A8-0DB6-B8E8-6660BC30423E}" dt="2026-09-18T22:22:08.099" v="3" actId="1076"/>
          <ac:picMkLst>
            <pc:docMk/>
            <pc:sldMk cId="0" sldId="257"/>
            <ac:picMk id="38" creationId="{D29DF63D-158C-0892-6D96-2C612F1E654D}"/>
          </ac:picMkLst>
        </pc:picChg>
      </pc:sldChg>
    </pc:docChg>
  </pc:docChgLst>
  <pc:docChgLst>
    <pc:chgData name="Felipe da Costa Menusier" userId="797c70dd-f395-4042-9773-26bd55573a5d" providerId="ADAL" clId="{C6B74651-31EC-4988-9930-A32ABBFCAD74}"/>
    <pc:docChg chg="undo custSel addSld delSld modSld sldOrd">
      <pc:chgData name="Felipe da Costa Menusier" userId="797c70dd-f395-4042-9773-26bd55573a5d" providerId="ADAL" clId="{C6B74651-31EC-4988-9930-A32ABBFCAD74}" dt="2026-09-18T23:15:28.947" v="130"/>
      <pc:docMkLst>
        <pc:docMk/>
      </pc:docMkLst>
      <pc:sldChg chg="delSp modSp del mod">
        <pc:chgData name="Felipe da Costa Menusier" userId="797c70dd-f395-4042-9773-26bd55573a5d" providerId="ADAL" clId="{C6B74651-31EC-4988-9930-A32ABBFCAD74}" dt="2026-09-18T22:23:41.223" v="91" actId="47"/>
        <pc:sldMkLst>
          <pc:docMk/>
          <pc:sldMk cId="0" sldId="257"/>
        </pc:sldMkLst>
        <pc:picChg chg="del mod">
          <ac:chgData name="Felipe da Costa Menusier" userId="797c70dd-f395-4042-9773-26bd55573a5d" providerId="ADAL" clId="{C6B74651-31EC-4988-9930-A32ABBFCAD74}" dt="2026-09-18T22:22:34.841" v="86" actId="478"/>
          <ac:picMkLst>
            <pc:docMk/>
            <pc:sldMk cId="0" sldId="257"/>
            <ac:picMk id="38" creationId="{D29DF63D-158C-0892-6D96-2C612F1E654D}"/>
          </ac:picMkLst>
        </pc:picChg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59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0"/>
        </pc:sldMkLst>
      </pc:sldChg>
      <pc:sldChg chg="modSp 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2"/>
        </pc:sldMkLst>
        <pc:spChg chg="mod">
          <ac:chgData name="Felipe da Costa Menusier" userId="797c70dd-f395-4042-9773-26bd55573a5d" providerId="ADAL" clId="{C6B74651-31EC-4988-9930-A32ABBFCAD74}" dt="2026-09-17T00:12:41.620" v="3" actId="20578"/>
          <ac:spMkLst>
            <pc:docMk/>
            <pc:sldMk cId="0" sldId="262"/>
            <ac:spMk id="18" creationId="{8C1132E1-7B15-74A9-4126-A2E501E8E693}"/>
          </ac:spMkLst>
        </pc:spChg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3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4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5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8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9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70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71"/>
        </pc:sldMkLst>
      </pc:sldChg>
      <pc:sldChg chg="add del setBg">
        <pc:chgData name="Felipe da Costa Menusier" userId="797c70dd-f395-4042-9773-26bd55573a5d" providerId="ADAL" clId="{C6B74651-31EC-4988-9930-A32ABBFCAD74}" dt="2026-09-18T23:08:46.300" v="121"/>
        <pc:sldMkLst>
          <pc:docMk/>
          <pc:sldMk cId="0" sldId="272"/>
        </pc:sldMkLst>
      </pc:sldChg>
      <pc:sldChg chg="add del ord setBg">
        <pc:chgData name="Felipe da Costa Menusier" userId="797c70dd-f395-4042-9773-26bd55573a5d" providerId="ADAL" clId="{C6B74651-31EC-4988-9930-A32ABBFCAD74}" dt="2026-09-18T23:09:01.335" v="127"/>
        <pc:sldMkLst>
          <pc:docMk/>
          <pc:sldMk cId="0" sldId="273"/>
        </pc:sldMkLst>
      </pc:sldChg>
      <pc:sldChg chg="del">
        <pc:chgData name="Felipe da Costa Menusier" userId="797c70dd-f395-4042-9773-26bd55573a5d" providerId="ADAL" clId="{C6B74651-31EC-4988-9930-A32ABBFCAD74}" dt="2026-09-17T23:15:05.898" v="67" actId="47"/>
        <pc:sldMkLst>
          <pc:docMk/>
          <pc:sldMk cId="1926029493" sldId="273"/>
        </pc:sldMkLst>
      </pc:sldChg>
      <pc:sldChg chg="ord">
        <pc:chgData name="Felipe da Costa Menusier" userId="797c70dd-f395-4042-9773-26bd55573a5d" providerId="ADAL" clId="{C6B74651-31EC-4988-9930-A32ABBFCAD74}" dt="2026-09-17T00:06:14.613" v="1"/>
        <pc:sldMkLst>
          <pc:docMk/>
          <pc:sldMk cId="3769131820" sldId="276"/>
        </pc:sldMkLst>
      </pc:sldChg>
      <pc:sldChg chg="add del">
        <pc:chgData name="Felipe da Costa Menusier" userId="797c70dd-f395-4042-9773-26bd55573a5d" providerId="ADAL" clId="{C6B74651-31EC-4988-9930-A32ABBFCAD74}" dt="2026-09-18T00:11:19.524" v="71" actId="47"/>
        <pc:sldMkLst>
          <pc:docMk/>
          <pc:sldMk cId="2667986819" sldId="277"/>
        </pc:sldMkLst>
      </pc:sldChg>
      <pc:sldChg chg="add del">
        <pc:chgData name="Felipe da Costa Menusier" userId="797c70dd-f395-4042-9773-26bd55573a5d" providerId="ADAL" clId="{C6B74651-31EC-4988-9930-A32ABBFCAD74}" dt="2026-09-18T23:08:56.070" v="122" actId="47"/>
        <pc:sldMkLst>
          <pc:docMk/>
          <pc:sldMk cId="1556199943" sldId="278"/>
        </pc:sldMkLst>
      </pc:sldChg>
      <pc:sldChg chg="modSp add del mod">
        <pc:chgData name="Felipe da Costa Menusier" userId="797c70dd-f395-4042-9773-26bd55573a5d" providerId="ADAL" clId="{C6B74651-31EC-4988-9930-A32ABBFCAD74}" dt="2026-09-17T22:58:14.309" v="33" actId="47"/>
        <pc:sldMkLst>
          <pc:docMk/>
          <pc:sldMk cId="1719061596" sldId="279"/>
        </pc:sldMkLst>
        <pc:spChg chg="mod">
          <ac:chgData name="Felipe da Costa Menusier" userId="797c70dd-f395-4042-9773-26bd55573a5d" providerId="ADAL" clId="{C6B74651-31EC-4988-9930-A32ABBFCAD74}" dt="2026-09-17T22:52:02.631" v="32" actId="20577"/>
          <ac:spMkLst>
            <pc:docMk/>
            <pc:sldMk cId="1719061596" sldId="279"/>
            <ac:spMk id="2" creationId="{033F75D3-78E2-91EA-6D58-D99F554CA944}"/>
          </ac:spMkLst>
        </pc:spChg>
      </pc:sldChg>
      <pc:sldChg chg="add del">
        <pc:chgData name="Felipe da Costa Menusier" userId="797c70dd-f395-4042-9773-26bd55573a5d" providerId="ADAL" clId="{C6B74651-31EC-4988-9930-A32ABBFCAD74}" dt="2026-09-18T00:21:29.540" v="80" actId="47"/>
        <pc:sldMkLst>
          <pc:docMk/>
          <pc:sldMk cId="1718000780" sldId="280"/>
        </pc:sldMkLst>
      </pc:sldChg>
      <pc:sldChg chg="del">
        <pc:chgData name="Felipe da Costa Menusier" userId="797c70dd-f395-4042-9773-26bd55573a5d" providerId="ADAL" clId="{C6B74651-31EC-4988-9930-A32ABBFCAD74}" dt="2026-09-18T00:27:00.781" v="83" actId="47"/>
        <pc:sldMkLst>
          <pc:docMk/>
          <pc:sldMk cId="866479843" sldId="281"/>
        </pc:sldMkLst>
      </pc:sldChg>
      <pc:sldChg chg="addSp delSp modSp add del mod setBg">
        <pc:chgData name="Felipe da Costa Menusier" userId="797c70dd-f395-4042-9773-26bd55573a5d" providerId="ADAL" clId="{C6B74651-31EC-4988-9930-A32ABBFCAD74}" dt="2026-09-18T22:24:19.259" v="100" actId="47"/>
        <pc:sldMkLst>
          <pc:docMk/>
          <pc:sldMk cId="2595393371" sldId="282"/>
        </pc:sldMkLst>
        <pc:spChg chg="mod">
          <ac:chgData name="Felipe da Costa Menusier" userId="797c70dd-f395-4042-9773-26bd55573a5d" providerId="ADAL" clId="{C6B74651-31EC-4988-9930-A32ABBFCAD74}" dt="2026-09-17T23:01:49.804" v="50" actId="1076"/>
          <ac:spMkLst>
            <pc:docMk/>
            <pc:sldMk cId="2595393371" sldId="282"/>
            <ac:spMk id="3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4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5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6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7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8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9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20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21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22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3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4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47.357" v="44" actId="478"/>
          <ac:spMkLst>
            <pc:docMk/>
            <pc:sldMk cId="2595393371" sldId="282"/>
            <ac:spMk id="25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6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47.357" v="44" actId="478"/>
          <ac:spMkLst>
            <pc:docMk/>
            <pc:sldMk cId="2595393371" sldId="282"/>
            <ac:spMk id="27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8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47.357" v="44" actId="478"/>
          <ac:spMkLst>
            <pc:docMk/>
            <pc:sldMk cId="2595393371" sldId="282"/>
            <ac:spMk id="29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2:58:46.832" v="34" actId="478"/>
          <ac:spMkLst>
            <pc:docMk/>
            <pc:sldMk cId="2595393371" sldId="282"/>
            <ac:spMk id="31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2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3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4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5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6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7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8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9" creationId="{00000000-0000-0000-0000-000000000000}"/>
          </ac:spMkLst>
        </pc:spChg>
        <pc:spChg chg="add del">
          <ac:chgData name="Felipe da Costa Menusier" userId="797c70dd-f395-4042-9773-26bd55573a5d" providerId="ADAL" clId="{C6B74651-31EC-4988-9930-A32ABBFCAD74}" dt="2026-09-17T22:59:41.925" v="37" actId="22"/>
          <ac:spMkLst>
            <pc:docMk/>
            <pc:sldMk cId="2595393371" sldId="282"/>
            <ac:spMk id="43" creationId="{693C2413-C687-AD72-9700-0217874240B8}"/>
          </ac:spMkLst>
        </pc:spChg>
        <pc:spChg chg="add del mod">
          <ac:chgData name="Felipe da Costa Menusier" userId="797c70dd-f395-4042-9773-26bd55573a5d" providerId="ADAL" clId="{C6B74651-31EC-4988-9930-A32ABBFCAD74}" dt="2026-09-17T23:00:53.386" v="45" actId="478"/>
          <ac:spMkLst>
            <pc:docMk/>
            <pc:sldMk cId="2595393371" sldId="282"/>
            <ac:spMk id="45" creationId="{C7E68F00-6377-6862-7D68-FA01DE0734C3}"/>
          </ac:spMkLst>
        </pc:spChg>
        <pc:spChg chg="add del mod">
          <ac:chgData name="Felipe da Costa Menusier" userId="797c70dd-f395-4042-9773-26bd55573a5d" providerId="ADAL" clId="{C6B74651-31EC-4988-9930-A32ABBFCAD74}" dt="2026-09-17T23:00:53.386" v="45" actId="478"/>
          <ac:spMkLst>
            <pc:docMk/>
            <pc:sldMk cId="2595393371" sldId="282"/>
            <ac:spMk id="47" creationId="{60373856-6A76-13EF-48F5-A719BEE313B2}"/>
          </ac:spMkLst>
        </pc:spChg>
        <pc:spChg chg="add del mod">
          <ac:chgData name="Felipe da Costa Menusier" userId="797c70dd-f395-4042-9773-26bd55573a5d" providerId="ADAL" clId="{C6B74651-31EC-4988-9930-A32ABBFCAD74}" dt="2026-09-17T23:00:53.386" v="45" actId="478"/>
          <ac:spMkLst>
            <pc:docMk/>
            <pc:sldMk cId="2595393371" sldId="282"/>
            <ac:spMk id="49" creationId="{2FAED7D0-EF38-3B7B-1F8D-E5D6BA088D0C}"/>
          </ac:spMkLst>
        </pc:spChg>
        <pc:picChg chg="mod">
          <ac:chgData name="Felipe da Costa Menusier" userId="797c70dd-f395-4042-9773-26bd55573a5d" providerId="ADAL" clId="{C6B74651-31EC-4988-9930-A32ABBFCAD74}" dt="2026-09-17T23:02:10.915" v="54" actId="1076"/>
          <ac:picMkLst>
            <pc:docMk/>
            <pc:sldMk cId="2595393371" sldId="282"/>
            <ac:picMk id="40" creationId="{00000000-0000-0000-0000-000000000000}"/>
          </ac:picMkLst>
        </pc:picChg>
      </pc:sldChg>
      <pc:sldChg chg="del">
        <pc:chgData name="Felipe da Costa Menusier" userId="797c70dd-f395-4042-9773-26bd55573a5d" providerId="ADAL" clId="{C6B74651-31EC-4988-9930-A32ABBFCAD74}" dt="2026-09-17T23:07:23.416" v="55" actId="47"/>
        <pc:sldMkLst>
          <pc:docMk/>
          <pc:sldMk cId="2448141990" sldId="283"/>
        </pc:sldMkLst>
      </pc:sldChg>
      <pc:sldChg chg="add del ord setBg">
        <pc:chgData name="Felipe da Costa Menusier" userId="797c70dd-f395-4042-9773-26bd55573a5d" providerId="ADAL" clId="{C6B74651-31EC-4988-9930-A32ABBFCAD74}" dt="2026-09-18T23:15:28.947" v="130"/>
        <pc:sldMkLst>
          <pc:docMk/>
          <pc:sldMk cId="0" sldId="285"/>
        </pc:sldMkLst>
      </pc:sldChg>
      <pc:sldChg chg="modSp add del mod setBg">
        <pc:chgData name="Felipe da Costa Menusier" userId="797c70dd-f395-4042-9773-26bd55573a5d" providerId="ADAL" clId="{C6B74651-31EC-4988-9930-A32ABBFCAD74}" dt="2026-09-18T22:24:16.501" v="98" actId="47"/>
        <pc:sldMkLst>
          <pc:docMk/>
          <pc:sldMk cId="444386408" sldId="291"/>
        </pc:sldMkLst>
        <pc:spChg chg="mod">
          <ac:chgData name="Felipe da Costa Menusier" userId="797c70dd-f395-4042-9773-26bd55573a5d" providerId="ADAL" clId="{C6B74651-31EC-4988-9930-A32ABBFCAD74}" dt="2026-09-17T23:10:12.476" v="59" actId="20577"/>
          <ac:spMkLst>
            <pc:docMk/>
            <pc:sldMk cId="444386408" sldId="291"/>
            <ac:spMk id="23" creationId="{00000000-0000-0000-0000-000000000000}"/>
          </ac:spMkLst>
        </pc:spChg>
        <pc:picChg chg="mod">
          <ac:chgData name="Felipe da Costa Menusier" userId="797c70dd-f395-4042-9773-26bd55573a5d" providerId="ADAL" clId="{C6B74651-31EC-4988-9930-A32ABBFCAD74}" dt="2026-09-17T23:12:13.385" v="66" actId="1076"/>
          <ac:picMkLst>
            <pc:docMk/>
            <pc:sldMk cId="444386408" sldId="291"/>
            <ac:picMk id="27" creationId="{00000000-0000-0000-0000-000000000000}"/>
          </ac:picMkLst>
        </pc:picChg>
      </pc:sldChg>
      <pc:sldChg chg="modSp add del mod setBg">
        <pc:chgData name="Felipe da Costa Menusier" userId="797c70dd-f395-4042-9773-26bd55573a5d" providerId="ADAL" clId="{C6B74651-31EC-4988-9930-A32ABBFCAD74}" dt="2026-09-18T22:41:58.426" v="113" actId="20577"/>
        <pc:sldMkLst>
          <pc:docMk/>
          <pc:sldMk cId="1779910490" sldId="292"/>
        </pc:sldMkLst>
        <pc:spChg chg="mod">
          <ac:chgData name="Felipe da Costa Menusier" userId="797c70dd-f395-4042-9773-26bd55573a5d" providerId="ADAL" clId="{C6B74651-31EC-4988-9930-A32ABBFCAD74}" dt="2026-09-18T22:25:18.173" v="104" actId="20577"/>
          <ac:spMkLst>
            <pc:docMk/>
            <pc:sldMk cId="1779910490" sldId="292"/>
            <ac:spMk id="5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8T22:41:58.426" v="113" actId="20577"/>
          <ac:spMkLst>
            <pc:docMk/>
            <pc:sldMk cId="1779910490" sldId="292"/>
            <ac:spMk id="10" creationId="{00000000-0000-0000-0000-000000000000}"/>
          </ac:spMkLst>
        </pc:spChg>
      </pc:sldChg>
      <pc:sldChg chg="new">
        <pc:chgData name="Felipe da Costa Menusier" userId="797c70dd-f395-4042-9773-26bd55573a5d" providerId="ADAL" clId="{C6B74651-31EC-4988-9930-A32ABBFCAD74}" dt="2026-09-17T23:20:06.232" v="70" actId="680"/>
        <pc:sldMkLst>
          <pc:docMk/>
          <pc:sldMk cId="1361455815" sldId="293"/>
        </pc:sldMkLst>
      </pc:sldChg>
      <pc:sldChg chg="new del">
        <pc:chgData name="Felipe da Costa Menusier" userId="797c70dd-f395-4042-9773-26bd55573a5d" providerId="ADAL" clId="{C6B74651-31EC-4988-9930-A32ABBFCAD74}" dt="2026-09-17T23:19:42.716" v="69" actId="47"/>
        <pc:sldMkLst>
          <pc:docMk/>
          <pc:sldMk cId="1529875001" sldId="293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4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5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6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7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8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9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300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301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302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303"/>
        </pc:sldMkLst>
      </pc:sldChg>
      <pc:sldChg chg="add del setBg">
        <pc:chgData name="Felipe da Costa Menusier" userId="797c70dd-f395-4042-9773-26bd55573a5d" providerId="ADAL" clId="{C6B74651-31EC-4988-9930-A32ABBFCAD74}" dt="2026-09-18T23:08:42.748" v="118" actId="47"/>
        <pc:sldMkLst>
          <pc:docMk/>
          <pc:sldMk cId="0" sldId="304"/>
        </pc:sldMkLst>
      </pc:sldChg>
      <pc:sldChg chg="ord">
        <pc:chgData name="Felipe da Costa Menusier" userId="797c70dd-f395-4042-9773-26bd55573a5d" providerId="ADAL" clId="{C6B74651-31EC-4988-9930-A32ABBFCAD74}" dt="2026-09-18T23:15:28.947" v="130"/>
        <pc:sldMkLst>
          <pc:docMk/>
          <pc:sldMk cId="1920323722" sldId="305"/>
        </pc:sldMkLst>
      </pc:sldChg>
      <pc:sldChg chg="del">
        <pc:chgData name="Felipe da Costa Menusier" userId="797c70dd-f395-4042-9773-26bd55573a5d" providerId="ADAL" clId="{C6B74651-31EC-4988-9930-A32ABBFCAD74}" dt="2026-09-18T23:08:56.906" v="123" actId="47"/>
        <pc:sldMkLst>
          <pc:docMk/>
          <pc:sldMk cId="2161918785" sldId="306"/>
        </pc:sldMkLst>
      </pc:sldChg>
      <pc:sldChg chg="add del setBg">
        <pc:chgData name="Felipe da Costa Menusier" userId="797c70dd-f395-4042-9773-26bd55573a5d" providerId="ADAL" clId="{C6B74651-31EC-4988-9930-A32ABBFCAD74}" dt="2026-09-18T22:24:17.946" v="99" actId="47"/>
        <pc:sldMkLst>
          <pc:docMk/>
          <pc:sldMk cId="498158058" sldId="307"/>
        </pc:sldMkLst>
      </pc:sldChg>
      <pc:sldChg chg="del">
        <pc:chgData name="Felipe da Costa Menusier" userId="797c70dd-f395-4042-9773-26bd55573a5d" providerId="ADAL" clId="{C6B74651-31EC-4988-9930-A32ABBFCAD74}" dt="2026-09-18T00:21:16.559" v="76" actId="47"/>
        <pc:sldMkLst>
          <pc:docMk/>
          <pc:sldMk cId="2174567656" sldId="307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3849930570" sldId="307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08"/>
        </pc:sldMkLst>
      </pc:sldChg>
      <pc:sldChg chg="del">
        <pc:chgData name="Felipe da Costa Menusier" userId="797c70dd-f395-4042-9773-26bd55573a5d" providerId="ADAL" clId="{C6B74651-31EC-4988-9930-A32ABBFCAD74}" dt="2026-09-18T22:24:33.977" v="102" actId="47"/>
        <pc:sldMkLst>
          <pc:docMk/>
          <pc:sldMk cId="1448315898" sldId="308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1902131031" sldId="308"/>
        </pc:sldMkLst>
      </pc:sldChg>
      <pc:sldChg chg="add del setBg">
        <pc:chgData name="Felipe da Costa Menusier" userId="797c70dd-f395-4042-9773-26bd55573a5d" providerId="ADAL" clId="{C6B74651-31EC-4988-9930-A32ABBFCAD74}" dt="2026-09-18T22:23:57.107" v="93" actId="47"/>
        <pc:sldMkLst>
          <pc:docMk/>
          <pc:sldMk cId="2267376397" sldId="308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09"/>
        </pc:sldMkLst>
      </pc:sldChg>
      <pc:sldChg chg="del">
        <pc:chgData name="Felipe da Costa Menusier" userId="797c70dd-f395-4042-9773-26bd55573a5d" providerId="ADAL" clId="{C6B74651-31EC-4988-9930-A32ABBFCAD74}" dt="2026-09-18T22:24:32.575" v="101" actId="47"/>
        <pc:sldMkLst>
          <pc:docMk/>
          <pc:sldMk cId="1191489529" sldId="309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2815038139" sldId="309"/>
        </pc:sldMkLst>
      </pc:sldChg>
      <pc:sldChg chg="add del setBg">
        <pc:chgData name="Felipe da Costa Menusier" userId="797c70dd-f395-4042-9773-26bd55573a5d" providerId="ADAL" clId="{C6B74651-31EC-4988-9930-A32ABBFCAD74}" dt="2026-09-18T22:23:57.867" v="94" actId="47"/>
        <pc:sldMkLst>
          <pc:docMk/>
          <pc:sldMk cId="3619910227" sldId="309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10"/>
        </pc:sldMkLst>
      </pc:sldChg>
      <pc:sldChg chg="add del setBg">
        <pc:chgData name="Felipe da Costa Menusier" userId="797c70dd-f395-4042-9773-26bd55573a5d" providerId="ADAL" clId="{C6B74651-31EC-4988-9930-A32ABBFCAD74}" dt="2026-09-18T22:23:58.647" v="95" actId="47"/>
        <pc:sldMkLst>
          <pc:docMk/>
          <pc:sldMk cId="2340240386" sldId="310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3183211537" sldId="310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11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1569096234" sldId="311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12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3272783923" sldId="312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13"/>
        </pc:sldMkLst>
      </pc:sldChg>
      <pc:sldChg chg="add del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2146650748" sldId="313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315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316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317"/>
        </pc:sldMkLst>
      </pc:sldChg>
      <pc:sldChg chg="add del setBg">
        <pc:chgData name="Felipe da Costa Menusier" userId="797c70dd-f395-4042-9773-26bd55573a5d" providerId="ADAL" clId="{C6B74651-31EC-4988-9930-A32ABBFCAD74}" dt="2026-09-18T23:09:01.335" v="127"/>
        <pc:sldMkLst>
          <pc:docMk/>
          <pc:sldMk cId="0" sldId="318"/>
        </pc:sldMkLst>
      </pc:sldChg>
      <pc:sldChg chg="new">
        <pc:chgData name="Felipe da Costa Menusier" userId="797c70dd-f395-4042-9773-26bd55573a5d" providerId="ADAL" clId="{C6B74651-31EC-4988-9930-A32ABBFCAD74}" dt="2026-09-18T23:09:26.338" v="128" actId="680"/>
        <pc:sldMkLst>
          <pc:docMk/>
          <pc:sldMk cId="714708651" sldId="319"/>
        </pc:sldMkLst>
      </pc:sldChg>
    </pc:docChg>
  </pc:docChgLst>
  <pc:docChgLst>
    <pc:chgData name="Guest User" userId="S::urn:spo:tenantanon#6370a6c0-7b90-4709-bd6e-59c28ede833b::" providerId="AD" clId="Web-{D0E29E53-83DF-5255-4519-4630373FE2AF}"/>
    <pc:docChg chg="modSld">
      <pc:chgData name="Guest User" userId="S::urn:spo:tenantanon#6370a6c0-7b90-4709-bd6e-59c28ede833b::" providerId="AD" clId="Web-{D0E29E53-83DF-5255-4519-4630373FE2AF}" dt="2026-09-17T21:29:38.856" v="1" actId="20577"/>
      <pc:docMkLst>
        <pc:docMk/>
      </pc:docMkLst>
      <pc:sldChg chg="modSp">
        <pc:chgData name="Guest User" userId="S::urn:spo:tenantanon#6370a6c0-7b90-4709-bd6e-59c28ede833b::" providerId="AD" clId="Web-{D0E29E53-83DF-5255-4519-4630373FE2AF}" dt="2026-09-17T21:29:38.856" v="1" actId="20577"/>
        <pc:sldMkLst>
          <pc:docMk/>
          <pc:sldMk cId="1719061596" sldId="279"/>
        </pc:sldMkLst>
        <pc:spChg chg="mod">
          <ac:chgData name="Guest User" userId="S::urn:spo:tenantanon#6370a6c0-7b90-4709-bd6e-59c28ede833b::" providerId="AD" clId="Web-{D0E29E53-83DF-5255-4519-4630373FE2AF}" dt="2026-09-17T21:29:38.856" v="1" actId="20577"/>
          <ac:spMkLst>
            <pc:docMk/>
            <pc:sldMk cId="1719061596" sldId="279"/>
            <ac:spMk id="2" creationId="{033F75D3-78E2-91EA-6D58-D99F554CA944}"/>
          </ac:spMkLst>
        </pc:spChg>
      </pc:sldChg>
    </pc:docChg>
  </pc:docChgLst>
  <pc:docChgLst>
    <pc:chgData name="Guest User" userId="S::urn:spo:tenantanon#6370a6c0-7b90-4709-bd6e-59c28ede833b::" providerId="AD" clId="Web-{00000000-0000-0000-0000-000000000000}"/>
    <pc:docChg chg="addSld delSld modSld">
      <pc:chgData name="Guest User" userId="S::urn:spo:tenantanon#6370a6c0-7b90-4709-bd6e-59c28ede833b::" providerId="AD" clId="Web-{00000000-0000-0000-0000-000000000000}" dt="2026-09-18T22:42:29.070" v="35"/>
      <pc:docMkLst>
        <pc:docMk/>
      </pc:docMkLst>
      <pc:sldChg chg="addSp delSp modSp">
        <pc:chgData name="Guest User" userId="S::urn:spo:tenantanon#6370a6c0-7b90-4709-bd6e-59c28ede833b::" providerId="AD" clId="Web-{00000000-0000-0000-0000-000000000000}" dt="2026-09-17T22:59:51.543" v="4"/>
        <pc:sldMkLst>
          <pc:docMk/>
          <pc:sldMk cId="0" sldId="257"/>
        </pc:sldMkLst>
        <pc:picChg chg="add del mod">
          <ac:chgData name="Guest User" userId="S::urn:spo:tenantanon#6370a6c0-7b90-4709-bd6e-59c28ede833b::" providerId="AD" clId="Web-{00000000-0000-0000-0000-000000000000}" dt="2026-09-17T22:59:51.543" v="4"/>
          <ac:picMkLst>
            <pc:docMk/>
            <pc:sldMk cId="0" sldId="257"/>
            <ac:picMk id="38" creationId="{E670C5BA-870F-F117-8766-F8C23D26E811}"/>
          </ac:picMkLst>
        </pc:picChg>
      </pc:sldChg>
      <pc:sldChg chg="add del">
        <pc:chgData name="Guest User" userId="S::urn:spo:tenantanon#6370a6c0-7b90-4709-bd6e-59c28ede833b::" providerId="AD" clId="Web-{00000000-0000-0000-0000-000000000000}" dt="2026-09-18T22:39:12.002" v="33"/>
        <pc:sldMkLst>
          <pc:docMk/>
          <pc:sldMk cId="0" sldId="261"/>
        </pc:sldMkLst>
      </pc:sldChg>
      <pc:sldChg chg="add">
        <pc:chgData name="Guest User" userId="S::urn:spo:tenantanon#6370a6c0-7b90-4709-bd6e-59c28ede833b::" providerId="AD" clId="Web-{00000000-0000-0000-0000-000000000000}" dt="2026-09-18T22:24:51.768" v="27"/>
        <pc:sldMkLst>
          <pc:docMk/>
          <pc:sldMk cId="2595393371" sldId="282"/>
        </pc:sldMkLst>
      </pc:sldChg>
      <pc:sldChg chg="modSp add">
        <pc:chgData name="Guest User" userId="S::urn:spo:tenantanon#6370a6c0-7b90-4709-bd6e-59c28ede833b::" providerId="AD" clId="Web-{00000000-0000-0000-0000-000000000000}" dt="2026-09-18T22:24:51.955" v="28"/>
        <pc:sldMkLst>
          <pc:docMk/>
          <pc:sldMk cId="444386408" sldId="291"/>
        </pc:sldMkLst>
        <pc:spChg chg="mod">
          <ac:chgData name="Guest User" userId="S::urn:spo:tenantanon#6370a6c0-7b90-4709-bd6e-59c28ede833b::" providerId="AD" clId="Web-{00000000-0000-0000-0000-000000000000}" dt="2026-09-17T23:12:35.364" v="23" actId="20577"/>
          <ac:spMkLst>
            <pc:docMk/>
            <pc:sldMk cId="444386408" sldId="291"/>
            <ac:spMk id="13" creationId="{00000000-0000-0000-0000-000000000000}"/>
          </ac:spMkLst>
        </pc:spChg>
      </pc:sldChg>
      <pc:sldChg chg="add">
        <pc:chgData name="Guest User" userId="S::urn:spo:tenantanon#6370a6c0-7b90-4709-bd6e-59c28ede833b::" providerId="AD" clId="Web-{00000000-0000-0000-0000-000000000000}" dt="2026-09-18T22:24:52.158" v="29"/>
        <pc:sldMkLst>
          <pc:docMk/>
          <pc:sldMk cId="1779910490" sldId="292"/>
        </pc:sldMkLst>
      </pc:sldChg>
      <pc:sldChg chg="new del">
        <pc:chgData name="Guest User" userId="S::urn:spo:tenantanon#6370a6c0-7b90-4709-bd6e-59c28ede833b::" providerId="AD" clId="Web-{00000000-0000-0000-0000-000000000000}" dt="2026-09-17T23:52:36.846" v="25"/>
        <pc:sldMkLst>
          <pc:docMk/>
          <pc:sldMk cId="2812619477" sldId="293"/>
        </pc:sldMkLst>
      </pc:sldChg>
      <pc:sldChg chg="del">
        <pc:chgData name="Guest User" userId="S::urn:spo:tenantanon#6370a6c0-7b90-4709-bd6e-59c28ede833b::" providerId="AD" clId="Web-{00000000-0000-0000-0000-000000000000}" dt="2026-09-18T22:42:29.070" v="35"/>
        <pc:sldMkLst>
          <pc:docMk/>
          <pc:sldMk cId="4165999719" sldId="293"/>
        </pc:sldMkLst>
      </pc:sldChg>
      <pc:sldChg chg="add">
        <pc:chgData name="Guest User" userId="S::urn:spo:tenantanon#6370a6c0-7b90-4709-bd6e-59c28ede833b::" providerId="AD" clId="Web-{00000000-0000-0000-0000-000000000000}" dt="2026-09-18T22:24:51.611" v="26"/>
        <pc:sldMkLst>
          <pc:docMk/>
          <pc:sldMk cId="498158058" sldId="307"/>
        </pc:sldMkLst>
      </pc:sldChg>
      <pc:sldChg chg="add">
        <pc:chgData name="Guest User" userId="S::urn:spo:tenantanon#6370a6c0-7b90-4709-bd6e-59c28ede833b::" providerId="AD" clId="Web-{00000000-0000-0000-0000-000000000000}" dt="2026-09-18T22:24:52.283" v="30"/>
        <pc:sldMkLst>
          <pc:docMk/>
          <pc:sldMk cId="1448315898" sldId="308"/>
        </pc:sldMkLst>
      </pc:sldChg>
      <pc:sldChg chg="add">
        <pc:chgData name="Guest User" userId="S::urn:spo:tenantanon#6370a6c0-7b90-4709-bd6e-59c28ede833b::" providerId="AD" clId="Web-{00000000-0000-0000-0000-000000000000}" dt="2026-09-18T22:24:52.518" v="31"/>
        <pc:sldMkLst>
          <pc:docMk/>
          <pc:sldMk cId="1191489529" sldId="309"/>
        </pc:sldMkLst>
      </pc:sldChg>
      <pc:sldChg chg="add">
        <pc:chgData name="Guest User" userId="S::urn:spo:tenantanon#6370a6c0-7b90-4709-bd6e-59c28ede833b::" providerId="AD" clId="Web-{00000000-0000-0000-0000-000000000000}" dt="2026-09-18T22:42:25.273" v="34"/>
        <pc:sldMkLst>
          <pc:docMk/>
          <pc:sldMk cId="3096815623" sldId="314"/>
        </pc:sldMkLst>
      </pc:sldChg>
    </pc:docChg>
  </pc:docChgLst>
  <pc:docChgLst>
    <pc:chgData name="Guest User" userId="S::urn:spo:tenantanon#6370a6c0-7b90-4709-bd6e-59c28ede833b::" providerId="AD" clId="Web-{AF76CFF2-0A4C-3A9F-26A7-EB6D269628B2}"/>
    <pc:docChg chg="addSld delSld modSld">
      <pc:chgData name="Guest User" userId="S::urn:spo:tenantanon#6370a6c0-7b90-4709-bd6e-59c28ede833b::" providerId="AD" clId="Web-{AF76CFF2-0A4C-3A9F-26A7-EB6D269628B2}" dt="2026-09-18T23:47:30.459" v="19"/>
      <pc:docMkLst>
        <pc:docMk/>
      </pc:docMkLst>
      <pc:sldChg chg="del">
        <pc:chgData name="Guest User" userId="S::urn:spo:tenantanon#6370a6c0-7b90-4709-bd6e-59c28ede833b::" providerId="AD" clId="Web-{AF76CFF2-0A4C-3A9F-26A7-EB6D269628B2}" dt="2026-09-18T23:46:43.036" v="9"/>
        <pc:sldMkLst>
          <pc:docMk/>
          <pc:sldMk cId="2971307093" sldId="266"/>
        </pc:sldMkLst>
      </pc:sldChg>
      <pc:sldChg chg="add">
        <pc:chgData name="Guest User" userId="S::urn:spo:tenantanon#6370a6c0-7b90-4709-bd6e-59c28ede833b::" providerId="AD" clId="Web-{AF76CFF2-0A4C-3A9F-26A7-EB6D269628B2}" dt="2026-09-18T23:46:09.128" v="2"/>
        <pc:sldMkLst>
          <pc:docMk/>
          <pc:sldMk cId="1693711121" sldId="274"/>
        </pc:sldMkLst>
      </pc:sldChg>
      <pc:sldChg chg="add">
        <pc:chgData name="Guest User" userId="S::urn:spo:tenantanon#6370a6c0-7b90-4709-bd6e-59c28ede833b::" providerId="AD" clId="Web-{AF76CFF2-0A4C-3A9F-26A7-EB6D269628B2}" dt="2026-09-18T23:46:09.331" v="3"/>
        <pc:sldMkLst>
          <pc:docMk/>
          <pc:sldMk cId="518729896" sldId="275"/>
        </pc:sldMkLst>
      </pc:sldChg>
      <pc:sldChg chg="add">
        <pc:chgData name="Guest User" userId="S::urn:spo:tenantanon#6370a6c0-7b90-4709-bd6e-59c28ede833b::" providerId="AD" clId="Web-{AF76CFF2-0A4C-3A9F-26A7-EB6D269628B2}" dt="2026-09-18T23:46:09.503" v="4"/>
        <pc:sldMkLst>
          <pc:docMk/>
          <pc:sldMk cId="2036913395" sldId="276"/>
        </pc:sldMkLst>
      </pc:sldChg>
      <pc:sldChg chg="del">
        <pc:chgData name="Guest User" userId="S::urn:spo:tenantanon#6370a6c0-7b90-4709-bd6e-59c28ede833b::" providerId="AD" clId="Web-{AF76CFF2-0A4C-3A9F-26A7-EB6D269628B2}" dt="2026-09-18T23:46:19.081" v="8"/>
        <pc:sldMkLst>
          <pc:docMk/>
          <pc:sldMk cId="1104709510" sldId="287"/>
        </pc:sldMkLst>
      </pc:sldChg>
      <pc:sldChg chg="del">
        <pc:chgData name="Guest User" userId="S::urn:spo:tenantanon#6370a6c0-7b90-4709-bd6e-59c28ede833b::" providerId="AD" clId="Web-{AF76CFF2-0A4C-3A9F-26A7-EB6D269628B2}" dt="2026-09-18T23:46:19.081" v="7"/>
        <pc:sldMkLst>
          <pc:docMk/>
          <pc:sldMk cId="2254739147" sldId="288"/>
        </pc:sldMkLst>
      </pc:sldChg>
      <pc:sldChg chg="del">
        <pc:chgData name="Guest User" userId="S::urn:spo:tenantanon#6370a6c0-7b90-4709-bd6e-59c28ede833b::" providerId="AD" clId="Web-{AF76CFF2-0A4C-3A9F-26A7-EB6D269628B2}" dt="2026-09-18T23:46:19.081" v="6"/>
        <pc:sldMkLst>
          <pc:docMk/>
          <pc:sldMk cId="3044288026" sldId="289"/>
        </pc:sldMkLst>
      </pc:sldChg>
      <pc:sldChg chg="del">
        <pc:chgData name="Guest User" userId="S::urn:spo:tenantanon#6370a6c0-7b90-4709-bd6e-59c28ede833b::" providerId="AD" clId="Web-{AF76CFF2-0A4C-3A9F-26A7-EB6D269628B2}" dt="2026-09-18T23:46:19.066" v="5"/>
        <pc:sldMkLst>
          <pc:docMk/>
          <pc:sldMk cId="2321034787" sldId="290"/>
        </pc:sldMkLst>
      </pc:sldChg>
      <pc:sldChg chg="del">
        <pc:chgData name="Guest User" userId="S::urn:spo:tenantanon#6370a6c0-7b90-4709-bd6e-59c28ede833b::" providerId="AD" clId="Web-{AF76CFF2-0A4C-3A9F-26A7-EB6D269628B2}" dt="2026-09-18T23:46:48.989" v="10"/>
        <pc:sldMkLst>
          <pc:docMk/>
          <pc:sldMk cId="3096815623" sldId="314"/>
        </pc:sldMkLst>
      </pc:sldChg>
      <pc:sldChg chg="add">
        <pc:chgData name="Guest User" userId="S::urn:spo:tenantanon#6370a6c0-7b90-4709-bd6e-59c28ede833b::" providerId="AD" clId="Web-{AF76CFF2-0A4C-3A9F-26A7-EB6D269628B2}" dt="2026-09-18T23:25:53.286" v="0"/>
        <pc:sldMkLst>
          <pc:docMk/>
          <pc:sldMk cId="516450193" sldId="320"/>
        </pc:sldMkLst>
      </pc:sldChg>
      <pc:sldChg chg="add">
        <pc:chgData name="Guest User" userId="S::urn:spo:tenantanon#6370a6c0-7b90-4709-bd6e-59c28ede833b::" providerId="AD" clId="Web-{AF76CFF2-0A4C-3A9F-26A7-EB6D269628B2}" dt="2026-09-18T23:46:08.925" v="1"/>
        <pc:sldMkLst>
          <pc:docMk/>
          <pc:sldMk cId="4172506512" sldId="321"/>
        </pc:sldMkLst>
      </pc:sldChg>
      <pc:sldChg chg="delSp add">
        <pc:chgData name="Guest User" userId="S::urn:spo:tenantanon#6370a6c0-7b90-4709-bd6e-59c28ede833b::" providerId="AD" clId="Web-{AF76CFF2-0A4C-3A9F-26A7-EB6D269628B2}" dt="2026-09-18T23:47:30.459" v="19"/>
        <pc:sldMkLst>
          <pc:docMk/>
          <pc:sldMk cId="1567341557" sldId="322"/>
        </pc:sldMkLst>
        <pc:spChg chg="del">
          <ac:chgData name="Guest User" userId="S::urn:spo:tenantanon#6370a6c0-7b90-4709-bd6e-59c28ede833b::" providerId="AD" clId="Web-{AF76CFF2-0A4C-3A9F-26A7-EB6D269628B2}" dt="2026-09-18T23:47:30.459" v="15"/>
          <ac:spMkLst>
            <pc:docMk/>
            <pc:sldMk cId="1567341557" sldId="322"/>
            <ac:spMk id="2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9"/>
          <ac:spMkLst>
            <pc:docMk/>
            <pc:sldMk cId="1567341557" sldId="322"/>
            <ac:spMk id="24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8"/>
          <ac:spMkLst>
            <pc:docMk/>
            <pc:sldMk cId="1567341557" sldId="322"/>
            <ac:spMk id="25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7"/>
          <ac:spMkLst>
            <pc:docMk/>
            <pc:sldMk cId="1567341557" sldId="322"/>
            <ac:spMk id="26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6"/>
          <ac:spMkLst>
            <pc:docMk/>
            <pc:sldMk cId="1567341557" sldId="322"/>
            <ac:spMk id="27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4"/>
          <ac:spMkLst>
            <pc:docMk/>
            <pc:sldMk cId="1567341557" sldId="322"/>
            <ac:spMk id="35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3"/>
          <ac:spMkLst>
            <pc:docMk/>
            <pc:sldMk cId="1567341557" sldId="322"/>
            <ac:spMk id="36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2"/>
          <ac:spMkLst>
            <pc:docMk/>
            <pc:sldMk cId="1567341557" sldId="322"/>
            <ac:spMk id="37" creationId="{00000000-0000-0000-0000-000000000000}"/>
          </ac:spMkLst>
        </pc:spChg>
      </pc:sldChg>
    </pc:docChg>
  </pc:docChgLst>
  <pc:docChgLst>
    <pc:chgData name="Guest User" userId="S::urn:spo:tenantanon#6370a6c0-7b90-4709-bd6e-59c28ede833b::" providerId="AD" clId="Web-{B9DDB9E6-1D82-E201-33EF-6DB9807279E1}"/>
    <pc:docChg chg="addSld delSld sldOrd">
      <pc:chgData name="Guest User" userId="S::urn:spo:tenantanon#6370a6c0-7b90-4709-bd6e-59c28ede833b::" providerId="AD" clId="Web-{B9DDB9E6-1D82-E201-33EF-6DB9807279E1}" dt="2026-09-18T16:12:53.958" v="2"/>
      <pc:docMkLst>
        <pc:docMk/>
      </pc:docMkLst>
      <pc:sldChg chg="new del ord">
        <pc:chgData name="Guest User" userId="S::urn:spo:tenantanon#6370a6c0-7b90-4709-bd6e-59c28ede833b::" providerId="AD" clId="Web-{B9DDB9E6-1D82-E201-33EF-6DB9807279E1}" dt="2026-09-18T16:12:53.958" v="2"/>
        <pc:sldMkLst>
          <pc:docMk/>
          <pc:sldMk cId="1252204393" sldId="307"/>
        </pc:sldMkLst>
      </pc:sldChg>
    </pc:docChg>
  </pc:docChgLst>
  <pc:docChgLst>
    <pc:chgData name="Guest User" userId="S::urn:spo:tenantanon#6370a6c0-7b90-4709-bd6e-59c28ede833b::" providerId="AD" clId="Web-{F0E8A655-A536-8E0C-2D44-A05C4498CEB1}"/>
    <pc:docChg chg="addSld delSld modSld sldOrd">
      <pc:chgData name="Guest User" userId="S::urn:spo:tenantanon#6370a6c0-7b90-4709-bd6e-59c28ede833b::" providerId="AD" clId="Web-{F0E8A655-A536-8E0C-2D44-A05C4498CEB1}" dt="2026-09-18T00:18:24.583" v="252"/>
      <pc:docMkLst>
        <pc:docMk/>
      </pc:docMkLst>
      <pc:sldChg chg="addSp delSp modSp delAnim">
        <pc:chgData name="Guest User" userId="S::urn:spo:tenantanon#6370a6c0-7b90-4709-bd6e-59c28ede833b::" providerId="AD" clId="Web-{F0E8A655-A536-8E0C-2D44-A05C4498CEB1}" dt="2026-09-17T23:43:39.235" v="184"/>
        <pc:sldMkLst>
          <pc:docMk/>
          <pc:sldMk cId="0" sldId="258"/>
        </pc:sldMkLst>
        <pc:spChg chg="add mod">
          <ac:chgData name="Guest User" userId="S::urn:spo:tenantanon#6370a6c0-7b90-4709-bd6e-59c28ede833b::" providerId="AD" clId="Web-{F0E8A655-A536-8E0C-2D44-A05C4498CEB1}" dt="2026-09-17T23:18:14.049" v="155" actId="1076"/>
          <ac:spMkLst>
            <pc:docMk/>
            <pc:sldMk cId="0" sldId="258"/>
            <ac:spMk id="7" creationId="{8CB51475-DD17-A772-7A41-113CD52CBCDA}"/>
          </ac:spMkLst>
        </pc:spChg>
        <pc:spChg chg="mod">
          <ac:chgData name="Guest User" userId="S::urn:spo:tenantanon#6370a6c0-7b90-4709-bd6e-59c28ede833b::" providerId="AD" clId="Web-{F0E8A655-A536-8E0C-2D44-A05C4498CEB1}" dt="2026-09-17T23:18:08.111" v="152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8:08.158" v="153" actId="1076"/>
          <ac:spMkLst>
            <pc:docMk/>
            <pc:sldMk cId="0" sldId="258"/>
            <ac:spMk id="2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8:02.454" v="151"/>
          <ac:spMkLst>
            <pc:docMk/>
            <pc:sldMk cId="0" sldId="258"/>
            <ac:spMk id="2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8:02.454" v="150"/>
          <ac:spMkLst>
            <pc:docMk/>
            <pc:sldMk cId="0" sldId="258"/>
            <ac:spMk id="24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43:36.532" v="183"/>
          <ac:spMkLst>
            <pc:docMk/>
            <pc:sldMk cId="0" sldId="258"/>
            <ac:spMk id="25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43:39.235" v="184"/>
          <ac:spMkLst>
            <pc:docMk/>
            <pc:sldMk cId="0" sldId="258"/>
            <ac:spMk id="26" creationId="{00000000-0000-0000-0000-000000000000}"/>
          </ac:spMkLst>
        </pc:spChg>
        <pc:spChg chg="add mod">
          <ac:chgData name="Guest User" userId="S::urn:spo:tenantanon#6370a6c0-7b90-4709-bd6e-59c28ede833b::" providerId="AD" clId="Web-{F0E8A655-A536-8E0C-2D44-A05C4498CEB1}" dt="2026-09-17T23:18:33.144" v="159" actId="1076"/>
          <ac:spMkLst>
            <pc:docMk/>
            <pc:sldMk cId="0" sldId="258"/>
            <ac:spMk id="33" creationId="{3A189DA2-DFE8-9C22-9297-520165789642}"/>
          </ac:spMkLst>
        </pc:spChg>
      </pc:sldChg>
      <pc:sldChg chg="del ord">
        <pc:chgData name="Guest User" userId="S::urn:spo:tenantanon#6370a6c0-7b90-4709-bd6e-59c28ede833b::" providerId="AD" clId="Web-{F0E8A655-A536-8E0C-2D44-A05C4498CEB1}" dt="2026-09-18T00:02:48.857" v="209"/>
        <pc:sldMkLst>
          <pc:docMk/>
          <pc:sldMk cId="0" sldId="260"/>
        </pc:sldMkLst>
      </pc:sldChg>
      <pc:sldChg chg="delSp">
        <pc:chgData name="Guest User" userId="S::urn:spo:tenantanon#6370a6c0-7b90-4709-bd6e-59c28ede833b::" providerId="AD" clId="Web-{F0E8A655-A536-8E0C-2D44-A05C4498CEB1}" dt="2026-09-17T23:56:00.903" v="206"/>
        <pc:sldMkLst>
          <pc:docMk/>
          <pc:sldMk cId="2971307093" sldId="266"/>
        </pc:sldMkLst>
        <pc:spChg chg="del">
          <ac:chgData name="Guest User" userId="S::urn:spo:tenantanon#6370a6c0-7b90-4709-bd6e-59c28ede833b::" providerId="AD" clId="Web-{F0E8A655-A536-8E0C-2D44-A05C4498CEB1}" dt="2026-09-17T23:56:00.903" v="206"/>
          <ac:spMkLst>
            <pc:docMk/>
            <pc:sldMk cId="2971307093" sldId="266"/>
            <ac:spMk id="7" creationId="{F60D46C7-C1DE-7A4B-85FE-4D7557E984C5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5"/>
          <ac:spMkLst>
            <pc:docMk/>
            <pc:sldMk cId="2971307093" sldId="266"/>
            <ac:spMk id="22" creationId="{58EB0012-3C7F-260D-0CAB-D37580219C0D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4"/>
          <ac:spMkLst>
            <pc:docMk/>
            <pc:sldMk cId="2971307093" sldId="266"/>
            <ac:spMk id="23" creationId="{1A4607F5-C980-FC46-E7EE-BDB6A3A26FCD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3"/>
          <ac:spMkLst>
            <pc:docMk/>
            <pc:sldMk cId="2971307093" sldId="266"/>
            <ac:spMk id="55" creationId="{D1DBB287-1AA4-34A9-20FF-30AB91FDD0C7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1"/>
          <ac:spMkLst>
            <pc:docMk/>
            <pc:sldMk cId="2971307093" sldId="266"/>
            <ac:spMk id="57" creationId="{2B96FF80-3550-D015-1C40-DB4B0353BC33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0"/>
          <ac:spMkLst>
            <pc:docMk/>
            <pc:sldMk cId="2971307093" sldId="266"/>
            <ac:spMk id="58" creationId="{10705984-2DF2-7755-0DE3-8A34C1F9DEFC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9"/>
          <ac:spMkLst>
            <pc:docMk/>
            <pc:sldMk cId="2971307093" sldId="266"/>
            <ac:spMk id="59" creationId="{900EC5B4-897E-AEA0-7953-C5BF61279047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7"/>
          <ac:spMkLst>
            <pc:docMk/>
            <pc:sldMk cId="2971307093" sldId="266"/>
            <ac:spMk id="61" creationId="{FA451905-6436-C060-B2DD-776E4ACF03A0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6"/>
          <ac:spMkLst>
            <pc:docMk/>
            <pc:sldMk cId="2971307093" sldId="266"/>
            <ac:spMk id="62" creationId="{2625AB82-39B7-909C-F746-C94C630A155E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5"/>
          <ac:spMkLst>
            <pc:docMk/>
            <pc:sldMk cId="2971307093" sldId="266"/>
            <ac:spMk id="63" creationId="{E0843B20-5E74-8F3D-337B-7098ABED9E64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3"/>
          <ac:spMkLst>
            <pc:docMk/>
            <pc:sldMk cId="2971307093" sldId="266"/>
            <ac:spMk id="65" creationId="{EA930F14-E4B7-CFFF-6FD9-62C010ED15FB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2"/>
          <ac:spMkLst>
            <pc:docMk/>
            <pc:sldMk cId="2971307093" sldId="266"/>
            <ac:spMk id="66" creationId="{6719DCE1-BC0F-232A-E7F9-C06A8E142DF5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1"/>
          <ac:spMkLst>
            <pc:docMk/>
            <pc:sldMk cId="2971307093" sldId="266"/>
            <ac:spMk id="67" creationId="{299212D2-4177-00BC-E9E2-0630CE64E421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9"/>
          <ac:spMkLst>
            <pc:docMk/>
            <pc:sldMk cId="2971307093" sldId="266"/>
            <ac:spMk id="69" creationId="{58CC961E-EB52-F989-D7FA-558CC3B55BFF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8"/>
          <ac:spMkLst>
            <pc:docMk/>
            <pc:sldMk cId="2971307093" sldId="266"/>
            <ac:spMk id="70" creationId="{E2810580-30F4-26F8-C748-DE38F53CE96E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7"/>
          <ac:spMkLst>
            <pc:docMk/>
            <pc:sldMk cId="2971307093" sldId="266"/>
            <ac:spMk id="71" creationId="{B15D4373-5149-B375-CE01-EB8FF7121BDA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5"/>
          <ac:spMkLst>
            <pc:docMk/>
            <pc:sldMk cId="2971307093" sldId="266"/>
            <ac:spMk id="73" creationId="{E4D05711-99B4-431E-2A86-B69912B8339E}"/>
          </ac:spMkLst>
        </pc:spChg>
        <pc:cxnChg chg="del">
          <ac:chgData name="Guest User" userId="S::urn:spo:tenantanon#6370a6c0-7b90-4709-bd6e-59c28ede833b::" providerId="AD" clId="Web-{F0E8A655-A536-8E0C-2D44-A05C4498CEB1}" dt="2026-09-17T23:56:00.903" v="202"/>
          <ac:cxnSpMkLst>
            <pc:docMk/>
            <pc:sldMk cId="2971307093" sldId="266"/>
            <ac:cxnSpMk id="56" creationId="{559C376B-F670-B2E6-D500-3CA75751AF4D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98"/>
          <ac:cxnSpMkLst>
            <pc:docMk/>
            <pc:sldMk cId="2971307093" sldId="266"/>
            <ac:cxnSpMk id="60" creationId="{649220C1-AC9A-0537-B2FB-FAFA641DF12B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94"/>
          <ac:cxnSpMkLst>
            <pc:docMk/>
            <pc:sldMk cId="2971307093" sldId="266"/>
            <ac:cxnSpMk id="64" creationId="{E5046253-F423-69C6-FDEE-9A2612EDBC31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90"/>
          <ac:cxnSpMkLst>
            <pc:docMk/>
            <pc:sldMk cId="2971307093" sldId="266"/>
            <ac:cxnSpMk id="68" creationId="{923A7B40-FAC8-AE83-BA9E-082747A0F59E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86"/>
          <ac:cxnSpMkLst>
            <pc:docMk/>
            <pc:sldMk cId="2971307093" sldId="266"/>
            <ac:cxnSpMk id="72" creationId="{3372723B-460D-2E45-C40C-3008A6012632}"/>
          </ac:cxnSpMkLst>
        </pc:cxnChg>
      </pc:sldChg>
      <pc:sldChg chg="del">
        <pc:chgData name="Guest User" userId="S::urn:spo:tenantanon#6370a6c0-7b90-4709-bd6e-59c28ede833b::" providerId="AD" clId="Web-{F0E8A655-A536-8E0C-2D44-A05C4498CEB1}" dt="2026-09-17T23:29:21.201" v="164"/>
        <pc:sldMkLst>
          <pc:docMk/>
          <pc:sldMk cId="718984315" sldId="274"/>
        </pc:sldMkLst>
      </pc:sldChg>
      <pc:sldChg chg="del">
        <pc:chgData name="Guest User" userId="S::urn:spo:tenantanon#6370a6c0-7b90-4709-bd6e-59c28ede833b::" providerId="AD" clId="Web-{F0E8A655-A536-8E0C-2D44-A05C4498CEB1}" dt="2026-09-17T23:29:21.671" v="165"/>
        <pc:sldMkLst>
          <pc:docMk/>
          <pc:sldMk cId="222590383" sldId="275"/>
        </pc:sldMkLst>
      </pc:sldChg>
      <pc:sldChg chg="del">
        <pc:chgData name="Guest User" userId="S::urn:spo:tenantanon#6370a6c0-7b90-4709-bd6e-59c28ede833b::" providerId="AD" clId="Web-{F0E8A655-A536-8E0C-2D44-A05C4498CEB1}" dt="2026-09-17T23:19:23.288" v="161"/>
        <pc:sldMkLst>
          <pc:docMk/>
          <pc:sldMk cId="3769131820" sldId="276"/>
        </pc:sldMkLst>
      </pc:sldChg>
      <pc:sldChg chg="delSp modSp add">
        <pc:chgData name="Guest User" userId="S::urn:spo:tenantanon#6370a6c0-7b90-4709-bd6e-59c28ede833b::" providerId="AD" clId="Web-{F0E8A655-A536-8E0C-2D44-A05C4498CEB1}" dt="2026-09-17T23:03:02.473" v="19" actId="14100"/>
        <pc:sldMkLst>
          <pc:docMk/>
          <pc:sldMk cId="2595393371" sldId="282"/>
        </pc:sldMkLst>
        <pc:spChg chg="mod">
          <ac:chgData name="Guest User" userId="S::urn:spo:tenantanon#6370a6c0-7b90-4709-bd6e-59c28ede833b::" providerId="AD" clId="Web-{F0E8A655-A536-8E0C-2D44-A05C4498CEB1}" dt="2026-09-17T23:03:02.473" v="19" actId="14100"/>
          <ac:spMkLst>
            <pc:docMk/>
            <pc:sldMk cId="2595393371" sldId="282"/>
            <ac:spMk id="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9"/>
          <ac:spMkLst>
            <pc:docMk/>
            <pc:sldMk cId="2595393371" sldId="282"/>
            <ac:spMk id="3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8"/>
          <ac:spMkLst>
            <pc:docMk/>
            <pc:sldMk cId="2595393371" sldId="282"/>
            <ac:spMk id="3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7"/>
          <ac:spMkLst>
            <pc:docMk/>
            <pc:sldMk cId="2595393371" sldId="282"/>
            <ac:spMk id="3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6"/>
          <ac:spMkLst>
            <pc:docMk/>
            <pc:sldMk cId="2595393371" sldId="282"/>
            <ac:spMk id="3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5"/>
          <ac:spMkLst>
            <pc:docMk/>
            <pc:sldMk cId="2595393371" sldId="282"/>
            <ac:spMk id="3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4"/>
          <ac:spMkLst>
            <pc:docMk/>
            <pc:sldMk cId="2595393371" sldId="282"/>
            <ac:spMk id="3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3"/>
          <ac:spMkLst>
            <pc:docMk/>
            <pc:sldMk cId="2595393371" sldId="282"/>
            <ac:spMk id="3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2"/>
          <ac:spMkLst>
            <pc:docMk/>
            <pc:sldMk cId="2595393371" sldId="282"/>
            <ac:spMk id="3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1"/>
          <ac:spMkLst>
            <pc:docMk/>
            <pc:sldMk cId="2595393371" sldId="282"/>
            <ac:spMk id="39" creationId="{00000000-0000-0000-0000-000000000000}"/>
          </ac:spMkLst>
        </pc:spChg>
        <pc:picChg chg="mod modCrop">
          <ac:chgData name="Guest User" userId="S::urn:spo:tenantanon#6370a6c0-7b90-4709-bd6e-59c28ede833b::" providerId="AD" clId="Web-{F0E8A655-A536-8E0C-2D44-A05C4498CEB1}" dt="2026-09-17T23:02:50.988" v="17" actId="1076"/>
          <ac:picMkLst>
            <pc:docMk/>
            <pc:sldMk cId="2595393371" sldId="282"/>
            <ac:picMk id="40" creationId="{00000000-0000-0000-0000-000000000000}"/>
          </ac:picMkLst>
        </pc:picChg>
      </pc:sldChg>
      <pc:sldChg chg="add">
        <pc:chgData name="Guest User" userId="S::urn:spo:tenantanon#6370a6c0-7b90-4709-bd6e-59c28ede833b::" providerId="AD" clId="Web-{F0E8A655-A536-8E0C-2D44-A05C4498CEB1}" dt="2026-09-17T23:03:53.663" v="20"/>
        <pc:sldMkLst>
          <pc:docMk/>
          <pc:sldMk cId="2448141990" sldId="283"/>
        </pc:sldMkLst>
      </pc:sldChg>
      <pc:sldChg chg="delSp add">
        <pc:chgData name="Guest User" userId="S::urn:spo:tenantanon#6370a6c0-7b90-4709-bd6e-59c28ede833b::" providerId="AD" clId="Web-{F0E8A655-A536-8E0C-2D44-A05C4498CEB1}" dt="2026-09-18T00:05:18.564" v="229"/>
        <pc:sldMkLst>
          <pc:docMk/>
          <pc:sldMk cId="1104709510" sldId="287"/>
        </pc:sldMkLst>
        <pc:spChg chg="del">
          <ac:chgData name="Guest User" userId="S::urn:spo:tenantanon#6370a6c0-7b90-4709-bd6e-59c28ede833b::" providerId="AD" clId="Web-{F0E8A655-A536-8E0C-2D44-A05C4498CEB1}" dt="2026-09-18T00:05:18.564" v="229"/>
          <ac:spMkLst>
            <pc:docMk/>
            <pc:sldMk cId="1104709510" sldId="287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8"/>
          <ac:spMkLst>
            <pc:docMk/>
            <pc:sldMk cId="1104709510" sldId="287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7"/>
          <ac:spMkLst>
            <pc:docMk/>
            <pc:sldMk cId="1104709510" sldId="287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6"/>
          <ac:spMkLst>
            <pc:docMk/>
            <pc:sldMk cId="1104709510" sldId="287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5"/>
          <ac:spMkLst>
            <pc:docMk/>
            <pc:sldMk cId="1104709510" sldId="287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4"/>
          <ac:spMkLst>
            <pc:docMk/>
            <pc:sldMk cId="1104709510" sldId="287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3"/>
          <ac:spMkLst>
            <pc:docMk/>
            <pc:sldMk cId="1104709510" sldId="287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2"/>
          <ac:spMkLst>
            <pc:docMk/>
            <pc:sldMk cId="1104709510" sldId="287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1"/>
          <ac:spMkLst>
            <pc:docMk/>
            <pc:sldMk cId="1104709510" sldId="287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0"/>
          <ac:spMkLst>
            <pc:docMk/>
            <pc:sldMk cId="1104709510" sldId="287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0:02.936" v="167"/>
          <ac:spMkLst>
            <pc:docMk/>
            <pc:sldMk cId="1104709510" sldId="287"/>
            <ac:spMk id="10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0:00.639" v="166"/>
          <ac:spMkLst>
            <pc:docMk/>
            <pc:sldMk cId="1104709510" sldId="287"/>
            <ac:spMk id="102" creationId="{00000000-0000-0000-0000-000000000000}"/>
          </ac:spMkLst>
        </pc:spChg>
      </pc:sldChg>
      <pc:sldChg chg="delSp modSp add">
        <pc:chgData name="Guest User" userId="S::urn:spo:tenantanon#6370a6c0-7b90-4709-bd6e-59c28ede833b::" providerId="AD" clId="Web-{F0E8A655-A536-8E0C-2D44-A05C4498CEB1}" dt="2026-09-18T00:05:27.299" v="239"/>
        <pc:sldMkLst>
          <pc:docMk/>
          <pc:sldMk cId="2254739147" sldId="288"/>
        </pc:sldMkLst>
        <pc:spChg chg="del">
          <ac:chgData name="Guest User" userId="S::urn:spo:tenantanon#6370a6c0-7b90-4709-bd6e-59c28ede833b::" providerId="AD" clId="Web-{F0E8A655-A536-8E0C-2D44-A05C4498CEB1}" dt="2026-09-18T00:05:27.299" v="239"/>
          <ac:spMkLst>
            <pc:docMk/>
            <pc:sldMk cId="2254739147" sldId="288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8"/>
          <ac:spMkLst>
            <pc:docMk/>
            <pc:sldMk cId="2254739147" sldId="288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7"/>
          <ac:spMkLst>
            <pc:docMk/>
            <pc:sldMk cId="2254739147" sldId="288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6"/>
          <ac:spMkLst>
            <pc:docMk/>
            <pc:sldMk cId="2254739147" sldId="288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5"/>
          <ac:spMkLst>
            <pc:docMk/>
            <pc:sldMk cId="2254739147" sldId="288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4"/>
          <ac:spMkLst>
            <pc:docMk/>
            <pc:sldMk cId="2254739147" sldId="288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3"/>
          <ac:spMkLst>
            <pc:docMk/>
            <pc:sldMk cId="2254739147" sldId="288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2"/>
          <ac:spMkLst>
            <pc:docMk/>
            <pc:sldMk cId="2254739147" sldId="288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1"/>
          <ac:spMkLst>
            <pc:docMk/>
            <pc:sldMk cId="2254739147" sldId="288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0"/>
          <ac:spMkLst>
            <pc:docMk/>
            <pc:sldMk cId="2254739147" sldId="288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14.204" v="171"/>
          <ac:spMkLst>
            <pc:docMk/>
            <pc:sldMk cId="2254739147" sldId="288"/>
            <ac:spMk id="101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31:11.813" v="170"/>
          <ac:spMkLst>
            <pc:docMk/>
            <pc:sldMk cId="2254739147" sldId="288"/>
            <ac:spMk id="102" creationId="{00000000-0000-0000-0000-000000000000}"/>
          </ac:spMkLst>
        </pc:spChg>
      </pc:sldChg>
      <pc:sldChg chg="delSp add">
        <pc:chgData name="Guest User" userId="S::urn:spo:tenantanon#6370a6c0-7b90-4709-bd6e-59c28ede833b::" providerId="AD" clId="Web-{F0E8A655-A536-8E0C-2D44-A05C4498CEB1}" dt="2026-09-18T00:05:32.955" v="249"/>
        <pc:sldMkLst>
          <pc:docMk/>
          <pc:sldMk cId="3044288026" sldId="289"/>
        </pc:sldMkLst>
        <pc:spChg chg="del">
          <ac:chgData name="Guest User" userId="S::urn:spo:tenantanon#6370a6c0-7b90-4709-bd6e-59c28ede833b::" providerId="AD" clId="Web-{F0E8A655-A536-8E0C-2D44-A05C4498CEB1}" dt="2026-09-18T00:05:32.955" v="249"/>
          <ac:spMkLst>
            <pc:docMk/>
            <pc:sldMk cId="3044288026" sldId="289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8"/>
          <ac:spMkLst>
            <pc:docMk/>
            <pc:sldMk cId="3044288026" sldId="289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7"/>
          <ac:spMkLst>
            <pc:docMk/>
            <pc:sldMk cId="3044288026" sldId="289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6"/>
          <ac:spMkLst>
            <pc:docMk/>
            <pc:sldMk cId="3044288026" sldId="289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5"/>
          <ac:spMkLst>
            <pc:docMk/>
            <pc:sldMk cId="3044288026" sldId="289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4"/>
          <ac:spMkLst>
            <pc:docMk/>
            <pc:sldMk cId="3044288026" sldId="289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3"/>
          <ac:spMkLst>
            <pc:docMk/>
            <pc:sldMk cId="3044288026" sldId="289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2"/>
          <ac:spMkLst>
            <pc:docMk/>
            <pc:sldMk cId="3044288026" sldId="289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1"/>
          <ac:spMkLst>
            <pc:docMk/>
            <pc:sldMk cId="3044288026" sldId="289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40" v="240"/>
          <ac:spMkLst>
            <pc:docMk/>
            <pc:sldMk cId="3044288026" sldId="289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20.938" v="172"/>
          <ac:spMkLst>
            <pc:docMk/>
            <pc:sldMk cId="3044288026" sldId="289"/>
            <ac:spMk id="10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24.673" v="173"/>
          <ac:spMkLst>
            <pc:docMk/>
            <pc:sldMk cId="3044288026" sldId="289"/>
            <ac:spMk id="102" creationId="{00000000-0000-0000-0000-000000000000}"/>
          </ac:spMkLst>
        </pc:spChg>
      </pc:sldChg>
      <pc:sldChg chg="delSp add">
        <pc:chgData name="Guest User" userId="S::urn:spo:tenantanon#6370a6c0-7b90-4709-bd6e-59c28ede833b::" providerId="AD" clId="Web-{F0E8A655-A536-8E0C-2D44-A05C4498CEB1}" dt="2026-09-18T00:05:10.767" v="219"/>
        <pc:sldMkLst>
          <pc:docMk/>
          <pc:sldMk cId="2321034787" sldId="290"/>
        </pc:sldMkLst>
        <pc:spChg chg="del">
          <ac:chgData name="Guest User" userId="S::urn:spo:tenantanon#6370a6c0-7b90-4709-bd6e-59c28ede833b::" providerId="AD" clId="Web-{F0E8A655-A536-8E0C-2D44-A05C4498CEB1}" dt="2026-09-18T00:05:10.767" v="219"/>
          <ac:spMkLst>
            <pc:docMk/>
            <pc:sldMk cId="2321034787" sldId="290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8"/>
          <ac:spMkLst>
            <pc:docMk/>
            <pc:sldMk cId="2321034787" sldId="290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7"/>
          <ac:spMkLst>
            <pc:docMk/>
            <pc:sldMk cId="2321034787" sldId="290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6"/>
          <ac:spMkLst>
            <pc:docMk/>
            <pc:sldMk cId="2321034787" sldId="290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5"/>
          <ac:spMkLst>
            <pc:docMk/>
            <pc:sldMk cId="2321034787" sldId="290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4"/>
          <ac:spMkLst>
            <pc:docMk/>
            <pc:sldMk cId="2321034787" sldId="290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3"/>
          <ac:spMkLst>
            <pc:docMk/>
            <pc:sldMk cId="2321034787" sldId="290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2"/>
          <ac:spMkLst>
            <pc:docMk/>
            <pc:sldMk cId="2321034787" sldId="290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52" v="211"/>
          <ac:spMkLst>
            <pc:docMk/>
            <pc:sldMk cId="2321034787" sldId="290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52" v="210"/>
          <ac:spMkLst>
            <pc:docMk/>
            <pc:sldMk cId="2321034787" sldId="290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38.063" v="175"/>
          <ac:spMkLst>
            <pc:docMk/>
            <pc:sldMk cId="2321034787" sldId="290"/>
            <ac:spMk id="10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35.532" v="174"/>
          <ac:spMkLst>
            <pc:docMk/>
            <pc:sldMk cId="2321034787" sldId="290"/>
            <ac:spMk id="102" creationId="{00000000-0000-0000-0000-000000000000}"/>
          </ac:spMkLst>
        </pc:spChg>
      </pc:sldChg>
      <pc:sldChg chg="addSp delSp modSp add">
        <pc:chgData name="Guest User" userId="S::urn:spo:tenantanon#6370a6c0-7b90-4709-bd6e-59c28ede833b::" providerId="AD" clId="Web-{F0E8A655-A536-8E0C-2D44-A05C4498CEB1}" dt="2026-09-17T23:15:44.623" v="149" actId="20577"/>
        <pc:sldMkLst>
          <pc:docMk/>
          <pc:sldMk cId="444386408" sldId="291"/>
        </pc:sldMkLst>
        <pc:spChg chg="add del">
          <ac:chgData name="Guest User" userId="S::urn:spo:tenantanon#6370a6c0-7b90-4709-bd6e-59c28ede833b::" providerId="AD" clId="Web-{F0E8A655-A536-8E0C-2D44-A05C4498CEB1}" dt="2026-09-17T23:13:45.120" v="98"/>
          <ac:spMkLst>
            <pc:docMk/>
            <pc:sldMk cId="444386408" sldId="291"/>
            <ac:spMk id="2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2:31.228" v="46" actId="1076"/>
          <ac:spMkLst>
            <pc:docMk/>
            <pc:sldMk cId="444386408" sldId="291"/>
            <ac:spMk id="3" creationId="{00000000-0000-0000-0000-000000000000}"/>
          </ac:spMkLst>
        </pc:spChg>
        <pc:spChg chg="add del mod">
          <ac:chgData name="Guest User" userId="S::urn:spo:tenantanon#6370a6c0-7b90-4709-bd6e-59c28ede833b::" providerId="AD" clId="Web-{F0E8A655-A536-8E0C-2D44-A05C4498CEB1}" dt="2026-09-17T23:13:42.089" v="84" actId="1076"/>
          <ac:spMkLst>
            <pc:docMk/>
            <pc:sldMk cId="444386408" sldId="291"/>
            <ac:spMk id="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4:08.449" v="105"/>
          <ac:spMkLst>
            <pc:docMk/>
            <pc:sldMk cId="444386408" sldId="291"/>
            <ac:spMk id="13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33.340" v="112" actId="1076"/>
          <ac:spMkLst>
            <pc:docMk/>
            <pc:sldMk cId="444386408" sldId="291"/>
            <ac:spMk id="14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19.121" v="108" actId="1076"/>
          <ac:spMkLst>
            <pc:docMk/>
            <pc:sldMk cId="444386408" sldId="291"/>
            <ac:spMk id="15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21.965" v="109" actId="1076"/>
          <ac:spMkLst>
            <pc:docMk/>
            <pc:sldMk cId="444386408" sldId="291"/>
            <ac:spMk id="1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0:45.162" v="26"/>
          <ac:spMkLst>
            <pc:docMk/>
            <pc:sldMk cId="444386408" sldId="291"/>
            <ac:spMk id="17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13.683" v="106" actId="1076"/>
          <ac:spMkLst>
            <pc:docMk/>
            <pc:sldMk cId="444386408" sldId="291"/>
            <ac:spMk id="18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30.433" v="111" actId="1076"/>
          <ac:spMkLst>
            <pc:docMk/>
            <pc:sldMk cId="444386408" sldId="291"/>
            <ac:spMk id="19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10:47.100" v="28"/>
          <ac:spMkLst>
            <pc:docMk/>
            <pc:sldMk cId="444386408" sldId="291"/>
            <ac:spMk id="20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27.230" v="110" actId="1076"/>
          <ac:spMkLst>
            <pc:docMk/>
            <pc:sldMk cId="444386408" sldId="291"/>
            <ac:spMk id="2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50"/>
          <ac:spMkLst>
            <pc:docMk/>
            <pc:sldMk cId="444386408" sldId="291"/>
            <ac:spMk id="2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49"/>
          <ac:spMkLst>
            <pc:docMk/>
            <pc:sldMk cId="444386408" sldId="291"/>
            <ac:spMk id="2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48"/>
          <ac:spMkLst>
            <pc:docMk/>
            <pc:sldMk cId="444386408" sldId="291"/>
            <ac:spMk id="2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47"/>
          <ac:spMkLst>
            <pc:docMk/>
            <pc:sldMk cId="444386408" sldId="291"/>
            <ac:spMk id="25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3:54.245" v="100" actId="1076"/>
          <ac:spMkLst>
            <pc:docMk/>
            <pc:sldMk cId="444386408" sldId="291"/>
            <ac:spMk id="26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7"/>
          <ac:spMkLst>
            <pc:docMk/>
            <pc:sldMk cId="444386408" sldId="291"/>
            <ac:spMk id="28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6"/>
          <ac:spMkLst>
            <pc:docMk/>
            <pc:sldMk cId="444386408" sldId="291"/>
            <ac:spMk id="29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5"/>
          <ac:spMkLst>
            <pc:docMk/>
            <pc:sldMk cId="444386408" sldId="291"/>
            <ac:spMk id="30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4"/>
          <ac:spMkLst>
            <pc:docMk/>
            <pc:sldMk cId="444386408" sldId="291"/>
            <ac:spMk id="31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3"/>
          <ac:spMkLst>
            <pc:docMk/>
            <pc:sldMk cId="444386408" sldId="291"/>
            <ac:spMk id="32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2"/>
          <ac:spMkLst>
            <pc:docMk/>
            <pc:sldMk cId="444386408" sldId="291"/>
            <ac:spMk id="33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1"/>
          <ac:spMkLst>
            <pc:docMk/>
            <pc:sldMk cId="444386408" sldId="291"/>
            <ac:spMk id="34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0"/>
          <ac:spMkLst>
            <pc:docMk/>
            <pc:sldMk cId="444386408" sldId="291"/>
            <ac:spMk id="35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9"/>
          <ac:spMkLst>
            <pc:docMk/>
            <pc:sldMk cId="444386408" sldId="291"/>
            <ac:spMk id="36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38.370" v="83"/>
          <ac:spMkLst>
            <pc:docMk/>
            <pc:sldMk cId="444386408" sldId="291"/>
            <ac:spMk id="37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8"/>
          <ac:spMkLst>
            <pc:docMk/>
            <pc:sldMk cId="444386408" sldId="291"/>
            <ac:spMk id="38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7"/>
          <ac:spMkLst>
            <pc:docMk/>
            <pc:sldMk cId="444386408" sldId="291"/>
            <ac:spMk id="39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6"/>
          <ac:spMkLst>
            <pc:docMk/>
            <pc:sldMk cId="444386408" sldId="291"/>
            <ac:spMk id="40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5"/>
          <ac:spMkLst>
            <pc:docMk/>
            <pc:sldMk cId="444386408" sldId="291"/>
            <ac:spMk id="41" creationId="{00000000-0000-0000-0000-000000000000}"/>
          </ac:spMkLst>
        </pc:spChg>
        <pc:spChg chg="add mod">
          <ac:chgData name="Guest User" userId="S::urn:spo:tenantanon#6370a6c0-7b90-4709-bd6e-59c28ede833b::" providerId="AD" clId="Web-{F0E8A655-A536-8E0C-2D44-A05C4498CEB1}" dt="2026-09-17T23:15:44.623" v="149" actId="20577"/>
          <ac:spMkLst>
            <pc:docMk/>
            <pc:sldMk cId="444386408" sldId="291"/>
            <ac:spMk id="42" creationId="{42DCE483-A1F0-3D3F-89E1-CC58B13D4F04}"/>
          </ac:spMkLst>
        </pc:spChg>
        <pc:picChg chg="mod">
          <ac:chgData name="Guest User" userId="S::urn:spo:tenantanon#6370a6c0-7b90-4709-bd6e-59c28ede833b::" providerId="AD" clId="Web-{F0E8A655-A536-8E0C-2D44-A05C4498CEB1}" dt="2026-09-17T23:13:52.042" v="99" actId="1076"/>
          <ac:picMkLst>
            <pc:docMk/>
            <pc:sldMk cId="444386408" sldId="291"/>
            <ac:picMk id="27" creationId="{00000000-0000-0000-0000-000000000000}"/>
          </ac:picMkLst>
        </pc:picChg>
      </pc:sldChg>
      <pc:sldChg chg="addSp delSp modSp add ord">
        <pc:chgData name="Guest User" userId="S::urn:spo:tenantanon#6370a6c0-7b90-4709-bd6e-59c28ede833b::" providerId="AD" clId="Web-{F0E8A655-A536-8E0C-2D44-A05C4498CEB1}" dt="2026-09-17T23:42:12.545" v="182" actId="1076"/>
        <pc:sldMkLst>
          <pc:docMk/>
          <pc:sldMk cId="1779910490" sldId="292"/>
        </pc:sldMkLst>
        <pc:spChg chg="del">
          <ac:chgData name="Guest User" userId="S::urn:spo:tenantanon#6370a6c0-7b90-4709-bd6e-59c28ede833b::" providerId="AD" clId="Web-{F0E8A655-A536-8E0C-2D44-A05C4498CEB1}" dt="2026-09-17T23:41:03.244" v="178"/>
          <ac:spMkLst>
            <pc:docMk/>
            <pc:sldMk cId="1779910490" sldId="292"/>
            <ac:spMk id="7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41:00.759" v="177"/>
          <ac:spMkLst>
            <pc:docMk/>
            <pc:sldMk cId="1779910490" sldId="292"/>
            <ac:spMk id="73" creationId="{00000000-0000-0000-0000-000000000000}"/>
          </ac:spMkLst>
        </pc:spChg>
        <pc:picChg chg="add mod">
          <ac:chgData name="Guest User" userId="S::urn:spo:tenantanon#6370a6c0-7b90-4709-bd6e-59c28ede833b::" providerId="AD" clId="Web-{F0E8A655-A536-8E0C-2D44-A05C4498CEB1}" dt="2026-09-17T23:42:12.545" v="182" actId="1076"/>
          <ac:picMkLst>
            <pc:docMk/>
            <pc:sldMk cId="1779910490" sldId="292"/>
            <ac:picMk id="2" creationId="{8A6A2592-8663-4E0B-C787-03C9731736C0}"/>
          </ac:picMkLst>
        </pc:picChg>
      </pc:sldChg>
      <pc:sldChg chg="del">
        <pc:chgData name="Guest User" userId="S::urn:spo:tenantanon#6370a6c0-7b90-4709-bd6e-59c28ede833b::" providerId="AD" clId="Web-{F0E8A655-A536-8E0C-2D44-A05C4498CEB1}" dt="2026-09-17T23:28:56.419" v="162"/>
        <pc:sldMkLst>
          <pc:docMk/>
          <pc:sldMk cId="1361455815" sldId="293"/>
        </pc:sldMkLst>
      </pc:sldChg>
      <pc:sldChg chg="add">
        <pc:chgData name="Guest User" userId="S::urn:spo:tenantanon#6370a6c0-7b90-4709-bd6e-59c28ede833b::" providerId="AD" clId="Web-{F0E8A655-A536-8E0C-2D44-A05C4498CEB1}" dt="2026-09-17T23:56:56.968" v="208"/>
        <pc:sldMkLst>
          <pc:docMk/>
          <pc:sldMk cId="4165999719" sldId="293"/>
        </pc:sldMkLst>
      </pc:sldChg>
      <pc:sldChg chg="add">
        <pc:chgData name="Guest User" userId="S::urn:spo:tenantanon#6370a6c0-7b90-4709-bd6e-59c28ede833b::" providerId="AD" clId="Web-{F0E8A655-A536-8E0C-2D44-A05C4498CEB1}" dt="2026-09-18T00:16:33.970" v="250"/>
        <pc:sldMkLst>
          <pc:docMk/>
          <pc:sldMk cId="1920323722" sldId="305"/>
        </pc:sldMkLst>
      </pc:sldChg>
      <pc:sldChg chg="add">
        <pc:chgData name="Guest User" userId="S::urn:spo:tenantanon#6370a6c0-7b90-4709-bd6e-59c28ede833b::" providerId="AD" clId="Web-{F0E8A655-A536-8E0C-2D44-A05C4498CEB1}" dt="2026-09-18T00:18:05.489" v="251"/>
        <pc:sldMkLst>
          <pc:docMk/>
          <pc:sldMk cId="2161918785" sldId="306"/>
        </pc:sldMkLst>
      </pc:sldChg>
      <pc:sldChg chg="add">
        <pc:chgData name="Guest User" userId="S::urn:spo:tenantanon#6370a6c0-7b90-4709-bd6e-59c28ede833b::" providerId="AD" clId="Web-{F0E8A655-A536-8E0C-2D44-A05C4498CEB1}" dt="2026-09-18T00:18:24.583" v="252"/>
        <pc:sldMkLst>
          <pc:docMk/>
          <pc:sldMk cId="2174567656" sldId="30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5C461-9D63-4A58-BF91-933D95097AE6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ADDB9-189E-4F84-A208-07C1AA8F3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497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mesmo mercado atravessa os slides 3, 4 e 8: a reunião do Fed de dezembro de 2025. No print, a chance de corte cai de ~90% para ~20% em novembro e volta a 97% — o Fed cortou 25. A barra da esquerda é a distribuição de 04/11: a média ponderada das respostas dá o corte esperado (as pontas abertas contam −62,5 e +37,5 bps; preços normalizados para somar 100%).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âncora NÃO é a bolsa: é o mercado de juros, que negocia a mesma pergunta. Em 04/11 o Polymarket esperava corte de 17,7 bps; os juros embutiam 5. Um mês depois (04/12) os juros chegaram a 25, e o Fed cortou 25. Um exemplo ilustra, não prova: o agregado está no slide 16. Reunião escolhida por regra: a de maior distância média entre os dois na janela. Juros = T-bill de 3 meses menos a taxa efetiva do Fed (FRED: DTB3 − DFF), última leitura antes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dos dados, se perguntarem: Polymarket pela Gamma API (catálogo) e pelo CLOB (histórico de preço, passo de 12h, o mais fino da API gratuita); 18 reuniões do FOMC e 76 mercados. Rebalanceamento diário, horizonte de dias a semanas em torno do evento. Livro sem negociação desliga a view no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Diagrama de Idzorek na nossa notação. Esquerda: o que o mercado já carrega (δ, Σ, w_mkt → π, distribuição a priori). Direita: o que o Polymarket diz (P, Q, Ω → distribuição das views). Embaixo: o BL junta as duas — a média combinada E[R] vira a carteira do dia. O slide seguinte abre como Q e Ω são calculados.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de cima é o Black-Litterman da entrega (src/bl_optimizer.py): o retorno esperado parte do equilíbrio π e só se afasta dele onde há view. As duas entradas em âmbar — Q e Ω — vêm do Polymarket; π e Σ vêm dos preços. Q: a surpresa em bps vezes o β medido, com o P saindo do próprio β e peso zero no SPY. Ω: a convenção de He-Litterman vezes o c da régua; c ≥ 1 significa que o BL clássico é o teto da confiança. τ = 1/504 é o inverso da janela do Σ (2 anos de pregão) e δ = 3,0 foi medido no S&amp;P em 22 anos. O Ω é diagonal: a correlação entre views ainda não entra. Embaixo, o mesmo dia dos slides 3 e 4: em 04/11/2025, a view do Fed deu Q = +0,50% com c = 1,02.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(src/view_2_3_fed.py, branch Felipe): E_poly é a média das faixas do mercado da próxima reunião, em bps. A âncora é o T-bill de 3 meses menos a taxa efetiva (DTB3 − DFF). A surpresa entra descontada da média das surpresas passadas, porque o T-bill olha cerca de 3 meses e o mercado olha uma reunião. O β é a reação de cada ETF à variação do T-bill nos dias de FOMC, e o P sai do β com peso zero no SPY. Ativa em 312 dos 374 pregões. A cesta mostra os ETFs que ficam sempre do mesmo lado; quem é comprado e quem é vendido depende do sinal da surpresa do dia. A faixa do topo marca, em âmbar, os pregões em que a view esteve ligada.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(src/view_2_2_inflacao.py, branch Felipe): cada faixa do mercado de CPI mensal é anualizada antes da média. A divergência contra o breakeven de 10 anos entra descontada da média passada (o descasamento de prazo é de cerca de 2 pp) e é dividida pelos dias que faltam para o CPI: o Q vira o movimento de um dia e aperta conforme a data chega. O par TIP × TLT é casado pela duration medida, para que um deslocamento paralelo da curva se cancele. Ativa em 253 pregões; c mediano de 1,05. A cesta mostra os ETFs que ficam sempre do mesmo lado; quem é comprado e quem é vendido depende do sinal da surpresa do dia. A faixa do topo marca, em âmbar, os pregões em que a view esteve ligada.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(src/view_B_trajetoria_propria.py, branch Felipe): cada faixa do mercado de quantos cortes haverá em 2025 vira uma taxa de fim de ano (a taxa efetiva do fim de 2024 menos 25 bps por corte), e a média é comparada com o Treasury de 1 ano, o prazo da própria pergunta. O β é medido contra a variação desse Treasury: reusar o β do Fed poria duas linhas iguais no P (medido em 37 reuniões, trocar o vértice gira a cesta em 95,6°). Ativa em 154 pregões; c mediano de 1,03. A cesta mostra os ETFs que ficam sempre do mesmo lado; quem é comprado e quem é vendido depende do sinal da surpresa do dia. A faixa do topo marca, em âmbar, os pregões em que a view esteve ligada.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(src/view_incerteza_anuncio.py, branch Felipe): H é a entropia normalizada da distribuição do Polymarket na véspera do anúncio (Fed, inflação ou emprego); 0 é certeza e 1 é dúvida máxima. Ela entra descontada da média passada daquela família de anúncio. O β vem de uma regressão com intercepto dos retornos nos dias de anúncio contra H: o intercepto tira o prêmio médio e sobra só a parte ligada à incerteza. P = 2 no SPY, a única view direcional. Ativa em 26 pregões; c mediano de 1,10. A cesta mostra os ETFs que ficam sempre do mesmo lado; quem é comprado e quem é vendido depende do sinal da surpresa do dia. A faixa do topo marca, em âmbar, os pregões em que a view esteve ligada.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de cima é a da camada: sinal, livro, μ e tamanho — e o tamanho sai da mesma âncora do BL (inv(δΣ)·μ), sem parâmetro novo. As duas sleeves usam o mesmo livro, declarado antes de medir. O exemplo de abril: a chance de recessão salta, a camada vende a perna neutralizada de tecnologia e a ponta de hedge aparece como SPY comprado; no dia 3 de abril a camada ganhou 0,85% com o S&amp;P caindo −4,9%, e no repique de 9 de abril devolveu 1,5%. Ela ganha sozinha e perde somada — é o assunto do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Resumo do que veio antes: o Polymarket alimenta duas camadas. A estrutural lê o nível da probabilidade e vira as quatro views, com Q e Ω, dentro do Black-Litterman. A tática lê o movimento da probabilidade (recessão e Câmara) e vira um spread XLP × XLK. As duas somam desvios e passam pelo mesmo teto: Σ|w − w_mkt| ≤ 1, com corte proporcional. É por isso que a camada tática ganha sozinha e perde somada — ela divide o mesmo espaço. Se perguntarem pelo limite: retorno acima do SPY com o limite em 1, 2, 3 e 5 (limite 1: +3,0 pp; limite 2: +6,4 pp; limite 3: +8,8 pp; limite 5: +15,7 pp); escolhemos o mais apertado, fixado antes do backtest. Em 80% dos dias ativos a camada tática sozinha já pedia mais que o limite. O apêndice A2 traz o outro escopo (cortar a carteira inteira), em que a carteira perde do índice nos quatro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Exposição à queda.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Nos dois tombos a carteira caiu junto e, em abril/2025, mais fundo que o índice: −19,6% contra −18,8%. O ganho vem da subida, não da defesa.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Uma janela, um regime.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374 pregões de alta do S&amp;P, sem correção para as ~200 comparações da busca tática. O teste em regime de queda é o que falta.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Teto de risco: somar é dividir.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A camada tática faz +42,6 pp sozinha e −2,94 pp dentro da carteira. Sob teto fixo, entrar não acrescenta — reparte o mesmo orçamento.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9BAEC0"/>
                </a:solidFill>
                <a:latin typeface="Segoe UI"/>
              </a:rPr>
              <a:t>Giramos os quatro botões da estratégia — risco, confiança, gatilho e correção das probabilidades — e a vantagem sobre o SPY não vira negativa em nenhuma posição: </a:t>
            </a:r>
            <a:r>
              <a:rPr lang="pt-BR" sz="800" b="0">
                <a:solidFill>
                  <a:srgbClr val="E8EDF2"/>
                </a:solidFill>
                <a:latin typeface="Segoe UI Semibold"/>
              </a:rPr>
              <a:t>+0,5 a +15,8 pp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. Não é um parâmetro bem escolhido.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ADDB9-189E-4F84-A208-07C1AA8F3A13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754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(~60 s): três números para ler a estratégia. (1) 457: o track record mínimo para dizer com 95 % que o Sharpe é positivo — temos 374. O excesso é positivo em toda leitura (P = 64%), mas não é prova; o próximo semestre é o teste fora da amostra, e vai ser pré-registrado. (2) +6,2 bps por dia de queda do SPY, −3,9 nos de alta: o ganho vem de perder menos quando o mercado cai — tilt defensivo sobre beta 0,95. Não é proteção de cauda: no tombo de abril/2025 caímos mais fundo (−19,6 % × −18,8 %) e na 2ª metade, só de alta, ficamos atrás (−0,6 pp). (3) 3 de 7 no protocolo de Arnott, Harvey e Markowitz: fechados motivação econômica, dados/amostra e cultura de pesquisa; parciais testes múltiplos (~200 comparações da tática sem correção; DSR reportado no A9), dinâmica (parâmetros fixos, mas excesso só na 1ª metade) e complexidade (Ω diagonal não vê correlação entre views); aberto validação fora da amostra.</a:t>
            </a:r>
          </a:p>
          <a:p>
            <a:r>
              <a:t>Se perguntarem 'por que mostrar os fracos?': porque o protocolo pede e porque um slide só de fortes em 18 meses de dado é o que a literatura chama de storytelling. Scorecard completo em Final/analise/Pesquisa_avaliacao_estrategia.md §2.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Gráficos da página 5 do relatório (Uteis/graficos/p5_*.png, graficos_p5.py; corte de 15/08, 91 sessões dos três LOGs). Erros: 145, 88 % pegos na própria sessão. Esforço: 31/54/15 % das sessões e 25/71/4 % dos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Transição (~10 s): 'Voltamos à hipótese do começo. Mercados de previsão antecipam o mercado financeiro — esse era o sinal. A pergunta agora é se ele se confirmou no dado.' Avança para o slide do estudo (calibração e decisão do Fed).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Fonte: scripts/estudo_polymarket.py → Uteis/analises/Metricas_estudo.md; guia de leitura em Final/estudo/Guia_slide16.md. Amostra = todo o dado macro do repo (FOMC 76 faixas/18 reuniões, CPI 74 faixas/12 meses), sem exclusão. Brier 0,043 [0,022; 0,067]; calibração b = 1,04 (p = 0,15); FF = proxy DTB3−DFF corrigido do viés (cru: 8,9 bps), DM p = 0,002; 17/17 no desfecho modal. Terceira informação, se pedirem: o movimento do preço não é sinal (VR(5) = 0,78 &lt; 1, Δp com t ≈ 0) — por isso usamos o nível, não o Δp. Detalhe nos apêndices A1–A3.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0B36E-D51A-C0F9-E815-0D094873B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C68810-6F02-A152-DEE1-20884A74E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664017-52AF-D126-1B05-4FFD71F7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FE14E9-0A22-34BB-C700-25A9A8B5E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5F84E2-0ED1-6970-B999-0B056C2B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A25B5-2C10-8739-37D2-E68D960E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02611-C8E8-FD43-CA04-A5C77539C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C9FE30-6AD4-B38C-46FE-BE1B6C12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F4630-B32C-5EB9-1A9A-97F5A12B7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B3723A-424A-0173-0A27-3A715617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5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BB581-3721-7232-CBF0-C76B2C40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A2BB0A-7E6B-95ED-07B7-681D20CD8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0E806D-B16F-C6BA-F051-BC92FC1A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D4C58-E774-2DAD-918B-00EF2D04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0AFC58-C7DA-A825-1DBF-C3480BD4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0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35A49-4295-332F-69CC-C718CA53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65518A-38FB-F6DB-2C4F-38DA6F54B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816CE2-C369-D6D0-3E11-89C79EA7E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CBF2E7-443B-DD82-A6C9-93597F016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80A6FC-0F1D-7182-1997-A8EB519A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6E6C5A-0DA8-3CD0-8D24-C5C83D24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6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A16D9-6E28-9F77-9747-4525AD8D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098AB5-AB06-9FE2-2DEC-2758B16DB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6DE695-6D08-A6FB-DE7A-4269957CF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4D0C7E8-6D72-8EE4-0BCD-F9EC79CC3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349DCC-FA2E-97A4-775E-D4245B095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C1FF268-6D1B-3209-16AC-8AFEF91B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7686B93-4E15-3FB0-06D0-D697A0EC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7B8C49E-37A4-5EF6-9284-D8F96D9D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9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243F8-0F72-5AD4-FC98-C0C3FD49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079B89-8659-6C46-D458-984473B7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315535-C74B-6E2C-4C14-AE066CDF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2E3F4F-52E7-0EFA-D6A9-F7372AE7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87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A0CE1D-51D4-E00B-1564-B6D610D7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5FD508-07A1-7323-E1D0-BA68271A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55A543-F1E2-9305-3146-41FFC697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26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71DB2-C33C-6448-D56B-AC54B42A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E72565-6389-C614-EA0D-93677DD6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B10022-78A3-5909-8094-C9E989D4D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269421-94F3-CC9D-327C-72D302B4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3A48BA-F7DE-D417-622D-2FD1A422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CBD7F5-EF63-7A0A-A74B-C313348C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4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DA162-4DBE-585E-136C-B8E7B85F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1C692E-67B5-5E7B-F724-E638BA7E6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1461D2-780A-C22A-215A-1FF164F00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8CC3E-201D-F865-D512-8E3CCB969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076904-9ECF-4F8E-20E3-313134C9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D6A9DA-D49F-8656-E170-92D20E83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1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E59DC-DA4B-4665-8C75-7137EDAC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0E46B8-8ACD-6FD6-81A6-DC87794ED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E25331-5DA7-8E75-DFA3-FB672731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D5FF99-C3FD-0894-3E58-3BF2FB84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43F733-8F82-A93A-D584-12DEB0A3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7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F8A04C-582B-F2BC-AC43-2CC90BB30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C603B4-49D8-B11A-0FA1-1CF667908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1678AD-30D7-8553-8E72-5FF3B154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BE1D8F-E400-7A9F-C150-48A86B37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E79D2B-E1A6-FEE9-D5C1-3B2A2D5B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8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92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8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30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8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42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498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146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963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182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133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2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43002A-F87C-CD61-CDB4-9F64F6CC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EBA176-418D-D436-89BB-74915DCBA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8DA1F8-7DB8-B1AE-1F56-0B338A1AB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AA4F68-06BA-CD94-1699-EFD307B95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AA8497-C9BB-A966-1538-4B95AF6A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CA4CB-FC8F-E7CE-BF85-D20C627A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!!risca"/>
          <p:cNvSpPr/>
          <p:nvPr/>
        </p:nvSpPr>
        <p:spPr>
          <a:xfrm>
            <a:off x="731520" y="3705000"/>
            <a:ext cx="1005840" cy="36576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99A72-77AC-8217-4D08-A8B49FEEE24E}"/>
              </a:ext>
            </a:extLst>
          </p:cNvPr>
          <p:cNvSpPr txBox="1"/>
          <p:nvPr/>
        </p:nvSpPr>
        <p:spPr>
          <a:xfrm>
            <a:off x="731520" y="2121041"/>
            <a:ext cx="5788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600" b="0" spc="500">
                <a:solidFill>
                  <a:srgbClr val="FFB531"/>
                </a:solidFill>
                <a:latin typeface="Segoe UI Semibold"/>
              </a:rPr>
              <a:t>KAIROS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290D6-2EB0-BB5D-D448-220E46A92B64}"/>
              </a:ext>
            </a:extLst>
          </p:cNvPr>
          <p:cNvSpPr txBox="1"/>
          <p:nvPr/>
        </p:nvSpPr>
        <p:spPr>
          <a:xfrm>
            <a:off x="731520" y="3886961"/>
            <a:ext cx="5788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0" spc="20">
                <a:solidFill>
                  <a:srgbClr val="FFFFFF"/>
                </a:solidFill>
                <a:latin typeface="Segoe UI Semibold"/>
              </a:rPr>
              <a:t>Black-</a:t>
            </a:r>
            <a:r>
              <a:rPr sz="2100" b="0" spc="20" err="1">
                <a:solidFill>
                  <a:srgbClr val="FFFFFF"/>
                </a:solidFill>
                <a:latin typeface="Segoe UI Semibold"/>
              </a:rPr>
              <a:t>Litterman</a:t>
            </a:r>
            <a:r>
              <a:rPr sz="2100" b="0" spc="20">
                <a:solidFill>
                  <a:srgbClr val="FFFFFF"/>
                </a:solidFill>
                <a:latin typeface="Segoe UI Semibold"/>
              </a:rPr>
              <a:t> </a:t>
            </a:r>
            <a:r>
              <a:rPr sz="2100" b="0" spc="20" err="1">
                <a:solidFill>
                  <a:srgbClr val="FFFFFF"/>
                </a:solidFill>
                <a:latin typeface="Segoe UI Semibold"/>
              </a:rPr>
              <a:t>movido</a:t>
            </a:r>
            <a:r>
              <a:rPr sz="2100" b="0" spc="20">
                <a:solidFill>
                  <a:srgbClr val="FFFFFF"/>
                </a:solidFill>
                <a:latin typeface="Segoe UI Semibold"/>
              </a:rPr>
              <a:t> a </a:t>
            </a:r>
            <a:r>
              <a:rPr sz="2100" b="0" spc="20" err="1">
                <a:solidFill>
                  <a:srgbClr val="FFFFFF"/>
                </a:solidFill>
                <a:latin typeface="Segoe UI Semibold"/>
              </a:rPr>
              <a:t>probabilidade</a:t>
            </a:r>
            <a:endParaRPr sz="2100" b="0" spc="2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231AA-A8C0-C4DA-F7CD-E18C762D8673}"/>
              </a:ext>
            </a:extLst>
          </p:cNvPr>
          <p:cNvSpPr txBox="1"/>
          <p:nvPr/>
        </p:nvSpPr>
        <p:spPr>
          <a:xfrm>
            <a:off x="731520" y="4572762"/>
            <a:ext cx="578815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1" err="1">
                <a:solidFill>
                  <a:srgbClr val="FFB531"/>
                </a:solidFill>
                <a:latin typeface="Georgia"/>
              </a:rPr>
              <a:t>Kairós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, no grego: o </a:t>
            </a:r>
            <a:r>
              <a:rPr sz="1800" b="0" i="1" err="1">
                <a:solidFill>
                  <a:srgbClr val="D5D9E0"/>
                </a:solidFill>
                <a:latin typeface="Georgia"/>
              </a:rPr>
              <a:t>instante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 </a:t>
            </a:r>
            <a:r>
              <a:rPr sz="1800" b="0" i="1" err="1">
                <a:solidFill>
                  <a:srgbClr val="D5D9E0"/>
                </a:solidFill>
                <a:latin typeface="Georgia"/>
              </a:rPr>
              <a:t>certo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 de </a:t>
            </a:r>
            <a:r>
              <a:rPr sz="1800" b="0" i="1" err="1">
                <a:solidFill>
                  <a:srgbClr val="D5D9E0"/>
                </a:solidFill>
                <a:latin typeface="Georgia"/>
              </a:rPr>
              <a:t>agir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.</a:t>
            </a:r>
            <a:r>
              <a:rPr lang="pt-PT" sz="1800" b="0" i="1">
                <a:solidFill>
                  <a:srgbClr val="D5D9E0"/>
                </a:solidFill>
                <a:latin typeface="Georgia"/>
              </a:rPr>
              <a:t> O modelo só age quando o mercado de previsão traz oportunidade</a:t>
            </a:r>
            <a:endParaRPr sz="1800" b="0" i="1">
              <a:solidFill>
                <a:srgbClr val="D5D9E0"/>
              </a:solidFill>
              <a:latin typeface="Georgia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81CF7BA-CCFB-7A3B-4C58-E2143E1F3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732282"/>
            <a:ext cx="5788152" cy="578815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42EEE03-8A5A-9E38-1C78-7E8AE6CD3915}"/>
              </a:ext>
            </a:extLst>
          </p:cNvPr>
          <p:cNvSpPr txBox="1"/>
          <p:nvPr/>
        </p:nvSpPr>
        <p:spPr>
          <a:xfrm>
            <a:off x="10691446" y="3315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  <p:sp>
        <p:nvSpPr>
          <p:cNvPr id="31" name="!!t6_hdr"/>
          <p:cNvSpPr txBox="1"/>
          <p:nvPr/>
        </p:nvSpPr>
        <p:spPr>
          <a:xfrm>
            <a:off x="731520" y="347472"/>
            <a:ext cx="93223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Identidade</a:t>
            </a:r>
          </a:p>
        </p:txBody>
      </p:sp>
      <p:sp>
        <p:nvSpPr>
          <p:cNvPr id="32" name="!!t6_marca"/>
          <p:cNvSpPr txBox="1"/>
          <p:nvPr/>
        </p:nvSpPr>
        <p:spPr>
          <a:xfrm>
            <a:off x="10145268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3" name="!!t6_regua"/>
          <p:cNvSpPr/>
          <p:nvPr/>
        </p:nvSpPr>
        <p:spPr>
          <a:xfrm>
            <a:off x="731520" y="868680"/>
            <a:ext cx="10785348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t6_nav_regua"/>
          <p:cNvSpPr/>
          <p:nvPr/>
        </p:nvSpPr>
        <p:spPr>
          <a:xfrm>
            <a:off x="731520" y="6528816"/>
            <a:ext cx="10785348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t6_nav0"/>
          <p:cNvSpPr txBox="1"/>
          <p:nvPr/>
        </p:nvSpPr>
        <p:spPr>
          <a:xfrm>
            <a:off x="731520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Hipótese</a:t>
            </a:r>
          </a:p>
        </p:txBody>
      </p:sp>
      <p:sp>
        <p:nvSpPr>
          <p:cNvPr id="36" name="!!t6_nav_ativa"/>
          <p:cNvSpPr/>
          <p:nvPr/>
        </p:nvSpPr>
        <p:spPr>
          <a:xfrm>
            <a:off x="1157859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t6_nav1"/>
          <p:cNvSpPr txBox="1"/>
          <p:nvPr/>
        </p:nvSpPr>
        <p:spPr>
          <a:xfrm>
            <a:off x="2407158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38" name="!!t6_nav2"/>
          <p:cNvSpPr txBox="1"/>
          <p:nvPr/>
        </p:nvSpPr>
        <p:spPr>
          <a:xfrm>
            <a:off x="4082796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39" name="!!t6_nav3"/>
          <p:cNvSpPr txBox="1"/>
          <p:nvPr/>
        </p:nvSpPr>
        <p:spPr>
          <a:xfrm>
            <a:off x="5758433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40" name="!!t6_nav4"/>
          <p:cNvSpPr txBox="1"/>
          <p:nvPr/>
        </p:nvSpPr>
        <p:spPr>
          <a:xfrm>
            <a:off x="7434071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41" name="!!t6_nav5"/>
          <p:cNvSpPr txBox="1"/>
          <p:nvPr/>
        </p:nvSpPr>
        <p:spPr>
          <a:xfrm>
            <a:off x="9109710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42" name="!!t6_num"/>
          <p:cNvSpPr txBox="1"/>
          <p:nvPr/>
        </p:nvSpPr>
        <p:spPr>
          <a:xfrm>
            <a:off x="10922508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0527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!!frase"/>
          <p:cNvSpPr txBox="1"/>
          <p:nvPr/>
        </p:nvSpPr>
        <p:spPr>
          <a:xfrm>
            <a:off x="731520" y="704850"/>
            <a:ext cx="10725912" cy="5848350"/>
          </a:xfrm>
          <a:prstGeom prst="rect">
            <a:avLst/>
          </a:prstGeom>
          <a:noFill/>
        </p:spPr>
        <p:txBody>
          <a:bodyPr wrap="square" lIns="91440" tIns="0" rIns="9144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</a:t>
            </a:r>
            <a:r>
              <a:rPr kumimoji="0" lang="pt-BR" sz="3400" b="0" i="0" u="none" strike="noStrike" kern="1200" cap="none" spc="0" normalizeH="0" baseline="0" noProof="0" err="1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Polymarket</a:t>
            </a:r>
            <a:r>
              <a:rPr kumimoji="0" lang="pt-BR" sz="3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é um sinal válido para estratégias </a:t>
            </a:r>
            <a:r>
              <a:rPr kumimoji="0" lang="pt-BR" sz="3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quantitavas</a:t>
            </a:r>
            <a:r>
              <a:rPr kumimoji="0" lang="pt-BR" sz="3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? </a:t>
            </a:r>
          </a:p>
        </p:txBody>
      </p:sp>
      <p:sp>
        <p:nvSpPr>
          <p:cNvPr id="81" name="!!t6_hdr"/>
          <p:cNvSpPr txBox="1"/>
          <p:nvPr/>
        </p:nvSpPr>
        <p:spPr>
          <a:xfrm>
            <a:off x="731520" y="347472"/>
            <a:ext cx="9262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A hipótese</a:t>
            </a:r>
          </a:p>
        </p:txBody>
      </p:sp>
      <p:sp>
        <p:nvSpPr>
          <p:cNvPr id="82" name="!!t6_marca"/>
          <p:cNvSpPr txBox="1"/>
          <p:nvPr/>
        </p:nvSpPr>
        <p:spPr>
          <a:xfrm>
            <a:off x="10085832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83" name="!!t6_regua"/>
          <p:cNvSpPr/>
          <p:nvPr/>
        </p:nvSpPr>
        <p:spPr>
          <a:xfrm>
            <a:off x="731520" y="868680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t6_nav_regua"/>
          <p:cNvSpPr/>
          <p:nvPr/>
        </p:nvSpPr>
        <p:spPr>
          <a:xfrm>
            <a:off x="731520" y="6528816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t6_nav0"/>
          <p:cNvSpPr txBox="1"/>
          <p:nvPr/>
        </p:nvSpPr>
        <p:spPr>
          <a:xfrm>
            <a:off x="731520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Hipótese</a:t>
            </a:r>
          </a:p>
        </p:txBody>
      </p:sp>
      <p:sp>
        <p:nvSpPr>
          <p:cNvPr id="86" name="!!t6_nav_ativa"/>
          <p:cNvSpPr/>
          <p:nvPr/>
        </p:nvSpPr>
        <p:spPr>
          <a:xfrm>
            <a:off x="1152906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t6_nav1"/>
          <p:cNvSpPr txBox="1"/>
          <p:nvPr/>
        </p:nvSpPr>
        <p:spPr>
          <a:xfrm>
            <a:off x="2397251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88" name="!!t6_nav2"/>
          <p:cNvSpPr txBox="1"/>
          <p:nvPr/>
        </p:nvSpPr>
        <p:spPr>
          <a:xfrm>
            <a:off x="4062983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89" name="!!t6_nav3"/>
          <p:cNvSpPr txBox="1"/>
          <p:nvPr/>
        </p:nvSpPr>
        <p:spPr>
          <a:xfrm>
            <a:off x="5728715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90" name="!!t6_nav4"/>
          <p:cNvSpPr txBox="1"/>
          <p:nvPr/>
        </p:nvSpPr>
        <p:spPr>
          <a:xfrm>
            <a:off x="7394447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91" name="!!t6_nav5"/>
          <p:cNvSpPr txBox="1"/>
          <p:nvPr/>
        </p:nvSpPr>
        <p:spPr>
          <a:xfrm>
            <a:off x="9060180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92" name="!!t6_num"/>
          <p:cNvSpPr txBox="1"/>
          <p:nvPr/>
        </p:nvSpPr>
        <p:spPr>
          <a:xfrm>
            <a:off x="10863072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815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D3949-D38B-0A4B-1289-D3C8C014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xt_14"/>
          <p:cNvSpPr txBox="1"/>
          <p:nvPr/>
        </p:nvSpPr>
        <p:spPr>
          <a:xfrm>
            <a:off x="822960" y="1320800"/>
            <a:ext cx="4191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COMO FUNCIONA</a:t>
            </a:r>
          </a:p>
        </p:txBody>
      </p:sp>
      <p:sp>
        <p:nvSpPr>
          <p:cNvPr id="15" name="txt_15"/>
          <p:cNvSpPr txBox="1"/>
          <p:nvPr/>
        </p:nvSpPr>
        <p:spPr>
          <a:xfrm>
            <a:off x="822960" y="1618488"/>
            <a:ext cx="41148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250" b="0">
                <a:solidFill>
                  <a:srgbClr val="FFB531"/>
                </a:solidFill>
                <a:latin typeface="Segoe UI Semibold"/>
                <a:cs typeface="Segoe UI Semibold"/>
              </a:rPr>
              <a:t>1</a:t>
            </a:r>
          </a:p>
        </p:txBody>
      </p:sp>
      <p:sp>
        <p:nvSpPr>
          <p:cNvPr id="16" name="txt_16"/>
          <p:cNvSpPr txBox="1"/>
          <p:nvPr/>
        </p:nvSpPr>
        <p:spPr>
          <a:xfrm>
            <a:off x="1225296" y="164592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FFFFF"/>
                </a:solidFill>
                <a:latin typeface="Segoe UI Semibold"/>
                <a:cs typeface="Segoe UI Semibold"/>
              </a:rPr>
              <a:t>Uma pergunta com data.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Qual será a decisão do </a:t>
            </a:r>
            <a:r>
              <a:rPr lang="pt-BR" sz="1150" b="0" err="1">
                <a:solidFill>
                  <a:srgbClr val="D5D9E0"/>
                </a:solidFill>
                <a:latin typeface="Segoe UI"/>
                <a:cs typeface="Segoe UI"/>
              </a:rPr>
              <a:t>Fed</a:t>
            </a: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 em dezembro?</a:t>
            </a:r>
          </a:p>
        </p:txBody>
      </p:sp>
      <p:sp>
        <p:nvSpPr>
          <p:cNvPr id="17" name="txt_17"/>
          <p:cNvSpPr txBox="1"/>
          <p:nvPr/>
        </p:nvSpPr>
        <p:spPr>
          <a:xfrm>
            <a:off x="822960" y="2606040"/>
            <a:ext cx="41148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250" b="0">
                <a:solidFill>
                  <a:srgbClr val="FFB531"/>
                </a:solidFill>
                <a:latin typeface="Segoe UI Semibold"/>
                <a:cs typeface="Segoe UI Semibold"/>
              </a:rPr>
              <a:t>2</a:t>
            </a:r>
          </a:p>
        </p:txBody>
      </p:sp>
      <p:sp>
        <p:nvSpPr>
          <p:cNvPr id="18" name="txt_18"/>
          <p:cNvSpPr txBox="1"/>
          <p:nvPr/>
        </p:nvSpPr>
        <p:spPr>
          <a:xfrm>
            <a:off x="1225296" y="2633472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FFFFF"/>
                </a:solidFill>
                <a:latin typeface="Segoe UI Semibold"/>
                <a:cs typeface="Segoe UI Semibold"/>
              </a:rPr>
              <a:t>Cada resposta é um contrato.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Paga US$ 1 se acontecer, zero se não.</a:t>
            </a:r>
          </a:p>
        </p:txBody>
      </p:sp>
      <p:sp>
        <p:nvSpPr>
          <p:cNvPr id="19" name="txt_19"/>
          <p:cNvSpPr txBox="1"/>
          <p:nvPr/>
        </p:nvSpPr>
        <p:spPr>
          <a:xfrm>
            <a:off x="822960" y="3593592"/>
            <a:ext cx="41148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250" b="0">
                <a:solidFill>
                  <a:srgbClr val="FFB531"/>
                </a:solidFill>
                <a:latin typeface="Segoe UI Semibold"/>
                <a:cs typeface="Segoe UI Semibold"/>
              </a:rPr>
              <a:t>3</a:t>
            </a:r>
          </a:p>
        </p:txBody>
      </p:sp>
      <p:sp>
        <p:nvSpPr>
          <p:cNvPr id="20" name="txt_20"/>
          <p:cNvSpPr txBox="1"/>
          <p:nvPr/>
        </p:nvSpPr>
        <p:spPr>
          <a:xfrm>
            <a:off x="1225296" y="3621024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FFFFF"/>
                </a:solidFill>
                <a:latin typeface="Segoe UI Semibold"/>
                <a:cs typeface="Segoe UI Semibold"/>
              </a:rPr>
              <a:t>O preço é a probabilidade.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62centavos = 62% de chance.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822960" y="4581144"/>
            <a:ext cx="41148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250" b="0">
                <a:solidFill>
                  <a:srgbClr val="FFB531"/>
                </a:solidFill>
                <a:latin typeface="Segoe UI Semibold"/>
                <a:cs typeface="Segoe UI Semibold"/>
              </a:rPr>
              <a:t>4</a:t>
            </a:r>
          </a:p>
        </p:txBody>
      </p:sp>
      <p:sp>
        <p:nvSpPr>
          <p:cNvPr id="22" name="txt_22"/>
          <p:cNvSpPr txBox="1"/>
          <p:nvPr/>
        </p:nvSpPr>
        <p:spPr>
          <a:xfrm>
            <a:off x="1225296" y="4608576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FFFFF"/>
                </a:solidFill>
                <a:latin typeface="Segoe UI Semibold"/>
                <a:cs typeface="Segoe UI Semibold"/>
              </a:rPr>
              <a:t>As respostas formam uma distribuição.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A média dela é o corte esperado.</a:t>
            </a:r>
          </a:p>
        </p:txBody>
      </p:sp>
      <p:pic>
        <p:nvPicPr>
          <p:cNvPr id="40" name="print_polymarket" descr="s03_print_polymarket_dez2025.png"/>
          <p:cNvPicPr>
            <a:picLocks noChangeAspect="1"/>
          </p:cNvPicPr>
          <p:nvPr/>
        </p:nvPicPr>
        <p:blipFill>
          <a:blip r:embed="rId3"/>
          <a:srcRect l="544" t="-575" r="-173" b="36897"/>
          <a:stretch>
            <a:fillRect/>
          </a:stretch>
        </p:blipFill>
        <p:spPr>
          <a:xfrm>
            <a:off x="4269288" y="1785838"/>
            <a:ext cx="6994610" cy="3682564"/>
          </a:xfrm>
          <a:prstGeom prst="rect">
            <a:avLst/>
          </a:prstGeom>
        </p:spPr>
      </p:pic>
      <p:sp>
        <p:nvSpPr>
          <p:cNvPr id="2" name="forma_40"/>
          <p:cNvSpPr/>
          <p:nvPr/>
        </p:nvSpPr>
        <p:spPr>
          <a:xfrm>
            <a:off x="4269288" y="1838194"/>
            <a:ext cx="6982390" cy="3673606"/>
          </a:xfrm>
          <a:prstGeom prst="rect">
            <a:avLst/>
          </a:prstGeom>
          <a:noFill/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1" name="txt_41"/>
          <p:cNvSpPr txBox="1"/>
          <p:nvPr/>
        </p:nvSpPr>
        <p:spPr>
          <a:xfrm>
            <a:off x="5334000" y="6324600"/>
            <a:ext cx="603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err="1">
                <a:solidFill>
                  <a:srgbClr val="9AA3AF"/>
                </a:solidFill>
                <a:latin typeface="Segoe UI"/>
                <a:cs typeface="Segoe UI"/>
              </a:rPr>
              <a:t>polymarket.com</a:t>
            </a:r>
            <a:r>
              <a:rPr lang="pt-BR" sz="700" b="0">
                <a:solidFill>
                  <a:srgbClr val="9AA3AF"/>
                </a:solidFill>
                <a:latin typeface="Segoe UI"/>
                <a:cs typeface="Segoe UI"/>
              </a:rPr>
              <a:t> · mercado encerrado em 10/12/2025 · US$ 393,9 milhões negociados nessa pergunta</a:t>
            </a:r>
          </a:p>
        </p:txBody>
      </p:sp>
      <p:sp>
        <p:nvSpPr>
          <p:cNvPr id="42" name="!!t6_hdr"/>
          <p:cNvSpPr txBox="1"/>
          <p:nvPr/>
        </p:nvSpPr>
        <p:spPr>
          <a:xfrm>
            <a:off x="822960" y="347472"/>
            <a:ext cx="9080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Como o Polymarket funciona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Um mercado de previsão, por dentro</a:t>
            </a:r>
          </a:p>
        </p:txBody>
      </p:sp>
      <p:sp>
        <p:nvSpPr>
          <p:cNvPr id="43" name="!!t6_marca"/>
          <p:cNvSpPr txBox="1"/>
          <p:nvPr/>
        </p:nvSpPr>
        <p:spPr>
          <a:xfrm>
            <a:off x="999490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44" name="!!t6_regua"/>
          <p:cNvSpPr/>
          <p:nvPr/>
        </p:nvSpPr>
        <p:spPr>
          <a:xfrm>
            <a:off x="822960" y="868680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t6_nav_regua"/>
          <p:cNvSpPr/>
          <p:nvPr/>
        </p:nvSpPr>
        <p:spPr>
          <a:xfrm>
            <a:off x="822960" y="6528816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t6_nav0"/>
          <p:cNvSpPr txBox="1"/>
          <p:nvPr/>
        </p:nvSpPr>
        <p:spPr>
          <a:xfrm>
            <a:off x="82296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47" name="!!t6_nav1"/>
          <p:cNvSpPr txBox="1"/>
          <p:nvPr/>
        </p:nvSpPr>
        <p:spPr>
          <a:xfrm>
            <a:off x="245829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Polymarket</a:t>
            </a:r>
          </a:p>
        </p:txBody>
      </p:sp>
      <p:sp>
        <p:nvSpPr>
          <p:cNvPr id="48" name="!!t6_nav_ativa"/>
          <p:cNvSpPr/>
          <p:nvPr/>
        </p:nvSpPr>
        <p:spPr>
          <a:xfrm>
            <a:off x="2864484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t6_nav2"/>
          <p:cNvSpPr txBox="1"/>
          <p:nvPr/>
        </p:nvSpPr>
        <p:spPr>
          <a:xfrm>
            <a:off x="409363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50" name="!!t6_nav3"/>
          <p:cNvSpPr txBox="1"/>
          <p:nvPr/>
        </p:nvSpPr>
        <p:spPr>
          <a:xfrm>
            <a:off x="572897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51" name="!!t6_nav4"/>
          <p:cNvSpPr txBox="1"/>
          <p:nvPr/>
        </p:nvSpPr>
        <p:spPr>
          <a:xfrm>
            <a:off x="736430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52" name="!!t6_nav5"/>
          <p:cNvSpPr txBox="1"/>
          <p:nvPr/>
        </p:nvSpPr>
        <p:spPr>
          <a:xfrm>
            <a:off x="899964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53" name="!!t6_num"/>
          <p:cNvSpPr txBox="1"/>
          <p:nvPr/>
        </p:nvSpPr>
        <p:spPr>
          <a:xfrm>
            <a:off x="10772140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9539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_15"/>
          <p:cNvSpPr/>
          <p:nvPr/>
        </p:nvSpPr>
        <p:spPr>
          <a:xfrm>
            <a:off x="3127248" y="1024128"/>
            <a:ext cx="2651760" cy="640080"/>
          </a:xfrm>
          <a:prstGeom prst="rect">
            <a:avLst/>
          </a:prstGeom>
          <a:solidFill>
            <a:srgbClr val="1E2229"/>
          </a:soli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6" name="txt_16"/>
          <p:cNvSpPr txBox="1"/>
          <p:nvPr/>
        </p:nvSpPr>
        <p:spPr>
          <a:xfrm>
            <a:off x="3127248" y="1024128"/>
            <a:ext cx="2651760" cy="640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b="1" spc="140">
                <a:solidFill>
                  <a:srgbClr val="FFB531"/>
                </a:solidFill>
                <a:latin typeface="Segoe UI Semibold"/>
                <a:cs typeface="Segoe UI Semibold"/>
              </a:rPr>
              <a:t>POLYMARKET</a:t>
            </a:r>
          </a:p>
        </p:txBody>
      </p:sp>
      <p:sp>
        <p:nvSpPr>
          <p:cNvPr id="18" name="forma_18"/>
          <p:cNvSpPr/>
          <p:nvPr/>
        </p:nvSpPr>
        <p:spPr>
          <a:xfrm>
            <a:off x="6419088" y="1024128"/>
            <a:ext cx="2651760" cy="640080"/>
          </a:xfrm>
          <a:prstGeom prst="rect">
            <a:avLst/>
          </a:prstGeom>
          <a:solidFill>
            <a:srgbClr val="1E2229"/>
          </a:solidFill>
          <a:ln w="12700">
            <a:solidFill>
              <a:srgbClr val="4F6FD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9" name="txt_19"/>
          <p:cNvSpPr txBox="1"/>
          <p:nvPr/>
        </p:nvSpPr>
        <p:spPr>
          <a:xfrm>
            <a:off x="6419088" y="1024128"/>
            <a:ext cx="2651760" cy="640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1" spc="140">
                <a:solidFill>
                  <a:srgbClr val="6C8CE0"/>
                </a:solidFill>
                <a:latin typeface="Segoe UI Semibold"/>
                <a:cs typeface="Segoe UI Semibold"/>
              </a:rPr>
              <a:t>MERCADO DE JUROS</a:t>
            </a:r>
          </a:p>
        </p:txBody>
      </p:sp>
      <p:sp>
        <p:nvSpPr>
          <p:cNvPr id="21" name="forma_21"/>
          <p:cNvSpPr/>
          <p:nvPr/>
        </p:nvSpPr>
        <p:spPr>
          <a:xfrm>
            <a:off x="5952744" y="1179576"/>
            <a:ext cx="301752" cy="301752"/>
          </a:xfrm>
          <a:prstGeom prst="ellipse">
            <a:avLst/>
          </a:prstGeom>
          <a:solidFill>
            <a:srgbClr val="1E2229"/>
          </a:solidFill>
          <a:ln w="9525">
            <a:solidFill>
              <a:srgbClr val="FFB531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B531"/>
                </a:solidFill>
                <a:latin typeface="Segoe UI Semibold"/>
                <a:cs typeface="Segoe UI Semibold"/>
              </a:rPr>
              <a:t>×</a:t>
            </a:r>
          </a:p>
        </p:txBody>
      </p:sp>
      <p:sp>
        <p:nvSpPr>
          <p:cNvPr id="26" name="txt_26"/>
          <p:cNvSpPr txBox="1"/>
          <p:nvPr/>
        </p:nvSpPr>
        <p:spPr>
          <a:xfrm>
            <a:off x="6659671" y="1715836"/>
            <a:ext cx="67945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REUNIÃO DO FED DE DEZEMBRO/2025</a:t>
            </a:r>
          </a:p>
        </p:txBody>
      </p:sp>
      <p:pic>
        <p:nvPicPr>
          <p:cNvPr id="27" name="grafico_comparacao" descr="v2_s04_polymarket_x_ju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086" y="1956053"/>
            <a:ext cx="8443843" cy="413511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2DCE483-A1F0-3D3F-89E1-CC58B13D4F04}"/>
              </a:ext>
            </a:extLst>
          </p:cNvPr>
          <p:cNvSpPr txBox="1"/>
          <p:nvPr/>
        </p:nvSpPr>
        <p:spPr>
          <a:xfrm>
            <a:off x="822960" y="6027203"/>
            <a:ext cx="10543032" cy="4114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sz="1600" b="1" i="0" err="1">
                <a:solidFill>
                  <a:srgbClr val="FFB531"/>
                </a:solidFill>
                <a:latin typeface="Segoe UI Semibold"/>
              </a:rPr>
              <a:t>surpresa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 =  </a:t>
            </a:r>
            <a:r>
              <a:rPr sz="1600" b="1" i="0" err="1">
                <a:solidFill>
                  <a:srgbClr val="FFB531"/>
                </a:solidFill>
                <a:latin typeface="Segoe UI Semibold"/>
              </a:rPr>
              <a:t>polymarket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 −  </a:t>
            </a:r>
            <a:r>
              <a:rPr sz="1600" b="1" i="0">
                <a:solidFill>
                  <a:srgbClr val="6C8CE0"/>
                </a:solidFill>
                <a:latin typeface="Segoe UI Semibold"/>
              </a:rPr>
              <a:t>mercado</a:t>
            </a:r>
          </a:p>
        </p:txBody>
      </p:sp>
      <p:sp>
        <p:nvSpPr>
          <p:cNvPr id="43" name="!!t6_hdr"/>
          <p:cNvSpPr txBox="1"/>
          <p:nvPr/>
        </p:nvSpPr>
        <p:spPr>
          <a:xfrm>
            <a:off x="822960" y="347472"/>
            <a:ext cx="9079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Polymarket × mercado tradicional</a:t>
            </a:r>
          </a:p>
        </p:txBody>
      </p:sp>
      <p:sp>
        <p:nvSpPr>
          <p:cNvPr id="44" name="!!t6_marca"/>
          <p:cNvSpPr txBox="1"/>
          <p:nvPr/>
        </p:nvSpPr>
        <p:spPr>
          <a:xfrm>
            <a:off x="9994392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45" name="!!t6_regua"/>
          <p:cNvSpPr/>
          <p:nvPr/>
        </p:nvSpPr>
        <p:spPr>
          <a:xfrm>
            <a:off x="822960" y="868680"/>
            <a:ext cx="10543032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t6_nav_regua"/>
          <p:cNvSpPr/>
          <p:nvPr/>
        </p:nvSpPr>
        <p:spPr>
          <a:xfrm>
            <a:off x="822960" y="6528816"/>
            <a:ext cx="10543032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t6_nav0"/>
          <p:cNvSpPr txBox="1"/>
          <p:nvPr/>
        </p:nvSpPr>
        <p:spPr>
          <a:xfrm>
            <a:off x="822960" y="6565392"/>
            <a:ext cx="163525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48" name="!!t6_nav1"/>
          <p:cNvSpPr txBox="1"/>
          <p:nvPr/>
        </p:nvSpPr>
        <p:spPr>
          <a:xfrm>
            <a:off x="2458211" y="6565392"/>
            <a:ext cx="163525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Polymarket</a:t>
            </a:r>
          </a:p>
        </p:txBody>
      </p:sp>
      <p:sp>
        <p:nvSpPr>
          <p:cNvPr id="49" name="!!t6_nav_ativa"/>
          <p:cNvSpPr/>
          <p:nvPr/>
        </p:nvSpPr>
        <p:spPr>
          <a:xfrm>
            <a:off x="2864357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t6_nav2"/>
          <p:cNvSpPr txBox="1"/>
          <p:nvPr/>
        </p:nvSpPr>
        <p:spPr>
          <a:xfrm>
            <a:off x="4093464" y="6565392"/>
            <a:ext cx="163525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51" name="!!t6_nav3"/>
          <p:cNvSpPr txBox="1"/>
          <p:nvPr/>
        </p:nvSpPr>
        <p:spPr>
          <a:xfrm>
            <a:off x="5728716" y="6565392"/>
            <a:ext cx="163525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52" name="!!t6_nav4"/>
          <p:cNvSpPr txBox="1"/>
          <p:nvPr/>
        </p:nvSpPr>
        <p:spPr>
          <a:xfrm>
            <a:off x="7363967" y="6565392"/>
            <a:ext cx="163525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53" name="!!t6_nav5"/>
          <p:cNvSpPr txBox="1"/>
          <p:nvPr/>
        </p:nvSpPr>
        <p:spPr>
          <a:xfrm>
            <a:off x="8999219" y="6565392"/>
            <a:ext cx="163525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54" name="!!t6_num"/>
          <p:cNvSpPr txBox="1"/>
          <p:nvPr/>
        </p:nvSpPr>
        <p:spPr>
          <a:xfrm>
            <a:off x="10771632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438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_14"/>
          <p:cNvSpPr/>
          <p:nvPr/>
        </p:nvSpPr>
        <p:spPr>
          <a:xfrm>
            <a:off x="822960" y="1320800"/>
            <a:ext cx="5080000" cy="51054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76960" y="15494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80">
                <a:solidFill>
                  <a:srgbClr val="FFB531"/>
                </a:solidFill>
                <a:latin typeface="Segoe UI Semibold"/>
                <a:cs typeface="Segoe UI Semibold"/>
              </a:rPr>
              <a:t>FICHA TÉCNICA</a:t>
            </a:r>
          </a:p>
        </p:txBody>
      </p:sp>
      <p:cxnSp>
        <p:nvCxnSpPr>
          <p:cNvPr id="16" name="linha_16"/>
          <p:cNvCxnSpPr/>
          <p:nvPr/>
        </p:nvCxnSpPr>
        <p:spPr>
          <a:xfrm>
            <a:off x="1076960" y="1930400"/>
            <a:ext cx="4572000" cy="0"/>
          </a:xfrm>
          <a:prstGeom prst="line">
            <a:avLst/>
          </a:prstGeom>
          <a:ln w="9525">
            <a:solidFill>
              <a:srgbClr val="3A404A"/>
            </a:solidFill>
          </a:ln>
        </p:spPr>
      </p:cxnSp>
      <p:sp>
        <p:nvSpPr>
          <p:cNvPr id="17" name="txt_17"/>
          <p:cNvSpPr txBox="1"/>
          <p:nvPr/>
        </p:nvSpPr>
        <p:spPr>
          <a:xfrm>
            <a:off x="1076960" y="20066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D5D9E0"/>
                </a:solidFill>
                <a:latin typeface="Segoe UI"/>
                <a:cs typeface="Segoe UI"/>
              </a:rPr>
              <a:t>Universo</a:t>
            </a:r>
          </a:p>
        </p:txBody>
      </p:sp>
      <p:sp>
        <p:nvSpPr>
          <p:cNvPr id="18" name="txt_18"/>
          <p:cNvSpPr txBox="1"/>
          <p:nvPr/>
        </p:nvSpPr>
        <p:spPr>
          <a:xfrm>
            <a:off x="2600960" y="20066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FFFF"/>
                </a:solidFill>
                <a:latin typeface="Segoe UI Semibold"/>
                <a:cs typeface="Segoe UI Semibold"/>
              </a:rPr>
              <a:t>9 ETFs americanos</a:t>
            </a:r>
          </a:p>
        </p:txBody>
      </p:sp>
      <p:cxnSp>
        <p:nvCxnSpPr>
          <p:cNvPr id="19" name="linha_19"/>
          <p:cNvCxnSpPr/>
          <p:nvPr/>
        </p:nvCxnSpPr>
        <p:spPr>
          <a:xfrm>
            <a:off x="1076960" y="2654300"/>
            <a:ext cx="4572000" cy="0"/>
          </a:xfrm>
          <a:prstGeom prst="line">
            <a:avLst/>
          </a:prstGeom>
          <a:ln w="9525">
            <a:solidFill>
              <a:srgbClr val="3A404A"/>
            </a:solidFill>
          </a:ln>
        </p:spPr>
      </p:cxnSp>
      <p:sp>
        <p:nvSpPr>
          <p:cNvPr id="20" name="txt_20"/>
          <p:cNvSpPr txBox="1"/>
          <p:nvPr/>
        </p:nvSpPr>
        <p:spPr>
          <a:xfrm>
            <a:off x="1076960" y="27305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D5D9E0"/>
                </a:solidFill>
                <a:latin typeface="Segoe UI"/>
                <a:cs typeface="Segoe UI"/>
              </a:rPr>
              <a:t>Benchmark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2600960" y="27305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FFFF"/>
                </a:solidFill>
                <a:latin typeface="Segoe UI Semibold"/>
                <a:cs typeface="Segoe UI Semibold"/>
              </a:rPr>
              <a:t>S&amp;P 500 (SPY)</a:t>
            </a:r>
          </a:p>
        </p:txBody>
      </p:sp>
      <p:cxnSp>
        <p:nvCxnSpPr>
          <p:cNvPr id="22" name="linha_22"/>
          <p:cNvCxnSpPr/>
          <p:nvPr/>
        </p:nvCxnSpPr>
        <p:spPr>
          <a:xfrm>
            <a:off x="1076960" y="3378200"/>
            <a:ext cx="4572000" cy="0"/>
          </a:xfrm>
          <a:prstGeom prst="line">
            <a:avLst/>
          </a:prstGeom>
          <a:ln w="9525">
            <a:solidFill>
              <a:srgbClr val="3A404A"/>
            </a:solidFill>
          </a:ln>
        </p:spPr>
      </p:cxnSp>
      <p:sp>
        <p:nvSpPr>
          <p:cNvPr id="23" name="txt_23"/>
          <p:cNvSpPr txBox="1"/>
          <p:nvPr/>
        </p:nvSpPr>
        <p:spPr>
          <a:xfrm>
            <a:off x="1076960" y="34544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D5D9E0"/>
                </a:solidFill>
                <a:latin typeface="Segoe UI"/>
                <a:cs typeface="Segoe UI"/>
              </a:rPr>
              <a:t>Janela</a:t>
            </a:r>
          </a:p>
        </p:txBody>
      </p:sp>
      <p:sp>
        <p:nvSpPr>
          <p:cNvPr id="24" name="txt_24"/>
          <p:cNvSpPr txBox="1"/>
          <p:nvPr/>
        </p:nvSpPr>
        <p:spPr>
          <a:xfrm>
            <a:off x="2600960" y="34544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FFFF"/>
                </a:solidFill>
                <a:latin typeface="Segoe UI Semibold"/>
                <a:cs typeface="Segoe UI Semibold"/>
              </a:rPr>
              <a:t>374 pregões · fev/25 a ago/26</a:t>
            </a:r>
          </a:p>
        </p:txBody>
      </p:sp>
      <p:cxnSp>
        <p:nvCxnSpPr>
          <p:cNvPr id="25" name="linha_25"/>
          <p:cNvCxnSpPr/>
          <p:nvPr/>
        </p:nvCxnSpPr>
        <p:spPr>
          <a:xfrm>
            <a:off x="1076960" y="4102100"/>
            <a:ext cx="4572000" cy="0"/>
          </a:xfrm>
          <a:prstGeom prst="line">
            <a:avLst/>
          </a:prstGeom>
          <a:ln w="9525">
            <a:solidFill>
              <a:srgbClr val="3A404A"/>
            </a:solidFill>
          </a:ln>
        </p:spPr>
      </p:cxnSp>
      <p:sp>
        <p:nvSpPr>
          <p:cNvPr id="26" name="txt_26"/>
          <p:cNvSpPr txBox="1"/>
          <p:nvPr/>
        </p:nvSpPr>
        <p:spPr>
          <a:xfrm>
            <a:off x="1076960" y="41783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D5D9E0"/>
                </a:solidFill>
                <a:latin typeface="Segoe UI"/>
                <a:cs typeface="Segoe UI"/>
              </a:rPr>
              <a:t>Rebalanceamento</a:t>
            </a:r>
          </a:p>
        </p:txBody>
      </p:sp>
      <p:sp>
        <p:nvSpPr>
          <p:cNvPr id="27" name="txt_27"/>
          <p:cNvSpPr txBox="1"/>
          <p:nvPr/>
        </p:nvSpPr>
        <p:spPr>
          <a:xfrm>
            <a:off x="2600960" y="41783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FFFF"/>
                </a:solidFill>
                <a:latin typeface="Segoe UI Semibold"/>
                <a:cs typeface="Segoe UI Semibold"/>
              </a:rPr>
              <a:t>Diário</a:t>
            </a:r>
          </a:p>
        </p:txBody>
      </p:sp>
      <p:cxnSp>
        <p:nvCxnSpPr>
          <p:cNvPr id="28" name="linha_28"/>
          <p:cNvCxnSpPr/>
          <p:nvPr/>
        </p:nvCxnSpPr>
        <p:spPr>
          <a:xfrm>
            <a:off x="1076960" y="4826000"/>
            <a:ext cx="4572000" cy="0"/>
          </a:xfrm>
          <a:prstGeom prst="line">
            <a:avLst/>
          </a:prstGeom>
          <a:ln w="9525">
            <a:solidFill>
              <a:srgbClr val="3A404A"/>
            </a:solidFill>
          </a:ln>
        </p:spPr>
      </p:cxnSp>
      <p:sp>
        <p:nvSpPr>
          <p:cNvPr id="29" name="txt_29"/>
          <p:cNvSpPr txBox="1"/>
          <p:nvPr/>
        </p:nvSpPr>
        <p:spPr>
          <a:xfrm>
            <a:off x="1076960" y="49022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D5D9E0"/>
                </a:solidFill>
                <a:latin typeface="Segoe UI"/>
                <a:cs typeface="Segoe UI"/>
              </a:rPr>
              <a:t>Custo</a:t>
            </a:r>
          </a:p>
        </p:txBody>
      </p:sp>
      <p:sp>
        <p:nvSpPr>
          <p:cNvPr id="30" name="txt_30"/>
          <p:cNvSpPr txBox="1"/>
          <p:nvPr/>
        </p:nvSpPr>
        <p:spPr>
          <a:xfrm>
            <a:off x="2600960" y="49022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FFFF"/>
                </a:solidFill>
                <a:latin typeface="Segoe UI Semibold"/>
                <a:cs typeface="Segoe UI Semibold"/>
              </a:rPr>
              <a:t>2 bps por lado</a:t>
            </a:r>
          </a:p>
        </p:txBody>
      </p:sp>
      <p:cxnSp>
        <p:nvCxnSpPr>
          <p:cNvPr id="31" name="linha_31"/>
          <p:cNvCxnSpPr/>
          <p:nvPr/>
        </p:nvCxnSpPr>
        <p:spPr>
          <a:xfrm>
            <a:off x="1076960" y="5549900"/>
            <a:ext cx="4572000" cy="0"/>
          </a:xfrm>
          <a:prstGeom prst="line">
            <a:avLst/>
          </a:prstGeom>
          <a:ln w="9525">
            <a:solidFill>
              <a:srgbClr val="3A404A"/>
            </a:solidFill>
          </a:ln>
        </p:spPr>
      </p:cxnSp>
      <p:sp>
        <p:nvSpPr>
          <p:cNvPr id="32" name="txt_32"/>
          <p:cNvSpPr txBox="1"/>
          <p:nvPr/>
        </p:nvSpPr>
        <p:spPr>
          <a:xfrm>
            <a:off x="1076960" y="56261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D5D9E0"/>
                </a:solidFill>
                <a:latin typeface="Segoe UI"/>
                <a:cs typeface="Segoe UI"/>
              </a:rPr>
              <a:t>Plataforma</a:t>
            </a:r>
          </a:p>
        </p:txBody>
      </p:sp>
      <p:sp>
        <p:nvSpPr>
          <p:cNvPr id="33" name="txt_33"/>
          <p:cNvSpPr txBox="1"/>
          <p:nvPr/>
        </p:nvSpPr>
        <p:spPr>
          <a:xfrm>
            <a:off x="2600960" y="56261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FFFF"/>
                </a:solidFill>
                <a:latin typeface="Segoe UI Semibold"/>
                <a:cs typeface="Segoe UI Semibold"/>
              </a:rPr>
              <a:t>Python</a:t>
            </a:r>
          </a:p>
        </p:txBody>
      </p:sp>
      <p:sp>
        <p:nvSpPr>
          <p:cNvPr id="34" name="txt_34"/>
          <p:cNvSpPr txBox="1"/>
          <p:nvPr/>
        </p:nvSpPr>
        <p:spPr>
          <a:xfrm>
            <a:off x="6220460" y="1320800"/>
            <a:ext cx="514604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OS 9 ETFS</a:t>
            </a:r>
          </a:p>
        </p:txBody>
      </p:sp>
      <p:sp>
        <p:nvSpPr>
          <p:cNvPr id="35" name="forma_35"/>
          <p:cNvSpPr/>
          <p:nvPr/>
        </p:nvSpPr>
        <p:spPr>
          <a:xfrm>
            <a:off x="6220460" y="1549400"/>
            <a:ext cx="1647613" cy="635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txt_36"/>
          <p:cNvSpPr txBox="1"/>
          <p:nvPr/>
        </p:nvSpPr>
        <p:spPr>
          <a:xfrm>
            <a:off x="6347460" y="16510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Segoe UI Semibold"/>
                <a:cs typeface="Segoe UI Semibold"/>
              </a:rPr>
              <a:t>SPY</a:t>
            </a:r>
          </a:p>
        </p:txBody>
      </p:sp>
      <p:sp>
        <p:nvSpPr>
          <p:cNvPr id="37" name="txt_37"/>
          <p:cNvSpPr txBox="1"/>
          <p:nvPr/>
        </p:nvSpPr>
        <p:spPr>
          <a:xfrm>
            <a:off x="6347460" y="18923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D5D9E0"/>
                </a:solidFill>
                <a:latin typeface="Segoe UI"/>
                <a:cs typeface="Segoe UI"/>
              </a:rPr>
              <a:t>S&amp;P 500</a:t>
            </a:r>
          </a:p>
        </p:txBody>
      </p:sp>
      <p:sp>
        <p:nvSpPr>
          <p:cNvPr id="38" name="forma_38"/>
          <p:cNvSpPr/>
          <p:nvPr/>
        </p:nvSpPr>
        <p:spPr>
          <a:xfrm>
            <a:off x="7969673" y="1549400"/>
            <a:ext cx="1647613" cy="635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txt_39"/>
          <p:cNvSpPr txBox="1"/>
          <p:nvPr/>
        </p:nvSpPr>
        <p:spPr>
          <a:xfrm>
            <a:off x="8096673" y="16510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Segoe UI Semibold"/>
                <a:cs typeface="Segoe UI Semibold"/>
              </a:rPr>
              <a:t>TIP</a:t>
            </a:r>
          </a:p>
        </p:txBody>
      </p:sp>
      <p:sp>
        <p:nvSpPr>
          <p:cNvPr id="40" name="txt_40"/>
          <p:cNvSpPr txBox="1"/>
          <p:nvPr/>
        </p:nvSpPr>
        <p:spPr>
          <a:xfrm>
            <a:off x="8096673" y="18923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D5D9E0"/>
                </a:solidFill>
                <a:latin typeface="Segoe UI"/>
                <a:cs typeface="Segoe UI"/>
              </a:rPr>
              <a:t>Tesouro indexado à inflação</a:t>
            </a:r>
          </a:p>
        </p:txBody>
      </p:sp>
      <p:sp>
        <p:nvSpPr>
          <p:cNvPr id="41" name="forma_41"/>
          <p:cNvSpPr/>
          <p:nvPr/>
        </p:nvSpPr>
        <p:spPr>
          <a:xfrm>
            <a:off x="9718887" y="1549400"/>
            <a:ext cx="1647613" cy="635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2" name="txt_42"/>
          <p:cNvSpPr txBox="1"/>
          <p:nvPr/>
        </p:nvSpPr>
        <p:spPr>
          <a:xfrm>
            <a:off x="9845887" y="16510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Segoe UI Semibold"/>
                <a:cs typeface="Segoe UI Semibold"/>
              </a:rPr>
              <a:t>TLT</a:t>
            </a:r>
          </a:p>
        </p:txBody>
      </p:sp>
      <p:sp>
        <p:nvSpPr>
          <p:cNvPr id="43" name="txt_43"/>
          <p:cNvSpPr txBox="1"/>
          <p:nvPr/>
        </p:nvSpPr>
        <p:spPr>
          <a:xfrm>
            <a:off x="9845887" y="18923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D5D9E0"/>
                </a:solidFill>
                <a:latin typeface="Segoe UI"/>
                <a:cs typeface="Segoe UI"/>
              </a:rPr>
              <a:t>Tesouro de 20+ anos</a:t>
            </a:r>
          </a:p>
        </p:txBody>
      </p:sp>
      <p:sp>
        <p:nvSpPr>
          <p:cNvPr id="44" name="forma_44"/>
          <p:cNvSpPr/>
          <p:nvPr/>
        </p:nvSpPr>
        <p:spPr>
          <a:xfrm>
            <a:off x="6220460" y="2286000"/>
            <a:ext cx="1647613" cy="635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5" name="txt_45"/>
          <p:cNvSpPr txBox="1"/>
          <p:nvPr/>
        </p:nvSpPr>
        <p:spPr>
          <a:xfrm>
            <a:off x="6347460" y="23876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Segoe UI Semibold"/>
                <a:cs typeface="Segoe UI Semibold"/>
              </a:rPr>
              <a:t>XLE</a:t>
            </a:r>
          </a:p>
        </p:txBody>
      </p:sp>
      <p:sp>
        <p:nvSpPr>
          <p:cNvPr id="46" name="txt_46"/>
          <p:cNvSpPr txBox="1"/>
          <p:nvPr/>
        </p:nvSpPr>
        <p:spPr>
          <a:xfrm>
            <a:off x="6347460" y="26289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D5D9E0"/>
                </a:solidFill>
                <a:latin typeface="Segoe UI"/>
                <a:cs typeface="Segoe UI"/>
              </a:rPr>
              <a:t>Energia</a:t>
            </a:r>
          </a:p>
        </p:txBody>
      </p:sp>
      <p:sp>
        <p:nvSpPr>
          <p:cNvPr id="47" name="forma_47"/>
          <p:cNvSpPr/>
          <p:nvPr/>
        </p:nvSpPr>
        <p:spPr>
          <a:xfrm>
            <a:off x="7969673" y="2286000"/>
            <a:ext cx="1647613" cy="635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8" name="txt_48"/>
          <p:cNvSpPr txBox="1"/>
          <p:nvPr/>
        </p:nvSpPr>
        <p:spPr>
          <a:xfrm>
            <a:off x="8096673" y="23876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Segoe UI Semibold"/>
                <a:cs typeface="Segoe UI Semibold"/>
              </a:rPr>
              <a:t>XLF</a:t>
            </a:r>
          </a:p>
        </p:txBody>
      </p:sp>
      <p:sp>
        <p:nvSpPr>
          <p:cNvPr id="49" name="txt_49"/>
          <p:cNvSpPr txBox="1"/>
          <p:nvPr/>
        </p:nvSpPr>
        <p:spPr>
          <a:xfrm>
            <a:off x="8096673" y="26289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D5D9E0"/>
                </a:solidFill>
                <a:latin typeface="Segoe UI"/>
                <a:cs typeface="Segoe UI"/>
              </a:rPr>
              <a:t>Financeiro</a:t>
            </a:r>
          </a:p>
        </p:txBody>
      </p:sp>
      <p:sp>
        <p:nvSpPr>
          <p:cNvPr id="50" name="forma_50"/>
          <p:cNvSpPr/>
          <p:nvPr/>
        </p:nvSpPr>
        <p:spPr>
          <a:xfrm>
            <a:off x="9718887" y="2286000"/>
            <a:ext cx="1647613" cy="635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1" name="txt_51"/>
          <p:cNvSpPr txBox="1"/>
          <p:nvPr/>
        </p:nvSpPr>
        <p:spPr>
          <a:xfrm>
            <a:off x="9845887" y="23876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Segoe UI Semibold"/>
                <a:cs typeface="Segoe UI Semibold"/>
              </a:rPr>
              <a:t>XLK</a:t>
            </a:r>
          </a:p>
        </p:txBody>
      </p:sp>
      <p:sp>
        <p:nvSpPr>
          <p:cNvPr id="52" name="txt_52"/>
          <p:cNvSpPr txBox="1"/>
          <p:nvPr/>
        </p:nvSpPr>
        <p:spPr>
          <a:xfrm>
            <a:off x="9845887" y="26289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D5D9E0"/>
                </a:solidFill>
                <a:latin typeface="Segoe UI"/>
                <a:cs typeface="Segoe UI"/>
              </a:rPr>
              <a:t>Tecnologia</a:t>
            </a:r>
          </a:p>
        </p:txBody>
      </p:sp>
      <p:sp>
        <p:nvSpPr>
          <p:cNvPr id="53" name="forma_53"/>
          <p:cNvSpPr/>
          <p:nvPr/>
        </p:nvSpPr>
        <p:spPr>
          <a:xfrm>
            <a:off x="6220460" y="3022600"/>
            <a:ext cx="1647613" cy="635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4" name="txt_54"/>
          <p:cNvSpPr txBox="1"/>
          <p:nvPr/>
        </p:nvSpPr>
        <p:spPr>
          <a:xfrm>
            <a:off x="6347460" y="31242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Segoe UI Semibold"/>
                <a:cs typeface="Segoe UI Semibold"/>
              </a:rPr>
              <a:t>XLP</a:t>
            </a:r>
          </a:p>
        </p:txBody>
      </p:sp>
      <p:sp>
        <p:nvSpPr>
          <p:cNvPr id="55" name="txt_55"/>
          <p:cNvSpPr txBox="1"/>
          <p:nvPr/>
        </p:nvSpPr>
        <p:spPr>
          <a:xfrm>
            <a:off x="6347460" y="33655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D5D9E0"/>
                </a:solidFill>
                <a:latin typeface="Segoe UI"/>
                <a:cs typeface="Segoe UI"/>
              </a:rPr>
              <a:t>Consumo básico</a:t>
            </a:r>
          </a:p>
        </p:txBody>
      </p:sp>
      <p:sp>
        <p:nvSpPr>
          <p:cNvPr id="56" name="forma_56"/>
          <p:cNvSpPr/>
          <p:nvPr/>
        </p:nvSpPr>
        <p:spPr>
          <a:xfrm>
            <a:off x="7969673" y="3022600"/>
            <a:ext cx="1647613" cy="635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7" name="txt_57"/>
          <p:cNvSpPr txBox="1"/>
          <p:nvPr/>
        </p:nvSpPr>
        <p:spPr>
          <a:xfrm>
            <a:off x="8096673" y="31242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Segoe UI Semibold"/>
                <a:cs typeface="Segoe UI Semibold"/>
              </a:rPr>
              <a:t>XLU</a:t>
            </a:r>
          </a:p>
        </p:txBody>
      </p:sp>
      <p:sp>
        <p:nvSpPr>
          <p:cNvPr id="58" name="txt_58"/>
          <p:cNvSpPr txBox="1"/>
          <p:nvPr/>
        </p:nvSpPr>
        <p:spPr>
          <a:xfrm>
            <a:off x="8096673" y="33655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D5D9E0"/>
                </a:solidFill>
                <a:latin typeface="Segoe UI"/>
                <a:cs typeface="Segoe UI"/>
              </a:rPr>
              <a:t>Serviços públicos</a:t>
            </a:r>
          </a:p>
        </p:txBody>
      </p:sp>
      <p:sp>
        <p:nvSpPr>
          <p:cNvPr id="59" name="forma_59"/>
          <p:cNvSpPr/>
          <p:nvPr/>
        </p:nvSpPr>
        <p:spPr>
          <a:xfrm>
            <a:off x="9718887" y="3022600"/>
            <a:ext cx="1647613" cy="635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0" name="txt_60"/>
          <p:cNvSpPr txBox="1"/>
          <p:nvPr/>
        </p:nvSpPr>
        <p:spPr>
          <a:xfrm>
            <a:off x="9845887" y="31242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Segoe UI Semibold"/>
                <a:cs typeface="Segoe UI Semibold"/>
              </a:rPr>
              <a:t>XLV</a:t>
            </a:r>
          </a:p>
        </p:txBody>
      </p:sp>
      <p:sp>
        <p:nvSpPr>
          <p:cNvPr id="61" name="txt_61"/>
          <p:cNvSpPr txBox="1"/>
          <p:nvPr/>
        </p:nvSpPr>
        <p:spPr>
          <a:xfrm>
            <a:off x="9845887" y="33655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D5D9E0"/>
                </a:solidFill>
                <a:latin typeface="Segoe UI"/>
                <a:cs typeface="Segoe UI"/>
              </a:rPr>
              <a:t>Saúde</a:t>
            </a:r>
          </a:p>
        </p:txBody>
      </p:sp>
      <p:sp>
        <p:nvSpPr>
          <p:cNvPr id="62" name="txt_62"/>
          <p:cNvSpPr txBox="1"/>
          <p:nvPr/>
        </p:nvSpPr>
        <p:spPr>
          <a:xfrm>
            <a:off x="6220460" y="3962400"/>
            <a:ext cx="514604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DE ONDE VÊM OS DADOS</a:t>
            </a:r>
          </a:p>
        </p:txBody>
      </p:sp>
      <p:sp>
        <p:nvSpPr>
          <p:cNvPr id="63" name="forma_63"/>
          <p:cNvSpPr/>
          <p:nvPr/>
        </p:nvSpPr>
        <p:spPr>
          <a:xfrm>
            <a:off x="6220460" y="4191000"/>
            <a:ext cx="1647613" cy="889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4" name="txt_64"/>
          <p:cNvSpPr txBox="1"/>
          <p:nvPr/>
        </p:nvSpPr>
        <p:spPr>
          <a:xfrm>
            <a:off x="6372860" y="4368800"/>
            <a:ext cx="13936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FFFFF"/>
                </a:solidFill>
                <a:latin typeface="Segoe UI Semibold"/>
                <a:cs typeface="Segoe UI Semibold"/>
              </a:rPr>
              <a:t>Polymarket</a:t>
            </a:r>
          </a:p>
        </p:txBody>
      </p:sp>
      <p:sp>
        <p:nvSpPr>
          <p:cNvPr id="65" name="txt_65"/>
          <p:cNvSpPr txBox="1"/>
          <p:nvPr/>
        </p:nvSpPr>
        <p:spPr>
          <a:xfrm>
            <a:off x="6372860" y="4673600"/>
            <a:ext cx="139361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D5D9E0"/>
                </a:solidFill>
                <a:latin typeface="Segoe UI"/>
                <a:cs typeface="Segoe UI"/>
              </a:rPr>
              <a:t>probabilidades, a cada 12h</a:t>
            </a:r>
          </a:p>
        </p:txBody>
      </p:sp>
      <p:sp>
        <p:nvSpPr>
          <p:cNvPr id="66" name="forma_66"/>
          <p:cNvSpPr/>
          <p:nvPr/>
        </p:nvSpPr>
        <p:spPr>
          <a:xfrm>
            <a:off x="7969673" y="4191000"/>
            <a:ext cx="1647613" cy="889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7" name="txt_67"/>
          <p:cNvSpPr txBox="1"/>
          <p:nvPr/>
        </p:nvSpPr>
        <p:spPr>
          <a:xfrm>
            <a:off x="8122073" y="4368800"/>
            <a:ext cx="13936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FFFFF"/>
                </a:solidFill>
                <a:latin typeface="Segoe UI Semibold"/>
                <a:cs typeface="Segoe UI Semibold"/>
              </a:rPr>
              <a:t>yfinance</a:t>
            </a:r>
          </a:p>
        </p:txBody>
      </p:sp>
      <p:sp>
        <p:nvSpPr>
          <p:cNvPr id="68" name="txt_68"/>
          <p:cNvSpPr txBox="1"/>
          <p:nvPr/>
        </p:nvSpPr>
        <p:spPr>
          <a:xfrm>
            <a:off x="8122073" y="4673600"/>
            <a:ext cx="139361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D5D9E0"/>
                </a:solidFill>
                <a:latin typeface="Segoe UI"/>
                <a:cs typeface="Segoe UI"/>
              </a:rPr>
              <a:t>preços dos ETFs</a:t>
            </a:r>
          </a:p>
        </p:txBody>
      </p:sp>
      <p:sp>
        <p:nvSpPr>
          <p:cNvPr id="69" name="forma_69"/>
          <p:cNvSpPr/>
          <p:nvPr/>
        </p:nvSpPr>
        <p:spPr>
          <a:xfrm>
            <a:off x="9718887" y="4191000"/>
            <a:ext cx="1647613" cy="889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0" name="txt_70"/>
          <p:cNvSpPr txBox="1"/>
          <p:nvPr/>
        </p:nvSpPr>
        <p:spPr>
          <a:xfrm>
            <a:off x="9871287" y="4368800"/>
            <a:ext cx="13936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FFFFF"/>
                </a:solidFill>
                <a:latin typeface="Segoe UI Semibold"/>
                <a:cs typeface="Segoe UI Semibold"/>
              </a:rPr>
              <a:t>FRED</a:t>
            </a:r>
          </a:p>
        </p:txBody>
      </p:sp>
      <p:sp>
        <p:nvSpPr>
          <p:cNvPr id="71" name="txt_71"/>
          <p:cNvSpPr txBox="1"/>
          <p:nvPr/>
        </p:nvSpPr>
        <p:spPr>
          <a:xfrm>
            <a:off x="9871287" y="4673600"/>
            <a:ext cx="139361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D5D9E0"/>
                </a:solidFill>
                <a:latin typeface="Segoe UI"/>
                <a:cs typeface="Segoe UI"/>
              </a:rPr>
              <a:t>juros e inflação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5138928"/>
            <a:ext cx="51480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B531"/>
                </a:solidFill>
                <a:latin typeface="Segoe UI Semibold"/>
              </a:rPr>
              <a:t>OS MERCADOS QUE USAMOS</a:t>
            </a:r>
          </a:p>
        </p:txBody>
      </p:sp>
      <p:sp>
        <p:nvSpPr>
          <p:cNvPr id="200" name="mkt_200"/>
          <p:cNvSpPr/>
          <p:nvPr/>
        </p:nvSpPr>
        <p:spPr>
          <a:xfrm>
            <a:off x="6217920" y="5440680"/>
            <a:ext cx="1600200" cy="310896"/>
          </a:xfrm>
          <a:prstGeom prst="rect">
            <a:avLst/>
          </a:prstGeom>
          <a:solidFill>
            <a:srgbClr val="1E2229"/>
          </a:solidFill>
          <a:ln w="12700">
            <a:solidFill>
              <a:srgbClr val="FFB531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 err="1">
                <a:solidFill>
                  <a:srgbClr val="FFB531"/>
                </a:solidFill>
                <a:latin typeface="Consolas"/>
              </a:rPr>
              <a:t>Fed</a:t>
            </a:r>
            <a:endParaRPr lang="pt-BR" sz="900" b="1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201" name="mkt_201"/>
          <p:cNvSpPr/>
          <p:nvPr/>
        </p:nvSpPr>
        <p:spPr>
          <a:xfrm>
            <a:off x="7991856" y="5440680"/>
            <a:ext cx="1600200" cy="310896"/>
          </a:xfrm>
          <a:prstGeom prst="rect">
            <a:avLst/>
          </a:prstGeom>
          <a:solidFill>
            <a:srgbClr val="1E2229"/>
          </a:solidFill>
          <a:ln w="12700">
            <a:solidFill>
              <a:srgbClr val="FFB531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>
                <a:solidFill>
                  <a:srgbClr val="FFB531"/>
                </a:solidFill>
                <a:latin typeface="Consolas"/>
              </a:rPr>
              <a:t>Inflação</a:t>
            </a:r>
          </a:p>
        </p:txBody>
      </p:sp>
      <p:sp>
        <p:nvSpPr>
          <p:cNvPr id="202" name="mkt_202"/>
          <p:cNvSpPr/>
          <p:nvPr/>
        </p:nvSpPr>
        <p:spPr>
          <a:xfrm>
            <a:off x="9765792" y="5440680"/>
            <a:ext cx="1600200" cy="310896"/>
          </a:xfrm>
          <a:prstGeom prst="rect">
            <a:avLst/>
          </a:prstGeom>
          <a:solidFill>
            <a:srgbClr val="1E2229"/>
          </a:solidFill>
          <a:ln w="12700">
            <a:solidFill>
              <a:srgbClr val="FFB531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>
                <a:solidFill>
                  <a:srgbClr val="FFB531"/>
                </a:solidFill>
                <a:latin typeface="Consolas"/>
              </a:rPr>
              <a:t>Cortes no ano</a:t>
            </a:r>
          </a:p>
        </p:txBody>
      </p:sp>
      <p:sp>
        <p:nvSpPr>
          <p:cNvPr id="203" name="mkt_203"/>
          <p:cNvSpPr/>
          <p:nvPr/>
        </p:nvSpPr>
        <p:spPr>
          <a:xfrm>
            <a:off x="6217920" y="5815584"/>
            <a:ext cx="1600200" cy="310896"/>
          </a:xfrm>
          <a:prstGeom prst="rect">
            <a:avLst/>
          </a:prstGeom>
          <a:solidFill>
            <a:srgbClr val="1E2229"/>
          </a:solidFill>
          <a:ln w="12700">
            <a:solidFill>
              <a:srgbClr val="FFB531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>
                <a:solidFill>
                  <a:srgbClr val="FFB531"/>
                </a:solidFill>
                <a:latin typeface="Consolas"/>
              </a:rPr>
              <a:t>Dúvida</a:t>
            </a:r>
          </a:p>
        </p:txBody>
      </p:sp>
      <p:sp>
        <p:nvSpPr>
          <p:cNvPr id="204" name="mkt_204"/>
          <p:cNvSpPr/>
          <p:nvPr/>
        </p:nvSpPr>
        <p:spPr>
          <a:xfrm>
            <a:off x="7991856" y="5815584"/>
            <a:ext cx="1600200" cy="310896"/>
          </a:xfrm>
          <a:prstGeom prst="rect">
            <a:avLst/>
          </a:prstGeom>
          <a:solidFill>
            <a:srgbClr val="1E2229"/>
          </a:solidFill>
          <a:ln w="12700">
            <a:solidFill>
              <a:srgbClr val="4F6FD0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>
                <a:solidFill>
                  <a:srgbClr val="6C8CE0"/>
                </a:solidFill>
                <a:latin typeface="Consolas"/>
              </a:rPr>
              <a:t>Recessão</a:t>
            </a:r>
          </a:p>
        </p:txBody>
      </p:sp>
      <p:sp>
        <p:nvSpPr>
          <p:cNvPr id="205" name="mkt_205"/>
          <p:cNvSpPr/>
          <p:nvPr/>
        </p:nvSpPr>
        <p:spPr>
          <a:xfrm>
            <a:off x="9765792" y="5815584"/>
            <a:ext cx="1600200" cy="310896"/>
          </a:xfrm>
          <a:prstGeom prst="rect">
            <a:avLst/>
          </a:prstGeom>
          <a:solidFill>
            <a:srgbClr val="1E2229"/>
          </a:solidFill>
          <a:ln w="12700">
            <a:solidFill>
              <a:srgbClr val="4F6FD0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>
                <a:solidFill>
                  <a:srgbClr val="6C8CE0"/>
                </a:solidFill>
                <a:latin typeface="Consolas"/>
              </a:rPr>
              <a:t>Câmara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217920" y="6217920"/>
            <a:ext cx="51480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FB531"/>
                </a:solidFill>
                <a:latin typeface="Consolas"/>
              </a:rPr>
              <a:t>laranja: views</a:t>
            </a:r>
            <a:r>
              <a:rPr sz="800" b="0" i="0">
                <a:solidFill>
                  <a:srgbClr val="9AA3AF"/>
                </a:solidFill>
                <a:latin typeface="Consolas"/>
              </a:rPr>
              <a:t>  ·  </a:t>
            </a:r>
            <a:r>
              <a:rPr sz="800" b="0" i="0">
                <a:solidFill>
                  <a:srgbClr val="6C8CE0"/>
                </a:solidFill>
                <a:latin typeface="Consolas"/>
              </a:rPr>
              <a:t>azul: camada tática</a:t>
            </a:r>
          </a:p>
        </p:txBody>
      </p:sp>
      <p:sp>
        <p:nvSpPr>
          <p:cNvPr id="207" name="!!t6_hdr"/>
          <p:cNvSpPr txBox="1"/>
          <p:nvPr/>
        </p:nvSpPr>
        <p:spPr>
          <a:xfrm>
            <a:off x="822960" y="347472"/>
            <a:ext cx="9080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Ficha técnica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que foi testado</a:t>
            </a:r>
          </a:p>
        </p:txBody>
      </p:sp>
      <p:sp>
        <p:nvSpPr>
          <p:cNvPr id="208" name="!!t6_marca"/>
          <p:cNvSpPr txBox="1"/>
          <p:nvPr/>
        </p:nvSpPr>
        <p:spPr>
          <a:xfrm>
            <a:off x="999490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209" name="!!t6_regua"/>
          <p:cNvSpPr/>
          <p:nvPr/>
        </p:nvSpPr>
        <p:spPr>
          <a:xfrm>
            <a:off x="822960" y="868680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!!t6_nav_regua"/>
          <p:cNvSpPr/>
          <p:nvPr/>
        </p:nvSpPr>
        <p:spPr>
          <a:xfrm>
            <a:off x="822960" y="6528816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t6_nav0"/>
          <p:cNvSpPr txBox="1"/>
          <p:nvPr/>
        </p:nvSpPr>
        <p:spPr>
          <a:xfrm>
            <a:off x="82296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212" name="!!t6_nav1"/>
          <p:cNvSpPr txBox="1"/>
          <p:nvPr/>
        </p:nvSpPr>
        <p:spPr>
          <a:xfrm>
            <a:off x="245829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213" name="!!t6_nav2"/>
          <p:cNvSpPr txBox="1"/>
          <p:nvPr/>
        </p:nvSpPr>
        <p:spPr>
          <a:xfrm>
            <a:off x="409363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Estratégia</a:t>
            </a:r>
          </a:p>
        </p:txBody>
      </p:sp>
      <p:sp>
        <p:nvSpPr>
          <p:cNvPr id="214" name="!!t6_nav_ativa"/>
          <p:cNvSpPr/>
          <p:nvPr/>
        </p:nvSpPr>
        <p:spPr>
          <a:xfrm>
            <a:off x="4499821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t6_nav3"/>
          <p:cNvSpPr txBox="1"/>
          <p:nvPr/>
        </p:nvSpPr>
        <p:spPr>
          <a:xfrm>
            <a:off x="572897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216" name="!!t6_nav4"/>
          <p:cNvSpPr txBox="1"/>
          <p:nvPr/>
        </p:nvSpPr>
        <p:spPr>
          <a:xfrm>
            <a:off x="736430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217" name="!!t6_nav5"/>
          <p:cNvSpPr txBox="1"/>
          <p:nvPr/>
        </p:nvSpPr>
        <p:spPr>
          <a:xfrm>
            <a:off x="899964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218" name="!!t6_num"/>
          <p:cNvSpPr txBox="1"/>
          <p:nvPr/>
        </p:nvSpPr>
        <p:spPr>
          <a:xfrm>
            <a:off x="10772140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991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!!t6_hdr"/>
          <p:cNvSpPr txBox="1"/>
          <p:nvPr/>
        </p:nvSpPr>
        <p:spPr>
          <a:xfrm>
            <a:off x="822959" y="347472"/>
            <a:ext cx="90799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Como o Black-Litterman funciona</a:t>
            </a:r>
            <a:r>
              <a:rPr sz="200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>
                <a:solidFill>
                  <a:srgbClr val="FFFFFF"/>
                </a:solidFill>
                <a:latin typeface="Segoe UI Semibold"/>
              </a:rPr>
              <a:t>Do equilíbrio às views</a:t>
            </a:r>
          </a:p>
        </p:txBody>
      </p:sp>
      <p:sp>
        <p:nvSpPr>
          <p:cNvPr id="35" name="!!t6_marca"/>
          <p:cNvSpPr txBox="1"/>
          <p:nvPr/>
        </p:nvSpPr>
        <p:spPr>
          <a:xfrm>
            <a:off x="9994392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6" name="!!t6_regua"/>
          <p:cNvSpPr/>
          <p:nvPr/>
        </p:nvSpPr>
        <p:spPr>
          <a:xfrm>
            <a:off x="822959" y="868680"/>
            <a:ext cx="1054303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t6_nav_regua"/>
          <p:cNvSpPr/>
          <p:nvPr/>
        </p:nvSpPr>
        <p:spPr>
          <a:xfrm>
            <a:off x="822959" y="6528816"/>
            <a:ext cx="1054303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t6_nav0"/>
          <p:cNvSpPr txBox="1"/>
          <p:nvPr/>
        </p:nvSpPr>
        <p:spPr>
          <a:xfrm>
            <a:off x="822959" y="6565392"/>
            <a:ext cx="1635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39" name="!!t6_nav1"/>
          <p:cNvSpPr txBox="1"/>
          <p:nvPr/>
        </p:nvSpPr>
        <p:spPr>
          <a:xfrm>
            <a:off x="2458211" y="6565392"/>
            <a:ext cx="1635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40" name="!!t6_nav2"/>
          <p:cNvSpPr txBox="1"/>
          <p:nvPr/>
        </p:nvSpPr>
        <p:spPr>
          <a:xfrm>
            <a:off x="4093463" y="6565392"/>
            <a:ext cx="1635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Estratégia</a:t>
            </a:r>
          </a:p>
        </p:txBody>
      </p:sp>
      <p:sp>
        <p:nvSpPr>
          <p:cNvPr id="41" name="!!t6_nav_ativa"/>
          <p:cNvSpPr/>
          <p:nvPr/>
        </p:nvSpPr>
        <p:spPr>
          <a:xfrm>
            <a:off x="4499609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t6_nav3"/>
          <p:cNvSpPr txBox="1"/>
          <p:nvPr/>
        </p:nvSpPr>
        <p:spPr>
          <a:xfrm>
            <a:off x="5728715" y="6565392"/>
            <a:ext cx="1635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43" name="!!t6_nav4"/>
          <p:cNvSpPr txBox="1"/>
          <p:nvPr/>
        </p:nvSpPr>
        <p:spPr>
          <a:xfrm>
            <a:off x="7363967" y="6565392"/>
            <a:ext cx="1635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44" name="!!t6_nav5"/>
          <p:cNvSpPr txBox="1"/>
          <p:nvPr/>
        </p:nvSpPr>
        <p:spPr>
          <a:xfrm>
            <a:off x="8999219" y="6565392"/>
            <a:ext cx="16352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45" name="!!t6_num"/>
          <p:cNvSpPr txBox="1"/>
          <p:nvPr/>
        </p:nvSpPr>
        <p:spPr>
          <a:xfrm>
            <a:off x="10771632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06</a:t>
            </a:r>
          </a:p>
        </p:txBody>
      </p:sp>
      <p:sp>
        <p:nvSpPr>
          <p:cNvPr id="46" name="s6_delta"/>
          <p:cNvSpPr/>
          <p:nvPr/>
        </p:nvSpPr>
        <p:spPr>
          <a:xfrm>
            <a:off x="822960" y="1115568"/>
            <a:ext cx="1874519" cy="768096"/>
          </a:xfrm>
          <a:prstGeom prst="rect">
            <a:avLst/>
          </a:prstGeom>
          <a:solidFill>
            <a:srgbClr val="1E2229"/>
          </a:solidFill>
          <a:ln w="12700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s6_delta_t"/>
          <p:cNvSpPr txBox="1"/>
          <p:nvPr/>
        </p:nvSpPr>
        <p:spPr>
          <a:xfrm>
            <a:off x="896112" y="1179576"/>
            <a:ext cx="17282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>
                <a:solidFill>
                  <a:srgbClr val="D5D9E0"/>
                </a:solidFill>
                <a:latin typeface="Segoe UI"/>
              </a:rPr>
              <a:t>Aversão ao risco</a:t>
            </a:r>
          </a:p>
        </p:txBody>
      </p:sp>
      <p:sp>
        <p:nvSpPr>
          <p:cNvPr id="48" name="s6_delta_s"/>
          <p:cNvSpPr txBox="1"/>
          <p:nvPr/>
        </p:nvSpPr>
        <p:spPr>
          <a:xfrm>
            <a:off x="896112" y="1389888"/>
            <a:ext cx="17282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δ = (E[r] − r</a:t>
            </a:r>
            <a:r>
              <a:rPr sz="900" baseline="-25000">
                <a:solidFill>
                  <a:srgbClr val="FFFFFF"/>
                </a:solidFill>
                <a:latin typeface="Segoe UI Semibold"/>
              </a:rPr>
              <a:t>f</a:t>
            </a:r>
            <a:r>
              <a:rPr sz="1300">
                <a:solidFill>
                  <a:srgbClr val="FFFFFF"/>
                </a:solidFill>
                <a:latin typeface="Segoe UI Semibold"/>
              </a:rPr>
              <a:t>) / σ²</a:t>
            </a:r>
          </a:p>
        </p:txBody>
      </p:sp>
      <p:sp>
        <p:nvSpPr>
          <p:cNvPr id="49" name="s6_delta_d"/>
          <p:cNvSpPr txBox="1"/>
          <p:nvPr/>
        </p:nvSpPr>
        <p:spPr>
          <a:xfrm>
            <a:off x="896112" y="1664208"/>
            <a:ext cx="1728216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800">
                <a:solidFill>
                  <a:srgbClr val="9AA3AF"/>
                </a:solidFill>
                <a:latin typeface="Segoe UI"/>
              </a:rPr>
              <a:t>escalar  ·  δ = 3,0</a:t>
            </a:r>
          </a:p>
        </p:txBody>
      </p:sp>
      <p:sp>
        <p:nvSpPr>
          <p:cNvPr id="50" name="s6_sigma"/>
          <p:cNvSpPr/>
          <p:nvPr/>
        </p:nvSpPr>
        <p:spPr>
          <a:xfrm>
            <a:off x="2834640" y="1115568"/>
            <a:ext cx="1874519" cy="768096"/>
          </a:xfrm>
          <a:prstGeom prst="rect">
            <a:avLst/>
          </a:prstGeom>
          <a:solidFill>
            <a:srgbClr val="1E2229"/>
          </a:solidFill>
          <a:ln w="12700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s6_sigma_t"/>
          <p:cNvSpPr txBox="1"/>
          <p:nvPr/>
        </p:nvSpPr>
        <p:spPr>
          <a:xfrm>
            <a:off x="2907792" y="1179576"/>
            <a:ext cx="17282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>
                <a:solidFill>
                  <a:srgbClr val="D5D9E0"/>
                </a:solidFill>
                <a:latin typeface="Segoe UI"/>
              </a:rPr>
              <a:t>Matriz de covariância</a:t>
            </a:r>
          </a:p>
        </p:txBody>
      </p:sp>
      <p:sp>
        <p:nvSpPr>
          <p:cNvPr id="52" name="s6_sigma_s"/>
          <p:cNvSpPr txBox="1"/>
          <p:nvPr/>
        </p:nvSpPr>
        <p:spPr>
          <a:xfrm>
            <a:off x="2907792" y="1389888"/>
            <a:ext cx="17282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>
                <a:solidFill>
                  <a:srgbClr val="9AA3AF"/>
                </a:solidFill>
                <a:latin typeface="Segoe UI Semibold"/>
              </a:rPr>
              <a:t>( </a:t>
            </a:r>
            <a:r>
              <a:rPr sz="1700">
                <a:solidFill>
                  <a:srgbClr val="FFFFFF"/>
                </a:solidFill>
                <a:latin typeface="Segoe UI Semibold"/>
              </a:rPr>
              <a:t>Σ</a:t>
            </a:r>
            <a:r>
              <a:rPr sz="2400">
                <a:solidFill>
                  <a:srgbClr val="9AA3AF"/>
                </a:solidFill>
                <a:latin typeface="Segoe UI Semibold"/>
              </a:rPr>
              <a:t> )</a:t>
            </a:r>
          </a:p>
        </p:txBody>
      </p:sp>
      <p:sp>
        <p:nvSpPr>
          <p:cNvPr id="53" name="s6_sigma_d"/>
          <p:cNvSpPr txBox="1"/>
          <p:nvPr/>
        </p:nvSpPr>
        <p:spPr>
          <a:xfrm>
            <a:off x="2907792" y="1664208"/>
            <a:ext cx="1728216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800">
                <a:solidFill>
                  <a:srgbClr val="9AA3AF"/>
                </a:solidFill>
                <a:latin typeface="Segoe UI"/>
              </a:rPr>
              <a:t>9 × 9  ·  amostral</a:t>
            </a:r>
          </a:p>
        </p:txBody>
      </p:sp>
      <p:sp>
        <p:nvSpPr>
          <p:cNvPr id="54" name="s6_wmkt"/>
          <p:cNvSpPr/>
          <p:nvPr/>
        </p:nvSpPr>
        <p:spPr>
          <a:xfrm>
            <a:off x="4846320" y="1115568"/>
            <a:ext cx="1874519" cy="768096"/>
          </a:xfrm>
          <a:prstGeom prst="rect">
            <a:avLst/>
          </a:prstGeom>
          <a:solidFill>
            <a:srgbClr val="1E2229"/>
          </a:solidFill>
          <a:ln w="12700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s6_wmkt_t"/>
          <p:cNvSpPr txBox="1"/>
          <p:nvPr/>
        </p:nvSpPr>
        <p:spPr>
          <a:xfrm>
            <a:off x="4919472" y="1179576"/>
            <a:ext cx="17282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>
                <a:solidFill>
                  <a:srgbClr val="D5D9E0"/>
                </a:solidFill>
                <a:latin typeface="Segoe UI"/>
              </a:rPr>
              <a:t>Pesos de capitalização</a:t>
            </a:r>
          </a:p>
        </p:txBody>
      </p:sp>
      <p:sp>
        <p:nvSpPr>
          <p:cNvPr id="56" name="s6_wmkt_s"/>
          <p:cNvSpPr txBox="1"/>
          <p:nvPr/>
        </p:nvSpPr>
        <p:spPr>
          <a:xfrm>
            <a:off x="4919472" y="1389888"/>
            <a:ext cx="17282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>
                <a:solidFill>
                  <a:srgbClr val="9AA3AF"/>
                </a:solidFill>
                <a:latin typeface="Segoe UI Semibold"/>
              </a:rPr>
              <a:t>( </a:t>
            </a:r>
            <a:r>
              <a:rPr sz="1700">
                <a:solidFill>
                  <a:srgbClr val="FFFFFF"/>
                </a:solidFill>
                <a:latin typeface="Segoe UI Semibold"/>
              </a:rPr>
              <a:t>w</a:t>
            </a:r>
            <a:r>
              <a:rPr sz="1100" baseline="-25000">
                <a:solidFill>
                  <a:srgbClr val="FFFFFF"/>
                </a:solidFill>
                <a:latin typeface="Segoe UI Semibold"/>
              </a:rPr>
              <a:t>mkt</a:t>
            </a:r>
            <a:r>
              <a:rPr sz="2400">
                <a:solidFill>
                  <a:srgbClr val="9AA3AF"/>
                </a:solidFill>
                <a:latin typeface="Segoe UI Semibold"/>
              </a:rPr>
              <a:t> )</a:t>
            </a:r>
          </a:p>
        </p:txBody>
      </p:sp>
      <p:sp>
        <p:nvSpPr>
          <p:cNvPr id="57" name="s6_wmkt_d"/>
          <p:cNvSpPr txBox="1"/>
          <p:nvPr/>
        </p:nvSpPr>
        <p:spPr>
          <a:xfrm>
            <a:off x="4919472" y="1664208"/>
            <a:ext cx="1728216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800">
                <a:solidFill>
                  <a:srgbClr val="9AA3AF"/>
                </a:solidFill>
                <a:latin typeface="Segoe UI"/>
              </a:rPr>
              <a:t>9 × 1  ·  soma 1</a:t>
            </a:r>
          </a:p>
        </p:txBody>
      </p:sp>
      <p:sp>
        <p:nvSpPr>
          <p:cNvPr id="58" name="s6_views"/>
          <p:cNvSpPr/>
          <p:nvPr/>
        </p:nvSpPr>
        <p:spPr>
          <a:xfrm>
            <a:off x="7616952" y="1115568"/>
            <a:ext cx="1783080" cy="768096"/>
          </a:xfrm>
          <a:prstGeom prst="rect">
            <a:avLst/>
          </a:prstGeom>
          <a:solidFill>
            <a:srgbClr val="1E2229"/>
          </a:solidFill>
          <a:ln w="12700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s6_views_t"/>
          <p:cNvSpPr txBox="1"/>
          <p:nvPr/>
        </p:nvSpPr>
        <p:spPr>
          <a:xfrm>
            <a:off x="7690104" y="1179576"/>
            <a:ext cx="1636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>
                <a:solidFill>
                  <a:srgbClr val="D5D9E0"/>
                </a:solidFill>
                <a:latin typeface="Segoe UI"/>
              </a:rPr>
              <a:t>Views</a:t>
            </a:r>
          </a:p>
        </p:txBody>
      </p:sp>
      <p:sp>
        <p:nvSpPr>
          <p:cNvPr id="60" name="s6_views_s"/>
          <p:cNvSpPr txBox="1"/>
          <p:nvPr/>
        </p:nvSpPr>
        <p:spPr>
          <a:xfrm>
            <a:off x="7690104" y="1389888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>
                <a:solidFill>
                  <a:srgbClr val="9AA3AF"/>
                </a:solidFill>
                <a:latin typeface="Segoe UI Semibold"/>
              </a:rPr>
              <a:t>( </a:t>
            </a:r>
            <a:r>
              <a:rPr sz="1700">
                <a:solidFill>
                  <a:srgbClr val="FFB531"/>
                </a:solidFill>
                <a:latin typeface="Segoe UI Semibold"/>
              </a:rPr>
              <a:t>P</a:t>
            </a:r>
            <a:r>
              <a:rPr sz="1700">
                <a:solidFill>
                  <a:srgbClr val="FFFFFF"/>
                </a:solidFill>
                <a:latin typeface="Segoe UI Semibold"/>
              </a:rPr>
              <a:t>, </a:t>
            </a:r>
            <a:r>
              <a:rPr sz="1700">
                <a:solidFill>
                  <a:srgbClr val="FFB531"/>
                </a:solidFill>
                <a:latin typeface="Segoe UI Semibold"/>
              </a:rPr>
              <a:t>Q</a:t>
            </a:r>
            <a:r>
              <a:rPr sz="2400">
                <a:solidFill>
                  <a:srgbClr val="9AA3AF"/>
                </a:solidFill>
                <a:latin typeface="Segoe UI Semibold"/>
              </a:rPr>
              <a:t> )</a:t>
            </a:r>
          </a:p>
        </p:txBody>
      </p:sp>
      <p:sp>
        <p:nvSpPr>
          <p:cNvPr id="61" name="s6_views_d"/>
          <p:cNvSpPr txBox="1"/>
          <p:nvPr/>
        </p:nvSpPr>
        <p:spPr>
          <a:xfrm>
            <a:off x="7690104" y="1664208"/>
            <a:ext cx="1636776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800">
                <a:solidFill>
                  <a:srgbClr val="9AA3AF"/>
                </a:solidFill>
                <a:latin typeface="Segoe UI"/>
              </a:rPr>
              <a:t>P: k × 9  ·  Q: k × 1</a:t>
            </a:r>
          </a:p>
        </p:txBody>
      </p:sp>
      <p:sp>
        <p:nvSpPr>
          <p:cNvPr id="62" name="s6_omega"/>
          <p:cNvSpPr/>
          <p:nvPr/>
        </p:nvSpPr>
        <p:spPr>
          <a:xfrm>
            <a:off x="9582912" y="1115568"/>
            <a:ext cx="1783080" cy="768096"/>
          </a:xfrm>
          <a:prstGeom prst="rect">
            <a:avLst/>
          </a:prstGeom>
          <a:solidFill>
            <a:srgbClr val="1E2229"/>
          </a:solidFill>
          <a:ln w="12700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s6_omega_t"/>
          <p:cNvSpPr txBox="1"/>
          <p:nvPr/>
        </p:nvSpPr>
        <p:spPr>
          <a:xfrm>
            <a:off x="9656064" y="1179576"/>
            <a:ext cx="1636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>
                <a:solidFill>
                  <a:srgbClr val="D5D9E0"/>
                </a:solidFill>
                <a:latin typeface="Segoe UI"/>
              </a:rPr>
              <a:t>Incerteza das views</a:t>
            </a:r>
          </a:p>
        </p:txBody>
      </p:sp>
      <p:sp>
        <p:nvSpPr>
          <p:cNvPr id="64" name="s6_omega_s"/>
          <p:cNvSpPr txBox="1"/>
          <p:nvPr/>
        </p:nvSpPr>
        <p:spPr>
          <a:xfrm>
            <a:off x="9656064" y="1389888"/>
            <a:ext cx="1636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>
                <a:solidFill>
                  <a:srgbClr val="9AA3AF"/>
                </a:solidFill>
                <a:latin typeface="Segoe UI Semibold"/>
              </a:rPr>
              <a:t>( </a:t>
            </a:r>
            <a:r>
              <a:rPr sz="1700">
                <a:solidFill>
                  <a:srgbClr val="FFB531"/>
                </a:solidFill>
                <a:latin typeface="Segoe UI Semibold"/>
              </a:rPr>
              <a:t>Ω</a:t>
            </a:r>
            <a:r>
              <a:rPr sz="2400">
                <a:solidFill>
                  <a:srgbClr val="9AA3AF"/>
                </a:solidFill>
                <a:latin typeface="Segoe UI Semibold"/>
              </a:rPr>
              <a:t> )</a:t>
            </a:r>
          </a:p>
        </p:txBody>
      </p:sp>
      <p:sp>
        <p:nvSpPr>
          <p:cNvPr id="65" name="s6_omega_d"/>
          <p:cNvSpPr txBox="1"/>
          <p:nvPr/>
        </p:nvSpPr>
        <p:spPr>
          <a:xfrm>
            <a:off x="9656064" y="1664208"/>
            <a:ext cx="1636776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800">
                <a:solidFill>
                  <a:srgbClr val="9AA3AF"/>
                </a:solidFill>
                <a:latin typeface="Segoe UI"/>
              </a:rPr>
              <a:t>k × k  ·  diagonal</a:t>
            </a:r>
          </a:p>
        </p:txBody>
      </p:sp>
      <p:cxnSp>
        <p:nvCxnSpPr>
          <p:cNvPr id="66" name="s6_seta_0.90"/>
          <p:cNvCxnSpPr/>
          <p:nvPr/>
        </p:nvCxnSpPr>
        <p:spPr>
          <a:xfrm>
            <a:off x="1760219" y="1883664"/>
            <a:ext cx="0" cy="292608"/>
          </a:xfrm>
          <a:prstGeom prst="line">
            <a:avLst/>
          </a:prstGeom>
          <a:ln w="1270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6_seta_3.10"/>
          <p:cNvCxnSpPr/>
          <p:nvPr/>
        </p:nvCxnSpPr>
        <p:spPr>
          <a:xfrm>
            <a:off x="3771900" y="1883664"/>
            <a:ext cx="0" cy="292608"/>
          </a:xfrm>
          <a:prstGeom prst="line">
            <a:avLst/>
          </a:prstGeom>
          <a:ln w="1270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6_seta_5.30"/>
          <p:cNvCxnSpPr/>
          <p:nvPr/>
        </p:nvCxnSpPr>
        <p:spPr>
          <a:xfrm>
            <a:off x="5783579" y="1883664"/>
            <a:ext cx="0" cy="292608"/>
          </a:xfrm>
          <a:prstGeom prst="line">
            <a:avLst/>
          </a:prstGeom>
          <a:ln w="1270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s6_pi"/>
          <p:cNvSpPr/>
          <p:nvPr/>
        </p:nvSpPr>
        <p:spPr>
          <a:xfrm>
            <a:off x="1120140" y="2176272"/>
            <a:ext cx="5303520" cy="603504"/>
          </a:xfrm>
          <a:prstGeom prst="rect">
            <a:avLst/>
          </a:prstGeom>
          <a:solidFill>
            <a:srgbClr val="1E2229"/>
          </a:solidFill>
          <a:ln w="12700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s6_pi_t"/>
          <p:cNvSpPr txBox="1"/>
          <p:nvPr/>
        </p:nvSpPr>
        <p:spPr>
          <a:xfrm>
            <a:off x="1257300" y="2249424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>
                <a:solidFill>
                  <a:srgbClr val="D5D9E0"/>
                </a:solidFill>
                <a:latin typeface="Segoe UI"/>
              </a:rPr>
              <a:t>Vetor de retornos de equilíbrio implícitos</a:t>
            </a:r>
          </a:p>
        </p:txBody>
      </p:sp>
      <p:sp>
        <p:nvSpPr>
          <p:cNvPr id="71" name="s6_pi_f"/>
          <p:cNvSpPr txBox="1"/>
          <p:nvPr/>
        </p:nvSpPr>
        <p:spPr>
          <a:xfrm>
            <a:off x="1257300" y="243230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>
                <a:solidFill>
                  <a:srgbClr val="FFFFFF"/>
                </a:solidFill>
                <a:latin typeface="Segoe UI Semibold"/>
              </a:rPr>
              <a:t>π = δ Σ w</a:t>
            </a:r>
            <a:r>
              <a:rPr sz="1100" baseline="-25000">
                <a:solidFill>
                  <a:srgbClr val="FFFFFF"/>
                </a:solidFill>
                <a:latin typeface="Segoe UI Semibold"/>
              </a:rPr>
              <a:t>mkt</a:t>
            </a:r>
          </a:p>
        </p:txBody>
      </p:sp>
      <p:sp>
        <p:nvSpPr>
          <p:cNvPr id="72" name="s6_pi_d"/>
          <p:cNvSpPr txBox="1"/>
          <p:nvPr/>
        </p:nvSpPr>
        <p:spPr>
          <a:xfrm>
            <a:off x="5326380" y="256032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800">
                <a:solidFill>
                  <a:srgbClr val="9AA3AF"/>
                </a:solidFill>
                <a:latin typeface="Segoe UI"/>
              </a:rPr>
              <a:t>9 × 1</a:t>
            </a:r>
          </a:p>
        </p:txBody>
      </p:sp>
      <p:cxnSp>
        <p:nvCxnSpPr>
          <p:cNvPr id="73" name="s6_seta_pi"/>
          <p:cNvCxnSpPr/>
          <p:nvPr/>
        </p:nvCxnSpPr>
        <p:spPr>
          <a:xfrm>
            <a:off x="3771900" y="2779776"/>
            <a:ext cx="0" cy="292608"/>
          </a:xfrm>
          <a:prstGeom prst="line">
            <a:avLst/>
          </a:prstGeom>
          <a:ln w="1270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6_seta_8.33"/>
          <p:cNvCxnSpPr/>
          <p:nvPr/>
        </p:nvCxnSpPr>
        <p:spPr>
          <a:xfrm>
            <a:off x="8508492" y="1883664"/>
            <a:ext cx="0" cy="1188720"/>
          </a:xfrm>
          <a:prstGeom prst="line">
            <a:avLst/>
          </a:prstGeom>
          <a:ln w="1270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6_seta_10.48"/>
          <p:cNvCxnSpPr/>
          <p:nvPr/>
        </p:nvCxnSpPr>
        <p:spPr>
          <a:xfrm>
            <a:off x="10474452" y="1883664"/>
            <a:ext cx="0" cy="1188720"/>
          </a:xfrm>
          <a:prstGeom prst="line">
            <a:avLst/>
          </a:prstGeom>
          <a:ln w="1270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s6_prior"/>
          <p:cNvSpPr/>
          <p:nvPr/>
        </p:nvSpPr>
        <p:spPr>
          <a:xfrm>
            <a:off x="2125980" y="3072384"/>
            <a:ext cx="3291840" cy="1481328"/>
          </a:xfrm>
          <a:prstGeom prst="rect">
            <a:avLst/>
          </a:prstGeom>
          <a:solidFill>
            <a:srgbClr val="1E2229"/>
          </a:solidFill>
          <a:ln w="12700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s6_prior_t"/>
          <p:cNvSpPr txBox="1"/>
          <p:nvPr/>
        </p:nvSpPr>
        <p:spPr>
          <a:xfrm>
            <a:off x="2263140" y="3163824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D5D9E0"/>
                </a:solidFill>
                <a:latin typeface="Segoe UI"/>
              </a:rPr>
              <a:t>Distribuição a priori de equilíbrio</a:t>
            </a:r>
          </a:p>
        </p:txBody>
      </p:sp>
      <p:sp>
        <p:nvSpPr>
          <p:cNvPr id="2" name="s6_prior_curva"/>
          <p:cNvSpPr/>
          <p:nvPr/>
        </p:nvSpPr>
        <p:spPr>
          <a:xfrm>
            <a:off x="2628900" y="3438144"/>
            <a:ext cx="2286000" cy="435586"/>
          </a:xfrm>
          <a:custGeom>
            <a:avLst/>
            <a:gdLst/>
            <a:ahLst/>
            <a:cxnLst/>
            <a:rect l="l" t="t" r="r" b="b"/>
            <a:pathLst>
              <a:path w="2286000" h="435586">
                <a:moveTo>
                  <a:pt x="0" y="435586"/>
                </a:moveTo>
                <a:lnTo>
                  <a:pt x="28575" y="434680"/>
                </a:lnTo>
                <a:lnTo>
                  <a:pt x="57150" y="433559"/>
                </a:lnTo>
                <a:lnTo>
                  <a:pt x="85725" y="432182"/>
                </a:lnTo>
                <a:lnTo>
                  <a:pt x="114300" y="430503"/>
                </a:lnTo>
                <a:lnTo>
                  <a:pt x="142875" y="428469"/>
                </a:lnTo>
                <a:lnTo>
                  <a:pt x="171450" y="426021"/>
                </a:lnTo>
                <a:lnTo>
                  <a:pt x="200025" y="423097"/>
                </a:lnTo>
                <a:lnTo>
                  <a:pt x="228600" y="419627"/>
                </a:lnTo>
                <a:lnTo>
                  <a:pt x="257175" y="415539"/>
                </a:lnTo>
                <a:lnTo>
                  <a:pt x="285750" y="410757"/>
                </a:lnTo>
                <a:lnTo>
                  <a:pt x="314325" y="405202"/>
                </a:lnTo>
                <a:lnTo>
                  <a:pt x="342900" y="398798"/>
                </a:lnTo>
                <a:lnTo>
                  <a:pt x="371475" y="391467"/>
                </a:lnTo>
                <a:lnTo>
                  <a:pt x="400050" y="383137"/>
                </a:lnTo>
                <a:lnTo>
                  <a:pt x="428625" y="373745"/>
                </a:lnTo>
                <a:lnTo>
                  <a:pt x="457200" y="363234"/>
                </a:lnTo>
                <a:lnTo>
                  <a:pt x="485775" y="351562"/>
                </a:lnTo>
                <a:lnTo>
                  <a:pt x="514350" y="338703"/>
                </a:lnTo>
                <a:lnTo>
                  <a:pt x="542925" y="324652"/>
                </a:lnTo>
                <a:lnTo>
                  <a:pt x="571500" y="309423"/>
                </a:lnTo>
                <a:lnTo>
                  <a:pt x="600075" y="293056"/>
                </a:lnTo>
                <a:lnTo>
                  <a:pt x="628650" y="275621"/>
                </a:lnTo>
                <a:lnTo>
                  <a:pt x="657225" y="257214"/>
                </a:lnTo>
                <a:lnTo>
                  <a:pt x="685800" y="237963"/>
                </a:lnTo>
                <a:lnTo>
                  <a:pt x="714375" y="218024"/>
                </a:lnTo>
                <a:lnTo>
                  <a:pt x="742950" y="197584"/>
                </a:lnTo>
                <a:lnTo>
                  <a:pt x="771525" y="176857"/>
                </a:lnTo>
                <a:lnTo>
                  <a:pt x="800100" y="156082"/>
                </a:lnTo>
                <a:lnTo>
                  <a:pt x="828675" y="135516"/>
                </a:lnTo>
                <a:lnTo>
                  <a:pt x="857250" y="115436"/>
                </a:lnTo>
                <a:lnTo>
                  <a:pt x="885825" y="96125"/>
                </a:lnTo>
                <a:lnTo>
                  <a:pt x="914400" y="77872"/>
                </a:lnTo>
                <a:lnTo>
                  <a:pt x="942975" y="60961"/>
                </a:lnTo>
                <a:lnTo>
                  <a:pt x="971550" y="45665"/>
                </a:lnTo>
                <a:lnTo>
                  <a:pt x="1000125" y="32240"/>
                </a:lnTo>
                <a:lnTo>
                  <a:pt x="1028700" y="20916"/>
                </a:lnTo>
                <a:lnTo>
                  <a:pt x="1057275" y="11891"/>
                </a:lnTo>
                <a:lnTo>
                  <a:pt x="1085850" y="5325"/>
                </a:lnTo>
                <a:lnTo>
                  <a:pt x="1114425" y="1337"/>
                </a:lnTo>
                <a:lnTo>
                  <a:pt x="1143000" y="0"/>
                </a:lnTo>
                <a:lnTo>
                  <a:pt x="1171575" y="1337"/>
                </a:lnTo>
                <a:lnTo>
                  <a:pt x="1200150" y="5325"/>
                </a:lnTo>
                <a:lnTo>
                  <a:pt x="1228725" y="11891"/>
                </a:lnTo>
                <a:lnTo>
                  <a:pt x="1257300" y="20916"/>
                </a:lnTo>
                <a:lnTo>
                  <a:pt x="1285875" y="32240"/>
                </a:lnTo>
                <a:lnTo>
                  <a:pt x="1314450" y="45665"/>
                </a:lnTo>
                <a:lnTo>
                  <a:pt x="1343025" y="60961"/>
                </a:lnTo>
                <a:lnTo>
                  <a:pt x="1371600" y="77872"/>
                </a:lnTo>
                <a:lnTo>
                  <a:pt x="1400175" y="96125"/>
                </a:lnTo>
                <a:lnTo>
                  <a:pt x="1428750" y="115436"/>
                </a:lnTo>
                <a:lnTo>
                  <a:pt x="1457325" y="135516"/>
                </a:lnTo>
                <a:lnTo>
                  <a:pt x="1485900" y="156082"/>
                </a:lnTo>
                <a:lnTo>
                  <a:pt x="1514475" y="176857"/>
                </a:lnTo>
                <a:lnTo>
                  <a:pt x="1543050" y="197584"/>
                </a:lnTo>
                <a:lnTo>
                  <a:pt x="1571625" y="218024"/>
                </a:lnTo>
                <a:lnTo>
                  <a:pt x="1600200" y="237963"/>
                </a:lnTo>
                <a:lnTo>
                  <a:pt x="1628775" y="257214"/>
                </a:lnTo>
                <a:lnTo>
                  <a:pt x="1657350" y="275621"/>
                </a:lnTo>
                <a:lnTo>
                  <a:pt x="1685925" y="293056"/>
                </a:lnTo>
                <a:lnTo>
                  <a:pt x="1714500" y="309423"/>
                </a:lnTo>
                <a:lnTo>
                  <a:pt x="1743075" y="324652"/>
                </a:lnTo>
                <a:lnTo>
                  <a:pt x="1771650" y="338703"/>
                </a:lnTo>
                <a:lnTo>
                  <a:pt x="1800225" y="351562"/>
                </a:lnTo>
                <a:lnTo>
                  <a:pt x="1828800" y="363234"/>
                </a:lnTo>
                <a:lnTo>
                  <a:pt x="1857375" y="373745"/>
                </a:lnTo>
                <a:lnTo>
                  <a:pt x="1885950" y="383137"/>
                </a:lnTo>
                <a:lnTo>
                  <a:pt x="1914525" y="391467"/>
                </a:lnTo>
                <a:lnTo>
                  <a:pt x="1943100" y="398798"/>
                </a:lnTo>
                <a:lnTo>
                  <a:pt x="1971675" y="405202"/>
                </a:lnTo>
                <a:lnTo>
                  <a:pt x="2000250" y="410757"/>
                </a:lnTo>
                <a:lnTo>
                  <a:pt x="2028825" y="415539"/>
                </a:lnTo>
                <a:lnTo>
                  <a:pt x="2057400" y="419627"/>
                </a:lnTo>
                <a:lnTo>
                  <a:pt x="2085975" y="423097"/>
                </a:lnTo>
                <a:lnTo>
                  <a:pt x="2114550" y="426021"/>
                </a:lnTo>
                <a:lnTo>
                  <a:pt x="2143125" y="428469"/>
                </a:lnTo>
                <a:lnTo>
                  <a:pt x="2171700" y="430503"/>
                </a:lnTo>
                <a:lnTo>
                  <a:pt x="2200275" y="432182"/>
                </a:lnTo>
                <a:lnTo>
                  <a:pt x="2228850" y="433559"/>
                </a:lnTo>
                <a:lnTo>
                  <a:pt x="2257425" y="434680"/>
                </a:lnTo>
                <a:lnTo>
                  <a:pt x="2286000" y="435586"/>
                </a:lnTo>
              </a:path>
            </a:pathLst>
          </a:custGeom>
          <a:noFill/>
          <a:ln w="19050">
            <a:solidFill>
              <a:srgbClr val="D5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s6_prior_curva_base"/>
          <p:cNvCxnSpPr/>
          <p:nvPr/>
        </p:nvCxnSpPr>
        <p:spPr>
          <a:xfrm>
            <a:off x="2537460" y="3931920"/>
            <a:ext cx="2468880" cy="0"/>
          </a:xfrm>
          <a:prstGeom prst="line">
            <a:avLst/>
          </a:prstGeom>
          <a:ln w="9525">
            <a:solidFill>
              <a:srgbClr val="3A4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s6_prior_f"/>
          <p:cNvSpPr txBox="1"/>
          <p:nvPr/>
        </p:nvSpPr>
        <p:spPr>
          <a:xfrm>
            <a:off x="2263140" y="396849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>
                <a:solidFill>
                  <a:srgbClr val="FFFFFF"/>
                </a:solidFill>
                <a:latin typeface="Segoe UI Semibold"/>
              </a:rPr>
              <a:t>N ~ </a:t>
            </a:r>
            <a:r>
              <a:rPr sz="1700">
                <a:solidFill>
                  <a:srgbClr val="FFFFFF"/>
                </a:solidFill>
                <a:latin typeface="Segoe UI Semibold"/>
              </a:rPr>
              <a:t>( π , τΣ )</a:t>
            </a:r>
          </a:p>
        </p:txBody>
      </p:sp>
      <p:sp>
        <p:nvSpPr>
          <p:cNvPr id="80" name="s6_prior_r"/>
          <p:cNvSpPr txBox="1"/>
          <p:nvPr/>
        </p:nvSpPr>
        <p:spPr>
          <a:xfrm>
            <a:off x="2263140" y="4315968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800">
                <a:solidFill>
                  <a:srgbClr val="9AA3AF"/>
                </a:solidFill>
                <a:latin typeface="Segoe UI"/>
              </a:rPr>
              <a:t>τ = 1/504</a:t>
            </a:r>
          </a:p>
        </p:txBody>
      </p:sp>
      <p:sp>
        <p:nvSpPr>
          <p:cNvPr id="81" name="s6_view"/>
          <p:cNvSpPr/>
          <p:nvPr/>
        </p:nvSpPr>
        <p:spPr>
          <a:xfrm>
            <a:off x="7845552" y="3072384"/>
            <a:ext cx="3291840" cy="1481328"/>
          </a:xfrm>
          <a:prstGeom prst="rect">
            <a:avLst/>
          </a:prstGeom>
          <a:solidFill>
            <a:srgbClr val="1E2229"/>
          </a:solidFill>
          <a:ln w="12700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s6_view_t"/>
          <p:cNvSpPr txBox="1"/>
          <p:nvPr/>
        </p:nvSpPr>
        <p:spPr>
          <a:xfrm>
            <a:off x="7982712" y="3163824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D5D9E0"/>
                </a:solidFill>
                <a:latin typeface="Segoe UI"/>
              </a:rPr>
              <a:t>Distribuição das views</a:t>
            </a:r>
          </a:p>
        </p:txBody>
      </p:sp>
      <p:sp>
        <p:nvSpPr>
          <p:cNvPr id="3" name="s6_view_curva"/>
          <p:cNvSpPr/>
          <p:nvPr/>
        </p:nvSpPr>
        <p:spPr>
          <a:xfrm>
            <a:off x="8348472" y="3438144"/>
            <a:ext cx="2286000" cy="438642"/>
          </a:xfrm>
          <a:custGeom>
            <a:avLst/>
            <a:gdLst/>
            <a:ahLst/>
            <a:cxnLst/>
            <a:rect l="l" t="t" r="r" b="b"/>
            <a:pathLst>
              <a:path w="2286000" h="438642">
                <a:moveTo>
                  <a:pt x="0" y="438642"/>
                </a:moveTo>
                <a:lnTo>
                  <a:pt x="28575" y="438524"/>
                </a:lnTo>
                <a:lnTo>
                  <a:pt x="57150" y="438358"/>
                </a:lnTo>
                <a:lnTo>
                  <a:pt x="85725" y="438128"/>
                </a:lnTo>
                <a:lnTo>
                  <a:pt x="114300" y="437814"/>
                </a:lnTo>
                <a:lnTo>
                  <a:pt x="142875" y="437387"/>
                </a:lnTo>
                <a:lnTo>
                  <a:pt x="171450" y="436815"/>
                </a:lnTo>
                <a:lnTo>
                  <a:pt x="200025" y="436054"/>
                </a:lnTo>
                <a:lnTo>
                  <a:pt x="228600" y="435052"/>
                </a:lnTo>
                <a:lnTo>
                  <a:pt x="257175" y="433747"/>
                </a:lnTo>
                <a:lnTo>
                  <a:pt x="285750" y="432065"/>
                </a:lnTo>
                <a:lnTo>
                  <a:pt x="314325" y="429918"/>
                </a:lnTo>
                <a:lnTo>
                  <a:pt x="342900" y="427206"/>
                </a:lnTo>
                <a:lnTo>
                  <a:pt x="371475" y="423818"/>
                </a:lnTo>
                <a:lnTo>
                  <a:pt x="400050" y="419627"/>
                </a:lnTo>
                <a:lnTo>
                  <a:pt x="428625" y="414500"/>
                </a:lnTo>
                <a:lnTo>
                  <a:pt x="457200" y="408294"/>
                </a:lnTo>
                <a:lnTo>
                  <a:pt x="485775" y="400864"/>
                </a:lnTo>
                <a:lnTo>
                  <a:pt x="514350" y="392065"/>
                </a:lnTo>
                <a:lnTo>
                  <a:pt x="542925" y="381763"/>
                </a:lnTo>
                <a:lnTo>
                  <a:pt x="571500" y="369837"/>
                </a:lnTo>
                <a:lnTo>
                  <a:pt x="600075" y="356190"/>
                </a:lnTo>
                <a:lnTo>
                  <a:pt x="628650" y="340759"/>
                </a:lnTo>
                <a:lnTo>
                  <a:pt x="657225" y="323522"/>
                </a:lnTo>
                <a:lnTo>
                  <a:pt x="685800" y="304505"/>
                </a:lnTo>
                <a:lnTo>
                  <a:pt x="714375" y="283796"/>
                </a:lnTo>
                <a:lnTo>
                  <a:pt x="742950" y="261542"/>
                </a:lnTo>
                <a:lnTo>
                  <a:pt x="771525" y="237963"/>
                </a:lnTo>
                <a:lnTo>
                  <a:pt x="800100" y="213344"/>
                </a:lnTo>
                <a:lnTo>
                  <a:pt x="828675" y="188040"/>
                </a:lnTo>
                <a:lnTo>
                  <a:pt x="857250" y="162464"/>
                </a:lnTo>
                <a:lnTo>
                  <a:pt x="885825" y="137085"/>
                </a:lnTo>
                <a:lnTo>
                  <a:pt x="914400" y="112408"/>
                </a:lnTo>
                <a:lnTo>
                  <a:pt x="942975" y="88964"/>
                </a:lnTo>
                <a:lnTo>
                  <a:pt x="971550" y="67289"/>
                </a:lnTo>
                <a:lnTo>
                  <a:pt x="1000125" y="47903"/>
                </a:lnTo>
                <a:lnTo>
                  <a:pt x="1028700" y="31292"/>
                </a:lnTo>
                <a:lnTo>
                  <a:pt x="1057275" y="17886"/>
                </a:lnTo>
                <a:lnTo>
                  <a:pt x="1085850" y="8041"/>
                </a:lnTo>
                <a:lnTo>
                  <a:pt x="1114425" y="2024"/>
                </a:lnTo>
                <a:lnTo>
                  <a:pt x="1143000" y="0"/>
                </a:lnTo>
                <a:lnTo>
                  <a:pt x="1171575" y="2024"/>
                </a:lnTo>
                <a:lnTo>
                  <a:pt x="1200150" y="8041"/>
                </a:lnTo>
                <a:lnTo>
                  <a:pt x="1228725" y="17886"/>
                </a:lnTo>
                <a:lnTo>
                  <a:pt x="1257300" y="31292"/>
                </a:lnTo>
                <a:lnTo>
                  <a:pt x="1285875" y="47903"/>
                </a:lnTo>
                <a:lnTo>
                  <a:pt x="1314450" y="67289"/>
                </a:lnTo>
                <a:lnTo>
                  <a:pt x="1343025" y="88964"/>
                </a:lnTo>
                <a:lnTo>
                  <a:pt x="1371600" y="112408"/>
                </a:lnTo>
                <a:lnTo>
                  <a:pt x="1400175" y="137085"/>
                </a:lnTo>
                <a:lnTo>
                  <a:pt x="1428750" y="162464"/>
                </a:lnTo>
                <a:lnTo>
                  <a:pt x="1457325" y="188040"/>
                </a:lnTo>
                <a:lnTo>
                  <a:pt x="1485900" y="213344"/>
                </a:lnTo>
                <a:lnTo>
                  <a:pt x="1514475" y="237963"/>
                </a:lnTo>
                <a:lnTo>
                  <a:pt x="1543050" y="261542"/>
                </a:lnTo>
                <a:lnTo>
                  <a:pt x="1571625" y="283796"/>
                </a:lnTo>
                <a:lnTo>
                  <a:pt x="1600200" y="304505"/>
                </a:lnTo>
                <a:lnTo>
                  <a:pt x="1628775" y="323522"/>
                </a:lnTo>
                <a:lnTo>
                  <a:pt x="1657350" y="340759"/>
                </a:lnTo>
                <a:lnTo>
                  <a:pt x="1685925" y="356190"/>
                </a:lnTo>
                <a:lnTo>
                  <a:pt x="1714500" y="369837"/>
                </a:lnTo>
                <a:lnTo>
                  <a:pt x="1743075" y="381763"/>
                </a:lnTo>
                <a:lnTo>
                  <a:pt x="1771650" y="392065"/>
                </a:lnTo>
                <a:lnTo>
                  <a:pt x="1800225" y="400864"/>
                </a:lnTo>
                <a:lnTo>
                  <a:pt x="1828800" y="408294"/>
                </a:lnTo>
                <a:lnTo>
                  <a:pt x="1857375" y="414500"/>
                </a:lnTo>
                <a:lnTo>
                  <a:pt x="1885950" y="419627"/>
                </a:lnTo>
                <a:lnTo>
                  <a:pt x="1914525" y="423818"/>
                </a:lnTo>
                <a:lnTo>
                  <a:pt x="1943100" y="427206"/>
                </a:lnTo>
                <a:lnTo>
                  <a:pt x="1971675" y="429918"/>
                </a:lnTo>
                <a:lnTo>
                  <a:pt x="2000250" y="432065"/>
                </a:lnTo>
                <a:lnTo>
                  <a:pt x="2028825" y="433747"/>
                </a:lnTo>
                <a:lnTo>
                  <a:pt x="2057400" y="435052"/>
                </a:lnTo>
                <a:lnTo>
                  <a:pt x="2085975" y="436054"/>
                </a:lnTo>
                <a:lnTo>
                  <a:pt x="2114550" y="436815"/>
                </a:lnTo>
                <a:lnTo>
                  <a:pt x="2143125" y="437387"/>
                </a:lnTo>
                <a:lnTo>
                  <a:pt x="2171700" y="437814"/>
                </a:lnTo>
                <a:lnTo>
                  <a:pt x="2200275" y="438128"/>
                </a:lnTo>
                <a:lnTo>
                  <a:pt x="2228850" y="438358"/>
                </a:lnTo>
                <a:lnTo>
                  <a:pt x="2257425" y="438524"/>
                </a:lnTo>
                <a:lnTo>
                  <a:pt x="2286000" y="438642"/>
                </a:lnTo>
              </a:path>
            </a:pathLst>
          </a:custGeom>
          <a:noFill/>
          <a:ln w="19050">
            <a:solidFill>
              <a:srgbClr val="FFB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s6_view_curva_base"/>
          <p:cNvCxnSpPr/>
          <p:nvPr/>
        </p:nvCxnSpPr>
        <p:spPr>
          <a:xfrm>
            <a:off x="8257032" y="3931920"/>
            <a:ext cx="2468880" cy="0"/>
          </a:xfrm>
          <a:prstGeom prst="line">
            <a:avLst/>
          </a:prstGeom>
          <a:ln w="9525">
            <a:solidFill>
              <a:srgbClr val="3A4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6_view_f"/>
          <p:cNvSpPr txBox="1"/>
          <p:nvPr/>
        </p:nvSpPr>
        <p:spPr>
          <a:xfrm>
            <a:off x="7982712" y="396849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>
                <a:solidFill>
                  <a:srgbClr val="FFFFFF"/>
                </a:solidFill>
                <a:latin typeface="Segoe UI Semibold"/>
              </a:rPr>
              <a:t>N ~ ( </a:t>
            </a:r>
            <a:r>
              <a:rPr sz="1700">
                <a:solidFill>
                  <a:srgbClr val="FFB531"/>
                </a:solidFill>
                <a:latin typeface="Segoe UI Semibold"/>
              </a:rPr>
              <a:t>Q</a:t>
            </a:r>
            <a:r>
              <a:rPr sz="1700">
                <a:solidFill>
                  <a:srgbClr val="FFFFFF"/>
                </a:solidFill>
                <a:latin typeface="Segoe UI Semibold"/>
              </a:rPr>
              <a:t> , </a:t>
            </a:r>
            <a:r>
              <a:rPr sz="1700">
                <a:solidFill>
                  <a:srgbClr val="FFB531"/>
                </a:solidFill>
                <a:latin typeface="Segoe UI Semibold"/>
              </a:rPr>
              <a:t>Ω</a:t>
            </a:r>
            <a:r>
              <a:rPr sz="1700">
                <a:solidFill>
                  <a:srgbClr val="FFFFFF"/>
                </a:solidFill>
                <a:latin typeface="Segoe UI Semibold"/>
              </a:rPr>
              <a:t> )</a:t>
            </a:r>
          </a:p>
        </p:txBody>
      </p:sp>
      <p:sp>
        <p:nvSpPr>
          <p:cNvPr id="85" name="s6_view_r"/>
          <p:cNvSpPr txBox="1"/>
          <p:nvPr/>
        </p:nvSpPr>
        <p:spPr>
          <a:xfrm>
            <a:off x="7982712" y="4315968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800">
                <a:solidFill>
                  <a:srgbClr val="9AA3AF"/>
                </a:solidFill>
                <a:latin typeface="Segoe UI"/>
              </a:rPr>
              <a:t>k views · Q e Ω vêm do Polymarket</a:t>
            </a:r>
          </a:p>
        </p:txBody>
      </p:sp>
      <p:cxnSp>
        <p:nvCxnSpPr>
          <p:cNvPr id="86" name="s6_seta_prior"/>
          <p:cNvCxnSpPr/>
          <p:nvPr/>
        </p:nvCxnSpPr>
        <p:spPr>
          <a:xfrm>
            <a:off x="3771900" y="4553712"/>
            <a:ext cx="0" cy="292608"/>
          </a:xfrm>
          <a:prstGeom prst="line">
            <a:avLst/>
          </a:prstGeom>
          <a:ln w="1270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6_seta_view"/>
          <p:cNvCxnSpPr/>
          <p:nvPr/>
        </p:nvCxnSpPr>
        <p:spPr>
          <a:xfrm>
            <a:off x="9491472" y="4553712"/>
            <a:ext cx="0" cy="292608"/>
          </a:xfrm>
          <a:prstGeom prst="line">
            <a:avLst/>
          </a:prstGeom>
          <a:ln w="12700">
            <a:solidFill>
              <a:srgbClr val="9A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s6_post"/>
          <p:cNvSpPr/>
          <p:nvPr/>
        </p:nvSpPr>
        <p:spPr>
          <a:xfrm>
            <a:off x="2743200" y="4846320"/>
            <a:ext cx="7315200" cy="1389888"/>
          </a:xfrm>
          <a:prstGeom prst="rect">
            <a:avLst/>
          </a:prstGeom>
          <a:solidFill>
            <a:srgbClr val="1E2229"/>
          </a:solidFill>
          <a:ln w="12700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s6_post_t"/>
          <p:cNvSpPr txBox="1"/>
          <p:nvPr/>
        </p:nvSpPr>
        <p:spPr>
          <a:xfrm>
            <a:off x="2880360" y="4937759"/>
            <a:ext cx="7040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D5D9E0"/>
                </a:solidFill>
                <a:latin typeface="Segoe UI"/>
              </a:rPr>
              <a:t>Nova distribuição combinada de retornos</a:t>
            </a:r>
          </a:p>
        </p:txBody>
      </p:sp>
      <p:sp>
        <p:nvSpPr>
          <p:cNvPr id="4" name="s6_post_curva"/>
          <p:cNvSpPr/>
          <p:nvPr/>
        </p:nvSpPr>
        <p:spPr>
          <a:xfrm>
            <a:off x="4937760" y="5193792"/>
            <a:ext cx="2926080" cy="382563"/>
          </a:xfrm>
          <a:custGeom>
            <a:avLst/>
            <a:gdLst/>
            <a:ahLst/>
            <a:cxnLst/>
            <a:rect l="l" t="t" r="r" b="b"/>
            <a:pathLst>
              <a:path w="2926080" h="382563">
                <a:moveTo>
                  <a:pt x="0" y="382563"/>
                </a:moveTo>
                <a:lnTo>
                  <a:pt x="36576" y="382094"/>
                </a:lnTo>
                <a:lnTo>
                  <a:pt x="73152" y="381495"/>
                </a:lnTo>
                <a:lnTo>
                  <a:pt x="109728" y="380736"/>
                </a:lnTo>
                <a:lnTo>
                  <a:pt x="146304" y="379781"/>
                </a:lnTo>
                <a:lnTo>
                  <a:pt x="182880" y="378588"/>
                </a:lnTo>
                <a:lnTo>
                  <a:pt x="219456" y="377110"/>
                </a:lnTo>
                <a:lnTo>
                  <a:pt x="256032" y="375293"/>
                </a:lnTo>
                <a:lnTo>
                  <a:pt x="292608" y="373077"/>
                </a:lnTo>
                <a:lnTo>
                  <a:pt x="329184" y="370394"/>
                </a:lnTo>
                <a:lnTo>
                  <a:pt x="365760" y="367174"/>
                </a:lnTo>
                <a:lnTo>
                  <a:pt x="402336" y="363337"/>
                </a:lnTo>
                <a:lnTo>
                  <a:pt x="438912" y="358805"/>
                </a:lnTo>
                <a:lnTo>
                  <a:pt x="475488" y="353493"/>
                </a:lnTo>
                <a:lnTo>
                  <a:pt x="512064" y="347319"/>
                </a:lnTo>
                <a:lnTo>
                  <a:pt x="548640" y="340204"/>
                </a:lnTo>
                <a:lnTo>
                  <a:pt x="585216" y="332072"/>
                </a:lnTo>
                <a:lnTo>
                  <a:pt x="621792" y="322859"/>
                </a:lnTo>
                <a:lnTo>
                  <a:pt x="658368" y="312511"/>
                </a:lnTo>
                <a:lnTo>
                  <a:pt x="694944" y="300991"/>
                </a:lnTo>
                <a:lnTo>
                  <a:pt x="731520" y="288284"/>
                </a:lnTo>
                <a:lnTo>
                  <a:pt x="768096" y="274397"/>
                </a:lnTo>
                <a:lnTo>
                  <a:pt x="804672" y="259365"/>
                </a:lnTo>
                <a:lnTo>
                  <a:pt x="841248" y="243254"/>
                </a:lnTo>
                <a:lnTo>
                  <a:pt x="877824" y="226161"/>
                </a:lnTo>
                <a:lnTo>
                  <a:pt x="914400" y="208218"/>
                </a:lnTo>
                <a:lnTo>
                  <a:pt x="950976" y="189590"/>
                </a:lnTo>
                <a:lnTo>
                  <a:pt x="987552" y="170478"/>
                </a:lnTo>
                <a:lnTo>
                  <a:pt x="1024128" y="151111"/>
                </a:lnTo>
                <a:lnTo>
                  <a:pt x="1060704" y="131745"/>
                </a:lnTo>
                <a:lnTo>
                  <a:pt x="1097280" y="112661"/>
                </a:lnTo>
                <a:lnTo>
                  <a:pt x="1133856" y="94153"/>
                </a:lnTo>
                <a:lnTo>
                  <a:pt x="1170432" y="76526"/>
                </a:lnTo>
                <a:lnTo>
                  <a:pt x="1207008" y="60085"/>
                </a:lnTo>
                <a:lnTo>
                  <a:pt x="1243584" y="45126"/>
                </a:lnTo>
                <a:lnTo>
                  <a:pt x="1280160" y="31931"/>
                </a:lnTo>
                <a:lnTo>
                  <a:pt x="1316736" y="20754"/>
                </a:lnTo>
                <a:lnTo>
                  <a:pt x="1353312" y="11815"/>
                </a:lnTo>
                <a:lnTo>
                  <a:pt x="1389888" y="5297"/>
                </a:lnTo>
                <a:lnTo>
                  <a:pt x="1426464" y="1331"/>
                </a:lnTo>
                <a:lnTo>
                  <a:pt x="1463040" y="0"/>
                </a:lnTo>
                <a:lnTo>
                  <a:pt x="1499616" y="1331"/>
                </a:lnTo>
                <a:lnTo>
                  <a:pt x="1536192" y="5297"/>
                </a:lnTo>
                <a:lnTo>
                  <a:pt x="1572768" y="11815"/>
                </a:lnTo>
                <a:lnTo>
                  <a:pt x="1609344" y="20754"/>
                </a:lnTo>
                <a:lnTo>
                  <a:pt x="1645920" y="31931"/>
                </a:lnTo>
                <a:lnTo>
                  <a:pt x="1682496" y="45126"/>
                </a:lnTo>
                <a:lnTo>
                  <a:pt x="1719072" y="60085"/>
                </a:lnTo>
                <a:lnTo>
                  <a:pt x="1755648" y="76526"/>
                </a:lnTo>
                <a:lnTo>
                  <a:pt x="1792224" y="94153"/>
                </a:lnTo>
                <a:lnTo>
                  <a:pt x="1828800" y="112661"/>
                </a:lnTo>
                <a:lnTo>
                  <a:pt x="1865376" y="131745"/>
                </a:lnTo>
                <a:lnTo>
                  <a:pt x="1901952" y="151111"/>
                </a:lnTo>
                <a:lnTo>
                  <a:pt x="1938528" y="170478"/>
                </a:lnTo>
                <a:lnTo>
                  <a:pt x="1975104" y="189590"/>
                </a:lnTo>
                <a:lnTo>
                  <a:pt x="2011680" y="208218"/>
                </a:lnTo>
                <a:lnTo>
                  <a:pt x="2048256" y="226161"/>
                </a:lnTo>
                <a:lnTo>
                  <a:pt x="2084832" y="243254"/>
                </a:lnTo>
                <a:lnTo>
                  <a:pt x="2121408" y="259365"/>
                </a:lnTo>
                <a:lnTo>
                  <a:pt x="2157984" y="274397"/>
                </a:lnTo>
                <a:lnTo>
                  <a:pt x="2194560" y="288284"/>
                </a:lnTo>
                <a:lnTo>
                  <a:pt x="2231136" y="300991"/>
                </a:lnTo>
                <a:lnTo>
                  <a:pt x="2267712" y="312511"/>
                </a:lnTo>
                <a:lnTo>
                  <a:pt x="2304288" y="322859"/>
                </a:lnTo>
                <a:lnTo>
                  <a:pt x="2340864" y="332072"/>
                </a:lnTo>
                <a:lnTo>
                  <a:pt x="2377440" y="340204"/>
                </a:lnTo>
                <a:lnTo>
                  <a:pt x="2414016" y="347319"/>
                </a:lnTo>
                <a:lnTo>
                  <a:pt x="2450592" y="353493"/>
                </a:lnTo>
                <a:lnTo>
                  <a:pt x="2487168" y="358805"/>
                </a:lnTo>
                <a:lnTo>
                  <a:pt x="2523744" y="363337"/>
                </a:lnTo>
                <a:lnTo>
                  <a:pt x="2560320" y="367174"/>
                </a:lnTo>
                <a:lnTo>
                  <a:pt x="2596896" y="370394"/>
                </a:lnTo>
                <a:lnTo>
                  <a:pt x="2633472" y="373077"/>
                </a:lnTo>
                <a:lnTo>
                  <a:pt x="2670048" y="375293"/>
                </a:lnTo>
                <a:lnTo>
                  <a:pt x="2706624" y="377110"/>
                </a:lnTo>
                <a:lnTo>
                  <a:pt x="2743200" y="378588"/>
                </a:lnTo>
                <a:lnTo>
                  <a:pt x="2779776" y="379781"/>
                </a:lnTo>
                <a:lnTo>
                  <a:pt x="2816352" y="380736"/>
                </a:lnTo>
                <a:lnTo>
                  <a:pt x="2852928" y="381495"/>
                </a:lnTo>
                <a:lnTo>
                  <a:pt x="2889504" y="382094"/>
                </a:lnTo>
                <a:lnTo>
                  <a:pt x="2926080" y="382563"/>
                </a:lnTo>
              </a:path>
            </a:pathLst>
          </a:cu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s6_post_curva_base"/>
          <p:cNvCxnSpPr/>
          <p:nvPr/>
        </p:nvCxnSpPr>
        <p:spPr>
          <a:xfrm>
            <a:off x="4846320" y="5632703"/>
            <a:ext cx="3108960" cy="0"/>
          </a:xfrm>
          <a:prstGeom prst="line">
            <a:avLst/>
          </a:prstGeom>
          <a:ln w="9525">
            <a:solidFill>
              <a:srgbClr val="3A4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s6_post_f"/>
          <p:cNvSpPr txBox="1"/>
          <p:nvPr/>
        </p:nvSpPr>
        <p:spPr>
          <a:xfrm>
            <a:off x="2880360" y="5669280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>
                <a:solidFill>
                  <a:srgbClr val="FFFFFF"/>
                </a:solidFill>
                <a:latin typeface="Segoe UI Semibold"/>
              </a:rPr>
              <a:t>N ~ ( E[R] ,  [ (τΣ)⁻¹ + </a:t>
            </a:r>
            <a:r>
              <a:rPr sz="1700">
                <a:solidFill>
                  <a:srgbClr val="FFB531"/>
                </a:solidFill>
                <a:latin typeface="Segoe UI Semibold"/>
              </a:rPr>
              <a:t>P</a:t>
            </a:r>
            <a:r>
              <a:rPr sz="1700">
                <a:solidFill>
                  <a:srgbClr val="FFFFFF"/>
                </a:solidFill>
                <a:latin typeface="Segoe UI Semibold"/>
              </a:rPr>
              <a:t>ᵀ</a:t>
            </a:r>
            <a:r>
              <a:rPr sz="1700">
                <a:solidFill>
                  <a:srgbClr val="FFB531"/>
                </a:solidFill>
                <a:latin typeface="Segoe UI Semibold"/>
              </a:rPr>
              <a:t>Ω</a:t>
            </a:r>
            <a:r>
              <a:rPr sz="1700">
                <a:solidFill>
                  <a:srgbClr val="FFFFFF"/>
                </a:solidFill>
                <a:latin typeface="Segoe UI Semibold"/>
              </a:rPr>
              <a:t>⁻¹</a:t>
            </a:r>
            <a:r>
              <a:rPr sz="1700">
                <a:solidFill>
                  <a:srgbClr val="FFB531"/>
                </a:solidFill>
                <a:latin typeface="Segoe UI Semibold"/>
              </a:rPr>
              <a:t>P</a:t>
            </a:r>
            <a:r>
              <a:rPr sz="1700">
                <a:solidFill>
                  <a:srgbClr val="FFFFFF"/>
                </a:solidFill>
                <a:latin typeface="Segoe UI Semibold"/>
              </a:rPr>
              <a:t> ]⁻¹ )</a:t>
            </a:r>
          </a:p>
        </p:txBody>
      </p:sp>
      <p:sp>
        <p:nvSpPr>
          <p:cNvPr id="92" name="s6_post_e"/>
          <p:cNvSpPr txBox="1"/>
          <p:nvPr/>
        </p:nvSpPr>
        <p:spPr>
          <a:xfrm>
            <a:off x="2880360" y="5925312"/>
            <a:ext cx="7040880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50">
                <a:solidFill>
                  <a:srgbClr val="D5D9E0"/>
                </a:solidFill>
                <a:latin typeface="Segoe UI"/>
              </a:rPr>
              <a:t>E[R] = [ (τΣ)⁻¹ + PᵀΩ⁻¹P ]⁻¹ [ (τΣ)⁻¹ π + PᵀΩ⁻¹ </a:t>
            </a:r>
            <a:r>
              <a:rPr sz="1050">
                <a:solidFill>
                  <a:srgbClr val="FFB531"/>
                </a:solidFill>
                <a:latin typeface="Segoe UI"/>
              </a:rPr>
              <a:t>Q</a:t>
            </a:r>
            <a:r>
              <a:rPr sz="1050">
                <a:solidFill>
                  <a:srgbClr val="D5D9E0"/>
                </a:solidFill>
                <a:latin typeface="Segoe UI"/>
              </a:rPr>
              <a:t> ]</a:t>
            </a:r>
            <a:r>
              <a:rPr sz="1050">
                <a:solidFill>
                  <a:srgbClr val="9AA3AF"/>
                </a:solidFill>
                <a:latin typeface="Segoe UI"/>
              </a:rPr>
              <a:t>     →   w = (δΣ)⁻¹ E[R]</a:t>
            </a:r>
          </a:p>
        </p:txBody>
      </p:sp>
      <p:sp>
        <p:nvSpPr>
          <p:cNvPr id="93" name="s6_fonte"/>
          <p:cNvSpPr txBox="1"/>
          <p:nvPr/>
        </p:nvSpPr>
        <p:spPr>
          <a:xfrm>
            <a:off x="822960" y="6291072"/>
            <a:ext cx="10543032" cy="1645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750">
                <a:solidFill>
                  <a:srgbClr val="6B7280"/>
                </a:solidFill>
                <a:latin typeface="Segoe UI"/>
              </a:rPr>
              <a:t>Figura adaptada de Idzorek (2005), A step-by-step guide to the Black-Litterman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_14"/>
          <p:cNvSpPr/>
          <p:nvPr/>
        </p:nvSpPr>
        <p:spPr>
          <a:xfrm>
            <a:off x="822960" y="1320800"/>
            <a:ext cx="10543540" cy="838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102360" y="14732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700" b="0">
                <a:solidFill>
                  <a:srgbClr val="FFFFFF"/>
                </a:solidFill>
                <a:latin typeface="Segoe UI Semibold"/>
                <a:cs typeface="Segoe UI Semibold"/>
              </a:rPr>
              <a:t>μ = π + τΣPᵀ ( PτΣPᵀ + </a:t>
            </a:r>
            <a:r>
              <a:rPr lang="pt-BR" sz="1700" b="0">
                <a:solidFill>
                  <a:srgbClr val="FFB531"/>
                </a:solidFill>
                <a:latin typeface="Segoe UI Semibold"/>
                <a:cs typeface="Segoe UI Semibold"/>
              </a:rPr>
              <a:t>Ω</a:t>
            </a:r>
            <a:r>
              <a:rPr lang="pt-BR" sz="1700" b="0">
                <a:solidFill>
                  <a:srgbClr val="FFFFFF"/>
                </a:solidFill>
                <a:latin typeface="Segoe UI Semibold"/>
                <a:cs typeface="Segoe UI Semibold"/>
              </a:rPr>
              <a:t> )⁻¹ ( </a:t>
            </a:r>
            <a:r>
              <a:rPr lang="pt-BR" sz="1700" b="0">
                <a:solidFill>
                  <a:srgbClr val="FFB531"/>
                </a:solidFill>
                <a:latin typeface="Segoe UI Semibold"/>
                <a:cs typeface="Segoe UI Semibold"/>
              </a:rPr>
              <a:t>Q</a:t>
            </a:r>
            <a:r>
              <a:rPr lang="pt-BR" sz="1700" b="0">
                <a:solidFill>
                  <a:srgbClr val="FFFFFF"/>
                </a:solidFill>
                <a:latin typeface="Segoe UI Semibold"/>
                <a:cs typeface="Segoe UI Semibold"/>
              </a:rPr>
              <a:t> − Pπ )</a:t>
            </a:r>
          </a:p>
        </p:txBody>
      </p:sp>
      <p:sp>
        <p:nvSpPr>
          <p:cNvPr id="16" name="txt_16"/>
          <p:cNvSpPr txBox="1"/>
          <p:nvPr/>
        </p:nvSpPr>
        <p:spPr>
          <a:xfrm>
            <a:off x="1102360" y="1854200"/>
            <a:ext cx="711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D5D9E0"/>
                </a:solidFill>
                <a:latin typeface="Segoe UI"/>
                <a:cs typeface="Segoe UI"/>
              </a:rPr>
              <a:t>π = δΣw_mkt: o equilíbrio  ·  w = (δΣ)⁻¹μ: a carteira</a:t>
            </a:r>
          </a:p>
        </p:txBody>
      </p:sp>
      <p:sp>
        <p:nvSpPr>
          <p:cNvPr id="17" name="forma_17"/>
          <p:cNvSpPr/>
          <p:nvPr/>
        </p:nvSpPr>
        <p:spPr>
          <a:xfrm>
            <a:off x="8674100" y="1574800"/>
            <a:ext cx="1143000" cy="3048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FFFFFF"/>
                </a:solidFill>
                <a:latin typeface="Consolas"/>
                <a:cs typeface="Consolas"/>
              </a:rPr>
              <a:t>τ = 1/504</a:t>
            </a:r>
          </a:p>
        </p:txBody>
      </p:sp>
      <p:sp>
        <p:nvSpPr>
          <p:cNvPr id="18" name="forma_18"/>
          <p:cNvSpPr/>
          <p:nvPr/>
        </p:nvSpPr>
        <p:spPr>
          <a:xfrm>
            <a:off x="9944100" y="1574800"/>
            <a:ext cx="1143000" cy="3048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FFFFFF"/>
                </a:solidFill>
                <a:latin typeface="Consolas"/>
                <a:cs typeface="Consolas"/>
              </a:rPr>
              <a:t>δ = 3,0</a:t>
            </a:r>
          </a:p>
        </p:txBody>
      </p:sp>
      <p:sp>
        <p:nvSpPr>
          <p:cNvPr id="19" name="txt_19"/>
          <p:cNvSpPr txBox="1"/>
          <p:nvPr/>
        </p:nvSpPr>
        <p:spPr>
          <a:xfrm>
            <a:off x="822960" y="2387600"/>
            <a:ext cx="508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A PREVISÃO (Q)</a:t>
            </a:r>
          </a:p>
        </p:txBody>
      </p:sp>
      <p:sp>
        <p:nvSpPr>
          <p:cNvPr id="20" name="forma_20"/>
          <p:cNvSpPr/>
          <p:nvPr/>
        </p:nvSpPr>
        <p:spPr>
          <a:xfrm>
            <a:off x="822960" y="2616200"/>
            <a:ext cx="5080000" cy="889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1" name="txt_21"/>
          <p:cNvSpPr txBox="1"/>
          <p:nvPr/>
        </p:nvSpPr>
        <p:spPr>
          <a:xfrm>
            <a:off x="1051560" y="27432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FB531"/>
                </a:solidFill>
                <a:latin typeface="Segoe UI Semibold"/>
                <a:cs typeface="Segoe UI Semibold"/>
              </a:rPr>
              <a:t>Q</a:t>
            </a:r>
            <a:r>
              <a:rPr lang="pt-BR" sz="1500" b="0">
                <a:solidFill>
                  <a:srgbClr val="FFFFFF"/>
                </a:solidFill>
                <a:latin typeface="Segoe UI Semibold"/>
                <a:cs typeface="Segoe UI Semibold"/>
              </a:rPr>
              <a:t> = ( E_poly − âncora − viés ) · Σ Pᵢ βᵢ</a:t>
            </a:r>
          </a:p>
        </p:txBody>
      </p:sp>
      <p:sp>
        <p:nvSpPr>
          <p:cNvPr id="22" name="txt_22"/>
          <p:cNvSpPr txBox="1"/>
          <p:nvPr/>
        </p:nvSpPr>
        <p:spPr>
          <a:xfrm>
            <a:off x="1051560" y="3124200"/>
            <a:ext cx="4622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B531"/>
                </a:solidFill>
                <a:latin typeface="Segoe UI Semibold"/>
                <a:cs typeface="Segoe UI Semibold"/>
              </a:rPr>
              <a:t>Pᵢ</a:t>
            </a: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 = 2 (βᵢ − β_SPY) / Σⱼ |βⱼ − β_SPY|</a:t>
            </a:r>
          </a:p>
        </p:txBody>
      </p:sp>
      <p:sp>
        <p:nvSpPr>
          <p:cNvPr id="23" name="txt_23"/>
          <p:cNvSpPr txBox="1"/>
          <p:nvPr/>
        </p:nvSpPr>
        <p:spPr>
          <a:xfrm>
            <a:off x="822960" y="3683000"/>
            <a:ext cx="50800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FFFFFF"/>
                </a:solidFill>
                <a:latin typeface="Segoe UI Semibold"/>
                <a:cs typeface="Segoe UI Semibold"/>
              </a:rPr>
              <a:t>β medido. </a:t>
            </a:r>
            <a:r>
              <a:rPr lang="pt-BR" sz="1050" b="0">
                <a:solidFill>
                  <a:srgbClr val="D5D9E0"/>
                </a:solidFill>
                <a:latin typeface="Segoe UI"/>
                <a:cs typeface="Segoe UI"/>
              </a:rPr>
              <a:t>Regressão dos retornos nos dias de anúncio contra a surpresa do dia.</a:t>
            </a:r>
          </a:p>
          <a:p>
            <a:pPr algn="l"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lang="pt-BR" sz="1050" b="0">
                <a:solidFill>
                  <a:srgbClr val="FFFFFF"/>
                </a:solidFill>
                <a:latin typeface="Segoe UI Semibold"/>
                <a:cs typeface="Segoe UI Semibold"/>
              </a:rPr>
              <a:t>P[SPY] = 0 e Σ|P| = 2. </a:t>
            </a:r>
            <a:r>
              <a:rPr lang="pt-BR" sz="1050" b="0">
                <a:solidFill>
                  <a:srgbClr val="D5D9E0"/>
                </a:solidFill>
                <a:latin typeface="Segoe UI"/>
                <a:cs typeface="Segoe UI"/>
              </a:rPr>
              <a:t>A cesta não aposta na direção da bolsa.</a:t>
            </a:r>
          </a:p>
          <a:p>
            <a:pPr algn="l"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lang="pt-BR" sz="1050" b="0">
                <a:solidFill>
                  <a:srgbClr val="FFFFFF"/>
                </a:solidFill>
                <a:latin typeface="Segoe UI Semibold"/>
                <a:cs typeface="Segoe UI Semibold"/>
              </a:rPr>
              <a:t>Viés. </a:t>
            </a:r>
            <a:r>
              <a:rPr lang="pt-BR" sz="1050" b="0">
                <a:solidFill>
                  <a:srgbClr val="D5D9E0"/>
                </a:solidFill>
                <a:latin typeface="Segoe UI"/>
                <a:cs typeface="Segoe UI"/>
              </a:rPr>
              <a:t>A média de que se desconta a surpresa só usa o passado.</a:t>
            </a:r>
          </a:p>
        </p:txBody>
      </p:sp>
      <p:sp>
        <p:nvSpPr>
          <p:cNvPr id="28" name="txt_28"/>
          <p:cNvSpPr txBox="1"/>
          <p:nvPr/>
        </p:nvSpPr>
        <p:spPr>
          <a:xfrm>
            <a:off x="6283960" y="2387600"/>
            <a:ext cx="508254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A CONFIANÇA (Ω)</a:t>
            </a:r>
          </a:p>
        </p:txBody>
      </p:sp>
      <p:sp>
        <p:nvSpPr>
          <p:cNvPr id="29" name="forma_29"/>
          <p:cNvSpPr/>
          <p:nvPr/>
        </p:nvSpPr>
        <p:spPr>
          <a:xfrm>
            <a:off x="6283960" y="2616200"/>
            <a:ext cx="5082540" cy="889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0" name="txt_30"/>
          <p:cNvSpPr txBox="1"/>
          <p:nvPr/>
        </p:nvSpPr>
        <p:spPr>
          <a:xfrm>
            <a:off x="6512560" y="2743200"/>
            <a:ext cx="46253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FB531"/>
                </a:solidFill>
                <a:latin typeface="Segoe UI Semibold"/>
                <a:cs typeface="Segoe UI Semibold"/>
              </a:rPr>
              <a:t>Ω</a:t>
            </a:r>
            <a:r>
              <a:rPr lang="pt-BR" sz="1500" b="0">
                <a:solidFill>
                  <a:srgbClr val="FFFFFF"/>
                </a:solidFill>
                <a:latin typeface="Segoe UI Semibold"/>
                <a:cs typeface="Segoe UI Semibold"/>
              </a:rPr>
              <a:t> = c · diag( P τΣ Pᵀ )</a:t>
            </a:r>
          </a:p>
        </p:txBody>
      </p:sp>
      <p:sp>
        <p:nvSpPr>
          <p:cNvPr id="31" name="txt_31"/>
          <p:cNvSpPr txBox="1"/>
          <p:nvPr/>
        </p:nvSpPr>
        <p:spPr>
          <a:xfrm>
            <a:off x="6512560" y="3124200"/>
            <a:ext cx="462534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B531"/>
                </a:solidFill>
                <a:latin typeface="Segoe UI Semibold"/>
                <a:cs typeface="Segoe UI Semibold"/>
              </a:rPr>
              <a:t>c</a:t>
            </a: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 = ( (1 + v̄) · (1 + |Σp − 1|) )</a:t>
            </a:r>
            <a:r>
              <a:rPr lang="pt-BR" sz="850" b="0">
                <a:solidFill>
                  <a:srgbClr val="D5D9E0"/>
                </a:solidFill>
                <a:latin typeface="Segoe UI"/>
                <a:cs typeface="Segoe UI"/>
              </a:rPr>
              <a:t>nível</a:t>
            </a: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   ·   nível = 1   ·   c ≥ 1</a:t>
            </a:r>
          </a:p>
        </p:txBody>
      </p:sp>
      <p:sp>
        <p:nvSpPr>
          <p:cNvPr id="32" name="txt_32"/>
          <p:cNvSpPr txBox="1"/>
          <p:nvPr/>
        </p:nvSpPr>
        <p:spPr>
          <a:xfrm>
            <a:off x="6283960" y="3683000"/>
            <a:ext cx="508254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9AA3AF"/>
                </a:solidFill>
                <a:latin typeface="Segoe UI Semibold"/>
                <a:cs typeface="Segoe UI Semibold"/>
              </a:rPr>
              <a:t>O QUE ENTROU NA RÉGUA</a:t>
            </a:r>
          </a:p>
        </p:txBody>
      </p:sp>
      <p:sp>
        <p:nvSpPr>
          <p:cNvPr id="33" name="txt_33"/>
          <p:cNvSpPr txBox="1"/>
          <p:nvPr/>
        </p:nvSpPr>
        <p:spPr>
          <a:xfrm>
            <a:off x="6283960" y="3683000"/>
            <a:ext cx="508254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>
                <a:solidFill>
                  <a:srgbClr val="9AA3AF"/>
                </a:solidFill>
                <a:latin typeface="Segoe UI"/>
                <a:cs typeface="Segoe UI"/>
              </a:rPr>
              <a:t>185 de 2.795 views vetadas por falta de liquidez</a:t>
            </a:r>
          </a:p>
        </p:txBody>
      </p:sp>
      <p:pic>
        <p:nvPicPr>
          <p:cNvPr id="34" name="grafico_regua" descr="v3_s07_regua_baix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960" y="3860800"/>
            <a:ext cx="5080000" cy="1270000"/>
          </a:xfrm>
          <a:prstGeom prst="rect">
            <a:avLst/>
          </a:prstGeom>
        </p:spPr>
      </p:pic>
      <p:sp>
        <p:nvSpPr>
          <p:cNvPr id="35" name="!!t6_hdr"/>
          <p:cNvSpPr txBox="1"/>
          <p:nvPr/>
        </p:nvSpPr>
        <p:spPr>
          <a:xfrm>
            <a:off x="822960" y="347472"/>
            <a:ext cx="9080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 Semibold"/>
              </a:rPr>
              <a:t>A previsão (Q) e a confiança (Ω)</a:t>
            </a:r>
            <a:r>
              <a:rPr sz="18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1800" b="0">
                <a:solidFill>
                  <a:srgbClr val="FFFFFF"/>
                </a:solidFill>
                <a:latin typeface="Segoe UI Semibold"/>
              </a:rPr>
              <a:t>Onde o Polymarket entra no Black-Litterman</a:t>
            </a:r>
          </a:p>
        </p:txBody>
      </p:sp>
      <p:sp>
        <p:nvSpPr>
          <p:cNvPr id="36" name="!!t6_marca"/>
          <p:cNvSpPr txBox="1"/>
          <p:nvPr/>
        </p:nvSpPr>
        <p:spPr>
          <a:xfrm>
            <a:off x="999490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7" name="!!t6_regua"/>
          <p:cNvSpPr/>
          <p:nvPr/>
        </p:nvSpPr>
        <p:spPr>
          <a:xfrm>
            <a:off x="822960" y="868680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t6_nav_regua"/>
          <p:cNvSpPr/>
          <p:nvPr/>
        </p:nvSpPr>
        <p:spPr>
          <a:xfrm>
            <a:off x="822960" y="6528816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t6_nav0"/>
          <p:cNvSpPr txBox="1"/>
          <p:nvPr/>
        </p:nvSpPr>
        <p:spPr>
          <a:xfrm>
            <a:off x="82296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40" name="!!t6_nav1"/>
          <p:cNvSpPr txBox="1"/>
          <p:nvPr/>
        </p:nvSpPr>
        <p:spPr>
          <a:xfrm>
            <a:off x="245829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41" name="!!t6_nav2"/>
          <p:cNvSpPr txBox="1"/>
          <p:nvPr/>
        </p:nvSpPr>
        <p:spPr>
          <a:xfrm>
            <a:off x="409363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Estratégia</a:t>
            </a:r>
          </a:p>
        </p:txBody>
      </p:sp>
      <p:sp>
        <p:nvSpPr>
          <p:cNvPr id="42" name="!!t6_nav_ativa"/>
          <p:cNvSpPr/>
          <p:nvPr/>
        </p:nvSpPr>
        <p:spPr>
          <a:xfrm>
            <a:off x="4499821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t6_nav3"/>
          <p:cNvSpPr txBox="1"/>
          <p:nvPr/>
        </p:nvSpPr>
        <p:spPr>
          <a:xfrm>
            <a:off x="572897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44" name="!!t6_nav4"/>
          <p:cNvSpPr txBox="1"/>
          <p:nvPr/>
        </p:nvSpPr>
        <p:spPr>
          <a:xfrm>
            <a:off x="736430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45" name="!!t6_nav5"/>
          <p:cNvSpPr txBox="1"/>
          <p:nvPr/>
        </p:nvSpPr>
        <p:spPr>
          <a:xfrm>
            <a:off x="899964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46" name="!!t6_num"/>
          <p:cNvSpPr txBox="1"/>
          <p:nvPr/>
        </p:nvSpPr>
        <p:spPr>
          <a:xfrm>
            <a:off x="10772140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7341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vw_aba0"/>
          <p:cNvSpPr/>
          <p:nvPr/>
        </p:nvSpPr>
        <p:spPr>
          <a:xfrm>
            <a:off x="822960" y="838200"/>
            <a:ext cx="2540635" cy="457200"/>
          </a:xfrm>
          <a:prstGeom prst="rect">
            <a:avLst/>
          </a:prstGeom>
          <a:solidFill>
            <a:srgbClr val="1E2229"/>
          </a:solidFill>
          <a:ln w="1905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Segoe UI Semibold"/>
                <a:cs typeface="Segoe UI Semibold"/>
              </a:rPr>
              <a:t>2.3 · A decisão do Fed</a:t>
            </a:r>
          </a:p>
        </p:txBody>
      </p:sp>
      <p:sp>
        <p:nvSpPr>
          <p:cNvPr id="14" name="!!vw_aba1"/>
          <p:cNvSpPr/>
          <p:nvPr/>
        </p:nvSpPr>
        <p:spPr>
          <a:xfrm>
            <a:off x="3490595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2.2 · A inflação do mês</a:t>
            </a:r>
          </a:p>
        </p:txBody>
      </p:sp>
      <p:sp>
        <p:nvSpPr>
          <p:cNvPr id="15" name="!!vw_aba2"/>
          <p:cNvSpPr/>
          <p:nvPr/>
        </p:nvSpPr>
        <p:spPr>
          <a:xfrm>
            <a:off x="6158230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B · A taxa no fim do ano</a:t>
            </a:r>
          </a:p>
        </p:txBody>
      </p:sp>
      <p:sp>
        <p:nvSpPr>
          <p:cNvPr id="16" name="!!vw_aba3"/>
          <p:cNvSpPr/>
          <p:nvPr/>
        </p:nvSpPr>
        <p:spPr>
          <a:xfrm>
            <a:off x="8825865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15b · A dúvida na véspera</a:t>
            </a:r>
          </a:p>
        </p:txBody>
      </p:sp>
      <p:sp>
        <p:nvSpPr>
          <p:cNvPr id="17" name="!!vw_dias"/>
          <p:cNvSpPr txBox="1"/>
          <p:nvPr/>
        </p:nvSpPr>
        <p:spPr>
          <a:xfrm>
            <a:off x="822960" y="14732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100" b="0">
                <a:solidFill>
                  <a:srgbClr val="FFB531"/>
                </a:solidFill>
                <a:latin typeface="Segoe UI Semibold"/>
                <a:cs typeface="Segoe UI Semibold"/>
              </a:rPr>
              <a:t>312</a:t>
            </a:r>
            <a:r>
              <a:rPr lang="pt-BR" sz="1050" b="0">
                <a:solidFill>
                  <a:srgbClr val="D5D9E0"/>
                </a:solidFill>
                <a:latin typeface="Segoe UI"/>
                <a:cs typeface="Segoe UI"/>
              </a:rPr>
              <a:t> / 374</a:t>
            </a:r>
          </a:p>
        </p:txBody>
      </p:sp>
      <p:sp>
        <p:nvSpPr>
          <p:cNvPr id="18" name="!!vw_dias_rot"/>
          <p:cNvSpPr txBox="1"/>
          <p:nvPr/>
        </p:nvSpPr>
        <p:spPr>
          <a:xfrm>
            <a:off x="822960" y="18542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9AA3AF"/>
                </a:solidFill>
                <a:latin typeface="Segoe UI Semibold"/>
                <a:cs typeface="Segoe UI Semibold"/>
              </a:rPr>
              <a:t>PREGÕES ATIVOS · NEUTRA</a:t>
            </a:r>
          </a:p>
        </p:txBody>
      </p:sp>
      <p:pic>
        <p:nvPicPr>
          <p:cNvPr id="19" name="!!vw_faixa" descr="v3_s08_faixa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960" y="1473200"/>
            <a:ext cx="8382000" cy="457200"/>
          </a:xfrm>
          <a:prstGeom prst="rect">
            <a:avLst/>
          </a:prstGeom>
        </p:spPr>
      </p:pic>
      <p:sp>
        <p:nvSpPr>
          <p:cNvPr id="2" name="!!vw_bloco0"/>
          <p:cNvSpPr/>
          <p:nvPr/>
        </p:nvSpPr>
        <p:spPr>
          <a:xfrm>
            <a:off x="822960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!!vw_rot0"/>
          <p:cNvSpPr txBox="1"/>
          <p:nvPr/>
        </p:nvSpPr>
        <p:spPr>
          <a:xfrm>
            <a:off x="1051560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Segoe UI Semibold"/>
                <a:cs typeface="Segoe UI Semibold"/>
              </a:rPr>
              <a:t>POLYMARKET</a:t>
            </a:r>
          </a:p>
        </p:txBody>
      </p:sp>
      <p:sp>
        <p:nvSpPr>
          <p:cNvPr id="21" name="!!vw_txt0"/>
          <p:cNvSpPr txBox="1"/>
          <p:nvPr/>
        </p:nvSpPr>
        <p:spPr>
          <a:xfrm>
            <a:off x="1051560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Corte esperado na próxima reunião</a:t>
            </a:r>
          </a:p>
        </p:txBody>
      </p:sp>
      <p:sp>
        <p:nvSpPr>
          <p:cNvPr id="22" name="!!vw_det0"/>
          <p:cNvSpPr txBox="1"/>
          <p:nvPr/>
        </p:nvSpPr>
        <p:spPr>
          <a:xfrm>
            <a:off x="1051560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média das faixas, em bps</a:t>
            </a:r>
          </a:p>
        </p:txBody>
      </p:sp>
      <p:sp>
        <p:nvSpPr>
          <p:cNvPr id="23" name="!!vw_bloco1"/>
          <p:cNvSpPr/>
          <p:nvPr/>
        </p:nvSpPr>
        <p:spPr>
          <a:xfrm>
            <a:off x="4557607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4F6FD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4" name="!!vw_rot1"/>
          <p:cNvSpPr txBox="1"/>
          <p:nvPr/>
        </p:nvSpPr>
        <p:spPr>
          <a:xfrm>
            <a:off x="4786207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6C8CE0"/>
                </a:solidFill>
                <a:latin typeface="Segoe UI Semibold"/>
                <a:cs typeface="Segoe UI Semibold"/>
              </a:rPr>
              <a:t>CONTRA</a:t>
            </a:r>
          </a:p>
        </p:txBody>
      </p:sp>
      <p:sp>
        <p:nvSpPr>
          <p:cNvPr id="25" name="!!vw_txt1"/>
          <p:cNvSpPr txBox="1"/>
          <p:nvPr/>
        </p:nvSpPr>
        <p:spPr>
          <a:xfrm>
            <a:off x="4786207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T-bill 3m − Fed funds</a:t>
            </a:r>
          </a:p>
        </p:txBody>
      </p:sp>
      <p:sp>
        <p:nvSpPr>
          <p:cNvPr id="26" name="!!vw_det1"/>
          <p:cNvSpPr txBox="1"/>
          <p:nvPr/>
        </p:nvSpPr>
        <p:spPr>
          <a:xfrm>
            <a:off x="4786207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o corte que os juros já embutem</a:t>
            </a:r>
          </a:p>
        </p:txBody>
      </p:sp>
      <p:sp>
        <p:nvSpPr>
          <p:cNvPr id="27" name="!!vw_bloco2"/>
          <p:cNvSpPr/>
          <p:nvPr/>
        </p:nvSpPr>
        <p:spPr>
          <a:xfrm>
            <a:off x="8292253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8" name="!!vw_rot2"/>
          <p:cNvSpPr txBox="1"/>
          <p:nvPr/>
        </p:nvSpPr>
        <p:spPr>
          <a:xfrm>
            <a:off x="8520853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2FD3B0"/>
                </a:solidFill>
                <a:latin typeface="Segoe UI Semibold"/>
                <a:cs typeface="Segoe UI Semibold"/>
              </a:rPr>
              <a:t>CESTA</a:t>
            </a:r>
          </a:p>
        </p:txBody>
      </p:sp>
      <p:sp>
        <p:nvSpPr>
          <p:cNvPr id="29" name="!!vw_txt2"/>
          <p:cNvSpPr txBox="1"/>
          <p:nvPr/>
        </p:nvSpPr>
        <p:spPr>
          <a:xfrm>
            <a:off x="8520853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XLU · TLT · TIP</a:t>
            </a:r>
          </a:p>
        </p:txBody>
      </p:sp>
      <p:sp>
        <p:nvSpPr>
          <p:cNvPr id="30" name="!!vw_contra_cesta"/>
          <p:cNvSpPr txBox="1"/>
          <p:nvPr/>
        </p:nvSpPr>
        <p:spPr>
          <a:xfrm>
            <a:off x="8520853" y="31750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FFFF"/>
                </a:solidFill>
                <a:latin typeface="Segoe UI"/>
                <a:cs typeface="Segoe UI"/>
              </a:rPr>
              <a:t>contra XLK</a:t>
            </a:r>
          </a:p>
        </p:txBody>
      </p:sp>
      <p:sp>
        <p:nvSpPr>
          <p:cNvPr id="31" name="!!vw_det2"/>
          <p:cNvSpPr txBox="1"/>
          <p:nvPr/>
        </p:nvSpPr>
        <p:spPr>
          <a:xfrm>
            <a:off x="8520853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sem posição no índice</a:t>
            </a:r>
          </a:p>
        </p:txBody>
      </p:sp>
      <p:sp>
        <p:nvSpPr>
          <p:cNvPr id="32" name="!!vw_op0"/>
          <p:cNvSpPr/>
          <p:nvPr/>
        </p:nvSpPr>
        <p:spPr>
          <a:xfrm>
            <a:off x="4036907" y="2832100"/>
            <a:ext cx="381000" cy="3810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−</a:t>
            </a:r>
          </a:p>
        </p:txBody>
      </p:sp>
      <p:sp>
        <p:nvSpPr>
          <p:cNvPr id="33" name="!!vw_op1"/>
          <p:cNvSpPr/>
          <p:nvPr/>
        </p:nvSpPr>
        <p:spPr>
          <a:xfrm>
            <a:off x="7682653" y="2832100"/>
            <a:ext cx="558800" cy="3810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× β</a:t>
            </a:r>
          </a:p>
        </p:txBody>
      </p:sp>
      <p:sp>
        <p:nvSpPr>
          <p:cNvPr id="34" name="!!vw_conta_rot"/>
          <p:cNvSpPr txBox="1"/>
          <p:nvPr/>
        </p:nvSpPr>
        <p:spPr>
          <a:xfrm>
            <a:off x="822960" y="4038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A CONTA</a:t>
            </a:r>
          </a:p>
        </p:txBody>
      </p:sp>
      <p:sp>
        <p:nvSpPr>
          <p:cNvPr id="35" name="!!vw_conta"/>
          <p:cNvSpPr/>
          <p:nvPr/>
        </p:nvSpPr>
        <p:spPr>
          <a:xfrm>
            <a:off x="822960" y="4267200"/>
            <a:ext cx="10543540" cy="863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!!vw_formula"/>
          <p:cNvSpPr txBox="1"/>
          <p:nvPr/>
        </p:nvSpPr>
        <p:spPr>
          <a:xfrm>
            <a:off x="1102360" y="4394200"/>
            <a:ext cx="99847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b="0">
                <a:solidFill>
                  <a:srgbClr val="FFB531"/>
                </a:solidFill>
                <a:latin typeface="Segoe UI Semibold"/>
                <a:cs typeface="Segoe UI Semibold"/>
              </a:rPr>
              <a:t>Q</a:t>
            </a:r>
            <a:r>
              <a:rPr lang="pt-BR" sz="1600" b="0">
                <a:solidFill>
                  <a:srgbClr val="FFFFFF"/>
                </a:solidFill>
                <a:latin typeface="Segoe UI Semibold"/>
                <a:cs typeface="Segoe UI Semibold"/>
              </a:rPr>
              <a:t> = ( E_poly − (T-bill 3m − Fed funds) − média ) · Σ Pᵢ βᵢ</a:t>
            </a:r>
          </a:p>
        </p:txBody>
      </p:sp>
      <p:sp>
        <p:nvSpPr>
          <p:cNvPr id="37" name="!!vw_legenda"/>
          <p:cNvSpPr txBox="1"/>
          <p:nvPr/>
        </p:nvSpPr>
        <p:spPr>
          <a:xfrm>
            <a:off x="1102360" y="4775200"/>
            <a:ext cx="998474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βᵢ: reação de cada ETF ao T-bill nos dias de FOMC · média: só do passado</a:t>
            </a:r>
          </a:p>
        </p:txBody>
      </p:sp>
      <p:sp>
        <p:nvSpPr>
          <p:cNvPr id="38" name="!!vw_frase_barra"/>
          <p:cNvSpPr/>
          <p:nvPr/>
        </p:nvSpPr>
        <p:spPr>
          <a:xfrm>
            <a:off x="822960" y="5384800"/>
            <a:ext cx="45720" cy="330200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!!vw_frase"/>
          <p:cNvSpPr txBox="1"/>
          <p:nvPr/>
        </p:nvSpPr>
        <p:spPr>
          <a:xfrm>
            <a:off x="1026160" y="5384800"/>
            <a:ext cx="1034034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FFFF"/>
                </a:solidFill>
                <a:latin typeface="Segoe UI Semibold"/>
                <a:cs typeface="Segoe UI Semibold"/>
              </a:rPr>
              <a:t>Confiança mediana c = 1,01. </a:t>
            </a:r>
            <a:r>
              <a:rPr lang="pt-BR" sz="1250" b="0">
                <a:solidFill>
                  <a:srgbClr val="D5D9E0"/>
                </a:solidFill>
                <a:latin typeface="Segoe UI"/>
                <a:cs typeface="Segoe UI"/>
              </a:rPr>
              <a:t>O livro do Fed é o mais estável das quatro.</a:t>
            </a:r>
          </a:p>
        </p:txBody>
      </p:sp>
      <p:sp>
        <p:nvSpPr>
          <p:cNvPr id="40" name="!!t6_hdr"/>
          <p:cNvSpPr txBox="1"/>
          <p:nvPr/>
        </p:nvSpPr>
        <p:spPr>
          <a:xfrm>
            <a:off x="822960" y="347472"/>
            <a:ext cx="9080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As quatro views</a:t>
            </a:r>
          </a:p>
        </p:txBody>
      </p:sp>
      <p:sp>
        <p:nvSpPr>
          <p:cNvPr id="41" name="!!t6_marca"/>
          <p:cNvSpPr txBox="1"/>
          <p:nvPr/>
        </p:nvSpPr>
        <p:spPr>
          <a:xfrm>
            <a:off x="999490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42" name="!!t6_regua"/>
          <p:cNvSpPr/>
          <p:nvPr/>
        </p:nvSpPr>
        <p:spPr>
          <a:xfrm>
            <a:off x="822960" y="868680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t6_nav_regua"/>
          <p:cNvSpPr/>
          <p:nvPr/>
        </p:nvSpPr>
        <p:spPr>
          <a:xfrm>
            <a:off x="822960" y="6528816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t6_nav0"/>
          <p:cNvSpPr txBox="1"/>
          <p:nvPr/>
        </p:nvSpPr>
        <p:spPr>
          <a:xfrm>
            <a:off x="82296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45" name="!!t6_nav1"/>
          <p:cNvSpPr txBox="1"/>
          <p:nvPr/>
        </p:nvSpPr>
        <p:spPr>
          <a:xfrm>
            <a:off x="245829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46" name="!!t6_nav2"/>
          <p:cNvSpPr txBox="1"/>
          <p:nvPr/>
        </p:nvSpPr>
        <p:spPr>
          <a:xfrm>
            <a:off x="409363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Estratégia</a:t>
            </a:r>
          </a:p>
        </p:txBody>
      </p:sp>
      <p:sp>
        <p:nvSpPr>
          <p:cNvPr id="47" name="!!t6_nav_ativa"/>
          <p:cNvSpPr/>
          <p:nvPr/>
        </p:nvSpPr>
        <p:spPr>
          <a:xfrm>
            <a:off x="4499821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t6_nav3"/>
          <p:cNvSpPr txBox="1"/>
          <p:nvPr/>
        </p:nvSpPr>
        <p:spPr>
          <a:xfrm>
            <a:off x="572897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49" name="!!t6_nav4"/>
          <p:cNvSpPr txBox="1"/>
          <p:nvPr/>
        </p:nvSpPr>
        <p:spPr>
          <a:xfrm>
            <a:off x="736430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50" name="!!t6_nav5"/>
          <p:cNvSpPr txBox="1"/>
          <p:nvPr/>
        </p:nvSpPr>
        <p:spPr>
          <a:xfrm>
            <a:off x="899964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51" name="!!t6_num"/>
          <p:cNvSpPr txBox="1"/>
          <p:nvPr/>
        </p:nvSpPr>
        <p:spPr>
          <a:xfrm>
            <a:off x="10772140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72506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vw_aba0"/>
          <p:cNvSpPr/>
          <p:nvPr/>
        </p:nvSpPr>
        <p:spPr>
          <a:xfrm>
            <a:off x="822960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2.3 · A decisão do Fed</a:t>
            </a:r>
          </a:p>
        </p:txBody>
      </p:sp>
      <p:sp>
        <p:nvSpPr>
          <p:cNvPr id="14" name="!!vw_aba1"/>
          <p:cNvSpPr/>
          <p:nvPr/>
        </p:nvSpPr>
        <p:spPr>
          <a:xfrm>
            <a:off x="3490595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Segoe UI Semibold"/>
                <a:cs typeface="Segoe UI Semibold"/>
              </a:rPr>
              <a:t>2.2 · A inflação do mês</a:t>
            </a:r>
          </a:p>
        </p:txBody>
      </p:sp>
      <p:sp>
        <p:nvSpPr>
          <p:cNvPr id="15" name="!!vw_aba2"/>
          <p:cNvSpPr/>
          <p:nvPr/>
        </p:nvSpPr>
        <p:spPr>
          <a:xfrm>
            <a:off x="6158230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B · A taxa no fim do ano</a:t>
            </a:r>
          </a:p>
        </p:txBody>
      </p:sp>
      <p:sp>
        <p:nvSpPr>
          <p:cNvPr id="16" name="!!vw_aba3"/>
          <p:cNvSpPr/>
          <p:nvPr/>
        </p:nvSpPr>
        <p:spPr>
          <a:xfrm>
            <a:off x="8825865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15b · A dúvida na véspera</a:t>
            </a:r>
          </a:p>
        </p:txBody>
      </p:sp>
      <p:sp>
        <p:nvSpPr>
          <p:cNvPr id="17" name="!!vw_dias"/>
          <p:cNvSpPr txBox="1"/>
          <p:nvPr/>
        </p:nvSpPr>
        <p:spPr>
          <a:xfrm>
            <a:off x="822960" y="14732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100" b="0">
                <a:solidFill>
                  <a:srgbClr val="FFB531"/>
                </a:solidFill>
                <a:latin typeface="Segoe UI Semibold"/>
                <a:cs typeface="Segoe UI Semibold"/>
              </a:rPr>
              <a:t>253</a:t>
            </a:r>
            <a:r>
              <a:rPr lang="pt-BR" sz="1050" b="0">
                <a:solidFill>
                  <a:srgbClr val="D5D9E0"/>
                </a:solidFill>
                <a:latin typeface="Segoe UI"/>
                <a:cs typeface="Segoe UI"/>
              </a:rPr>
              <a:t> / 374</a:t>
            </a:r>
          </a:p>
        </p:txBody>
      </p:sp>
      <p:sp>
        <p:nvSpPr>
          <p:cNvPr id="18" name="!!vw_dias_rot"/>
          <p:cNvSpPr txBox="1"/>
          <p:nvPr/>
        </p:nvSpPr>
        <p:spPr>
          <a:xfrm>
            <a:off x="822960" y="18542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9AA3AF"/>
                </a:solidFill>
                <a:latin typeface="Segoe UI Semibold"/>
                <a:cs typeface="Segoe UI Semibold"/>
              </a:rPr>
              <a:t>PREGÕES ATIVOS · NEUTRA</a:t>
            </a:r>
          </a:p>
        </p:txBody>
      </p:sp>
      <p:pic>
        <p:nvPicPr>
          <p:cNvPr id="19" name="!!vw_faixa" descr="v3_s09_faixa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960" y="1473200"/>
            <a:ext cx="8382000" cy="457200"/>
          </a:xfrm>
          <a:prstGeom prst="rect">
            <a:avLst/>
          </a:prstGeom>
        </p:spPr>
      </p:pic>
      <p:sp>
        <p:nvSpPr>
          <p:cNvPr id="2" name="!!vw_bloco0"/>
          <p:cNvSpPr/>
          <p:nvPr/>
        </p:nvSpPr>
        <p:spPr>
          <a:xfrm>
            <a:off x="822960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!!vw_rot0"/>
          <p:cNvSpPr txBox="1"/>
          <p:nvPr/>
        </p:nvSpPr>
        <p:spPr>
          <a:xfrm>
            <a:off x="1051560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Segoe UI Semibold"/>
                <a:cs typeface="Segoe UI Semibold"/>
              </a:rPr>
              <a:t>POLYMARKET</a:t>
            </a:r>
          </a:p>
        </p:txBody>
      </p:sp>
      <p:sp>
        <p:nvSpPr>
          <p:cNvPr id="21" name="!!vw_txt0"/>
          <p:cNvSpPr txBox="1"/>
          <p:nvPr/>
        </p:nvSpPr>
        <p:spPr>
          <a:xfrm>
            <a:off x="1051560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Inflação do mês, anualizada</a:t>
            </a:r>
          </a:p>
        </p:txBody>
      </p:sp>
      <p:sp>
        <p:nvSpPr>
          <p:cNvPr id="22" name="!!vw_det0"/>
          <p:cNvSpPr txBox="1"/>
          <p:nvPr/>
        </p:nvSpPr>
        <p:spPr>
          <a:xfrm>
            <a:off x="1051560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média das faixas do CPI</a:t>
            </a:r>
          </a:p>
        </p:txBody>
      </p:sp>
      <p:sp>
        <p:nvSpPr>
          <p:cNvPr id="23" name="!!vw_bloco1"/>
          <p:cNvSpPr/>
          <p:nvPr/>
        </p:nvSpPr>
        <p:spPr>
          <a:xfrm>
            <a:off x="4557607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4F6FD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4" name="!!vw_rot1"/>
          <p:cNvSpPr txBox="1"/>
          <p:nvPr/>
        </p:nvSpPr>
        <p:spPr>
          <a:xfrm>
            <a:off x="4786207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6C8CE0"/>
                </a:solidFill>
                <a:latin typeface="Segoe UI Semibold"/>
                <a:cs typeface="Segoe UI Semibold"/>
              </a:rPr>
              <a:t>CONTRA</a:t>
            </a:r>
          </a:p>
        </p:txBody>
      </p:sp>
      <p:sp>
        <p:nvSpPr>
          <p:cNvPr id="25" name="!!vw_txt1"/>
          <p:cNvSpPr txBox="1"/>
          <p:nvPr/>
        </p:nvSpPr>
        <p:spPr>
          <a:xfrm>
            <a:off x="4786207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Breakeven de 10 anos</a:t>
            </a:r>
          </a:p>
        </p:txBody>
      </p:sp>
      <p:sp>
        <p:nvSpPr>
          <p:cNvPr id="26" name="!!vw_det1"/>
          <p:cNvSpPr txBox="1"/>
          <p:nvPr/>
        </p:nvSpPr>
        <p:spPr>
          <a:xfrm>
            <a:off x="4786207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a inflação que os títulos embutem</a:t>
            </a:r>
          </a:p>
        </p:txBody>
      </p:sp>
      <p:sp>
        <p:nvSpPr>
          <p:cNvPr id="27" name="!!vw_bloco2"/>
          <p:cNvSpPr/>
          <p:nvPr/>
        </p:nvSpPr>
        <p:spPr>
          <a:xfrm>
            <a:off x="8292253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8" name="!!vw_rot2"/>
          <p:cNvSpPr txBox="1"/>
          <p:nvPr/>
        </p:nvSpPr>
        <p:spPr>
          <a:xfrm>
            <a:off x="8520853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2FD3B0"/>
                </a:solidFill>
                <a:latin typeface="Segoe UI Semibold"/>
                <a:cs typeface="Segoe UI Semibold"/>
              </a:rPr>
              <a:t>CESTA</a:t>
            </a:r>
          </a:p>
        </p:txBody>
      </p:sp>
      <p:sp>
        <p:nvSpPr>
          <p:cNvPr id="29" name="!!vw_txt2"/>
          <p:cNvSpPr txBox="1"/>
          <p:nvPr/>
        </p:nvSpPr>
        <p:spPr>
          <a:xfrm>
            <a:off x="8520853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TIP</a:t>
            </a:r>
          </a:p>
        </p:txBody>
      </p:sp>
      <p:sp>
        <p:nvSpPr>
          <p:cNvPr id="30" name="!!vw_contra_cesta"/>
          <p:cNvSpPr txBox="1"/>
          <p:nvPr/>
        </p:nvSpPr>
        <p:spPr>
          <a:xfrm>
            <a:off x="8520853" y="31750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FFFF"/>
                </a:solidFill>
                <a:latin typeface="Segoe UI"/>
                <a:cs typeface="Segoe UI"/>
              </a:rPr>
              <a:t>contra TLT</a:t>
            </a:r>
          </a:p>
        </p:txBody>
      </p:sp>
      <p:sp>
        <p:nvSpPr>
          <p:cNvPr id="31" name="!!vw_det2"/>
          <p:cNvSpPr txBox="1"/>
          <p:nvPr/>
        </p:nvSpPr>
        <p:spPr>
          <a:xfrm>
            <a:off x="8520853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par casado pela duration</a:t>
            </a:r>
          </a:p>
        </p:txBody>
      </p:sp>
      <p:sp>
        <p:nvSpPr>
          <p:cNvPr id="32" name="!!vw_op0"/>
          <p:cNvSpPr/>
          <p:nvPr/>
        </p:nvSpPr>
        <p:spPr>
          <a:xfrm>
            <a:off x="4036907" y="2832100"/>
            <a:ext cx="381000" cy="3810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−</a:t>
            </a:r>
          </a:p>
        </p:txBody>
      </p:sp>
      <p:sp>
        <p:nvSpPr>
          <p:cNvPr id="33" name="!!vw_op1"/>
          <p:cNvSpPr/>
          <p:nvPr/>
        </p:nvSpPr>
        <p:spPr>
          <a:xfrm>
            <a:off x="7682653" y="2832100"/>
            <a:ext cx="558800" cy="3810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× β</a:t>
            </a:r>
          </a:p>
        </p:txBody>
      </p:sp>
      <p:sp>
        <p:nvSpPr>
          <p:cNvPr id="34" name="!!vw_conta_rot"/>
          <p:cNvSpPr txBox="1"/>
          <p:nvPr/>
        </p:nvSpPr>
        <p:spPr>
          <a:xfrm>
            <a:off x="822960" y="4038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A CONTA</a:t>
            </a:r>
          </a:p>
        </p:txBody>
      </p:sp>
      <p:sp>
        <p:nvSpPr>
          <p:cNvPr id="35" name="!!vw_conta"/>
          <p:cNvSpPr/>
          <p:nvPr/>
        </p:nvSpPr>
        <p:spPr>
          <a:xfrm>
            <a:off x="822960" y="4267200"/>
            <a:ext cx="10543540" cy="863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!!vw_formula"/>
          <p:cNvSpPr txBox="1"/>
          <p:nvPr/>
        </p:nvSpPr>
        <p:spPr>
          <a:xfrm>
            <a:off x="1102360" y="4394200"/>
            <a:ext cx="99847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b="0">
                <a:solidFill>
                  <a:srgbClr val="FFB531"/>
                </a:solidFill>
                <a:latin typeface="Segoe UI Semibold"/>
                <a:cs typeface="Segoe UI Semibold"/>
              </a:rPr>
              <a:t>Q</a:t>
            </a:r>
            <a:r>
              <a:rPr lang="pt-BR" sz="1600" b="0">
                <a:solidFill>
                  <a:srgbClr val="FFFFFF"/>
                </a:solidFill>
                <a:latin typeface="Segoe UI Semibold"/>
                <a:cs typeface="Segoe UI Semibold"/>
              </a:rPr>
              <a:t> = D · ( E_poly − breakeven − média ) / dias até o CPI</a:t>
            </a:r>
          </a:p>
        </p:txBody>
      </p:sp>
      <p:sp>
        <p:nvSpPr>
          <p:cNvPr id="37" name="!!vw_legenda"/>
          <p:cNvSpPr txBox="1"/>
          <p:nvPr/>
        </p:nvSpPr>
        <p:spPr>
          <a:xfrm>
            <a:off x="1102360" y="4775200"/>
            <a:ext cx="998474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D: duration do breakeven, medida (8,31 a 8,38) · sem regressão</a:t>
            </a:r>
          </a:p>
        </p:txBody>
      </p:sp>
      <p:sp>
        <p:nvSpPr>
          <p:cNvPr id="38" name="!!vw_frase_barra"/>
          <p:cNvSpPr/>
          <p:nvPr/>
        </p:nvSpPr>
        <p:spPr>
          <a:xfrm>
            <a:off x="822960" y="5384800"/>
            <a:ext cx="45720" cy="330200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!!vw_frase"/>
          <p:cNvSpPr txBox="1"/>
          <p:nvPr/>
        </p:nvSpPr>
        <p:spPr>
          <a:xfrm>
            <a:off x="1026160" y="5384800"/>
            <a:ext cx="1034034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FFFF"/>
                </a:solidFill>
                <a:latin typeface="Segoe UI Semibold"/>
                <a:cs typeface="Segoe UI Semibold"/>
              </a:rPr>
              <a:t>Limitação declarada. </a:t>
            </a:r>
            <a:r>
              <a:rPr lang="pt-BR" sz="1250" b="0">
                <a:solidFill>
                  <a:srgbClr val="D5D9E0"/>
                </a:solidFill>
                <a:latin typeface="Segoe UI"/>
                <a:cs typeface="Segoe UI"/>
              </a:rPr>
              <a:t>Compara um mês de inflação com dez anos de breakeven.</a:t>
            </a:r>
          </a:p>
        </p:txBody>
      </p:sp>
      <p:sp>
        <p:nvSpPr>
          <p:cNvPr id="200" name="luz_titulo"/>
          <p:cNvSpPr/>
          <p:nvPr/>
        </p:nvSpPr>
        <p:spPr>
          <a:xfrm>
            <a:off x="3490595" y="838200"/>
            <a:ext cx="2540635" cy="457200"/>
          </a:xfrm>
          <a:prstGeom prst="rect">
            <a:avLst/>
          </a:prstGeom>
          <a:noFill/>
          <a:ln w="1905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/>
            <a:endParaRPr lang="pt-BR" sz="1250"/>
          </a:p>
        </p:txBody>
      </p:sp>
      <p:sp>
        <p:nvSpPr>
          <p:cNvPr id="201" name="!!t6_hdr"/>
          <p:cNvSpPr txBox="1"/>
          <p:nvPr/>
        </p:nvSpPr>
        <p:spPr>
          <a:xfrm>
            <a:off x="822960" y="347472"/>
            <a:ext cx="9080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As quatro views</a:t>
            </a:r>
          </a:p>
        </p:txBody>
      </p:sp>
      <p:sp>
        <p:nvSpPr>
          <p:cNvPr id="202" name="!!t6_marca"/>
          <p:cNvSpPr txBox="1"/>
          <p:nvPr/>
        </p:nvSpPr>
        <p:spPr>
          <a:xfrm>
            <a:off x="999490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203" name="!!t6_regua"/>
          <p:cNvSpPr/>
          <p:nvPr/>
        </p:nvSpPr>
        <p:spPr>
          <a:xfrm>
            <a:off x="822960" y="868680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t6_nav_regua"/>
          <p:cNvSpPr/>
          <p:nvPr/>
        </p:nvSpPr>
        <p:spPr>
          <a:xfrm>
            <a:off x="822960" y="6528816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t6_nav0"/>
          <p:cNvSpPr txBox="1"/>
          <p:nvPr/>
        </p:nvSpPr>
        <p:spPr>
          <a:xfrm>
            <a:off x="82296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206" name="!!t6_nav1"/>
          <p:cNvSpPr txBox="1"/>
          <p:nvPr/>
        </p:nvSpPr>
        <p:spPr>
          <a:xfrm>
            <a:off x="245829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207" name="!!t6_nav2"/>
          <p:cNvSpPr txBox="1"/>
          <p:nvPr/>
        </p:nvSpPr>
        <p:spPr>
          <a:xfrm>
            <a:off x="409363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Estratégia</a:t>
            </a:r>
          </a:p>
        </p:txBody>
      </p:sp>
      <p:sp>
        <p:nvSpPr>
          <p:cNvPr id="208" name="!!t6_nav_ativa"/>
          <p:cNvSpPr/>
          <p:nvPr/>
        </p:nvSpPr>
        <p:spPr>
          <a:xfrm>
            <a:off x="4499821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t6_nav3"/>
          <p:cNvSpPr txBox="1"/>
          <p:nvPr/>
        </p:nvSpPr>
        <p:spPr>
          <a:xfrm>
            <a:off x="572897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210" name="!!t6_nav4"/>
          <p:cNvSpPr txBox="1"/>
          <p:nvPr/>
        </p:nvSpPr>
        <p:spPr>
          <a:xfrm>
            <a:off x="736430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211" name="!!t6_nav5"/>
          <p:cNvSpPr txBox="1"/>
          <p:nvPr/>
        </p:nvSpPr>
        <p:spPr>
          <a:xfrm>
            <a:off x="899964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212" name="!!t6_num"/>
          <p:cNvSpPr txBox="1"/>
          <p:nvPr/>
        </p:nvSpPr>
        <p:spPr>
          <a:xfrm>
            <a:off x="10772140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371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20000" decel="4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880 0 L 0 0" pathEditMode="relative" ptsTypes="">
                                      <p:cBhvr>
                                        <p:cTn id="6" dur="550" fill="hold"/>
                                        <p:tgtEl>
                                          <p:spTgt spid="20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vw_aba0"/>
          <p:cNvSpPr/>
          <p:nvPr/>
        </p:nvSpPr>
        <p:spPr>
          <a:xfrm>
            <a:off x="822960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2.3 · A decisão do Fed</a:t>
            </a:r>
          </a:p>
        </p:txBody>
      </p:sp>
      <p:sp>
        <p:nvSpPr>
          <p:cNvPr id="14" name="!!vw_aba1"/>
          <p:cNvSpPr/>
          <p:nvPr/>
        </p:nvSpPr>
        <p:spPr>
          <a:xfrm>
            <a:off x="3490595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2.2 · A inflação do mês</a:t>
            </a:r>
          </a:p>
        </p:txBody>
      </p:sp>
      <p:sp>
        <p:nvSpPr>
          <p:cNvPr id="15" name="!!vw_aba2"/>
          <p:cNvSpPr/>
          <p:nvPr/>
        </p:nvSpPr>
        <p:spPr>
          <a:xfrm>
            <a:off x="6158230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Segoe UI Semibold"/>
                <a:cs typeface="Segoe UI Semibold"/>
              </a:rPr>
              <a:t>B · A taxa no fim do ano</a:t>
            </a:r>
          </a:p>
        </p:txBody>
      </p:sp>
      <p:sp>
        <p:nvSpPr>
          <p:cNvPr id="16" name="!!vw_aba3"/>
          <p:cNvSpPr/>
          <p:nvPr/>
        </p:nvSpPr>
        <p:spPr>
          <a:xfrm>
            <a:off x="8825865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15b · A dúvida na véspera</a:t>
            </a:r>
          </a:p>
        </p:txBody>
      </p:sp>
      <p:sp>
        <p:nvSpPr>
          <p:cNvPr id="17" name="!!vw_dias"/>
          <p:cNvSpPr txBox="1"/>
          <p:nvPr/>
        </p:nvSpPr>
        <p:spPr>
          <a:xfrm>
            <a:off x="822960" y="14732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100" b="0">
                <a:solidFill>
                  <a:srgbClr val="FFB531"/>
                </a:solidFill>
                <a:latin typeface="Segoe UI Semibold"/>
                <a:cs typeface="Segoe UI Semibold"/>
              </a:rPr>
              <a:t>154</a:t>
            </a:r>
            <a:r>
              <a:rPr lang="pt-BR" sz="1050" b="0">
                <a:solidFill>
                  <a:srgbClr val="D5D9E0"/>
                </a:solidFill>
                <a:latin typeface="Segoe UI"/>
                <a:cs typeface="Segoe UI"/>
              </a:rPr>
              <a:t> / 374</a:t>
            </a:r>
          </a:p>
        </p:txBody>
      </p:sp>
      <p:sp>
        <p:nvSpPr>
          <p:cNvPr id="18" name="!!vw_dias_rot"/>
          <p:cNvSpPr txBox="1"/>
          <p:nvPr/>
        </p:nvSpPr>
        <p:spPr>
          <a:xfrm>
            <a:off x="822960" y="18542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9AA3AF"/>
                </a:solidFill>
                <a:latin typeface="Segoe UI Semibold"/>
                <a:cs typeface="Segoe UI Semibold"/>
              </a:rPr>
              <a:t>PREGÕES ATIVOS · NEUTRA</a:t>
            </a:r>
          </a:p>
        </p:txBody>
      </p:sp>
      <p:pic>
        <p:nvPicPr>
          <p:cNvPr id="19" name="!!vw_faixa" descr="v3_s10_faixa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960" y="1473200"/>
            <a:ext cx="8382000" cy="457200"/>
          </a:xfrm>
          <a:prstGeom prst="rect">
            <a:avLst/>
          </a:prstGeom>
        </p:spPr>
      </p:pic>
      <p:sp>
        <p:nvSpPr>
          <p:cNvPr id="2" name="!!vw_bloco0"/>
          <p:cNvSpPr/>
          <p:nvPr/>
        </p:nvSpPr>
        <p:spPr>
          <a:xfrm>
            <a:off x="822960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!!vw_rot0"/>
          <p:cNvSpPr txBox="1"/>
          <p:nvPr/>
        </p:nvSpPr>
        <p:spPr>
          <a:xfrm>
            <a:off x="1051560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Segoe UI Semibold"/>
                <a:cs typeface="Segoe UI Semibold"/>
              </a:rPr>
              <a:t>POLYMARKET</a:t>
            </a:r>
          </a:p>
        </p:txBody>
      </p:sp>
      <p:sp>
        <p:nvSpPr>
          <p:cNvPr id="21" name="!!vw_txt0"/>
          <p:cNvSpPr txBox="1"/>
          <p:nvPr/>
        </p:nvSpPr>
        <p:spPr>
          <a:xfrm>
            <a:off x="1051560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Cortes até o fim do ano</a:t>
            </a:r>
          </a:p>
        </p:txBody>
      </p:sp>
      <p:sp>
        <p:nvSpPr>
          <p:cNvPr id="22" name="!!vw_det0"/>
          <p:cNvSpPr txBox="1"/>
          <p:nvPr/>
        </p:nvSpPr>
        <p:spPr>
          <a:xfrm>
            <a:off x="1051560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vira taxa de fim de ano</a:t>
            </a:r>
          </a:p>
        </p:txBody>
      </p:sp>
      <p:sp>
        <p:nvSpPr>
          <p:cNvPr id="23" name="!!vw_bloco1"/>
          <p:cNvSpPr/>
          <p:nvPr/>
        </p:nvSpPr>
        <p:spPr>
          <a:xfrm>
            <a:off x="4557607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4F6FD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4" name="!!vw_rot1"/>
          <p:cNvSpPr txBox="1"/>
          <p:nvPr/>
        </p:nvSpPr>
        <p:spPr>
          <a:xfrm>
            <a:off x="4786207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6C8CE0"/>
                </a:solidFill>
                <a:latin typeface="Segoe UI Semibold"/>
                <a:cs typeface="Segoe UI Semibold"/>
              </a:rPr>
              <a:t>CONTRA</a:t>
            </a:r>
          </a:p>
        </p:txBody>
      </p:sp>
      <p:sp>
        <p:nvSpPr>
          <p:cNvPr id="25" name="!!vw_txt1"/>
          <p:cNvSpPr txBox="1"/>
          <p:nvPr/>
        </p:nvSpPr>
        <p:spPr>
          <a:xfrm>
            <a:off x="4786207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Treasury de 1 ano</a:t>
            </a:r>
          </a:p>
        </p:txBody>
      </p:sp>
      <p:sp>
        <p:nvSpPr>
          <p:cNvPr id="26" name="!!vw_det1"/>
          <p:cNvSpPr txBox="1"/>
          <p:nvPr/>
        </p:nvSpPr>
        <p:spPr>
          <a:xfrm>
            <a:off x="4786207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o prazo da própria pergunta</a:t>
            </a:r>
          </a:p>
        </p:txBody>
      </p:sp>
      <p:sp>
        <p:nvSpPr>
          <p:cNvPr id="27" name="!!vw_bloco2"/>
          <p:cNvSpPr/>
          <p:nvPr/>
        </p:nvSpPr>
        <p:spPr>
          <a:xfrm>
            <a:off x="8292253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8" name="!!vw_rot2"/>
          <p:cNvSpPr txBox="1"/>
          <p:nvPr/>
        </p:nvSpPr>
        <p:spPr>
          <a:xfrm>
            <a:off x="8520853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2FD3B0"/>
                </a:solidFill>
                <a:latin typeface="Segoe UI Semibold"/>
                <a:cs typeface="Segoe UI Semibold"/>
              </a:rPr>
              <a:t>CESTA</a:t>
            </a:r>
          </a:p>
        </p:txBody>
      </p:sp>
      <p:sp>
        <p:nvSpPr>
          <p:cNvPr id="29" name="!!vw_txt2"/>
          <p:cNvSpPr txBox="1"/>
          <p:nvPr/>
        </p:nvSpPr>
        <p:spPr>
          <a:xfrm>
            <a:off x="8520853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XLE · XLP · XLF</a:t>
            </a:r>
          </a:p>
        </p:txBody>
      </p:sp>
      <p:sp>
        <p:nvSpPr>
          <p:cNvPr id="30" name="!!vw_contra_cesta"/>
          <p:cNvSpPr txBox="1"/>
          <p:nvPr/>
        </p:nvSpPr>
        <p:spPr>
          <a:xfrm>
            <a:off x="8520853" y="31750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FFFF"/>
                </a:solidFill>
                <a:latin typeface="Segoe UI"/>
                <a:cs typeface="Segoe UI"/>
              </a:rPr>
              <a:t>contra XLU · XLK</a:t>
            </a:r>
          </a:p>
        </p:txBody>
      </p:sp>
      <p:sp>
        <p:nvSpPr>
          <p:cNvPr id="31" name="!!vw_det2"/>
          <p:cNvSpPr txBox="1"/>
          <p:nvPr/>
        </p:nvSpPr>
        <p:spPr>
          <a:xfrm>
            <a:off x="8520853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β próprio, contra o Treasury de 1 ano</a:t>
            </a:r>
          </a:p>
        </p:txBody>
      </p:sp>
      <p:sp>
        <p:nvSpPr>
          <p:cNvPr id="32" name="!!vw_op0"/>
          <p:cNvSpPr/>
          <p:nvPr/>
        </p:nvSpPr>
        <p:spPr>
          <a:xfrm>
            <a:off x="4036907" y="2832100"/>
            <a:ext cx="381000" cy="3810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−</a:t>
            </a:r>
          </a:p>
        </p:txBody>
      </p:sp>
      <p:sp>
        <p:nvSpPr>
          <p:cNvPr id="33" name="!!vw_op1"/>
          <p:cNvSpPr/>
          <p:nvPr/>
        </p:nvSpPr>
        <p:spPr>
          <a:xfrm>
            <a:off x="7682653" y="2832100"/>
            <a:ext cx="558800" cy="3810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× β</a:t>
            </a:r>
          </a:p>
        </p:txBody>
      </p:sp>
      <p:sp>
        <p:nvSpPr>
          <p:cNvPr id="34" name="!!vw_conta_rot"/>
          <p:cNvSpPr txBox="1"/>
          <p:nvPr/>
        </p:nvSpPr>
        <p:spPr>
          <a:xfrm>
            <a:off x="822960" y="4038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A CONTA</a:t>
            </a:r>
          </a:p>
        </p:txBody>
      </p:sp>
      <p:sp>
        <p:nvSpPr>
          <p:cNvPr id="35" name="!!vw_conta"/>
          <p:cNvSpPr/>
          <p:nvPr/>
        </p:nvSpPr>
        <p:spPr>
          <a:xfrm>
            <a:off x="822960" y="4267200"/>
            <a:ext cx="10543540" cy="863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!!vw_formula"/>
          <p:cNvSpPr txBox="1"/>
          <p:nvPr/>
        </p:nvSpPr>
        <p:spPr>
          <a:xfrm>
            <a:off x="1102360" y="4394200"/>
            <a:ext cx="99847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b="0">
                <a:solidFill>
                  <a:srgbClr val="FFB531"/>
                </a:solidFill>
                <a:latin typeface="Segoe UI Semibold"/>
                <a:cs typeface="Segoe UI Semibold"/>
              </a:rPr>
              <a:t>Q</a:t>
            </a:r>
            <a:r>
              <a:rPr lang="pt-BR" sz="1600" b="0">
                <a:solidFill>
                  <a:srgbClr val="FFFFFF"/>
                </a:solidFill>
                <a:latin typeface="Segoe UI Semibold"/>
                <a:cs typeface="Segoe UI Semibold"/>
              </a:rPr>
              <a:t> = ( E_poly − Treasury 1 ano − média ) · Σ Pᵢ βᵢ</a:t>
            </a:r>
          </a:p>
        </p:txBody>
      </p:sp>
      <p:sp>
        <p:nvSpPr>
          <p:cNvPr id="37" name="!!vw_legenda"/>
          <p:cNvSpPr txBox="1"/>
          <p:nvPr/>
        </p:nvSpPr>
        <p:spPr>
          <a:xfrm>
            <a:off x="1102360" y="4775200"/>
            <a:ext cx="998474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E_poly: Fed funds do fim de 2024 − 25 bps por corte</a:t>
            </a:r>
          </a:p>
        </p:txBody>
      </p:sp>
      <p:sp>
        <p:nvSpPr>
          <p:cNvPr id="38" name="!!vw_frase_barra"/>
          <p:cNvSpPr/>
          <p:nvPr/>
        </p:nvSpPr>
        <p:spPr>
          <a:xfrm>
            <a:off x="822960" y="5384800"/>
            <a:ext cx="45720" cy="330200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!!vw_frase"/>
          <p:cNvSpPr txBox="1"/>
          <p:nvPr/>
        </p:nvSpPr>
        <p:spPr>
          <a:xfrm>
            <a:off x="1026160" y="5384800"/>
            <a:ext cx="1034034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FFFF"/>
                </a:solidFill>
                <a:latin typeface="Segoe UI Semibold"/>
                <a:cs typeface="Segoe UI Semibold"/>
              </a:rPr>
              <a:t>β próprio. </a:t>
            </a:r>
            <a:r>
              <a:rPr lang="pt-BR" sz="1250" b="0">
                <a:solidFill>
                  <a:srgbClr val="D5D9E0"/>
                </a:solidFill>
                <a:latin typeface="Segoe UI"/>
                <a:cs typeface="Segoe UI"/>
              </a:rPr>
              <a:t>Com o β da view do Fed, as duas views seriam a mesma.</a:t>
            </a:r>
          </a:p>
        </p:txBody>
      </p:sp>
      <p:sp>
        <p:nvSpPr>
          <p:cNvPr id="200" name="luz_titulo"/>
          <p:cNvSpPr/>
          <p:nvPr/>
        </p:nvSpPr>
        <p:spPr>
          <a:xfrm>
            <a:off x="6158230" y="838200"/>
            <a:ext cx="2540635" cy="457200"/>
          </a:xfrm>
          <a:prstGeom prst="rect">
            <a:avLst/>
          </a:prstGeom>
          <a:noFill/>
          <a:ln w="1905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/>
            <a:endParaRPr lang="pt-BR" sz="1250"/>
          </a:p>
        </p:txBody>
      </p:sp>
      <p:sp>
        <p:nvSpPr>
          <p:cNvPr id="201" name="!!t6_hdr"/>
          <p:cNvSpPr txBox="1"/>
          <p:nvPr/>
        </p:nvSpPr>
        <p:spPr>
          <a:xfrm>
            <a:off x="822960" y="347472"/>
            <a:ext cx="9080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As quatro views</a:t>
            </a:r>
          </a:p>
        </p:txBody>
      </p:sp>
      <p:sp>
        <p:nvSpPr>
          <p:cNvPr id="202" name="!!t6_marca"/>
          <p:cNvSpPr txBox="1"/>
          <p:nvPr/>
        </p:nvSpPr>
        <p:spPr>
          <a:xfrm>
            <a:off x="999490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203" name="!!t6_regua"/>
          <p:cNvSpPr/>
          <p:nvPr/>
        </p:nvSpPr>
        <p:spPr>
          <a:xfrm>
            <a:off x="822960" y="868680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t6_nav_regua"/>
          <p:cNvSpPr/>
          <p:nvPr/>
        </p:nvSpPr>
        <p:spPr>
          <a:xfrm>
            <a:off x="822960" y="6528816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t6_nav0"/>
          <p:cNvSpPr txBox="1"/>
          <p:nvPr/>
        </p:nvSpPr>
        <p:spPr>
          <a:xfrm>
            <a:off x="82296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206" name="!!t6_nav1"/>
          <p:cNvSpPr txBox="1"/>
          <p:nvPr/>
        </p:nvSpPr>
        <p:spPr>
          <a:xfrm>
            <a:off x="245829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207" name="!!t6_nav2"/>
          <p:cNvSpPr txBox="1"/>
          <p:nvPr/>
        </p:nvSpPr>
        <p:spPr>
          <a:xfrm>
            <a:off x="409363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Estratégia</a:t>
            </a:r>
          </a:p>
        </p:txBody>
      </p:sp>
      <p:sp>
        <p:nvSpPr>
          <p:cNvPr id="208" name="!!t6_nav_ativa"/>
          <p:cNvSpPr/>
          <p:nvPr/>
        </p:nvSpPr>
        <p:spPr>
          <a:xfrm>
            <a:off x="4499821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t6_nav3"/>
          <p:cNvSpPr txBox="1"/>
          <p:nvPr/>
        </p:nvSpPr>
        <p:spPr>
          <a:xfrm>
            <a:off x="572897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210" name="!!t6_nav4"/>
          <p:cNvSpPr txBox="1"/>
          <p:nvPr/>
        </p:nvSpPr>
        <p:spPr>
          <a:xfrm>
            <a:off x="736430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211" name="!!t6_nav5"/>
          <p:cNvSpPr txBox="1"/>
          <p:nvPr/>
        </p:nvSpPr>
        <p:spPr>
          <a:xfrm>
            <a:off x="899964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212" name="!!t6_num"/>
          <p:cNvSpPr txBox="1"/>
          <p:nvPr/>
        </p:nvSpPr>
        <p:spPr>
          <a:xfrm>
            <a:off x="10772140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872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20000" decel="4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880 0 L 0 0" pathEditMode="relative" ptsTypes="">
                                      <p:cBhvr>
                                        <p:cTn id="6" dur="550" fill="hold"/>
                                        <p:tgtEl>
                                          <p:spTgt spid="20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vw_aba0"/>
          <p:cNvSpPr/>
          <p:nvPr/>
        </p:nvSpPr>
        <p:spPr>
          <a:xfrm>
            <a:off x="822960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2.3 · A decisão do Fed</a:t>
            </a:r>
          </a:p>
        </p:txBody>
      </p:sp>
      <p:sp>
        <p:nvSpPr>
          <p:cNvPr id="14" name="!!vw_aba1"/>
          <p:cNvSpPr/>
          <p:nvPr/>
        </p:nvSpPr>
        <p:spPr>
          <a:xfrm>
            <a:off x="3490595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2.2 · A inflação do mês</a:t>
            </a:r>
          </a:p>
        </p:txBody>
      </p:sp>
      <p:sp>
        <p:nvSpPr>
          <p:cNvPr id="15" name="!!vw_aba2"/>
          <p:cNvSpPr/>
          <p:nvPr/>
        </p:nvSpPr>
        <p:spPr>
          <a:xfrm>
            <a:off x="6158230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9AA3AF"/>
                </a:solidFill>
                <a:latin typeface="Segoe UI Semibold"/>
                <a:cs typeface="Segoe UI Semibold"/>
              </a:rPr>
              <a:t>B · A taxa no fim do ano</a:t>
            </a:r>
          </a:p>
        </p:txBody>
      </p:sp>
      <p:sp>
        <p:nvSpPr>
          <p:cNvPr id="16" name="!!vw_aba3"/>
          <p:cNvSpPr/>
          <p:nvPr/>
        </p:nvSpPr>
        <p:spPr>
          <a:xfrm>
            <a:off x="8825865" y="838200"/>
            <a:ext cx="2540635" cy="4572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Segoe UI Semibold"/>
                <a:cs typeface="Segoe UI Semibold"/>
              </a:rPr>
              <a:t>15b · A dúvida na véspera</a:t>
            </a:r>
          </a:p>
        </p:txBody>
      </p:sp>
      <p:sp>
        <p:nvSpPr>
          <p:cNvPr id="17" name="!!vw_dias"/>
          <p:cNvSpPr txBox="1"/>
          <p:nvPr/>
        </p:nvSpPr>
        <p:spPr>
          <a:xfrm>
            <a:off x="822960" y="14732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100" b="0">
                <a:solidFill>
                  <a:srgbClr val="FFB531"/>
                </a:solidFill>
                <a:latin typeface="Segoe UI Semibold"/>
                <a:cs typeface="Segoe UI Semibold"/>
              </a:rPr>
              <a:t>26</a:t>
            </a:r>
            <a:r>
              <a:rPr lang="pt-BR" sz="1050" b="0">
                <a:solidFill>
                  <a:srgbClr val="D5D9E0"/>
                </a:solidFill>
                <a:latin typeface="Segoe UI"/>
                <a:cs typeface="Segoe UI"/>
              </a:rPr>
              <a:t> / 374</a:t>
            </a:r>
          </a:p>
        </p:txBody>
      </p:sp>
      <p:sp>
        <p:nvSpPr>
          <p:cNvPr id="18" name="!!vw_dias_rot"/>
          <p:cNvSpPr txBox="1"/>
          <p:nvPr/>
        </p:nvSpPr>
        <p:spPr>
          <a:xfrm>
            <a:off x="822960" y="18542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9AA3AF"/>
                </a:solidFill>
                <a:latin typeface="Segoe UI Semibold"/>
                <a:cs typeface="Segoe UI Semibold"/>
              </a:rPr>
              <a:t>PREGÕES ATIVOS · DIRECIONAL</a:t>
            </a:r>
          </a:p>
        </p:txBody>
      </p:sp>
      <p:pic>
        <p:nvPicPr>
          <p:cNvPr id="19" name="!!vw_faixa" descr="v3_s11_faixa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960" y="1473200"/>
            <a:ext cx="8382000" cy="457200"/>
          </a:xfrm>
          <a:prstGeom prst="rect">
            <a:avLst/>
          </a:prstGeom>
        </p:spPr>
      </p:pic>
      <p:sp>
        <p:nvSpPr>
          <p:cNvPr id="2" name="!!vw_bloco0"/>
          <p:cNvSpPr/>
          <p:nvPr/>
        </p:nvSpPr>
        <p:spPr>
          <a:xfrm>
            <a:off x="822960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!!vw_rot0"/>
          <p:cNvSpPr txBox="1"/>
          <p:nvPr/>
        </p:nvSpPr>
        <p:spPr>
          <a:xfrm>
            <a:off x="1051560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Segoe UI Semibold"/>
                <a:cs typeface="Segoe UI Semibold"/>
              </a:rPr>
              <a:t>POLYMARKET</a:t>
            </a:r>
          </a:p>
        </p:txBody>
      </p:sp>
      <p:sp>
        <p:nvSpPr>
          <p:cNvPr id="21" name="!!vw_txt0"/>
          <p:cNvSpPr txBox="1"/>
          <p:nvPr/>
        </p:nvSpPr>
        <p:spPr>
          <a:xfrm>
            <a:off x="1051560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Dúvida na véspera do anúncio</a:t>
            </a:r>
          </a:p>
        </p:txBody>
      </p:sp>
      <p:sp>
        <p:nvSpPr>
          <p:cNvPr id="22" name="!!vw_det0"/>
          <p:cNvSpPr txBox="1"/>
          <p:nvPr/>
        </p:nvSpPr>
        <p:spPr>
          <a:xfrm>
            <a:off x="1051560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entropia da distribuição, de 0 a 1</a:t>
            </a:r>
          </a:p>
        </p:txBody>
      </p:sp>
      <p:sp>
        <p:nvSpPr>
          <p:cNvPr id="23" name="!!vw_bloco1"/>
          <p:cNvSpPr/>
          <p:nvPr/>
        </p:nvSpPr>
        <p:spPr>
          <a:xfrm>
            <a:off x="4557607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4F6FD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4" name="!!vw_rot1"/>
          <p:cNvSpPr txBox="1"/>
          <p:nvPr/>
        </p:nvSpPr>
        <p:spPr>
          <a:xfrm>
            <a:off x="4786207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6C8CE0"/>
                </a:solidFill>
                <a:latin typeface="Segoe UI Semibold"/>
                <a:cs typeface="Segoe UI Semibold"/>
              </a:rPr>
              <a:t>CONTRA</a:t>
            </a:r>
          </a:p>
        </p:txBody>
      </p:sp>
      <p:sp>
        <p:nvSpPr>
          <p:cNvPr id="25" name="!!vw_txt1"/>
          <p:cNvSpPr txBox="1"/>
          <p:nvPr/>
        </p:nvSpPr>
        <p:spPr>
          <a:xfrm>
            <a:off x="4786207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Média do tipo de anúncio</a:t>
            </a:r>
          </a:p>
        </p:txBody>
      </p:sp>
      <p:sp>
        <p:nvSpPr>
          <p:cNvPr id="26" name="!!vw_det1"/>
          <p:cNvSpPr txBox="1"/>
          <p:nvPr/>
        </p:nvSpPr>
        <p:spPr>
          <a:xfrm>
            <a:off x="4786207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Fed, inflação ou emprego</a:t>
            </a:r>
          </a:p>
        </p:txBody>
      </p:sp>
      <p:sp>
        <p:nvSpPr>
          <p:cNvPr id="27" name="!!vw_bloco2"/>
          <p:cNvSpPr/>
          <p:nvPr/>
        </p:nvSpPr>
        <p:spPr>
          <a:xfrm>
            <a:off x="8292253" y="2209800"/>
            <a:ext cx="3074247" cy="1625600"/>
          </a:xfrm>
          <a:prstGeom prst="rect">
            <a:avLst/>
          </a:prstGeom>
          <a:solidFill>
            <a:srgbClr val="1E2229"/>
          </a:solidFill>
          <a:ln w="12700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8" name="!!vw_rot2"/>
          <p:cNvSpPr txBox="1"/>
          <p:nvPr/>
        </p:nvSpPr>
        <p:spPr>
          <a:xfrm>
            <a:off x="8520853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2FD3B0"/>
                </a:solidFill>
                <a:latin typeface="Segoe UI Semibold"/>
                <a:cs typeface="Segoe UI Semibold"/>
              </a:rPr>
              <a:t>CESTA</a:t>
            </a:r>
          </a:p>
        </p:txBody>
      </p:sp>
      <p:sp>
        <p:nvSpPr>
          <p:cNvPr id="29" name="!!vw_txt2"/>
          <p:cNvSpPr txBox="1"/>
          <p:nvPr/>
        </p:nvSpPr>
        <p:spPr>
          <a:xfrm>
            <a:off x="8520853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FFFFF"/>
                </a:solidFill>
                <a:latin typeface="Segoe UI Semibold"/>
                <a:cs typeface="Segoe UI Semibold"/>
              </a:rPr>
              <a:t>SPY</a:t>
            </a:r>
          </a:p>
        </p:txBody>
      </p:sp>
      <p:sp>
        <p:nvSpPr>
          <p:cNvPr id="30" name="!!vw_contra_cesta"/>
          <p:cNvSpPr txBox="1"/>
          <p:nvPr/>
        </p:nvSpPr>
        <p:spPr>
          <a:xfrm>
            <a:off x="8520853" y="31750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FFFF"/>
                </a:solidFill>
                <a:latin typeface="Segoe UI"/>
                <a:cs typeface="Segoe UI"/>
              </a:rPr>
              <a:t>só o índice</a:t>
            </a:r>
          </a:p>
        </p:txBody>
      </p:sp>
      <p:sp>
        <p:nvSpPr>
          <p:cNvPr id="31" name="!!vw_det2"/>
          <p:cNvSpPr txBox="1"/>
          <p:nvPr/>
        </p:nvSpPr>
        <p:spPr>
          <a:xfrm>
            <a:off x="8520853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a única view direcional</a:t>
            </a:r>
          </a:p>
        </p:txBody>
      </p:sp>
      <p:sp>
        <p:nvSpPr>
          <p:cNvPr id="32" name="!!vw_op0"/>
          <p:cNvSpPr/>
          <p:nvPr/>
        </p:nvSpPr>
        <p:spPr>
          <a:xfrm>
            <a:off x="4036907" y="2832100"/>
            <a:ext cx="381000" cy="3810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−</a:t>
            </a:r>
          </a:p>
        </p:txBody>
      </p:sp>
      <p:sp>
        <p:nvSpPr>
          <p:cNvPr id="33" name="!!vw_op1"/>
          <p:cNvSpPr/>
          <p:nvPr/>
        </p:nvSpPr>
        <p:spPr>
          <a:xfrm>
            <a:off x="7682653" y="2832100"/>
            <a:ext cx="558800" cy="3810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× β</a:t>
            </a:r>
          </a:p>
        </p:txBody>
      </p:sp>
      <p:sp>
        <p:nvSpPr>
          <p:cNvPr id="34" name="!!vw_conta_rot"/>
          <p:cNvSpPr txBox="1"/>
          <p:nvPr/>
        </p:nvSpPr>
        <p:spPr>
          <a:xfrm>
            <a:off x="822960" y="4038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A CONTA</a:t>
            </a:r>
          </a:p>
        </p:txBody>
      </p:sp>
      <p:sp>
        <p:nvSpPr>
          <p:cNvPr id="35" name="!!vw_conta"/>
          <p:cNvSpPr/>
          <p:nvPr/>
        </p:nvSpPr>
        <p:spPr>
          <a:xfrm>
            <a:off x="822960" y="4267200"/>
            <a:ext cx="10543540" cy="863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!!vw_formula"/>
          <p:cNvSpPr txBox="1"/>
          <p:nvPr/>
        </p:nvSpPr>
        <p:spPr>
          <a:xfrm>
            <a:off x="1102360" y="4394200"/>
            <a:ext cx="99847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b="0">
                <a:solidFill>
                  <a:srgbClr val="FFB531"/>
                </a:solidFill>
                <a:latin typeface="Segoe UI Semibold"/>
                <a:cs typeface="Segoe UI Semibold"/>
              </a:rPr>
              <a:t>Q</a:t>
            </a:r>
            <a:r>
              <a:rPr lang="pt-BR" sz="1600" b="0">
                <a:solidFill>
                  <a:srgbClr val="FFFFFF"/>
                </a:solidFill>
                <a:latin typeface="Segoe UI Semibold"/>
                <a:cs typeface="Segoe UI Semibold"/>
              </a:rPr>
              <a:t> = 2 · β_SPY · ( H − média da família )</a:t>
            </a:r>
          </a:p>
        </p:txBody>
      </p:sp>
      <p:sp>
        <p:nvSpPr>
          <p:cNvPr id="37" name="!!vw_legenda"/>
          <p:cNvSpPr txBox="1"/>
          <p:nvPr/>
        </p:nvSpPr>
        <p:spPr>
          <a:xfrm>
            <a:off x="1102360" y="4775200"/>
            <a:ext cx="998474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9AA3AF"/>
                </a:solidFill>
                <a:latin typeface="Segoe UI"/>
                <a:cs typeface="Segoe UI"/>
              </a:rPr>
              <a:t>H: entropia na véspera · β_SPY: regressão do S&amp;P nos dias de anúncio</a:t>
            </a:r>
          </a:p>
        </p:txBody>
      </p:sp>
      <p:sp>
        <p:nvSpPr>
          <p:cNvPr id="38" name="!!vw_frase_barra"/>
          <p:cNvSpPr/>
          <p:nvPr/>
        </p:nvSpPr>
        <p:spPr>
          <a:xfrm>
            <a:off x="822960" y="5384800"/>
            <a:ext cx="45720" cy="330200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!!vw_frase"/>
          <p:cNvSpPr txBox="1"/>
          <p:nvPr/>
        </p:nvSpPr>
        <p:spPr>
          <a:xfrm>
            <a:off x="1026160" y="5384800"/>
            <a:ext cx="1034034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FFFF"/>
                </a:solidFill>
                <a:latin typeface="Segoe UI Semibold"/>
                <a:cs typeface="Segoe UI Semibold"/>
              </a:rPr>
              <a:t>Resultado frágil. </a:t>
            </a:r>
            <a:r>
              <a:rPr lang="pt-BR" sz="1250" b="0">
                <a:solidFill>
                  <a:srgbClr val="D5D9E0"/>
                </a:solidFill>
                <a:latin typeface="Segoe UI"/>
                <a:cs typeface="Segoe UI"/>
              </a:rPr>
              <a:t>Sem os três maiores dias, ela vira negativa.</a:t>
            </a:r>
          </a:p>
        </p:txBody>
      </p:sp>
      <p:sp>
        <p:nvSpPr>
          <p:cNvPr id="200" name="luz_titulo"/>
          <p:cNvSpPr/>
          <p:nvPr/>
        </p:nvSpPr>
        <p:spPr>
          <a:xfrm>
            <a:off x="8825865" y="838200"/>
            <a:ext cx="2540635" cy="457200"/>
          </a:xfrm>
          <a:prstGeom prst="rect">
            <a:avLst/>
          </a:prstGeom>
          <a:noFill/>
          <a:ln w="1905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/>
            <a:endParaRPr lang="pt-BR" sz="1250"/>
          </a:p>
        </p:txBody>
      </p:sp>
      <p:sp>
        <p:nvSpPr>
          <p:cNvPr id="201" name="!!t6_hdr"/>
          <p:cNvSpPr txBox="1"/>
          <p:nvPr/>
        </p:nvSpPr>
        <p:spPr>
          <a:xfrm>
            <a:off x="822960" y="347472"/>
            <a:ext cx="9080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As quatro views</a:t>
            </a:r>
          </a:p>
        </p:txBody>
      </p:sp>
      <p:sp>
        <p:nvSpPr>
          <p:cNvPr id="202" name="!!t6_marca"/>
          <p:cNvSpPr txBox="1"/>
          <p:nvPr/>
        </p:nvSpPr>
        <p:spPr>
          <a:xfrm>
            <a:off x="999490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203" name="!!t6_regua"/>
          <p:cNvSpPr/>
          <p:nvPr/>
        </p:nvSpPr>
        <p:spPr>
          <a:xfrm>
            <a:off x="822960" y="868680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t6_nav_regua"/>
          <p:cNvSpPr/>
          <p:nvPr/>
        </p:nvSpPr>
        <p:spPr>
          <a:xfrm>
            <a:off x="822960" y="6528816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t6_nav0"/>
          <p:cNvSpPr txBox="1"/>
          <p:nvPr/>
        </p:nvSpPr>
        <p:spPr>
          <a:xfrm>
            <a:off x="82296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206" name="!!t6_nav1"/>
          <p:cNvSpPr txBox="1"/>
          <p:nvPr/>
        </p:nvSpPr>
        <p:spPr>
          <a:xfrm>
            <a:off x="245829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207" name="!!t6_nav2"/>
          <p:cNvSpPr txBox="1"/>
          <p:nvPr/>
        </p:nvSpPr>
        <p:spPr>
          <a:xfrm>
            <a:off x="409363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Estratégia</a:t>
            </a:r>
          </a:p>
        </p:txBody>
      </p:sp>
      <p:sp>
        <p:nvSpPr>
          <p:cNvPr id="208" name="!!t6_nav_ativa"/>
          <p:cNvSpPr/>
          <p:nvPr/>
        </p:nvSpPr>
        <p:spPr>
          <a:xfrm>
            <a:off x="4499821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t6_nav3"/>
          <p:cNvSpPr txBox="1"/>
          <p:nvPr/>
        </p:nvSpPr>
        <p:spPr>
          <a:xfrm>
            <a:off x="572897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210" name="!!t6_nav4"/>
          <p:cNvSpPr txBox="1"/>
          <p:nvPr/>
        </p:nvSpPr>
        <p:spPr>
          <a:xfrm>
            <a:off x="736430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211" name="!!t6_nav5"/>
          <p:cNvSpPr txBox="1"/>
          <p:nvPr/>
        </p:nvSpPr>
        <p:spPr>
          <a:xfrm>
            <a:off x="899964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212" name="!!t6_num"/>
          <p:cNvSpPr txBox="1"/>
          <p:nvPr/>
        </p:nvSpPr>
        <p:spPr>
          <a:xfrm>
            <a:off x="10772140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691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20000" decel="4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880 0 L 0 0" pathEditMode="relative" ptsTypes="">
                                      <p:cBhvr>
                                        <p:cTn id="6" dur="550" fill="hold"/>
                                        <p:tgtEl>
                                          <p:spTgt spid="20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_14"/>
          <p:cNvSpPr/>
          <p:nvPr/>
        </p:nvSpPr>
        <p:spPr>
          <a:xfrm>
            <a:off x="822960" y="1270000"/>
            <a:ext cx="2502535" cy="1879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00760" y="14224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Segoe UI Semibold"/>
                <a:cs typeface="Segoe UI Semibold"/>
              </a:rPr>
              <a:t>1 · O SINAL</a:t>
            </a:r>
          </a:p>
        </p:txBody>
      </p:sp>
      <p:sp>
        <p:nvSpPr>
          <p:cNvPr id="16" name="txt_16"/>
          <p:cNvSpPr txBox="1"/>
          <p:nvPr/>
        </p:nvSpPr>
        <p:spPr>
          <a:xfrm>
            <a:off x="1000760" y="1651000"/>
            <a:ext cx="2197735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Δp em k pregões</a:t>
            </a:r>
          </a:p>
        </p:txBody>
      </p:sp>
      <p:sp>
        <p:nvSpPr>
          <p:cNvPr id="17" name="txt_17"/>
          <p:cNvSpPr txBox="1"/>
          <p:nvPr/>
        </p:nvSpPr>
        <p:spPr>
          <a:xfrm>
            <a:off x="1000760" y="1981200"/>
            <a:ext cx="2172335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0">
                <a:solidFill>
                  <a:srgbClr val="D5D9E0"/>
                </a:solidFill>
                <a:latin typeface="Segoe UI"/>
                <a:cs typeface="Segoe UI"/>
              </a:rPr>
              <a:t>Quanto a probabilidade andou em k pregões. A direção é o sinal desse Δp.</a:t>
            </a:r>
          </a:p>
        </p:txBody>
      </p:sp>
      <p:sp>
        <p:nvSpPr>
          <p:cNvPr id="18" name="forma_18"/>
          <p:cNvSpPr/>
          <p:nvPr/>
        </p:nvSpPr>
        <p:spPr>
          <a:xfrm>
            <a:off x="3503295" y="1270000"/>
            <a:ext cx="2502535" cy="1879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9" name="txt_19"/>
          <p:cNvSpPr txBox="1"/>
          <p:nvPr/>
        </p:nvSpPr>
        <p:spPr>
          <a:xfrm>
            <a:off x="3681095" y="14224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Segoe UI Semibold"/>
                <a:cs typeface="Segoe UI Semibold"/>
              </a:rPr>
              <a:t>2 · O LIVRO</a:t>
            </a:r>
          </a:p>
        </p:txBody>
      </p:sp>
      <p:sp>
        <p:nvSpPr>
          <p:cNvPr id="20" name="txt_20"/>
          <p:cNvSpPr txBox="1"/>
          <p:nvPr/>
        </p:nvSpPr>
        <p:spPr>
          <a:xfrm>
            <a:off x="3681095" y="1651000"/>
            <a:ext cx="2197735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XLP⊥  ×  XLK⊥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3681095" y="1981200"/>
            <a:ext cx="2172335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0">
                <a:solidFill>
                  <a:srgbClr val="D5D9E0"/>
                </a:solidFill>
                <a:latin typeface="Segoe UI"/>
                <a:cs typeface="Segoe UI"/>
              </a:rPr>
              <a:t>Spread setorial com o beta de mercado removido das duas pernas. O hedge vira posição em SPY.</a:t>
            </a:r>
          </a:p>
        </p:txBody>
      </p:sp>
      <p:sp>
        <p:nvSpPr>
          <p:cNvPr id="22" name="forma_22"/>
          <p:cNvSpPr/>
          <p:nvPr/>
        </p:nvSpPr>
        <p:spPr>
          <a:xfrm>
            <a:off x="6183630" y="1270000"/>
            <a:ext cx="2502535" cy="1879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3" name="txt_23"/>
          <p:cNvSpPr txBox="1"/>
          <p:nvPr/>
        </p:nvSpPr>
        <p:spPr>
          <a:xfrm>
            <a:off x="6361430" y="14224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3 · O μ</a:t>
            </a:r>
          </a:p>
        </p:txBody>
      </p:sp>
      <p:sp>
        <p:nvSpPr>
          <p:cNvPr id="24" name="txt_24"/>
          <p:cNvSpPr txBox="1"/>
          <p:nvPr/>
        </p:nvSpPr>
        <p:spPr>
          <a:xfrm>
            <a:off x="6361430" y="1651000"/>
            <a:ext cx="2197735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média(direção × drift)</a:t>
            </a:r>
          </a:p>
        </p:txBody>
      </p:sp>
      <p:sp>
        <p:nvSpPr>
          <p:cNvPr id="25" name="txt_25"/>
          <p:cNvSpPr txBox="1"/>
          <p:nvPr/>
        </p:nvSpPr>
        <p:spPr>
          <a:xfrm>
            <a:off x="6361430" y="1981200"/>
            <a:ext cx="2172335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0">
                <a:solidFill>
                  <a:srgbClr val="D5D9E0"/>
                </a:solidFill>
                <a:latin typeface="Segoe UI"/>
                <a:cs typeface="Segoe UI"/>
              </a:rPr>
              <a:t>Retorno médio nos dias após os eventos passados, menos a linha de base. Poucos eventos pedem menos tamanho.</a:t>
            </a:r>
          </a:p>
        </p:txBody>
      </p:sp>
      <p:sp>
        <p:nvSpPr>
          <p:cNvPr id="26" name="forma_26"/>
          <p:cNvSpPr/>
          <p:nvPr/>
        </p:nvSpPr>
        <p:spPr>
          <a:xfrm>
            <a:off x="8863965" y="1270000"/>
            <a:ext cx="2502535" cy="1879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7" name="txt_27"/>
          <p:cNvSpPr txBox="1"/>
          <p:nvPr/>
        </p:nvSpPr>
        <p:spPr>
          <a:xfrm>
            <a:off x="9041765" y="14224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Segoe UI Semibold"/>
                <a:cs typeface="Segoe UI Semibold"/>
              </a:rPr>
              <a:t>4 · O TAMANHO</a:t>
            </a:r>
          </a:p>
        </p:txBody>
      </p:sp>
      <p:sp>
        <p:nvSpPr>
          <p:cNvPr id="28" name="txt_28"/>
          <p:cNvSpPr txBox="1"/>
          <p:nvPr/>
        </p:nvSpPr>
        <p:spPr>
          <a:xfrm>
            <a:off x="9041765" y="1651000"/>
            <a:ext cx="2197735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Segoe UI Semibold"/>
                <a:cs typeface="Segoe UI Semibold"/>
              </a:rPr>
              <a:t>dw = inv(δΣ) · μ</a:t>
            </a:r>
          </a:p>
        </p:txBody>
      </p:sp>
      <p:sp>
        <p:nvSpPr>
          <p:cNvPr id="29" name="txt_29"/>
          <p:cNvSpPr txBox="1"/>
          <p:nvPr/>
        </p:nvSpPr>
        <p:spPr>
          <a:xfrm>
            <a:off x="9041765" y="1981200"/>
            <a:ext cx="2172335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0">
                <a:solidFill>
                  <a:srgbClr val="D5D9E0"/>
                </a:solidFill>
                <a:latin typeface="Segoe UI"/>
                <a:cs typeface="Segoe UI"/>
              </a:rPr>
              <a:t>Usa o δ e o τ do Black-Litterman. Nenhum parâmetro novo.</a:t>
            </a:r>
          </a:p>
        </p:txBody>
      </p:sp>
      <p:sp>
        <p:nvSpPr>
          <p:cNvPr id="30" name="txt_30"/>
          <p:cNvSpPr txBox="1"/>
          <p:nvPr/>
        </p:nvSpPr>
        <p:spPr>
          <a:xfrm>
            <a:off x="822960" y="3403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AS DUAS SLEEVES</a:t>
            </a:r>
          </a:p>
        </p:txBody>
      </p:sp>
      <p:sp>
        <p:nvSpPr>
          <p:cNvPr id="31" name="txt_31"/>
          <p:cNvSpPr txBox="1"/>
          <p:nvPr/>
        </p:nvSpPr>
        <p:spPr>
          <a:xfrm>
            <a:off x="822960" y="3632200"/>
            <a:ext cx="381000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FFFF"/>
                </a:solidFill>
                <a:latin typeface="Segoe UI Semibold"/>
                <a:cs typeface="Segoe UI Semibold"/>
              </a:rPr>
              <a:t>Recessão nos EUA. </a:t>
            </a: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Lida em 3, 5 e 10 pregões, com peso igual.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150" b="0">
                <a:solidFill>
                  <a:srgbClr val="FFFFFF"/>
                </a:solidFill>
                <a:latin typeface="Segoe UI Semibold"/>
                <a:cs typeface="Segoe UI Semibold"/>
              </a:rPr>
              <a:t>Maioria na Câmara. </a:t>
            </a: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O mesmo livro, lido em 20 pregões.</a:t>
            </a:r>
          </a:p>
        </p:txBody>
      </p:sp>
      <p:sp>
        <p:nvSpPr>
          <p:cNvPr id="32" name="txt_32"/>
          <p:cNvSpPr txBox="1"/>
          <p:nvPr/>
        </p:nvSpPr>
        <p:spPr>
          <a:xfrm>
            <a:off x="822960" y="4622800"/>
            <a:ext cx="381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>
                <a:solidFill>
                  <a:srgbClr val="9AA3AF"/>
                </a:solidFill>
                <a:latin typeface="Segoe UI"/>
                <a:cs typeface="Segoe UI"/>
              </a:rPr>
              <a:t>Sobe a chance de recessão: compra XLP, vende XLK.</a:t>
            </a:r>
          </a:p>
        </p:txBody>
      </p:sp>
      <p:sp>
        <p:nvSpPr>
          <p:cNvPr id="33" name="txt_33"/>
          <p:cNvSpPr txBox="1"/>
          <p:nvPr/>
        </p:nvSpPr>
        <p:spPr>
          <a:xfrm>
            <a:off x="822960" y="5257800"/>
            <a:ext cx="1841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9AA3AF"/>
                </a:solidFill>
                <a:latin typeface="Segoe UI Semibold"/>
                <a:cs typeface="Segoe UI Semibold"/>
              </a:rPr>
              <a:t>SOZINHA, SEM TETO</a:t>
            </a:r>
          </a:p>
        </p:txBody>
      </p:sp>
      <p:sp>
        <p:nvSpPr>
          <p:cNvPr id="34" name="txt_34"/>
          <p:cNvSpPr txBox="1"/>
          <p:nvPr/>
        </p:nvSpPr>
        <p:spPr>
          <a:xfrm>
            <a:off x="822960" y="5435600"/>
            <a:ext cx="1841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100" b="0">
                <a:solidFill>
                  <a:srgbClr val="FFB531"/>
                </a:solidFill>
                <a:latin typeface="Segoe UI Semibold"/>
                <a:cs typeface="Segoe UI Semibold"/>
              </a:rPr>
              <a:t>+42,6 pp</a:t>
            </a:r>
          </a:p>
        </p:txBody>
      </p:sp>
      <p:sp>
        <p:nvSpPr>
          <p:cNvPr id="35" name="txt_35"/>
          <p:cNvSpPr txBox="1"/>
          <p:nvPr/>
        </p:nvSpPr>
        <p:spPr>
          <a:xfrm>
            <a:off x="2727960" y="5257800"/>
            <a:ext cx="1841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9AA3AF"/>
                </a:solidFill>
                <a:latin typeface="Segoe UI Semibold"/>
                <a:cs typeface="Segoe UI Semibold"/>
              </a:rPr>
              <a:t>DENTRO DA CARTEIRA</a:t>
            </a:r>
          </a:p>
        </p:txBody>
      </p:sp>
      <p:sp>
        <p:nvSpPr>
          <p:cNvPr id="36" name="txt_36"/>
          <p:cNvSpPr txBox="1"/>
          <p:nvPr/>
        </p:nvSpPr>
        <p:spPr>
          <a:xfrm>
            <a:off x="2727960" y="5435600"/>
            <a:ext cx="1841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100" b="0">
                <a:solidFill>
                  <a:srgbClr val="E0645C"/>
                </a:solidFill>
                <a:latin typeface="Segoe UI Semibold"/>
                <a:cs typeface="Segoe UI Semibold"/>
              </a:rPr>
              <a:t>–2,94 pp</a:t>
            </a:r>
          </a:p>
        </p:txBody>
      </p:sp>
      <p:sp>
        <p:nvSpPr>
          <p:cNvPr id="37" name="txt_37"/>
          <p:cNvSpPr txBox="1"/>
          <p:nvPr/>
        </p:nvSpPr>
        <p:spPr>
          <a:xfrm>
            <a:off x="822960" y="5969000"/>
            <a:ext cx="381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>
                <a:solidFill>
                  <a:srgbClr val="9AA3AF"/>
                </a:solidFill>
                <a:latin typeface="Segoe UI"/>
                <a:cs typeface="Segoe UI"/>
              </a:rPr>
              <a:t>8 de 10 candidatas foram reprovadas antes destas duas entrarem.</a:t>
            </a:r>
          </a:p>
        </p:txBody>
      </p:sp>
      <p:sp>
        <p:nvSpPr>
          <p:cNvPr id="38" name="txt_38"/>
          <p:cNvSpPr txBox="1"/>
          <p:nvPr/>
        </p:nvSpPr>
        <p:spPr>
          <a:xfrm>
            <a:off x="4978400" y="3403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ABRIL DE 2025 · O QUE ELA LEU</a:t>
            </a:r>
          </a:p>
        </p:txBody>
      </p:sp>
      <p:pic>
        <p:nvPicPr>
          <p:cNvPr id="39" name="grafico_recessao" descr="v3_s12_reces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0" y="3632200"/>
            <a:ext cx="4064000" cy="1905000"/>
          </a:xfrm>
          <a:prstGeom prst="rect">
            <a:avLst/>
          </a:prstGeom>
        </p:spPr>
      </p:pic>
      <p:sp>
        <p:nvSpPr>
          <p:cNvPr id="2" name="txt_39"/>
          <p:cNvSpPr txBox="1"/>
          <p:nvPr/>
        </p:nvSpPr>
        <p:spPr>
          <a:xfrm>
            <a:off x="4978400" y="5664200"/>
            <a:ext cx="406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De </a:t>
            </a:r>
            <a:r>
              <a:rPr lang="pt-BR" sz="1150" b="0">
                <a:solidFill>
                  <a:srgbClr val="FFFFFF"/>
                </a:solidFill>
                <a:latin typeface="Segoe UI Semibold"/>
                <a:cs typeface="Segoe UI Semibold"/>
              </a:rPr>
              <a:t>38% para 66%</a:t>
            </a:r>
            <a:r>
              <a:rPr lang="pt-BR" sz="1150" b="0">
                <a:solidFill>
                  <a:srgbClr val="D5D9E0"/>
                </a:solidFill>
                <a:latin typeface="Segoe UI"/>
                <a:cs typeface="Segoe UI"/>
              </a:rPr>
              <a:t> em sete pregões, nas três leituras.</a:t>
            </a:r>
          </a:p>
        </p:txBody>
      </p:sp>
      <p:sp>
        <p:nvSpPr>
          <p:cNvPr id="40" name="txt_40"/>
          <p:cNvSpPr txBox="1"/>
          <p:nvPr/>
        </p:nvSpPr>
        <p:spPr>
          <a:xfrm>
            <a:off x="9220200" y="3403600"/>
            <a:ext cx="21463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Segoe UI Semibold"/>
                <a:cs typeface="Segoe UI Semibold"/>
              </a:rPr>
              <a:t>O QUE ELA FEZ</a:t>
            </a:r>
          </a:p>
        </p:txBody>
      </p:sp>
      <p:sp>
        <p:nvSpPr>
          <p:cNvPr id="41" name="txt_41"/>
          <p:cNvSpPr txBox="1"/>
          <p:nvPr/>
        </p:nvSpPr>
        <p:spPr>
          <a:xfrm>
            <a:off x="9220200" y="36576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1">
                <a:solidFill>
                  <a:srgbClr val="FFB531"/>
                </a:solidFill>
                <a:latin typeface="Segoe UI Semibold"/>
                <a:cs typeface="Segoe UI Semibold"/>
              </a:rPr>
              <a:t>XLK</a:t>
            </a:r>
          </a:p>
        </p:txBody>
      </p:sp>
      <p:sp>
        <p:nvSpPr>
          <p:cNvPr id="42" name="txt_42"/>
          <p:cNvSpPr txBox="1"/>
          <p:nvPr/>
        </p:nvSpPr>
        <p:spPr>
          <a:xfrm>
            <a:off x="9804400" y="3657600"/>
            <a:ext cx="15621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FFFF"/>
                </a:solidFill>
                <a:latin typeface="Segoe UI Semibold"/>
                <a:cs typeface="Segoe UI Semibold"/>
              </a:rPr>
              <a:t>−0,54</a:t>
            </a:r>
          </a:p>
        </p:txBody>
      </p:sp>
      <p:sp>
        <p:nvSpPr>
          <p:cNvPr id="43" name="txt_43"/>
          <p:cNvSpPr txBox="1"/>
          <p:nvPr/>
        </p:nvSpPr>
        <p:spPr>
          <a:xfrm>
            <a:off x="9220200" y="3911600"/>
            <a:ext cx="21463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D5D9E0"/>
                </a:solidFill>
                <a:latin typeface="Segoe UI"/>
                <a:cs typeface="Segoe UI"/>
              </a:rPr>
              <a:t>vende tecnologia</a:t>
            </a:r>
          </a:p>
        </p:txBody>
      </p:sp>
      <p:sp>
        <p:nvSpPr>
          <p:cNvPr id="44" name="txt_44"/>
          <p:cNvSpPr txBox="1"/>
          <p:nvPr/>
        </p:nvSpPr>
        <p:spPr>
          <a:xfrm>
            <a:off x="9220200" y="42164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1">
                <a:solidFill>
                  <a:srgbClr val="FFB531"/>
                </a:solidFill>
                <a:latin typeface="Segoe UI Semibold"/>
                <a:cs typeface="Segoe UI Semibold"/>
              </a:rPr>
              <a:t>SPY</a:t>
            </a:r>
          </a:p>
        </p:txBody>
      </p:sp>
      <p:sp>
        <p:nvSpPr>
          <p:cNvPr id="45" name="txt_45"/>
          <p:cNvSpPr txBox="1"/>
          <p:nvPr/>
        </p:nvSpPr>
        <p:spPr>
          <a:xfrm>
            <a:off x="9804400" y="4216400"/>
            <a:ext cx="15621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FFFF"/>
                </a:solidFill>
                <a:latin typeface="Segoe UI Semibold"/>
                <a:cs typeface="Segoe UI Semibold"/>
              </a:rPr>
              <a:t>+0,58</a:t>
            </a:r>
          </a:p>
        </p:txBody>
      </p:sp>
      <p:sp>
        <p:nvSpPr>
          <p:cNvPr id="46" name="txt_46"/>
          <p:cNvSpPr txBox="1"/>
          <p:nvPr/>
        </p:nvSpPr>
        <p:spPr>
          <a:xfrm>
            <a:off x="9220200" y="4470400"/>
            <a:ext cx="21463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D5D9E0"/>
                </a:solidFill>
                <a:latin typeface="Segoe UI"/>
                <a:cs typeface="Segoe UI"/>
              </a:rPr>
              <a:t>a ponta de hedge</a:t>
            </a:r>
          </a:p>
        </p:txBody>
      </p:sp>
      <p:cxnSp>
        <p:nvCxnSpPr>
          <p:cNvPr id="47" name="linha_47"/>
          <p:cNvCxnSpPr/>
          <p:nvPr/>
        </p:nvCxnSpPr>
        <p:spPr>
          <a:xfrm>
            <a:off x="9220200" y="4826000"/>
            <a:ext cx="2146300" cy="0"/>
          </a:xfrm>
          <a:prstGeom prst="line">
            <a:avLst/>
          </a:prstGeom>
          <a:ln w="9525">
            <a:solidFill>
              <a:srgbClr val="3A404A"/>
            </a:solidFill>
          </a:ln>
        </p:spPr>
      </p:cxnSp>
      <p:sp>
        <p:nvSpPr>
          <p:cNvPr id="48" name="txt_48"/>
          <p:cNvSpPr txBox="1"/>
          <p:nvPr/>
        </p:nvSpPr>
        <p:spPr>
          <a:xfrm>
            <a:off x="9220200" y="4978400"/>
            <a:ext cx="21463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9AA3AF"/>
                </a:solidFill>
                <a:latin typeface="Consolas"/>
                <a:cs typeface="Consolas"/>
              </a:rPr>
              <a:t>03/04/2025</a:t>
            </a:r>
          </a:p>
        </p:txBody>
      </p:sp>
      <p:sp>
        <p:nvSpPr>
          <p:cNvPr id="49" name="txt_49"/>
          <p:cNvSpPr txBox="1"/>
          <p:nvPr/>
        </p:nvSpPr>
        <p:spPr>
          <a:xfrm>
            <a:off x="9220200" y="5156200"/>
            <a:ext cx="21463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100" b="0">
                <a:solidFill>
                  <a:srgbClr val="2FD3B0"/>
                </a:solidFill>
                <a:latin typeface="Segoe UI Semibold"/>
                <a:cs typeface="Segoe UI Semibold"/>
              </a:rPr>
              <a:t>+0,85%</a:t>
            </a:r>
          </a:p>
        </p:txBody>
      </p:sp>
      <p:sp>
        <p:nvSpPr>
          <p:cNvPr id="50" name="txt_50"/>
          <p:cNvSpPr txBox="1"/>
          <p:nvPr/>
        </p:nvSpPr>
        <p:spPr>
          <a:xfrm>
            <a:off x="9220200" y="5562600"/>
            <a:ext cx="21463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D5D9E0"/>
                </a:solidFill>
                <a:latin typeface="Segoe UI"/>
                <a:cs typeface="Segoe UI"/>
              </a:rPr>
              <a:t>no dia em que o S&amp;P caiu </a:t>
            </a:r>
            <a:r>
              <a:rPr lang="pt-BR" sz="950" b="0">
                <a:solidFill>
                  <a:srgbClr val="FFFFFF"/>
                </a:solidFill>
                <a:latin typeface="Segoe UI Semibold"/>
                <a:cs typeface="Segoe UI Semibold"/>
              </a:rPr>
              <a:t>−4,9%</a:t>
            </a:r>
          </a:p>
        </p:txBody>
      </p:sp>
      <p:sp>
        <p:nvSpPr>
          <p:cNvPr id="51" name="txt_51"/>
          <p:cNvSpPr txBox="1"/>
          <p:nvPr/>
        </p:nvSpPr>
        <p:spPr>
          <a:xfrm>
            <a:off x="9220200" y="6019800"/>
            <a:ext cx="21463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>
                <a:solidFill>
                  <a:srgbClr val="9AA3AF"/>
                </a:solidFill>
                <a:latin typeface="Segoe UI"/>
                <a:cs typeface="Segoe UI"/>
              </a:rPr>
              <a:t>No repique de 09/04 ela devolveu 1,5%.</a:t>
            </a:r>
          </a:p>
        </p:txBody>
      </p:sp>
      <p:sp>
        <p:nvSpPr>
          <p:cNvPr id="52" name="!!t6_hdr"/>
          <p:cNvSpPr txBox="1"/>
          <p:nvPr/>
        </p:nvSpPr>
        <p:spPr>
          <a:xfrm>
            <a:off x="822960" y="347472"/>
            <a:ext cx="9080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 Semibold"/>
              </a:rPr>
              <a:t>A camada tática</a:t>
            </a:r>
            <a:r>
              <a:rPr sz="18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1800" b="0">
                <a:solidFill>
                  <a:srgbClr val="FFFFFF"/>
                </a:solidFill>
                <a:latin typeface="Segoe UI Semibold"/>
              </a:rPr>
              <a:t>O movimento da probabilidade vira um spread setorial</a:t>
            </a:r>
          </a:p>
        </p:txBody>
      </p:sp>
      <p:sp>
        <p:nvSpPr>
          <p:cNvPr id="53" name="!!t6_marca"/>
          <p:cNvSpPr txBox="1"/>
          <p:nvPr/>
        </p:nvSpPr>
        <p:spPr>
          <a:xfrm>
            <a:off x="999490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54" name="!!t6_regua"/>
          <p:cNvSpPr/>
          <p:nvPr/>
        </p:nvSpPr>
        <p:spPr>
          <a:xfrm>
            <a:off x="822960" y="868680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t6_nav_regua"/>
          <p:cNvSpPr/>
          <p:nvPr/>
        </p:nvSpPr>
        <p:spPr>
          <a:xfrm>
            <a:off x="822960" y="6528816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t6_nav0"/>
          <p:cNvSpPr txBox="1"/>
          <p:nvPr/>
        </p:nvSpPr>
        <p:spPr>
          <a:xfrm>
            <a:off x="82296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57" name="!!t6_nav1"/>
          <p:cNvSpPr txBox="1"/>
          <p:nvPr/>
        </p:nvSpPr>
        <p:spPr>
          <a:xfrm>
            <a:off x="245829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58" name="!!t6_nav2"/>
          <p:cNvSpPr txBox="1"/>
          <p:nvPr/>
        </p:nvSpPr>
        <p:spPr>
          <a:xfrm>
            <a:off x="409363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Estratégia</a:t>
            </a:r>
          </a:p>
        </p:txBody>
      </p:sp>
      <p:sp>
        <p:nvSpPr>
          <p:cNvPr id="59" name="!!t6_nav_ativa"/>
          <p:cNvSpPr/>
          <p:nvPr/>
        </p:nvSpPr>
        <p:spPr>
          <a:xfrm>
            <a:off x="4499821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t6_nav3"/>
          <p:cNvSpPr txBox="1"/>
          <p:nvPr/>
        </p:nvSpPr>
        <p:spPr>
          <a:xfrm>
            <a:off x="572897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61" name="!!t6_nav4"/>
          <p:cNvSpPr txBox="1"/>
          <p:nvPr/>
        </p:nvSpPr>
        <p:spPr>
          <a:xfrm>
            <a:off x="736430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62" name="!!t6_nav5"/>
          <p:cNvSpPr txBox="1"/>
          <p:nvPr/>
        </p:nvSpPr>
        <p:spPr>
          <a:xfrm>
            <a:off x="899964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63" name="!!t6_num"/>
          <p:cNvSpPr txBox="1"/>
          <p:nvPr/>
        </p:nvSpPr>
        <p:spPr>
          <a:xfrm>
            <a:off x="10772140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_14"/>
          <p:cNvSpPr/>
          <p:nvPr/>
        </p:nvSpPr>
        <p:spPr>
          <a:xfrm>
            <a:off x="822960" y="1549400"/>
            <a:ext cx="1498600" cy="3683000"/>
          </a:xfrm>
          <a:prstGeom prst="rect">
            <a:avLst/>
          </a:prstGeom>
          <a:solidFill>
            <a:srgbClr val="1E2229"/>
          </a:solidFill>
          <a:ln w="15875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00760" y="1778000"/>
            <a:ext cx="11938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Segoe UI Semibold"/>
                <a:cs typeface="Segoe UI Semibold"/>
              </a:rPr>
              <a:t>POLYMARKET</a:t>
            </a:r>
          </a:p>
        </p:txBody>
      </p:sp>
      <p:sp>
        <p:nvSpPr>
          <p:cNvPr id="16" name="txt_16"/>
          <p:cNvSpPr txBox="1"/>
          <p:nvPr/>
        </p:nvSpPr>
        <p:spPr>
          <a:xfrm>
            <a:off x="1000760" y="2057400"/>
            <a:ext cx="1193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FFFF"/>
                </a:solidFill>
                <a:latin typeface="Segoe UI Semibold"/>
                <a:cs typeface="Segoe UI Semibold"/>
              </a:rPr>
              <a:t>a probabilidade de cada evento</a:t>
            </a:r>
          </a:p>
        </p:txBody>
      </p:sp>
      <p:sp>
        <p:nvSpPr>
          <p:cNvPr id="18" name="forma_18"/>
          <p:cNvSpPr/>
          <p:nvPr/>
        </p:nvSpPr>
        <p:spPr>
          <a:xfrm>
            <a:off x="2717800" y="1549400"/>
            <a:ext cx="4445000" cy="19050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9" name="txt_19"/>
          <p:cNvSpPr txBox="1"/>
          <p:nvPr/>
        </p:nvSpPr>
        <p:spPr>
          <a:xfrm>
            <a:off x="2921000" y="1727200"/>
            <a:ext cx="406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Segoe UI Semibold"/>
                <a:cs typeface="Segoe UI Semibold"/>
              </a:rPr>
              <a:t>CAMADA ESTRUTURAL · LÊ O NÍVEL</a:t>
            </a:r>
          </a:p>
        </p:txBody>
      </p:sp>
      <p:sp>
        <p:nvSpPr>
          <p:cNvPr id="20" name="forma_20"/>
          <p:cNvSpPr/>
          <p:nvPr/>
        </p:nvSpPr>
        <p:spPr>
          <a:xfrm>
            <a:off x="2921000" y="2006600"/>
            <a:ext cx="952500" cy="3048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D5D9E0"/>
                </a:solidFill>
                <a:latin typeface="Segoe UI"/>
                <a:cs typeface="Segoe UI"/>
              </a:rPr>
              <a:t>2.3 Fed</a:t>
            </a:r>
          </a:p>
        </p:txBody>
      </p:sp>
      <p:sp>
        <p:nvSpPr>
          <p:cNvPr id="21" name="forma_21"/>
          <p:cNvSpPr/>
          <p:nvPr/>
        </p:nvSpPr>
        <p:spPr>
          <a:xfrm>
            <a:off x="3949700" y="2006600"/>
            <a:ext cx="952500" cy="3048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D5D9E0"/>
                </a:solidFill>
                <a:latin typeface="Segoe UI"/>
                <a:cs typeface="Segoe UI"/>
              </a:rPr>
              <a:t>2.2 Inflação</a:t>
            </a:r>
          </a:p>
        </p:txBody>
      </p:sp>
      <p:sp>
        <p:nvSpPr>
          <p:cNvPr id="22" name="forma_22"/>
          <p:cNvSpPr/>
          <p:nvPr/>
        </p:nvSpPr>
        <p:spPr>
          <a:xfrm>
            <a:off x="4978400" y="2006600"/>
            <a:ext cx="952500" cy="3048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D5D9E0"/>
                </a:solidFill>
                <a:latin typeface="Segoe UI"/>
                <a:cs typeface="Segoe UI"/>
              </a:rPr>
              <a:t>B Fim do ano</a:t>
            </a:r>
          </a:p>
        </p:txBody>
      </p:sp>
      <p:sp>
        <p:nvSpPr>
          <p:cNvPr id="23" name="forma_23"/>
          <p:cNvSpPr/>
          <p:nvPr/>
        </p:nvSpPr>
        <p:spPr>
          <a:xfrm>
            <a:off x="6007100" y="2006600"/>
            <a:ext cx="952500" cy="3048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D5D9E0"/>
                </a:solidFill>
                <a:latin typeface="Segoe UI"/>
                <a:cs typeface="Segoe UI"/>
              </a:rPr>
              <a:t>15b Véspera</a:t>
            </a:r>
          </a:p>
        </p:txBody>
      </p:sp>
      <p:sp>
        <p:nvSpPr>
          <p:cNvPr id="24" name="forma_24"/>
          <p:cNvSpPr/>
          <p:nvPr/>
        </p:nvSpPr>
        <p:spPr>
          <a:xfrm>
            <a:off x="2921000" y="2946400"/>
            <a:ext cx="1854200" cy="304800"/>
          </a:xfrm>
          <a:prstGeom prst="rect">
            <a:avLst/>
          </a:prstGeom>
          <a:solidFill>
            <a:srgbClr val="1E2229"/>
          </a:solidFill>
          <a:ln w="11430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FFFFFF"/>
                </a:solidFill>
                <a:latin typeface="Segoe UI Semibold"/>
                <a:cs typeface="Segoe UI Semibold"/>
              </a:rPr>
              <a:t>Q e Ω</a:t>
            </a:r>
          </a:p>
        </p:txBody>
      </p:sp>
      <p:sp>
        <p:nvSpPr>
          <p:cNvPr id="25" name="forma_25"/>
          <p:cNvSpPr/>
          <p:nvPr/>
        </p:nvSpPr>
        <p:spPr>
          <a:xfrm>
            <a:off x="5105400" y="2946400"/>
            <a:ext cx="1854200" cy="304800"/>
          </a:xfrm>
          <a:prstGeom prst="rect">
            <a:avLst/>
          </a:prstGeom>
          <a:solidFill>
            <a:srgbClr val="1E2229"/>
          </a:solidFill>
          <a:ln w="11430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FFFFFF"/>
                </a:solidFill>
                <a:latin typeface="Segoe UI Semibold"/>
                <a:cs typeface="Segoe UI Semibold"/>
              </a:rPr>
              <a:t>Black-Litterman</a:t>
            </a:r>
          </a:p>
        </p:txBody>
      </p:sp>
      <p:sp>
        <p:nvSpPr>
          <p:cNvPr id="26" name="txt_26"/>
          <p:cNvSpPr txBox="1"/>
          <p:nvPr/>
        </p:nvSpPr>
        <p:spPr>
          <a:xfrm>
            <a:off x="4775200" y="2971800"/>
            <a:ext cx="330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B531"/>
                </a:solidFill>
                <a:latin typeface="Segoe UI Semibold"/>
                <a:cs typeface="Segoe UI Semibold"/>
              </a:rPr>
              <a:t>→</a:t>
            </a:r>
          </a:p>
        </p:txBody>
      </p:sp>
      <p:cxnSp>
        <p:nvCxnSpPr>
          <p:cNvPr id="28" name="linha_28"/>
          <p:cNvCxnSpPr/>
          <p:nvPr/>
        </p:nvCxnSpPr>
        <p:spPr>
          <a:xfrm>
            <a:off x="2321560" y="2501900"/>
            <a:ext cx="396240" cy="0"/>
          </a:xfrm>
          <a:prstGeom prst="line">
            <a:avLst/>
          </a:prstGeom>
          <a:ln w="12700">
            <a:solidFill>
              <a:srgbClr val="9AA3AF"/>
            </a:solidFill>
            <a:tailEnd type="triangle" w="med" len="med"/>
          </a:ln>
        </p:spPr>
      </p:cxnSp>
      <p:sp>
        <p:nvSpPr>
          <p:cNvPr id="29" name="forma_29"/>
          <p:cNvSpPr/>
          <p:nvPr/>
        </p:nvSpPr>
        <p:spPr>
          <a:xfrm>
            <a:off x="2717800" y="3683000"/>
            <a:ext cx="4445000" cy="15494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0" name="txt_30"/>
          <p:cNvSpPr txBox="1"/>
          <p:nvPr/>
        </p:nvSpPr>
        <p:spPr>
          <a:xfrm>
            <a:off x="2921000" y="3860800"/>
            <a:ext cx="406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Segoe UI Semibold"/>
                <a:cs typeface="Segoe UI Semibold"/>
              </a:rPr>
              <a:t>CAMADA TÁTICA · LÊ O MOVIMENTO</a:t>
            </a:r>
          </a:p>
        </p:txBody>
      </p:sp>
      <p:sp>
        <p:nvSpPr>
          <p:cNvPr id="31" name="forma_31"/>
          <p:cNvSpPr/>
          <p:nvPr/>
        </p:nvSpPr>
        <p:spPr>
          <a:xfrm>
            <a:off x="2921000" y="4140200"/>
            <a:ext cx="1397000" cy="3048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D5D9E0"/>
                </a:solidFill>
                <a:latin typeface="Segoe UI"/>
                <a:cs typeface="Segoe UI"/>
              </a:rPr>
              <a:t>Recessão</a:t>
            </a:r>
          </a:p>
        </p:txBody>
      </p:sp>
      <p:sp>
        <p:nvSpPr>
          <p:cNvPr id="32" name="forma_32"/>
          <p:cNvSpPr/>
          <p:nvPr/>
        </p:nvSpPr>
        <p:spPr>
          <a:xfrm>
            <a:off x="4394200" y="4140200"/>
            <a:ext cx="1397000" cy="304800"/>
          </a:xfrm>
          <a:prstGeom prst="rect">
            <a:avLst/>
          </a:prstGeom>
          <a:solidFill>
            <a:srgbClr val="1E2229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D5D9E0"/>
                </a:solidFill>
                <a:latin typeface="Segoe UI"/>
                <a:cs typeface="Segoe UI"/>
              </a:rPr>
              <a:t>Câmara</a:t>
            </a:r>
          </a:p>
        </p:txBody>
      </p:sp>
      <p:sp>
        <p:nvSpPr>
          <p:cNvPr id="33" name="forma_33"/>
          <p:cNvSpPr/>
          <p:nvPr/>
        </p:nvSpPr>
        <p:spPr>
          <a:xfrm>
            <a:off x="2921000" y="4724400"/>
            <a:ext cx="1854200" cy="304800"/>
          </a:xfrm>
          <a:prstGeom prst="rect">
            <a:avLst/>
          </a:prstGeom>
          <a:solidFill>
            <a:srgbClr val="1E2229"/>
          </a:solidFill>
          <a:ln w="11430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FFFFFF"/>
                </a:solidFill>
                <a:latin typeface="Segoe UI Semibold"/>
                <a:cs typeface="Segoe UI Semibold"/>
              </a:rPr>
              <a:t>Δp em k pregões</a:t>
            </a:r>
          </a:p>
        </p:txBody>
      </p:sp>
      <p:sp>
        <p:nvSpPr>
          <p:cNvPr id="34" name="forma_34"/>
          <p:cNvSpPr/>
          <p:nvPr/>
        </p:nvSpPr>
        <p:spPr>
          <a:xfrm>
            <a:off x="5105400" y="4724400"/>
            <a:ext cx="1854200" cy="304800"/>
          </a:xfrm>
          <a:prstGeom prst="rect">
            <a:avLst/>
          </a:prstGeom>
          <a:solidFill>
            <a:srgbClr val="1E2229"/>
          </a:solidFill>
          <a:ln w="11430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FFFFFF"/>
                </a:solidFill>
                <a:latin typeface="Segoe UI Semibold"/>
                <a:cs typeface="Segoe UI Semibold"/>
              </a:rPr>
              <a:t>spread XLP × XLK</a:t>
            </a:r>
          </a:p>
        </p:txBody>
      </p:sp>
      <p:sp>
        <p:nvSpPr>
          <p:cNvPr id="35" name="txt_35"/>
          <p:cNvSpPr txBox="1"/>
          <p:nvPr/>
        </p:nvSpPr>
        <p:spPr>
          <a:xfrm>
            <a:off x="4775200" y="4749800"/>
            <a:ext cx="330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B531"/>
                </a:solidFill>
                <a:latin typeface="Segoe UI Semibold"/>
                <a:cs typeface="Segoe UI Semibold"/>
              </a:rPr>
              <a:t>→</a:t>
            </a:r>
          </a:p>
        </p:txBody>
      </p:sp>
      <p:cxnSp>
        <p:nvCxnSpPr>
          <p:cNvPr id="36" name="linha_36"/>
          <p:cNvCxnSpPr/>
          <p:nvPr/>
        </p:nvCxnSpPr>
        <p:spPr>
          <a:xfrm>
            <a:off x="2321560" y="4457700"/>
            <a:ext cx="396240" cy="0"/>
          </a:xfrm>
          <a:prstGeom prst="line">
            <a:avLst/>
          </a:prstGeom>
          <a:ln w="12700">
            <a:solidFill>
              <a:srgbClr val="9AA3AF"/>
            </a:solidFill>
            <a:tailEnd type="triangle" w="med" len="med"/>
          </a:ln>
        </p:spPr>
      </p:cxnSp>
      <p:sp>
        <p:nvSpPr>
          <p:cNvPr id="37" name="!!teto"/>
          <p:cNvSpPr/>
          <p:nvPr/>
        </p:nvSpPr>
        <p:spPr>
          <a:xfrm>
            <a:off x="7747000" y="2413000"/>
            <a:ext cx="1905000" cy="1905000"/>
          </a:xfrm>
          <a:prstGeom prst="rect">
            <a:avLst/>
          </a:prstGeom>
          <a:solidFill>
            <a:srgbClr val="1E2229"/>
          </a:solidFill>
          <a:ln w="1905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8" name="txt_38"/>
          <p:cNvSpPr txBox="1"/>
          <p:nvPr/>
        </p:nvSpPr>
        <p:spPr>
          <a:xfrm>
            <a:off x="7924800" y="2641600"/>
            <a:ext cx="16002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40">
                <a:solidFill>
                  <a:srgbClr val="FFB531"/>
                </a:solidFill>
                <a:latin typeface="Segoe UI Semibold"/>
                <a:cs typeface="Segoe UI Semibold"/>
              </a:rPr>
              <a:t>TETO DE RISCO</a:t>
            </a:r>
          </a:p>
        </p:txBody>
      </p:sp>
      <p:sp>
        <p:nvSpPr>
          <p:cNvPr id="39" name="txt_39"/>
          <p:cNvSpPr txBox="1"/>
          <p:nvPr/>
        </p:nvSpPr>
        <p:spPr>
          <a:xfrm>
            <a:off x="7924800" y="2971800"/>
            <a:ext cx="1600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FFFFF"/>
                </a:solidFill>
                <a:latin typeface="Segoe UI Semibold"/>
                <a:cs typeface="Segoe UI Semibold"/>
              </a:rPr>
              <a:t>Σ|w − w_mkt| ≤ 1</a:t>
            </a:r>
          </a:p>
        </p:txBody>
      </p:sp>
      <p:sp>
        <p:nvSpPr>
          <p:cNvPr id="40" name="txt_40"/>
          <p:cNvSpPr txBox="1"/>
          <p:nvPr/>
        </p:nvSpPr>
        <p:spPr>
          <a:xfrm>
            <a:off x="7924800" y="3479800"/>
            <a:ext cx="16002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D5D9E0"/>
                </a:solidFill>
                <a:latin typeface="Segoe UI"/>
                <a:cs typeface="Segoe UI"/>
              </a:rPr>
              <a:t>tudo encolhe na mesma proporção</a:t>
            </a:r>
          </a:p>
        </p:txBody>
      </p:sp>
      <p:cxnSp>
        <p:nvCxnSpPr>
          <p:cNvPr id="41" name="linha_41"/>
          <p:cNvCxnSpPr/>
          <p:nvPr/>
        </p:nvCxnSpPr>
        <p:spPr>
          <a:xfrm>
            <a:off x="7162800" y="2501900"/>
            <a:ext cx="584200" cy="863600"/>
          </a:xfrm>
          <a:prstGeom prst="line">
            <a:avLst/>
          </a:prstGeom>
          <a:ln w="15875">
            <a:solidFill>
              <a:srgbClr val="FFB531"/>
            </a:solidFill>
            <a:tailEnd type="triangle" w="med" len="med"/>
          </a:ln>
        </p:spPr>
      </p:cxnSp>
      <p:cxnSp>
        <p:nvCxnSpPr>
          <p:cNvPr id="42" name="linha_42"/>
          <p:cNvCxnSpPr/>
          <p:nvPr/>
        </p:nvCxnSpPr>
        <p:spPr>
          <a:xfrm flipV="1">
            <a:off x="7162800" y="3365500"/>
            <a:ext cx="584200" cy="1092200"/>
          </a:xfrm>
          <a:prstGeom prst="line">
            <a:avLst/>
          </a:prstGeom>
          <a:ln w="15875">
            <a:solidFill>
              <a:srgbClr val="FFB531"/>
            </a:solidFill>
            <a:tailEnd type="triangle" w="med" len="med"/>
          </a:ln>
        </p:spPr>
      </p:cxnSp>
      <p:sp>
        <p:nvSpPr>
          <p:cNvPr id="43" name="forma_43"/>
          <p:cNvSpPr/>
          <p:nvPr/>
        </p:nvSpPr>
        <p:spPr>
          <a:xfrm>
            <a:off x="10033000" y="2730500"/>
            <a:ext cx="1333500" cy="1270000"/>
          </a:xfrm>
          <a:prstGeom prst="rect">
            <a:avLst/>
          </a:prstGeom>
          <a:solidFill>
            <a:srgbClr val="1E2229"/>
          </a:solidFill>
          <a:ln w="15875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4" name="txt_44"/>
          <p:cNvSpPr txBox="1"/>
          <p:nvPr/>
        </p:nvSpPr>
        <p:spPr>
          <a:xfrm>
            <a:off x="10185400" y="2959100"/>
            <a:ext cx="1079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2FD3B0"/>
                </a:solidFill>
                <a:latin typeface="Segoe UI Semibold"/>
                <a:cs typeface="Segoe UI Semibold"/>
              </a:rPr>
              <a:t>CARTEIRA</a:t>
            </a:r>
          </a:p>
        </p:txBody>
      </p:sp>
      <p:sp>
        <p:nvSpPr>
          <p:cNvPr id="45" name="txt_45"/>
          <p:cNvSpPr txBox="1"/>
          <p:nvPr/>
        </p:nvSpPr>
        <p:spPr>
          <a:xfrm>
            <a:off x="10185400" y="3238500"/>
            <a:ext cx="10795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FFFFF"/>
                </a:solidFill>
                <a:latin typeface="Segoe UI Semibold"/>
                <a:cs typeface="Segoe UI Semibold"/>
              </a:rPr>
              <a:t>9 ETFs, os pesos do dia</a:t>
            </a:r>
          </a:p>
        </p:txBody>
      </p:sp>
      <p:cxnSp>
        <p:nvCxnSpPr>
          <p:cNvPr id="46" name="linha_46"/>
          <p:cNvCxnSpPr/>
          <p:nvPr/>
        </p:nvCxnSpPr>
        <p:spPr>
          <a:xfrm>
            <a:off x="9652000" y="3365500"/>
            <a:ext cx="381000" cy="0"/>
          </a:xfrm>
          <a:prstGeom prst="line">
            <a:avLst/>
          </a:prstGeom>
          <a:ln w="15875">
            <a:solidFill>
              <a:srgbClr val="2FD3B0"/>
            </a:solidFill>
            <a:tailEnd type="triangle" w="med" len="med"/>
          </a:ln>
        </p:spPr>
      </p:cxnSp>
      <p:sp>
        <p:nvSpPr>
          <p:cNvPr id="47" name="!!t6_hdr"/>
          <p:cNvSpPr txBox="1"/>
          <p:nvPr/>
        </p:nvSpPr>
        <p:spPr>
          <a:xfrm>
            <a:off x="822960" y="347472"/>
            <a:ext cx="90805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A estratégia e o teto de risco</a:t>
            </a:r>
            <a:r>
              <a:rPr sz="16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1600" b="0">
                <a:solidFill>
                  <a:srgbClr val="FFFFFF"/>
                </a:solidFill>
                <a:latin typeface="Segoe UI Semibold"/>
              </a:rPr>
              <a:t>Views e camada tática passam pelo mesmo teto de risco</a:t>
            </a:r>
          </a:p>
        </p:txBody>
      </p:sp>
      <p:sp>
        <p:nvSpPr>
          <p:cNvPr id="48" name="!!t6_marca"/>
          <p:cNvSpPr txBox="1"/>
          <p:nvPr/>
        </p:nvSpPr>
        <p:spPr>
          <a:xfrm>
            <a:off x="999490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49" name="!!t6_regua"/>
          <p:cNvSpPr/>
          <p:nvPr/>
        </p:nvSpPr>
        <p:spPr>
          <a:xfrm>
            <a:off x="822960" y="868680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t6_nav_regua"/>
          <p:cNvSpPr/>
          <p:nvPr/>
        </p:nvSpPr>
        <p:spPr>
          <a:xfrm>
            <a:off x="822960" y="6528816"/>
            <a:ext cx="10543540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t6_nav0"/>
          <p:cNvSpPr txBox="1"/>
          <p:nvPr/>
        </p:nvSpPr>
        <p:spPr>
          <a:xfrm>
            <a:off x="82296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52" name="!!t6_nav1"/>
          <p:cNvSpPr txBox="1"/>
          <p:nvPr/>
        </p:nvSpPr>
        <p:spPr>
          <a:xfrm>
            <a:off x="245829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53" name="!!t6_nav2"/>
          <p:cNvSpPr txBox="1"/>
          <p:nvPr/>
        </p:nvSpPr>
        <p:spPr>
          <a:xfrm>
            <a:off x="409363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Estratégia</a:t>
            </a:r>
          </a:p>
        </p:txBody>
      </p:sp>
      <p:sp>
        <p:nvSpPr>
          <p:cNvPr id="54" name="!!t6_nav_ativa"/>
          <p:cNvSpPr/>
          <p:nvPr/>
        </p:nvSpPr>
        <p:spPr>
          <a:xfrm>
            <a:off x="4499821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t6_nav3"/>
          <p:cNvSpPr txBox="1"/>
          <p:nvPr/>
        </p:nvSpPr>
        <p:spPr>
          <a:xfrm>
            <a:off x="5728970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56" name="!!t6_nav4"/>
          <p:cNvSpPr txBox="1"/>
          <p:nvPr/>
        </p:nvSpPr>
        <p:spPr>
          <a:xfrm>
            <a:off x="7364306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57" name="!!t6_nav5"/>
          <p:cNvSpPr txBox="1"/>
          <p:nvPr/>
        </p:nvSpPr>
        <p:spPr>
          <a:xfrm>
            <a:off x="8999643" y="6565392"/>
            <a:ext cx="1635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58" name="!!t6_num"/>
          <p:cNvSpPr txBox="1"/>
          <p:nvPr/>
        </p:nvSpPr>
        <p:spPr>
          <a:xfrm>
            <a:off x="10772140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16450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05200" y="1295400"/>
            <a:ext cx="10160" cy="5118100"/>
          </a:xfrm>
          <a:prstGeom prst="rect">
            <a:avLst/>
          </a:prstGeom>
          <a:gradFill rotWithShape="1">
            <a:gsLst>
              <a:gs pos="0">
                <a:srgbClr val="2A3F63"/>
              </a:gs>
              <a:gs pos="100000">
                <a:srgbClr val="2A3F63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420" y="1295400"/>
            <a:ext cx="27686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Segoe UI Semibold"/>
              </a:rPr>
              <a:t>O PLACAR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420" y="3594100"/>
            <a:ext cx="27686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Segoe UI Semibold"/>
              </a:rPr>
              <a:t>DE ONDE VEM O RESULTADO</a:t>
            </a:r>
          </a:p>
        </p:txBody>
      </p:sp>
      <p:pic>
        <p:nvPicPr>
          <p:cNvPr id="47" name="Picture 46" descr="p9_atribu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" y="3810000"/>
            <a:ext cx="2933700" cy="1930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66420" y="5842000"/>
            <a:ext cx="2768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0"/>
              </a:lnSpc>
            </a:pPr>
            <a:r>
              <a:rPr sz="700" b="0">
                <a:solidFill>
                  <a:srgbClr val="FFFFFF"/>
                </a:solidFill>
                <a:latin typeface="Segoe UI"/>
              </a:rPr>
              <a:t>Soma dos retornos diários, não capitalização</a:t>
            </a:r>
            <a:r>
              <a:rPr sz="700" b="0">
                <a:solidFill>
                  <a:srgbClr val="9AA3AF"/>
                </a:solidFill>
                <a:latin typeface="Segoe UI"/>
              </a:rPr>
              <a:t> — daí +30,9 pp aqui e +33,2% na curva.</a:t>
            </a:r>
          </a:p>
          <a:p>
            <a:pPr algn="l">
              <a:lnSpc>
                <a:spcPts val="940"/>
              </a:lnSpc>
            </a:pPr>
            <a:r>
              <a:rPr sz="700" b="0">
                <a:solidFill>
                  <a:srgbClr val="FFFFFF"/>
                </a:solidFill>
                <a:latin typeface="Segoe UI"/>
              </a:rPr>
              <a:t>E sem juros:</a:t>
            </a:r>
            <a:r>
              <a:rPr sz="700" b="0">
                <a:solidFill>
                  <a:srgbClr val="9AA3AF"/>
                </a:solidFill>
                <a:latin typeface="Segoe UI"/>
              </a:rPr>
              <a:t> o caixa não é remunerado e o Sharpe usa taxa livre de risco zero, igual para Kairos e SPY.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83000" y="1295400"/>
            <a:ext cx="3556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Segoe UI Semibold"/>
              </a:rPr>
              <a:t>CURVA ACUMULADA E DRAWDOWN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4920" y="1488439"/>
            <a:ext cx="40005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40" b="0">
                <a:solidFill>
                  <a:srgbClr val="9AA3AF"/>
                </a:solidFill>
                <a:latin typeface="Consolas"/>
              </a:rPr>
              <a:t>374 </a:t>
            </a:r>
            <a:r>
              <a:rPr sz="700" b="0" err="1">
                <a:solidFill>
                  <a:srgbClr val="9AA3AF"/>
                </a:solidFill>
                <a:latin typeface="Segoe UI"/>
              </a:rPr>
              <a:t>pregões</a:t>
            </a:r>
            <a:r>
              <a:rPr sz="700" b="0">
                <a:solidFill>
                  <a:srgbClr val="9AA3AF"/>
                </a:solidFill>
                <a:latin typeface="Segoe UI"/>
              </a:rPr>
              <a:t> · 10/02/2025 a 06/08/2026 · </a:t>
            </a:r>
            <a:r>
              <a:rPr sz="700" b="0" err="1">
                <a:solidFill>
                  <a:srgbClr val="9AA3AF"/>
                </a:solidFill>
                <a:latin typeface="Segoe UI"/>
              </a:rPr>
              <a:t>líquido</a:t>
            </a:r>
            <a:r>
              <a:rPr sz="700" b="0">
                <a:solidFill>
                  <a:srgbClr val="9AA3AF"/>
                </a:solidFill>
                <a:latin typeface="Segoe UI"/>
              </a:rPr>
              <a:t> de </a:t>
            </a:r>
            <a:r>
              <a:rPr sz="700" b="0" err="1">
                <a:solidFill>
                  <a:srgbClr val="9AA3AF"/>
                </a:solidFill>
                <a:latin typeface="Segoe UI"/>
              </a:rPr>
              <a:t>custo</a:t>
            </a:r>
            <a:endParaRPr sz="700" b="0">
              <a:solidFill>
                <a:srgbClr val="9AA3AF"/>
              </a:solidFill>
              <a:latin typeface="Segoe UI"/>
            </a:endParaRPr>
          </a:p>
        </p:txBody>
      </p:sp>
      <p:pic>
        <p:nvPicPr>
          <p:cNvPr id="51" name="Picture 50" descr="p9_cur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920" y="1667510"/>
            <a:ext cx="7937500" cy="4446270"/>
          </a:xfrm>
          <a:prstGeom prst="rect">
            <a:avLst/>
          </a:prstGeom>
        </p:spPr>
      </p:pic>
      <p:sp>
        <p:nvSpPr>
          <p:cNvPr id="66" name="forma_66"/>
          <p:cNvSpPr/>
          <p:nvPr/>
        </p:nvSpPr>
        <p:spPr>
          <a:xfrm>
            <a:off x="566420" y="1511300"/>
            <a:ext cx="1320800" cy="863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7" name="txt_67"/>
          <p:cNvSpPr txBox="1"/>
          <p:nvPr/>
        </p:nvSpPr>
        <p:spPr>
          <a:xfrm>
            <a:off x="693420" y="16256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9AA3AF"/>
                </a:solidFill>
                <a:latin typeface="Segoe UI Semibold"/>
                <a:cs typeface="Segoe UI Semibold"/>
              </a:rPr>
              <a:t>RETORNO LÍQUIDO</a:t>
            </a:r>
          </a:p>
        </p:txBody>
      </p:sp>
      <p:sp>
        <p:nvSpPr>
          <p:cNvPr id="68" name="txt_68"/>
          <p:cNvSpPr txBox="1"/>
          <p:nvPr/>
        </p:nvSpPr>
        <p:spPr>
          <a:xfrm>
            <a:off x="693420" y="17907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900" b="0">
                <a:solidFill>
                  <a:srgbClr val="FFB531"/>
                </a:solidFill>
                <a:latin typeface="Segoe UI Semibold"/>
                <a:cs typeface="Segoe UI Semibold"/>
              </a:rPr>
              <a:t>+33,2%</a:t>
            </a:r>
          </a:p>
        </p:txBody>
      </p:sp>
      <p:sp>
        <p:nvSpPr>
          <p:cNvPr id="69" name="txt_69"/>
          <p:cNvSpPr txBox="1"/>
          <p:nvPr/>
        </p:nvSpPr>
        <p:spPr>
          <a:xfrm>
            <a:off x="693420" y="21463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>
                <a:solidFill>
                  <a:srgbClr val="D5D9E0"/>
                </a:solidFill>
                <a:latin typeface="Segoe UI"/>
                <a:cs typeface="Segoe UI"/>
              </a:rPr>
              <a:t>SPY +30,1%</a:t>
            </a:r>
          </a:p>
        </p:txBody>
      </p:sp>
      <p:sp>
        <p:nvSpPr>
          <p:cNvPr id="70" name="forma_70"/>
          <p:cNvSpPr/>
          <p:nvPr/>
        </p:nvSpPr>
        <p:spPr>
          <a:xfrm>
            <a:off x="2014220" y="1511300"/>
            <a:ext cx="1320800" cy="863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1" name="txt_71"/>
          <p:cNvSpPr txBox="1"/>
          <p:nvPr/>
        </p:nvSpPr>
        <p:spPr>
          <a:xfrm>
            <a:off x="2141220" y="16256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9AA3AF"/>
                </a:solidFill>
                <a:latin typeface="Segoe UI Semibold"/>
                <a:cs typeface="Segoe UI Semibold"/>
              </a:rPr>
              <a:t>SHARPE</a:t>
            </a:r>
          </a:p>
        </p:txBody>
      </p:sp>
      <p:sp>
        <p:nvSpPr>
          <p:cNvPr id="72" name="txt_72"/>
          <p:cNvSpPr txBox="1"/>
          <p:nvPr/>
        </p:nvSpPr>
        <p:spPr>
          <a:xfrm>
            <a:off x="2141220" y="17907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900" b="0">
                <a:solidFill>
                  <a:srgbClr val="FFB531"/>
                </a:solidFill>
                <a:latin typeface="Segoe UI Semibold"/>
                <a:cs typeface="Segoe UI Semibold"/>
              </a:rPr>
              <a:t>1,18</a:t>
            </a:r>
          </a:p>
        </p:txBody>
      </p:sp>
      <p:sp>
        <p:nvSpPr>
          <p:cNvPr id="73" name="txt_73"/>
          <p:cNvSpPr txBox="1"/>
          <p:nvPr/>
        </p:nvSpPr>
        <p:spPr>
          <a:xfrm>
            <a:off x="2141220" y="21463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>
                <a:solidFill>
                  <a:srgbClr val="D5D9E0"/>
                </a:solidFill>
                <a:latin typeface="Segoe UI"/>
                <a:cs typeface="Segoe UI"/>
              </a:rPr>
              <a:t>SPY 1,08</a:t>
            </a:r>
          </a:p>
        </p:txBody>
      </p:sp>
      <p:sp>
        <p:nvSpPr>
          <p:cNvPr id="74" name="forma_74"/>
          <p:cNvSpPr/>
          <p:nvPr/>
        </p:nvSpPr>
        <p:spPr>
          <a:xfrm>
            <a:off x="566420" y="2451100"/>
            <a:ext cx="1320800" cy="863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5" name="txt_75"/>
          <p:cNvSpPr txBox="1"/>
          <p:nvPr/>
        </p:nvSpPr>
        <p:spPr>
          <a:xfrm>
            <a:off x="693420" y="25654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9AA3AF"/>
                </a:solidFill>
                <a:latin typeface="Segoe UI Semibold"/>
                <a:cs typeface="Segoe UI Semibold"/>
              </a:rPr>
              <a:t>VOLATILIDADE</a:t>
            </a:r>
          </a:p>
        </p:txBody>
      </p:sp>
      <p:sp>
        <p:nvSpPr>
          <p:cNvPr id="76" name="txt_76"/>
          <p:cNvSpPr txBox="1"/>
          <p:nvPr/>
        </p:nvSpPr>
        <p:spPr>
          <a:xfrm>
            <a:off x="693420" y="2730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900" b="0">
                <a:solidFill>
                  <a:srgbClr val="FFB531"/>
                </a:solidFill>
                <a:latin typeface="Segoe UI Semibold"/>
                <a:cs typeface="Segoe UI Semibold"/>
              </a:rPr>
              <a:t>17,6%</a:t>
            </a:r>
          </a:p>
        </p:txBody>
      </p:sp>
      <p:sp>
        <p:nvSpPr>
          <p:cNvPr id="77" name="txt_77"/>
          <p:cNvSpPr txBox="1"/>
          <p:nvPr/>
        </p:nvSpPr>
        <p:spPr>
          <a:xfrm>
            <a:off x="693420" y="30861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>
                <a:solidFill>
                  <a:srgbClr val="D5D9E0"/>
                </a:solidFill>
                <a:latin typeface="Segoe UI"/>
                <a:cs typeface="Segoe UI"/>
              </a:rPr>
              <a:t>SPY 17,9%</a:t>
            </a:r>
          </a:p>
        </p:txBody>
      </p:sp>
      <p:sp>
        <p:nvSpPr>
          <p:cNvPr id="78" name="forma_78"/>
          <p:cNvSpPr/>
          <p:nvPr/>
        </p:nvSpPr>
        <p:spPr>
          <a:xfrm>
            <a:off x="2014220" y="2451100"/>
            <a:ext cx="1320800" cy="86360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9" name="txt_79"/>
          <p:cNvSpPr txBox="1"/>
          <p:nvPr/>
        </p:nvSpPr>
        <p:spPr>
          <a:xfrm>
            <a:off x="2141220" y="25654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9AA3AF"/>
                </a:solidFill>
                <a:latin typeface="Segoe UI Semibold"/>
                <a:cs typeface="Segoe UI Semibold"/>
              </a:rPr>
              <a:t>MÁX. QUEDA</a:t>
            </a:r>
          </a:p>
        </p:txBody>
      </p:sp>
      <p:sp>
        <p:nvSpPr>
          <p:cNvPr id="80" name="txt_80"/>
          <p:cNvSpPr txBox="1"/>
          <p:nvPr/>
        </p:nvSpPr>
        <p:spPr>
          <a:xfrm>
            <a:off x="2141220" y="2730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900" b="0">
                <a:solidFill>
                  <a:srgbClr val="E0645C"/>
                </a:solidFill>
                <a:latin typeface="Segoe UI Semibold"/>
                <a:cs typeface="Segoe UI Semibold"/>
              </a:rPr>
              <a:t>–19,6%</a:t>
            </a:r>
          </a:p>
        </p:txBody>
      </p:sp>
      <p:sp>
        <p:nvSpPr>
          <p:cNvPr id="81" name="txt_81"/>
          <p:cNvSpPr txBox="1"/>
          <p:nvPr/>
        </p:nvSpPr>
        <p:spPr>
          <a:xfrm>
            <a:off x="2141220" y="30861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>
                <a:solidFill>
                  <a:srgbClr val="D5D9E0"/>
                </a:solidFill>
                <a:latin typeface="Segoe UI"/>
                <a:cs typeface="Segoe UI"/>
              </a:rPr>
              <a:t>SPY −18,8%</a:t>
            </a:r>
          </a:p>
        </p:txBody>
      </p:sp>
      <p:sp>
        <p:nvSpPr>
          <p:cNvPr id="82" name="txt_82"/>
          <p:cNvSpPr txBox="1"/>
          <p:nvPr/>
        </p:nvSpPr>
        <p:spPr>
          <a:xfrm>
            <a:off x="566420" y="3352800"/>
            <a:ext cx="2768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>
                <a:solidFill>
                  <a:srgbClr val="9AA3AF"/>
                </a:solidFill>
                <a:latin typeface="Segoe UI"/>
                <a:cs typeface="Segoe UI"/>
              </a:rPr>
              <a:t>placar completo no apêndice A8</a:t>
            </a:r>
          </a:p>
        </p:txBody>
      </p:sp>
      <p:sp>
        <p:nvSpPr>
          <p:cNvPr id="83" name="!!t6_hdr"/>
          <p:cNvSpPr txBox="1"/>
          <p:nvPr/>
        </p:nvSpPr>
        <p:spPr>
          <a:xfrm>
            <a:off x="566420" y="347472"/>
            <a:ext cx="9585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Backtest e resultados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+3,0 pp sobre o SPY, ao mesmo risco</a:t>
            </a:r>
          </a:p>
        </p:txBody>
      </p:sp>
      <p:sp>
        <p:nvSpPr>
          <p:cNvPr id="84" name="!!t6_marca"/>
          <p:cNvSpPr txBox="1"/>
          <p:nvPr/>
        </p:nvSpPr>
        <p:spPr>
          <a:xfrm>
            <a:off x="10243820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85" name="!!t6_regua"/>
          <p:cNvSpPr/>
          <p:nvPr/>
        </p:nvSpPr>
        <p:spPr>
          <a:xfrm>
            <a:off x="566420" y="868680"/>
            <a:ext cx="11048999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t6_nav_regua"/>
          <p:cNvSpPr/>
          <p:nvPr/>
        </p:nvSpPr>
        <p:spPr>
          <a:xfrm>
            <a:off x="566420" y="6528816"/>
            <a:ext cx="11048999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t6_nav0"/>
          <p:cNvSpPr txBox="1"/>
          <p:nvPr/>
        </p:nvSpPr>
        <p:spPr>
          <a:xfrm>
            <a:off x="566420" y="6565392"/>
            <a:ext cx="17195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88" name="!!t6_nav1"/>
          <p:cNvSpPr txBox="1"/>
          <p:nvPr/>
        </p:nvSpPr>
        <p:spPr>
          <a:xfrm>
            <a:off x="2286000" y="6565392"/>
            <a:ext cx="17195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89" name="!!t6_nav2"/>
          <p:cNvSpPr txBox="1"/>
          <p:nvPr/>
        </p:nvSpPr>
        <p:spPr>
          <a:xfrm>
            <a:off x="4005579" y="6565392"/>
            <a:ext cx="17195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90" name="!!t6_nav3"/>
          <p:cNvSpPr txBox="1"/>
          <p:nvPr/>
        </p:nvSpPr>
        <p:spPr>
          <a:xfrm>
            <a:off x="5725159" y="6565392"/>
            <a:ext cx="17195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Backtest</a:t>
            </a:r>
          </a:p>
        </p:txBody>
      </p:sp>
      <p:sp>
        <p:nvSpPr>
          <p:cNvPr id="91" name="!!t6_nav_ativa"/>
          <p:cNvSpPr/>
          <p:nvPr/>
        </p:nvSpPr>
        <p:spPr>
          <a:xfrm>
            <a:off x="6173469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t6_nav4"/>
          <p:cNvSpPr txBox="1"/>
          <p:nvPr/>
        </p:nvSpPr>
        <p:spPr>
          <a:xfrm>
            <a:off x="7444739" y="6565392"/>
            <a:ext cx="17195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93" name="!!t6_nav5"/>
          <p:cNvSpPr txBox="1"/>
          <p:nvPr/>
        </p:nvSpPr>
        <p:spPr>
          <a:xfrm>
            <a:off x="9164320" y="6565392"/>
            <a:ext cx="171957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94" name="!!t6_num"/>
          <p:cNvSpPr txBox="1"/>
          <p:nvPr/>
        </p:nvSpPr>
        <p:spPr>
          <a:xfrm>
            <a:off x="11021060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20323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15_11"/>
          <p:cNvSpPr/>
          <p:nvPr/>
        </p:nvSpPr>
        <p:spPr>
          <a:xfrm>
            <a:off x="731520" y="1481328"/>
            <a:ext cx="3392423" cy="356616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15_12"/>
          <p:cNvSpPr txBox="1"/>
          <p:nvPr/>
        </p:nvSpPr>
        <p:spPr>
          <a:xfrm>
            <a:off x="960120" y="1682496"/>
            <a:ext cx="29352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 PROVA EXIGE TEMPO</a:t>
            </a:r>
          </a:p>
        </p:txBody>
      </p:sp>
      <p:sp>
        <p:nvSpPr>
          <p:cNvPr id="15" name="s15_13"/>
          <p:cNvSpPr txBox="1"/>
          <p:nvPr/>
        </p:nvSpPr>
        <p:spPr>
          <a:xfrm>
            <a:off x="960120" y="1938528"/>
            <a:ext cx="2935223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457</a:t>
            </a:r>
          </a:p>
        </p:txBody>
      </p:sp>
      <p:sp>
        <p:nvSpPr>
          <p:cNvPr id="16" name="s15_14"/>
          <p:cNvSpPr txBox="1"/>
          <p:nvPr/>
        </p:nvSpPr>
        <p:spPr>
          <a:xfrm>
            <a:off x="960120" y="2706624"/>
            <a:ext cx="293522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PREGÕES DE TRACK RECORD MÍNIMO A 95 %  ·  TEMOS 374</a:t>
            </a:r>
          </a:p>
        </p:txBody>
      </p:sp>
      <p:sp>
        <p:nvSpPr>
          <p:cNvPr id="17" name="s15_15"/>
          <p:cNvSpPr txBox="1"/>
          <p:nvPr/>
        </p:nvSpPr>
        <p:spPr>
          <a:xfrm>
            <a:off x="960120" y="3145536"/>
            <a:ext cx="293522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excesso é positivo em toda leitura, mas ainda não é prova de habilidade. Faltam 83 pregões — o próximo semestre é o teste fora da amostra, pré-registrado antes de ser visto.</a:t>
            </a:r>
          </a:p>
        </p:txBody>
      </p:sp>
      <p:sp>
        <p:nvSpPr>
          <p:cNvPr id="18" name="s15_16"/>
          <p:cNvSpPr txBox="1"/>
          <p:nvPr/>
        </p:nvSpPr>
        <p:spPr>
          <a:xfrm>
            <a:off x="960120" y="4361688"/>
            <a:ext cx="29352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PSR 93% · IC95 do excesso [−12,9; 20,6] pp · alpha t = 0,6 contra a régua de 3 (Harvey–Liu)</a:t>
            </a:r>
          </a:p>
        </p:txBody>
      </p:sp>
      <p:sp>
        <p:nvSpPr>
          <p:cNvPr id="19" name="s15_17"/>
          <p:cNvSpPr/>
          <p:nvPr/>
        </p:nvSpPr>
        <p:spPr>
          <a:xfrm>
            <a:off x="4398264" y="1481328"/>
            <a:ext cx="3392423" cy="356616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15_18"/>
          <p:cNvSpPr txBox="1"/>
          <p:nvPr/>
        </p:nvSpPr>
        <p:spPr>
          <a:xfrm>
            <a:off x="4626864" y="1682496"/>
            <a:ext cx="29352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ONDE O GANHO MORA</a:t>
            </a:r>
          </a:p>
        </p:txBody>
      </p:sp>
      <p:sp>
        <p:nvSpPr>
          <p:cNvPr id="21" name="s15_19"/>
          <p:cNvSpPr txBox="1"/>
          <p:nvPr/>
        </p:nvSpPr>
        <p:spPr>
          <a:xfrm>
            <a:off x="4626864" y="1938528"/>
            <a:ext cx="2935223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+6,2 bps</a:t>
            </a:r>
          </a:p>
        </p:txBody>
      </p:sp>
      <p:sp>
        <p:nvSpPr>
          <p:cNvPr id="22" name="s15_20"/>
          <p:cNvSpPr txBox="1"/>
          <p:nvPr/>
        </p:nvSpPr>
        <p:spPr>
          <a:xfrm>
            <a:off x="4626864" y="2706624"/>
            <a:ext cx="293522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POR DIA DE QUEDA DO SPY  ·  –3,9 NOS DE ALTA</a:t>
            </a:r>
          </a:p>
        </p:txBody>
      </p:sp>
      <p:sp>
        <p:nvSpPr>
          <p:cNvPr id="23" name="s15_21"/>
          <p:cNvSpPr txBox="1"/>
          <p:nvPr/>
        </p:nvSpPr>
        <p:spPr>
          <a:xfrm>
            <a:off x="4626864" y="3145536"/>
            <a:ext cx="293522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Perde menos quando o mercado cai, ganha menos quando sobe: é um tilt defensivo sobre beta 0,95, não proteção de cauda — no tombo de abril caiu mais fundo que o índice, e na 2ª metade, só de alta, ficou atrás.</a:t>
            </a:r>
          </a:p>
        </p:txBody>
      </p:sp>
      <p:sp>
        <p:nvSpPr>
          <p:cNvPr id="24" name="s15_22"/>
          <p:cNvSpPr txBox="1"/>
          <p:nvPr/>
        </p:nvSpPr>
        <p:spPr>
          <a:xfrm>
            <a:off x="4626864" y="4361688"/>
            <a:ext cx="29352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hit 52% nos dias de queda, 43% nos de alta · metades +3,3 / –0,6 pp · máx. queda –19,6 % × SPY –18,8 %</a:t>
            </a:r>
          </a:p>
        </p:txBody>
      </p:sp>
      <p:sp>
        <p:nvSpPr>
          <p:cNvPr id="25" name="s15_23"/>
          <p:cNvSpPr/>
          <p:nvPr/>
        </p:nvSpPr>
        <p:spPr>
          <a:xfrm>
            <a:off x="8065008" y="1481328"/>
            <a:ext cx="3392423" cy="3566160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15_24"/>
          <p:cNvSpPr txBox="1"/>
          <p:nvPr/>
        </p:nvSpPr>
        <p:spPr>
          <a:xfrm>
            <a:off x="8293608" y="1682496"/>
            <a:ext cx="29352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PELO PROTOCOLO DA LITERATURA</a:t>
            </a:r>
          </a:p>
        </p:txBody>
      </p:sp>
      <p:sp>
        <p:nvSpPr>
          <p:cNvPr id="27" name="s15_25"/>
          <p:cNvSpPr txBox="1"/>
          <p:nvPr/>
        </p:nvSpPr>
        <p:spPr>
          <a:xfrm>
            <a:off x="8293608" y="1938528"/>
            <a:ext cx="2935223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3 de 7</a:t>
            </a:r>
          </a:p>
        </p:txBody>
      </p:sp>
      <p:sp>
        <p:nvSpPr>
          <p:cNvPr id="28" name="s15_26"/>
          <p:cNvSpPr txBox="1"/>
          <p:nvPr/>
        </p:nvSpPr>
        <p:spPr>
          <a:xfrm>
            <a:off x="8293608" y="2706624"/>
            <a:ext cx="293522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PONTOS DE ARNOTT, HARVEY &amp; MARKOWITZ FECHADOS</a:t>
            </a:r>
          </a:p>
        </p:txBody>
      </p:sp>
      <p:sp>
        <p:nvSpPr>
          <p:cNvPr id="29" name="s15_27"/>
          <p:cNvSpPr txBox="1"/>
          <p:nvPr/>
        </p:nvSpPr>
        <p:spPr>
          <a:xfrm>
            <a:off x="8293608" y="3145536"/>
            <a:ext cx="293522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Rigor onde depende de nós: hipótese antes do teste, dados sem look-ahead, admissão por mecanismo. Parcial onde o desenho limita: testes múltiplos, Ω diagonal. Aberto onde só o tempo resolve: validação fora da amostra.</a:t>
            </a:r>
          </a:p>
        </p:txBody>
      </p:sp>
      <p:sp>
        <p:nvSpPr>
          <p:cNvPr id="30" name="s15_28"/>
          <p:cNvSpPr txBox="1"/>
          <p:nvPr/>
        </p:nvSpPr>
        <p:spPr>
          <a:xfrm>
            <a:off x="8293608" y="4361688"/>
            <a:ext cx="29352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fechados: motivação · dados · cultura  —  parciais: testes múltiplos · dinâmica · complexidade  —  aberto: fora da amostra</a:t>
            </a:r>
          </a:p>
        </p:txBody>
      </p:sp>
      <p:sp>
        <p:nvSpPr>
          <p:cNvPr id="31" name="s15_29"/>
          <p:cNvSpPr txBox="1"/>
          <p:nvPr/>
        </p:nvSpPr>
        <p:spPr>
          <a:xfrm>
            <a:off x="731520" y="53949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FARÍAMOS DIFERENTE</a:t>
            </a:r>
          </a:p>
        </p:txBody>
      </p:sp>
      <p:sp>
        <p:nvSpPr>
          <p:cNvPr id="32" name="s15_30"/>
          <p:cNvSpPr txBox="1"/>
          <p:nvPr/>
        </p:nvSpPr>
        <p:spPr>
          <a:xfrm>
            <a:off x="731520" y="5596128"/>
            <a:ext cx="10725911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Pré-registrar o próximo semestre como teste fora da amostra · corrigir a busca tática pelo nº de tentativas (DSR) · um Ω que enxergue a correlação entre views.</a:t>
            </a:r>
          </a:p>
        </p:txBody>
      </p:sp>
      <p:sp>
        <p:nvSpPr>
          <p:cNvPr id="33" name="s15_31"/>
          <p:cNvSpPr txBox="1"/>
          <p:nvPr/>
        </p:nvSpPr>
        <p:spPr>
          <a:xfrm>
            <a:off x="731520" y="6336792"/>
            <a:ext cx="1072591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Arnott, Harvey &amp; Markowitz (2019) · Bailey &amp; López de Prado (2012, 2014) · Harvey &amp; Liu (2015)  ·  Final/analise/Pesquisa_avaliacao_estrategia.md  ·  apêndice A9</a:t>
            </a:r>
          </a:p>
        </p:txBody>
      </p:sp>
      <p:sp>
        <p:nvSpPr>
          <p:cNvPr id="34" name="!!t6_hdr"/>
          <p:cNvSpPr txBox="1"/>
          <p:nvPr/>
        </p:nvSpPr>
        <p:spPr>
          <a:xfrm>
            <a:off x="731520" y="347472"/>
            <a:ext cx="92628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Análise crítica</a:t>
            </a:r>
            <a:r>
              <a:rPr sz="16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1600" b="0">
                <a:solidFill>
                  <a:srgbClr val="FFFFFF"/>
                </a:solidFill>
                <a:latin typeface="Segoe UI Semibold"/>
              </a:rPr>
              <a:t>Três números, uma leitura: positiva, defensiva — e ainda não provada</a:t>
            </a:r>
          </a:p>
        </p:txBody>
      </p:sp>
      <p:sp>
        <p:nvSpPr>
          <p:cNvPr id="35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6" name="!!t6_regua"/>
          <p:cNvSpPr/>
          <p:nvPr/>
        </p:nvSpPr>
        <p:spPr>
          <a:xfrm>
            <a:off x="731520" y="868680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t6_nav_regua"/>
          <p:cNvSpPr/>
          <p:nvPr/>
        </p:nvSpPr>
        <p:spPr>
          <a:xfrm>
            <a:off x="731520" y="6528816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t6_nav0"/>
          <p:cNvSpPr txBox="1"/>
          <p:nvPr/>
        </p:nvSpPr>
        <p:spPr>
          <a:xfrm>
            <a:off x="731520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39" name="!!t6_nav1"/>
          <p:cNvSpPr txBox="1"/>
          <p:nvPr/>
        </p:nvSpPr>
        <p:spPr>
          <a:xfrm>
            <a:off x="2397251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40" name="!!t6_nav2"/>
          <p:cNvSpPr txBox="1"/>
          <p:nvPr/>
        </p:nvSpPr>
        <p:spPr>
          <a:xfrm>
            <a:off x="4062983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41" name="!!t6_nav3"/>
          <p:cNvSpPr txBox="1"/>
          <p:nvPr/>
        </p:nvSpPr>
        <p:spPr>
          <a:xfrm>
            <a:off x="5728715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Backtest</a:t>
            </a:r>
          </a:p>
        </p:txBody>
      </p:sp>
      <p:sp>
        <p:nvSpPr>
          <p:cNvPr id="42" name="!!t6_nav_ativa"/>
          <p:cNvSpPr/>
          <p:nvPr/>
        </p:nvSpPr>
        <p:spPr>
          <a:xfrm>
            <a:off x="6150101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t6_nav4"/>
          <p:cNvSpPr txBox="1"/>
          <p:nvPr/>
        </p:nvSpPr>
        <p:spPr>
          <a:xfrm>
            <a:off x="7394447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44" name="!!t6_nav5"/>
          <p:cNvSpPr txBox="1"/>
          <p:nvPr/>
        </p:nvSpPr>
        <p:spPr>
          <a:xfrm>
            <a:off x="9060179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45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6_hdr"/>
          <p:cNvSpPr txBox="1"/>
          <p:nvPr/>
        </p:nvSpPr>
        <p:spPr>
          <a:xfrm>
            <a:off x="731520" y="347472"/>
            <a:ext cx="9262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/>
            </a:r>
          </a:p>
        </p:txBody>
      </p:sp>
      <p:sp>
        <p:nvSpPr>
          <p:cNvPr id="3" name="!!t6_marca"/>
          <p:cNvSpPr txBox="1"/>
          <p:nvPr/>
        </p:nvSpPr>
        <p:spPr>
          <a:xfrm>
            <a:off x="10085832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4" name="!!t6_regua"/>
          <p:cNvSpPr/>
          <p:nvPr/>
        </p:nvSpPr>
        <p:spPr>
          <a:xfrm>
            <a:off x="731520" y="868680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t6_nav_regua"/>
          <p:cNvSpPr/>
          <p:nvPr/>
        </p:nvSpPr>
        <p:spPr>
          <a:xfrm>
            <a:off x="731520" y="6528816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t6_nav0"/>
          <p:cNvSpPr txBox="1"/>
          <p:nvPr/>
        </p:nvSpPr>
        <p:spPr>
          <a:xfrm>
            <a:off x="731520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7" name="!!t6_nav1"/>
          <p:cNvSpPr txBox="1"/>
          <p:nvPr/>
        </p:nvSpPr>
        <p:spPr>
          <a:xfrm>
            <a:off x="2397251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8" name="!!t6_nav2"/>
          <p:cNvSpPr txBox="1"/>
          <p:nvPr/>
        </p:nvSpPr>
        <p:spPr>
          <a:xfrm>
            <a:off x="4062983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9" name="!!t6_nav3"/>
          <p:cNvSpPr txBox="1"/>
          <p:nvPr/>
        </p:nvSpPr>
        <p:spPr>
          <a:xfrm>
            <a:off x="5728715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10" name="!!t6_nav4"/>
          <p:cNvSpPr txBox="1"/>
          <p:nvPr/>
        </p:nvSpPr>
        <p:spPr>
          <a:xfrm>
            <a:off x="7394447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11" name="!!t6_nav_ativa"/>
          <p:cNvSpPr/>
          <p:nvPr/>
        </p:nvSpPr>
        <p:spPr>
          <a:xfrm>
            <a:off x="7815833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t6_nav5"/>
          <p:cNvSpPr txBox="1"/>
          <p:nvPr/>
        </p:nvSpPr>
        <p:spPr>
          <a:xfrm>
            <a:off x="9060180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13" name="!!t6_num"/>
          <p:cNvSpPr txBox="1"/>
          <p:nvPr/>
        </p:nvSpPr>
        <p:spPr>
          <a:xfrm>
            <a:off x="10863072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14708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s12_0_14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17" name="s12_0_15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18" name="s12_0_16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12_0_17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20" name="s12_0_18"/>
          <p:cNvSpPr txBox="1"/>
          <p:nvPr/>
        </p:nvSpPr>
        <p:spPr>
          <a:xfrm>
            <a:off x="6135624" y="3386093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21" name="s12_0_1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22" name="s12_0_20"/>
          <p:cNvSpPr txBox="1"/>
          <p:nvPr/>
        </p:nvSpPr>
        <p:spPr>
          <a:xfrm>
            <a:off x="5897880" y="4809744"/>
            <a:ext cx="555955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clique para ver o caminho</a:t>
            </a:r>
          </a:p>
        </p:txBody>
      </p:sp>
      <p:sp>
        <p:nvSpPr>
          <p:cNvPr id="23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24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25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28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29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30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31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32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34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!!pulso"/>
          <p:cNvSpPr/>
          <p:nvPr/>
        </p:nvSpPr>
        <p:spPr>
          <a:xfrm>
            <a:off x="2530300" y="372880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12_1_16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19" name="s12_1_17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20" name="s12_1_18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s12_1_19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22" name="s12_1_20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23" name="s12_1_2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2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25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26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27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30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31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32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33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34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36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!!pulso"/>
          <p:cNvSpPr/>
          <p:nvPr/>
        </p:nvSpPr>
        <p:spPr>
          <a:xfrm>
            <a:off x="1449603" y="262644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12_2_18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21" name="s12_2_19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22" name="s12_2_20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s12_2_21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24" name="s12_2_22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25" name="s12_2_23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26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27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28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29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0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33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34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35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36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37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39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!!pulso"/>
          <p:cNvSpPr/>
          <p:nvPr/>
        </p:nvSpPr>
        <p:spPr>
          <a:xfrm>
            <a:off x="1382760" y="3616475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12_3_20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23" name="s12_3_21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24" name="s12_3_22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12_3_23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26" name="s12_3_24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27" name="s12_3_25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28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29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30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31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32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3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36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37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38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39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40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42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!!pulso"/>
          <p:cNvSpPr/>
          <p:nvPr/>
        </p:nvSpPr>
        <p:spPr>
          <a:xfrm>
            <a:off x="2146815" y="3319776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s12_4_22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25" name="s12_4_23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26" name="s12_4_24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s12_4_25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28" name="s12_4_26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29" name="s12_4_27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30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31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32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33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34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35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6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39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40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41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42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43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45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!!pulso"/>
          <p:cNvSpPr/>
          <p:nvPr/>
        </p:nvSpPr>
        <p:spPr>
          <a:xfrm>
            <a:off x="2211553" y="3958052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12_5_24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27" name="s12_5_25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28" name="s12_5_26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s12_5_27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0" name="s12_5_28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31" name="s12_5_2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32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33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34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35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36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37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38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9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42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43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44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45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46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48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!!pulso"/>
          <p:cNvSpPr/>
          <p:nvPr/>
        </p:nvSpPr>
        <p:spPr>
          <a:xfrm>
            <a:off x="1747201" y="314645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s12_6_26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29" name="s12_6_27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30" name="s12_6_28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s12_6_29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2" name="s12_6_30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33" name="s12_6_3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3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35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36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37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38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39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0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41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42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45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46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47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48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49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51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!!pulso"/>
          <p:cNvSpPr/>
          <p:nvPr/>
        </p:nvSpPr>
        <p:spPr>
          <a:xfrm>
            <a:off x="3236739" y="324134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s12_7_28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31" name="s12_7_29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32" name="s12_7_30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s12_7_31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4" name="s12_7_32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35" name="s12_7_33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36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37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38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39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0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1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2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43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44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45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48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49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50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51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52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54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!!pulso"/>
          <p:cNvSpPr/>
          <p:nvPr/>
        </p:nvSpPr>
        <p:spPr>
          <a:xfrm>
            <a:off x="2064431" y="3579056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s12_8_30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33" name="s12_8_31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34" name="s12_8_32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s12_8_33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6" name="s12_8_34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37" name="s12_8_35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38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39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40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41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2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3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4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45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08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backtest_v1.py</a:t>
            </a:r>
          </a:p>
        </p:txBody>
      </p:sp>
      <p:sp>
        <p:nvSpPr>
          <p:cNvPr id="46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47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48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51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52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53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54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55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57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!!pulso"/>
          <p:cNvSpPr/>
          <p:nvPr/>
        </p:nvSpPr>
        <p:spPr>
          <a:xfrm>
            <a:off x="2401930" y="259661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s12_9_32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35" name="s12_9_33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36" name="s12_9_34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s12_9_35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8" name="s12_9_36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39" name="s12_9_37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40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41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42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43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4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5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6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47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08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backtest_v1.py</a:t>
            </a:r>
          </a:p>
        </p:txBody>
      </p:sp>
      <p:sp>
        <p:nvSpPr>
          <p:cNvPr id="48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09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view_B_trajetoria_propria.py</a:t>
            </a:r>
          </a:p>
        </p:txBody>
      </p:sp>
      <p:sp>
        <p:nvSpPr>
          <p:cNvPr id="49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50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51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54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55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56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57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58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60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!!pulso"/>
          <p:cNvSpPr/>
          <p:nvPr/>
        </p:nvSpPr>
        <p:spPr>
          <a:xfrm>
            <a:off x="2692843" y="3436182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s12_10_34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37" name="s12_10_35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38" name="s12_10_36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s12_10_37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40" name="s12_10_38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41" name="s12_10_3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42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43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44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45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6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7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8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49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08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backtest_v1.py</a:t>
            </a:r>
          </a:p>
        </p:txBody>
      </p:sp>
      <p:sp>
        <p:nvSpPr>
          <p:cNvPr id="50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09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view_B_trajetoria_propria.py</a:t>
            </a:r>
          </a:p>
        </p:txBody>
      </p:sp>
      <p:sp>
        <p:nvSpPr>
          <p:cNvPr id="51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10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view_incerteza_anuncio.py</a:t>
            </a:r>
          </a:p>
        </p:txBody>
      </p:sp>
      <p:sp>
        <p:nvSpPr>
          <p:cNvPr id="52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53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54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57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58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59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60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61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63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5" name="!!e_10"/>
          <p:cNvCxnSpPr/>
          <p:nvPr/>
        </p:nvCxnSpPr>
        <p:spPr>
          <a:xfrm>
            <a:off x="2944303" y="3687642"/>
            <a:ext cx="998310" cy="147994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!!n_10"/>
          <p:cNvSpPr/>
          <p:nvPr/>
        </p:nvSpPr>
        <p:spPr>
          <a:xfrm>
            <a:off x="3851173" y="507614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!!pulso"/>
          <p:cNvSpPr/>
          <p:nvPr/>
        </p:nvSpPr>
        <p:spPr>
          <a:xfrm>
            <a:off x="3691153" y="491612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s12_11_36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39" name="s12_11_37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40" name="s12_11_38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s12_11_39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42" name="s12_11_40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43" name="s12_11_4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4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45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46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47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8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9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50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51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08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backtest_v1.py</a:t>
            </a:r>
          </a:p>
        </p:txBody>
      </p:sp>
      <p:sp>
        <p:nvSpPr>
          <p:cNvPr id="52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09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view_B_trajetoria_propria.py</a:t>
            </a:r>
          </a:p>
        </p:txBody>
      </p:sp>
      <p:sp>
        <p:nvSpPr>
          <p:cNvPr id="53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10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view_incerteza_anuncio.py</a:t>
            </a:r>
          </a:p>
        </p:txBody>
      </p:sp>
      <p:sp>
        <p:nvSpPr>
          <p:cNvPr id="54" name="!!li_10"/>
          <p:cNvSpPr txBox="1"/>
          <p:nvPr/>
        </p:nvSpPr>
        <p:spPr>
          <a:xfrm>
            <a:off x="8677656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tatica_sleeves.py</a:t>
            </a:r>
          </a:p>
        </p:txBody>
      </p:sp>
      <p:sp>
        <p:nvSpPr>
          <p:cNvPr id="55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56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57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60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61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62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63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64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66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15181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5" name="!!e_10"/>
          <p:cNvCxnSpPr/>
          <p:nvPr/>
        </p:nvCxnSpPr>
        <p:spPr>
          <a:xfrm>
            <a:off x="2944303" y="3687642"/>
            <a:ext cx="998310" cy="147994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!!n_10"/>
          <p:cNvSpPr/>
          <p:nvPr/>
        </p:nvSpPr>
        <p:spPr>
          <a:xfrm>
            <a:off x="3851173" y="5076148"/>
            <a:ext cx="182880" cy="182880"/>
          </a:xfrm>
          <a:prstGeom prst="ellipse">
            <a:avLst/>
          </a:prstGeom>
          <a:solidFill>
            <a:srgbClr val="2A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s12_12_35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SETUP</a:t>
            </a:r>
          </a:p>
        </p:txBody>
      </p:sp>
      <p:sp>
        <p:nvSpPr>
          <p:cNvPr id="38" name="s12_12_36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CLAUDE.md.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Regras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papéis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, lidos no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começo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Ritual de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fim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Toda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sessão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fecha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escrevendo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no LOG 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nas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decisões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pendentes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Pesquisa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vira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arquivo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cita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arquivos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usou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foi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isso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que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virou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 o </a:t>
            </a:r>
            <a:r>
              <a:rPr kumimoji="0" sz="12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grafo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.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5D9E0"/>
              </a:solidFill>
              <a:effectLst/>
              <a:uLnTx/>
              <a:uFillTx/>
              <a:latin typeface="Segoe UI"/>
              <a:ea typeface="Segoe UI"/>
              <a:cs typeface="Segoe UI"/>
            </a:endParaRPr>
          </a:p>
        </p:txBody>
      </p:sp>
      <p:sp>
        <p:nvSpPr>
          <p:cNvPr id="39" name="s12_12_37"/>
          <p:cNvSpPr/>
          <p:nvPr/>
        </p:nvSpPr>
        <p:spPr>
          <a:xfrm>
            <a:off x="5897880" y="3063240"/>
            <a:ext cx="5559551" cy="129844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s12_12_38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41" name="s12_12_39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incial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42" name="s12_12_40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 QUE ACENDEU, NA ORDEM</a:t>
            </a:r>
          </a:p>
        </p:txBody>
      </p:sp>
      <p:sp>
        <p:nvSpPr>
          <p:cNvPr id="43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44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45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46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7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8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9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50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08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backtest_v1.py</a:t>
            </a:r>
          </a:p>
        </p:txBody>
      </p:sp>
      <p:sp>
        <p:nvSpPr>
          <p:cNvPr id="51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09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view_B_trajetoria_propria.py</a:t>
            </a:r>
          </a:p>
        </p:txBody>
      </p:sp>
      <p:sp>
        <p:nvSpPr>
          <p:cNvPr id="52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10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view_incerteza_anuncio.py</a:t>
            </a:r>
          </a:p>
        </p:txBody>
      </p:sp>
      <p:sp>
        <p:nvSpPr>
          <p:cNvPr id="53" name="!!li_10"/>
          <p:cNvSpPr txBox="1"/>
          <p:nvPr/>
        </p:nvSpPr>
        <p:spPr>
          <a:xfrm>
            <a:off x="8677656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C8CE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tatica_sleeves.py</a:t>
            </a:r>
          </a:p>
        </p:txBody>
      </p:sp>
      <p:sp>
        <p:nvSpPr>
          <p:cNvPr id="54" name="s12_12_52"/>
          <p:cNvSpPr txBox="1"/>
          <p:nvPr/>
        </p:nvSpPr>
        <p:spPr>
          <a:xfrm>
            <a:off x="5897880" y="6144768"/>
            <a:ext cx="555955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23 comandos · 11 arquivos · </a:t>
            </a: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contrato  →  análise  →  código  →  dado</a:t>
            </a:r>
          </a:p>
        </p:txBody>
      </p:sp>
      <p:sp>
        <p:nvSpPr>
          <p:cNvPr id="55" name="!!t6_hdr"/>
          <p:cNvSpPr txBox="1"/>
          <p:nvPr/>
        </p:nvSpPr>
        <p:spPr>
          <a:xfrm>
            <a:off x="566928" y="347472"/>
            <a:ext cx="94274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Setup de IA</a:t>
            </a:r>
            <a:r>
              <a:rPr sz="20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2000" b="0">
                <a:solidFill>
                  <a:srgbClr val="FFFFFF"/>
                </a:solidFill>
                <a:latin typeface="Segoe UI Semibold"/>
              </a:rPr>
              <a:t>O segundo cérebro</a:t>
            </a:r>
          </a:p>
        </p:txBody>
      </p:sp>
      <p:sp>
        <p:nvSpPr>
          <p:cNvPr id="56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57" name="!!t6_regua"/>
          <p:cNvSpPr/>
          <p:nvPr/>
        </p:nvSpPr>
        <p:spPr>
          <a:xfrm>
            <a:off x="566928" y="868680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t6_nav_regua"/>
          <p:cNvSpPr/>
          <p:nvPr/>
        </p:nvSpPr>
        <p:spPr>
          <a:xfrm>
            <a:off x="566928" y="6528816"/>
            <a:ext cx="10890503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t6_nav0"/>
          <p:cNvSpPr txBox="1"/>
          <p:nvPr/>
        </p:nvSpPr>
        <p:spPr>
          <a:xfrm>
            <a:off x="566928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60" name="!!t6_nav1"/>
          <p:cNvSpPr txBox="1"/>
          <p:nvPr/>
        </p:nvSpPr>
        <p:spPr>
          <a:xfrm>
            <a:off x="2260091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61" name="!!t6_nav2"/>
          <p:cNvSpPr txBox="1"/>
          <p:nvPr/>
        </p:nvSpPr>
        <p:spPr>
          <a:xfrm>
            <a:off x="3953255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62" name="!!t6_nav3"/>
          <p:cNvSpPr txBox="1"/>
          <p:nvPr/>
        </p:nvSpPr>
        <p:spPr>
          <a:xfrm>
            <a:off x="5646419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63" name="!!t6_nav4"/>
          <p:cNvSpPr txBox="1"/>
          <p:nvPr/>
        </p:nvSpPr>
        <p:spPr>
          <a:xfrm>
            <a:off x="7339583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64" name="!!t6_nav_ativa"/>
          <p:cNvSpPr/>
          <p:nvPr/>
        </p:nvSpPr>
        <p:spPr>
          <a:xfrm>
            <a:off x="777468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t6_nav5"/>
          <p:cNvSpPr txBox="1"/>
          <p:nvPr/>
        </p:nvSpPr>
        <p:spPr>
          <a:xfrm>
            <a:off x="9032747" y="6565392"/>
            <a:ext cx="169316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66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13_11"/>
          <p:cNvSpPr txBox="1"/>
          <p:nvPr/>
        </p:nvSpPr>
        <p:spPr>
          <a:xfrm>
            <a:off x="731520" y="1874519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145 ERROS DA IA  ·  QUEM PEGOU</a:t>
            </a:r>
          </a:p>
        </p:txBody>
      </p:sp>
      <p:pic>
        <p:nvPicPr>
          <p:cNvPr id="14" name="s13_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5669280" cy="2720917"/>
          </a:xfrm>
          <a:prstGeom prst="rect">
            <a:avLst/>
          </a:prstGeom>
        </p:spPr>
      </p:pic>
      <p:sp>
        <p:nvSpPr>
          <p:cNvPr id="15" name="s13_13"/>
          <p:cNvSpPr txBox="1"/>
          <p:nvPr/>
        </p:nvSpPr>
        <p:spPr>
          <a:xfrm>
            <a:off x="6793992" y="1874519"/>
            <a:ext cx="4663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ONDE FOI O ESFORÇO</a:t>
            </a:r>
          </a:p>
        </p:txBody>
      </p:sp>
      <p:pic>
        <p:nvPicPr>
          <p:cNvPr id="16" name="s13_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286000"/>
            <a:ext cx="4663440" cy="2546936"/>
          </a:xfrm>
          <a:prstGeom prst="rect">
            <a:avLst/>
          </a:prstGeom>
        </p:spPr>
      </p:pic>
      <p:sp>
        <p:nvSpPr>
          <p:cNvPr id="17" name="s13_15"/>
          <p:cNvSpPr/>
          <p:nvPr/>
        </p:nvSpPr>
        <p:spPr>
          <a:xfrm>
            <a:off x="731520" y="5440680"/>
            <a:ext cx="2599182" cy="786384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13_16"/>
          <p:cNvSpPr txBox="1"/>
          <p:nvPr/>
        </p:nvSpPr>
        <p:spPr>
          <a:xfrm>
            <a:off x="932688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91</a:t>
            </a:r>
          </a:p>
        </p:txBody>
      </p:sp>
      <p:sp>
        <p:nvSpPr>
          <p:cNvPr id="19" name="s13_17"/>
          <p:cNvSpPr txBox="1"/>
          <p:nvPr/>
        </p:nvSpPr>
        <p:spPr>
          <a:xfrm>
            <a:off x="1965960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SESSÕES DE IA</a:t>
            </a:r>
          </a:p>
        </p:txBody>
      </p:sp>
      <p:sp>
        <p:nvSpPr>
          <p:cNvPr id="20" name="s13_18"/>
          <p:cNvSpPr txBox="1"/>
          <p:nvPr/>
        </p:nvSpPr>
        <p:spPr>
          <a:xfrm>
            <a:off x="1965960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Felipe 55 · Lia 18 · Paulo 18</a:t>
            </a:r>
          </a:p>
        </p:txBody>
      </p:sp>
      <p:sp>
        <p:nvSpPr>
          <p:cNvPr id="21" name="s13_19"/>
          <p:cNvSpPr/>
          <p:nvPr/>
        </p:nvSpPr>
        <p:spPr>
          <a:xfrm>
            <a:off x="3440430" y="5440680"/>
            <a:ext cx="2599182" cy="786384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13_20"/>
          <p:cNvSpPr txBox="1"/>
          <p:nvPr/>
        </p:nvSpPr>
        <p:spPr>
          <a:xfrm>
            <a:off x="3641598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232k</a:t>
            </a:r>
          </a:p>
        </p:txBody>
      </p:sp>
      <p:sp>
        <p:nvSpPr>
          <p:cNvPr id="23" name="s13_21"/>
          <p:cNvSpPr txBox="1"/>
          <p:nvPr/>
        </p:nvSpPr>
        <p:spPr>
          <a:xfrm>
            <a:off x="4674870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TOKENS POR SESSÃO</a:t>
            </a:r>
          </a:p>
        </p:txBody>
      </p:sp>
      <p:sp>
        <p:nvSpPr>
          <p:cNvPr id="24" name="s13_22"/>
          <p:cNvSpPr txBox="1"/>
          <p:nvPr/>
        </p:nvSpPr>
        <p:spPr>
          <a:xfrm>
            <a:off x="4674870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média · 19,7M no total</a:t>
            </a:r>
          </a:p>
        </p:txBody>
      </p:sp>
      <p:sp>
        <p:nvSpPr>
          <p:cNvPr id="25" name="s13_23"/>
          <p:cNvSpPr/>
          <p:nvPr/>
        </p:nvSpPr>
        <p:spPr>
          <a:xfrm>
            <a:off x="6149340" y="5440680"/>
            <a:ext cx="2599182" cy="786384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13_24"/>
          <p:cNvSpPr txBox="1"/>
          <p:nvPr/>
        </p:nvSpPr>
        <p:spPr>
          <a:xfrm>
            <a:off x="6350507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81</a:t>
            </a:r>
          </a:p>
        </p:txBody>
      </p:sp>
      <p:sp>
        <p:nvSpPr>
          <p:cNvPr id="27" name="s13_25"/>
          <p:cNvSpPr txBox="1"/>
          <p:nvPr/>
        </p:nvSpPr>
        <p:spPr>
          <a:xfrm>
            <a:off x="7383779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DECISÕES REGISTRADAS</a:t>
            </a:r>
          </a:p>
        </p:txBody>
      </p:sp>
      <p:sp>
        <p:nvSpPr>
          <p:cNvPr id="28" name="s13_26"/>
          <p:cNvSpPr txBox="1"/>
          <p:nvPr/>
        </p:nvSpPr>
        <p:spPr>
          <a:xfrm>
            <a:off x="7383779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escaladas ao humano</a:t>
            </a:r>
          </a:p>
        </p:txBody>
      </p:sp>
      <p:sp>
        <p:nvSpPr>
          <p:cNvPr id="29" name="s13_27"/>
          <p:cNvSpPr/>
          <p:nvPr/>
        </p:nvSpPr>
        <p:spPr>
          <a:xfrm>
            <a:off x="8858250" y="5440680"/>
            <a:ext cx="2599182" cy="786384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s13_28"/>
          <p:cNvSpPr txBox="1"/>
          <p:nvPr/>
        </p:nvSpPr>
        <p:spPr>
          <a:xfrm>
            <a:off x="9059418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37%</a:t>
            </a:r>
          </a:p>
        </p:txBody>
      </p:sp>
      <p:sp>
        <p:nvSpPr>
          <p:cNvPr id="31" name="s13_29"/>
          <p:cNvSpPr txBox="1"/>
          <p:nvPr/>
        </p:nvSpPr>
        <p:spPr>
          <a:xfrm>
            <a:off x="10092690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TAXA DE RECORREÇÃO</a:t>
            </a:r>
          </a:p>
        </p:txBody>
      </p:sp>
      <p:sp>
        <p:nvSpPr>
          <p:cNvPr id="32" name="s13_30"/>
          <p:cNvSpPr txBox="1"/>
          <p:nvPr/>
        </p:nvSpPr>
        <p:spPr>
          <a:xfrm>
            <a:off x="10092690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pediram 2ª rodada</a:t>
            </a:r>
          </a:p>
        </p:txBody>
      </p:sp>
      <p:sp>
        <p:nvSpPr>
          <p:cNvPr id="33" name="!!t6_hdr"/>
          <p:cNvSpPr txBox="1"/>
          <p:nvPr/>
        </p:nvSpPr>
        <p:spPr>
          <a:xfrm>
            <a:off x="731520" y="347472"/>
            <a:ext cx="9262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 Semibold"/>
              </a:rPr>
              <a:t>IA em números</a:t>
            </a:r>
            <a:r>
              <a:rPr sz="18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1800" b="0">
                <a:solidFill>
                  <a:srgbClr val="FFFFFF"/>
                </a:solidFill>
                <a:latin typeface="Segoe UI Semibold"/>
              </a:rPr>
              <a:t>Medimos o uso de IA como medimos a estratégia: pelo registro.</a:t>
            </a:r>
          </a:p>
        </p:txBody>
      </p:sp>
      <p:sp>
        <p:nvSpPr>
          <p:cNvPr id="34" name="!!t6_marca"/>
          <p:cNvSpPr txBox="1"/>
          <p:nvPr/>
        </p:nvSpPr>
        <p:spPr>
          <a:xfrm>
            <a:off x="10085832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5" name="!!t6_regua"/>
          <p:cNvSpPr/>
          <p:nvPr/>
        </p:nvSpPr>
        <p:spPr>
          <a:xfrm>
            <a:off x="731520" y="868680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t6_nav_regua"/>
          <p:cNvSpPr/>
          <p:nvPr/>
        </p:nvSpPr>
        <p:spPr>
          <a:xfrm>
            <a:off x="731520" y="6528816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t6_nav0"/>
          <p:cNvSpPr txBox="1"/>
          <p:nvPr/>
        </p:nvSpPr>
        <p:spPr>
          <a:xfrm>
            <a:off x="731520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38" name="!!t6_nav1"/>
          <p:cNvSpPr txBox="1"/>
          <p:nvPr/>
        </p:nvSpPr>
        <p:spPr>
          <a:xfrm>
            <a:off x="2397251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39" name="!!t6_nav2"/>
          <p:cNvSpPr txBox="1"/>
          <p:nvPr/>
        </p:nvSpPr>
        <p:spPr>
          <a:xfrm>
            <a:off x="4062983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40" name="!!t6_nav3"/>
          <p:cNvSpPr txBox="1"/>
          <p:nvPr/>
        </p:nvSpPr>
        <p:spPr>
          <a:xfrm>
            <a:off x="5728715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41" name="!!t6_nav4"/>
          <p:cNvSpPr txBox="1"/>
          <p:nvPr/>
        </p:nvSpPr>
        <p:spPr>
          <a:xfrm>
            <a:off x="7394447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IA</a:t>
            </a:r>
          </a:p>
        </p:txBody>
      </p:sp>
      <p:sp>
        <p:nvSpPr>
          <p:cNvPr id="42" name="!!t6_nav_ativa"/>
          <p:cNvSpPr/>
          <p:nvPr/>
        </p:nvSpPr>
        <p:spPr>
          <a:xfrm>
            <a:off x="7815833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t6_nav5"/>
          <p:cNvSpPr txBox="1"/>
          <p:nvPr/>
        </p:nvSpPr>
        <p:spPr>
          <a:xfrm>
            <a:off x="9060180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Conclusão</a:t>
            </a:r>
          </a:p>
        </p:txBody>
      </p:sp>
      <p:sp>
        <p:nvSpPr>
          <p:cNvPr id="44" name="!!t6_num"/>
          <p:cNvSpPr txBox="1"/>
          <p:nvPr/>
        </p:nvSpPr>
        <p:spPr>
          <a:xfrm>
            <a:off x="10863072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T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T_11"/>
          <p:cNvSpPr txBox="1"/>
          <p:nvPr/>
        </p:nvSpPr>
        <p:spPr>
          <a:xfrm>
            <a:off x="731520" y="2057400"/>
            <a:ext cx="10725911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Resposta da hipótese</a:t>
            </a:r>
          </a:p>
        </p:txBody>
      </p:sp>
      <p:sp>
        <p:nvSpPr>
          <p:cNvPr id="14" name="sT_12"/>
          <p:cNvSpPr txBox="1"/>
          <p:nvPr/>
        </p:nvSpPr>
        <p:spPr>
          <a:xfrm>
            <a:off x="731520" y="315468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 HIPÓTESE, DO SLIDE 2</a:t>
            </a:r>
          </a:p>
        </p:txBody>
      </p:sp>
      <p:sp>
        <p:nvSpPr>
          <p:cNvPr id="15" name="sT_13"/>
          <p:cNvSpPr txBox="1"/>
          <p:nvPr/>
        </p:nvSpPr>
        <p:spPr>
          <a:xfrm>
            <a:off x="731520" y="3401568"/>
            <a:ext cx="935431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“Mercados de </a:t>
            </a:r>
            <a:r>
              <a:rPr kumimoji="0" sz="21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previsão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21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antecipam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o mercado </a:t>
            </a:r>
            <a:r>
              <a:rPr kumimoji="0" sz="2100" b="0" i="0" u="none" strike="noStrike" kern="1200" cap="none" spc="0" normalizeH="0" baseline="0" noProof="0" err="1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financeiro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D5D9E0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 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Esse é o </a:t>
            </a:r>
            <a:r>
              <a:rPr kumimoji="0" sz="2100" b="0" i="0" u="none" strike="noStrike" kern="1200" cap="none" spc="0" normalizeH="0" baseline="0" noProof="0" err="1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nosso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 </a:t>
            </a:r>
            <a:r>
              <a:rPr kumimoji="0" sz="2100" b="0" i="0" u="none" strike="noStrike" kern="1200" cap="none" spc="0" normalizeH="0" baseline="0" noProof="0" err="1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sinal</a:t>
            </a: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.”</a:t>
            </a:r>
          </a:p>
        </p:txBody>
      </p:sp>
      <p:sp>
        <p:nvSpPr>
          <p:cNvPr id="16" name="sT_14"/>
          <p:cNvSpPr txBox="1"/>
          <p:nvPr/>
        </p:nvSpPr>
        <p:spPr>
          <a:xfrm>
            <a:off x="731520" y="4709160"/>
            <a:ext cx="10725911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O que 150 contratos do Polymarket, 30 eventos e 1416 leituras dizem.</a:t>
            </a:r>
          </a:p>
        </p:txBody>
      </p:sp>
      <p:sp>
        <p:nvSpPr>
          <p:cNvPr id="17" name="!!t6_hdr"/>
          <p:cNvSpPr txBox="1"/>
          <p:nvPr/>
        </p:nvSpPr>
        <p:spPr>
          <a:xfrm>
            <a:off x="731520" y="347472"/>
            <a:ext cx="9262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Resposta da hipótese</a:t>
            </a:r>
          </a:p>
        </p:txBody>
      </p:sp>
      <p:sp>
        <p:nvSpPr>
          <p:cNvPr id="18" name="!!t6_marca"/>
          <p:cNvSpPr txBox="1"/>
          <p:nvPr/>
        </p:nvSpPr>
        <p:spPr>
          <a:xfrm>
            <a:off x="10085832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19" name="!!t6_regua"/>
          <p:cNvSpPr/>
          <p:nvPr/>
        </p:nvSpPr>
        <p:spPr>
          <a:xfrm>
            <a:off x="731520" y="868680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t6_nav_regua"/>
          <p:cNvSpPr/>
          <p:nvPr/>
        </p:nvSpPr>
        <p:spPr>
          <a:xfrm>
            <a:off x="731520" y="6528816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t6_nav0"/>
          <p:cNvSpPr txBox="1"/>
          <p:nvPr/>
        </p:nvSpPr>
        <p:spPr>
          <a:xfrm>
            <a:off x="731520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22" name="!!t6_nav1"/>
          <p:cNvSpPr txBox="1"/>
          <p:nvPr/>
        </p:nvSpPr>
        <p:spPr>
          <a:xfrm>
            <a:off x="2397251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23" name="!!t6_nav2"/>
          <p:cNvSpPr txBox="1"/>
          <p:nvPr/>
        </p:nvSpPr>
        <p:spPr>
          <a:xfrm>
            <a:off x="4062983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24" name="!!t6_nav3"/>
          <p:cNvSpPr txBox="1"/>
          <p:nvPr/>
        </p:nvSpPr>
        <p:spPr>
          <a:xfrm>
            <a:off x="5728715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25" name="!!t6_nav4"/>
          <p:cNvSpPr txBox="1"/>
          <p:nvPr/>
        </p:nvSpPr>
        <p:spPr>
          <a:xfrm>
            <a:off x="7394447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26" name="!!t6_nav5"/>
          <p:cNvSpPr txBox="1"/>
          <p:nvPr/>
        </p:nvSpPr>
        <p:spPr>
          <a:xfrm>
            <a:off x="9060180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Conclusão</a:t>
            </a:r>
          </a:p>
        </p:txBody>
      </p:sp>
      <p:sp>
        <p:nvSpPr>
          <p:cNvPr id="27" name="!!t6_nav_ativa"/>
          <p:cNvSpPr/>
          <p:nvPr/>
        </p:nvSpPr>
        <p:spPr>
          <a:xfrm>
            <a:off x="9481566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t6_num"/>
          <p:cNvSpPr txBox="1"/>
          <p:nvPr/>
        </p:nvSpPr>
        <p:spPr>
          <a:xfrm>
            <a:off x="10863072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s16_16" descr="estudo_s0_calibr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52928"/>
            <a:ext cx="5134355" cy="2616594"/>
          </a:xfrm>
          <a:prstGeom prst="rect">
            <a:avLst/>
          </a:prstGeom>
        </p:spPr>
      </p:pic>
      <p:sp>
        <p:nvSpPr>
          <p:cNvPr id="13" name="s16_11"/>
          <p:cNvSpPr txBox="1"/>
          <p:nvPr/>
        </p:nvSpPr>
        <p:spPr>
          <a:xfrm>
            <a:off x="731520" y="1417320"/>
            <a:ext cx="51343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OBSERVAÇÃO 1  ·  CALIBRAÇÃO</a:t>
            </a:r>
          </a:p>
        </p:txBody>
      </p:sp>
      <p:sp>
        <p:nvSpPr>
          <p:cNvPr id="14" name="s16_12"/>
          <p:cNvSpPr txBox="1"/>
          <p:nvPr/>
        </p:nvSpPr>
        <p:spPr>
          <a:xfrm>
            <a:off x="731520" y="1645920"/>
            <a:ext cx="51343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Quando o Polymarket diz X %, acontece X % das vezes.</a:t>
            </a:r>
          </a:p>
        </p:txBody>
      </p:sp>
      <p:sp>
        <p:nvSpPr>
          <p:cNvPr id="15" name="s16_13"/>
          <p:cNvSpPr txBox="1"/>
          <p:nvPr/>
        </p:nvSpPr>
        <p:spPr>
          <a:xfrm>
            <a:off x="731520" y="2212848"/>
            <a:ext cx="155448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0,043</a:t>
            </a:r>
          </a:p>
        </p:txBody>
      </p:sp>
      <p:sp>
        <p:nvSpPr>
          <p:cNvPr id="16" name="s16_14"/>
          <p:cNvSpPr txBox="1"/>
          <p:nvPr/>
        </p:nvSpPr>
        <p:spPr>
          <a:xfrm>
            <a:off x="1874519" y="2258568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4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BRIER NA VÉSPERA</a:t>
            </a:r>
          </a:p>
        </p:txBody>
      </p:sp>
      <p:sp>
        <p:nvSpPr>
          <p:cNvPr id="17" name="s16_15"/>
          <p:cNvSpPr txBox="1"/>
          <p:nvPr/>
        </p:nvSpPr>
        <p:spPr>
          <a:xfrm>
            <a:off x="1874519" y="2496312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IC95 [0,022; 0,067]</a:t>
            </a:r>
          </a:p>
        </p:txBody>
      </p:sp>
      <p:sp>
        <p:nvSpPr>
          <p:cNvPr id="19" name="s16_17"/>
          <p:cNvSpPr txBox="1"/>
          <p:nvPr/>
        </p:nvSpPr>
        <p:spPr>
          <a:xfrm>
            <a:off x="6323075" y="1417320"/>
            <a:ext cx="51343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OBSERVAÇÃO 2  ·  DECISÃO DO FED</a:t>
            </a:r>
          </a:p>
        </p:txBody>
      </p:sp>
      <p:sp>
        <p:nvSpPr>
          <p:cNvPr id="20" name="s16_18"/>
          <p:cNvSpPr txBox="1"/>
          <p:nvPr/>
        </p:nvSpPr>
        <p:spPr>
          <a:xfrm>
            <a:off x="6323075" y="1645920"/>
            <a:ext cx="51343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Na decisão do Fed, o Polymarket erra 0,9 bps; o mercado de juros, 4,8.</a:t>
            </a:r>
          </a:p>
        </p:txBody>
      </p:sp>
      <p:sp>
        <p:nvSpPr>
          <p:cNvPr id="21" name="s16_19"/>
          <p:cNvSpPr txBox="1"/>
          <p:nvPr/>
        </p:nvSpPr>
        <p:spPr>
          <a:xfrm>
            <a:off x="6323075" y="2212848"/>
            <a:ext cx="155448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0,9 × 4,8</a:t>
            </a:r>
          </a:p>
        </p:txBody>
      </p:sp>
      <p:sp>
        <p:nvSpPr>
          <p:cNvPr id="22" name="s16_20"/>
          <p:cNvSpPr txBox="1"/>
          <p:nvPr/>
        </p:nvSpPr>
        <p:spPr>
          <a:xfrm>
            <a:off x="7923275" y="2258568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4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BPS DE ERRO NA VÉSPERA</a:t>
            </a:r>
          </a:p>
        </p:txBody>
      </p:sp>
      <p:sp>
        <p:nvSpPr>
          <p:cNvPr id="23" name="s16_21"/>
          <p:cNvSpPr txBox="1"/>
          <p:nvPr/>
        </p:nvSpPr>
        <p:spPr>
          <a:xfrm>
            <a:off x="7923275" y="2496312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Polymarket × futuro de FF</a:t>
            </a:r>
          </a:p>
        </p:txBody>
      </p:sp>
      <p:pic>
        <p:nvPicPr>
          <p:cNvPr id="24" name="s16_22" descr="estudo_s2_m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5" y="2852928"/>
            <a:ext cx="5134355" cy="2615335"/>
          </a:xfrm>
          <a:prstGeom prst="rect">
            <a:avLst/>
          </a:prstGeom>
        </p:spPr>
      </p:pic>
      <p:sp>
        <p:nvSpPr>
          <p:cNvPr id="25" name="s16_23"/>
          <p:cNvSpPr/>
          <p:nvPr/>
        </p:nvSpPr>
        <p:spPr>
          <a:xfrm>
            <a:off x="731520" y="5596128"/>
            <a:ext cx="10725911" cy="658368"/>
          </a:xfrm>
          <a:prstGeom prst="rect">
            <a:avLst/>
          </a:prstGeom>
          <a:solidFill>
            <a:srgbClr val="1E2229"/>
          </a:solidFill>
          <a:ln w="9525">
            <a:solidFill>
              <a:srgbClr val="3A4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16_24"/>
          <p:cNvSpPr txBox="1"/>
          <p:nvPr/>
        </p:nvSpPr>
        <p:spPr>
          <a:xfrm>
            <a:off x="960120" y="56509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CONCLUSÃO</a:t>
            </a:r>
          </a:p>
        </p:txBody>
      </p:sp>
      <p:sp>
        <p:nvSpPr>
          <p:cNvPr id="27" name="s16_25"/>
          <p:cNvSpPr txBox="1"/>
          <p:nvPr/>
        </p:nvSpPr>
        <p:spPr>
          <a:xfrm>
            <a:off x="960120" y="5824728"/>
            <a:ext cx="10268711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É uma probabilidade confiável — e melhor que os juros no que os dois precificam.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Segoe UI Semibold"/>
                <a:ea typeface="Segoe UI Semibold"/>
                <a:cs typeface="Segoe UI Semibold"/>
              </a:rPr>
              <a:t>Por isso ela é a opinião do Black-Litterman.</a:t>
            </a:r>
          </a:p>
        </p:txBody>
      </p:sp>
      <p:sp>
        <p:nvSpPr>
          <p:cNvPr id="28" name="s16_26"/>
          <p:cNvSpPr txBox="1"/>
          <p:nvPr/>
        </p:nvSpPr>
        <p:spPr>
          <a:xfrm>
            <a:off x="731520" y="6336792"/>
            <a:ext cx="1072591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9AA3A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150 contratos do Polymarket (Fed e CPI) · 30 eventos · 1416 leituras em 11 horizontes · resolução no FRED · apêndice A1–A3</a:t>
            </a:r>
          </a:p>
        </p:txBody>
      </p:sp>
      <p:sp>
        <p:nvSpPr>
          <p:cNvPr id="30" name="!!t6_hdr"/>
          <p:cNvSpPr txBox="1"/>
          <p:nvPr/>
        </p:nvSpPr>
        <p:spPr>
          <a:xfrm>
            <a:off x="731520" y="347472"/>
            <a:ext cx="92628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O Polymarket como fonte de dados</a:t>
            </a:r>
            <a:r>
              <a:rPr sz="1600" b="0">
                <a:solidFill>
                  <a:srgbClr val="9AA3AF"/>
                </a:solidFill>
                <a:latin typeface="Segoe UI Semibold"/>
              </a:rPr>
              <a:t>  |  </a:t>
            </a:r>
            <a:r>
              <a:rPr sz="1600" b="0">
                <a:solidFill>
                  <a:srgbClr val="FFFFFF"/>
                </a:solidFill>
                <a:latin typeface="Segoe UI Semibold"/>
              </a:rPr>
              <a:t>Calibrado e mais preciso que o mercado de juros.</a:t>
            </a:r>
          </a:p>
        </p:txBody>
      </p:sp>
      <p:sp>
        <p:nvSpPr>
          <p:cNvPr id="31" name="!!t6_marca"/>
          <p:cNvSpPr txBox="1"/>
          <p:nvPr/>
        </p:nvSpPr>
        <p:spPr>
          <a:xfrm>
            <a:off x="10085831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2" name="!!t6_regua"/>
          <p:cNvSpPr/>
          <p:nvPr/>
        </p:nvSpPr>
        <p:spPr>
          <a:xfrm>
            <a:off x="731520" y="868680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t6_nav_regua"/>
          <p:cNvSpPr/>
          <p:nvPr/>
        </p:nvSpPr>
        <p:spPr>
          <a:xfrm>
            <a:off x="731520" y="6528816"/>
            <a:ext cx="10725911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t6_nav0"/>
          <p:cNvSpPr txBox="1"/>
          <p:nvPr/>
        </p:nvSpPr>
        <p:spPr>
          <a:xfrm>
            <a:off x="731520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35" name="!!t6_nav1"/>
          <p:cNvSpPr txBox="1"/>
          <p:nvPr/>
        </p:nvSpPr>
        <p:spPr>
          <a:xfrm>
            <a:off x="2397251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36" name="!!t6_nav2"/>
          <p:cNvSpPr txBox="1"/>
          <p:nvPr/>
        </p:nvSpPr>
        <p:spPr>
          <a:xfrm>
            <a:off x="4062983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37" name="!!t6_nav3"/>
          <p:cNvSpPr txBox="1"/>
          <p:nvPr/>
        </p:nvSpPr>
        <p:spPr>
          <a:xfrm>
            <a:off x="5728715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38" name="!!t6_nav4"/>
          <p:cNvSpPr txBox="1"/>
          <p:nvPr/>
        </p:nvSpPr>
        <p:spPr>
          <a:xfrm>
            <a:off x="7394447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39" name="!!t6_nav5"/>
          <p:cNvSpPr txBox="1"/>
          <p:nvPr/>
        </p:nvSpPr>
        <p:spPr>
          <a:xfrm>
            <a:off x="9060179" y="6565392"/>
            <a:ext cx="166573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Conclusão</a:t>
            </a:r>
          </a:p>
        </p:txBody>
      </p:sp>
      <p:sp>
        <p:nvSpPr>
          <p:cNvPr id="40" name="!!t6_nav_ativa"/>
          <p:cNvSpPr/>
          <p:nvPr/>
        </p:nvSpPr>
        <p:spPr>
          <a:xfrm>
            <a:off x="9481565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t6_num"/>
          <p:cNvSpPr txBox="1"/>
          <p:nvPr/>
        </p:nvSpPr>
        <p:spPr>
          <a:xfrm>
            <a:off x="10863071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CA4CB-FC8F-E7CE-BF85-D20C627A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!!risca"/>
          <p:cNvSpPr/>
          <p:nvPr/>
        </p:nvSpPr>
        <p:spPr>
          <a:xfrm>
            <a:off x="731520" y="3230000"/>
            <a:ext cx="1005840" cy="36576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99A72-77AC-8217-4D08-A8B49FEEE24E}"/>
              </a:ext>
            </a:extLst>
          </p:cNvPr>
          <p:cNvSpPr txBox="1"/>
          <p:nvPr/>
        </p:nvSpPr>
        <p:spPr>
          <a:xfrm>
            <a:off x="731520" y="1750000"/>
            <a:ext cx="5788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600" b="0" spc="500">
                <a:solidFill>
                  <a:srgbClr val="FFB531"/>
                </a:solidFill>
                <a:latin typeface="Segoe UI Semibold"/>
              </a:rPr>
              <a:t>KAIROS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290D6-2EB0-BB5D-D448-220E46A92B64}"/>
              </a:ext>
            </a:extLst>
          </p:cNvPr>
          <p:cNvSpPr txBox="1"/>
          <p:nvPr/>
        </p:nvSpPr>
        <p:spPr>
          <a:xfrm>
            <a:off x="731520" y="3420000"/>
            <a:ext cx="5788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0" spc="20">
                <a:solidFill>
                  <a:srgbClr val="FFFFFF"/>
                </a:solidFill>
                <a:latin typeface="Segoe UI Semibold"/>
              </a:rPr>
              <a:t>A opinião vem de quem tem dinheiro em risco. A medida vem do Black-Litterman.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231AA-A8C0-C4DA-F7CD-E18C762D8673}"/>
              </a:ext>
            </a:extLst>
          </p:cNvPr>
          <p:cNvSpPr txBox="1"/>
          <p:nvPr/>
        </p:nvSpPr>
        <p:spPr>
          <a:xfrm>
            <a:off x="731520" y="4600000"/>
            <a:ext cx="57881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1" err="1">
                <a:solidFill>
                  <a:srgbClr val="FFB531"/>
                </a:solidFill>
                <a:latin typeface="Georgia"/>
              </a:rPr>
              <a:t>Kairós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: a </a:t>
            </a:r>
            <a:r>
              <a:rPr sz="1800" b="0" i="1" err="1">
                <a:solidFill>
                  <a:srgbClr val="D5D9E0"/>
                </a:solidFill>
                <a:latin typeface="Georgia"/>
              </a:rPr>
              <a:t>carteira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 </a:t>
            </a:r>
            <a:r>
              <a:rPr sz="1800" b="0" i="1" err="1">
                <a:solidFill>
                  <a:srgbClr val="D5D9E0"/>
                </a:solidFill>
                <a:latin typeface="Georgia"/>
              </a:rPr>
              <a:t>só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 se move </a:t>
            </a:r>
            <a:r>
              <a:rPr sz="1800" b="0" i="1" err="1">
                <a:solidFill>
                  <a:srgbClr val="D5D9E0"/>
                </a:solidFill>
                <a:latin typeface="Georgia"/>
              </a:rPr>
              <a:t>quando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 a </a:t>
            </a:r>
            <a:r>
              <a:rPr sz="1800" b="0" i="1" err="1">
                <a:solidFill>
                  <a:srgbClr val="D5D9E0"/>
                </a:solidFill>
                <a:latin typeface="Georgia"/>
              </a:rPr>
              <a:t>probabilidade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 se move. </a:t>
            </a:r>
            <a:r>
              <a:rPr sz="1800" b="0" i="1" err="1">
                <a:solidFill>
                  <a:srgbClr val="D5D9E0"/>
                </a:solidFill>
                <a:latin typeface="Georgia"/>
              </a:rPr>
              <a:t>Obrigado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 pela </a:t>
            </a:r>
            <a:r>
              <a:rPr sz="1800" b="0" i="1" err="1">
                <a:solidFill>
                  <a:srgbClr val="D5D9E0"/>
                </a:solidFill>
                <a:latin typeface="Georgia"/>
              </a:rPr>
              <a:t>oportunidade</a:t>
            </a:r>
            <a:r>
              <a:rPr sz="1800" b="0" i="1">
                <a:solidFill>
                  <a:srgbClr val="D5D9E0"/>
                </a:solidFill>
                <a:latin typeface="Georgia"/>
              </a:rPr>
              <a:t>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81CF7BA-CCFB-7A3B-4C58-E2143E1F30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5728716" y="732282"/>
            <a:ext cx="5788152" cy="5788152"/>
          </a:xfrm>
          <a:prstGeom prst="rect">
            <a:avLst/>
          </a:prstGeom>
        </p:spPr>
      </p:pic>
      <p:sp>
        <p:nvSpPr>
          <p:cNvPr id="31" name="!!t6_hdr"/>
          <p:cNvSpPr txBox="1"/>
          <p:nvPr/>
        </p:nvSpPr>
        <p:spPr>
          <a:xfrm>
            <a:off x="731520" y="347472"/>
            <a:ext cx="93223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Segoe UI Semibold"/>
              </a:rPr>
              <a:t>Fechamento</a:t>
            </a:r>
          </a:p>
        </p:txBody>
      </p:sp>
      <p:sp>
        <p:nvSpPr>
          <p:cNvPr id="32" name="!!t6_marca"/>
          <p:cNvSpPr txBox="1"/>
          <p:nvPr/>
        </p:nvSpPr>
        <p:spPr>
          <a:xfrm>
            <a:off x="10145268" y="3474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300">
                <a:solidFill>
                  <a:srgbClr val="FFB531"/>
                </a:solidFill>
                <a:latin typeface="Segoe UI Semibold"/>
              </a:rPr>
              <a:t>KAIRÓS</a:t>
            </a:r>
          </a:p>
        </p:txBody>
      </p:sp>
      <p:sp>
        <p:nvSpPr>
          <p:cNvPr id="33" name="!!t6_regua"/>
          <p:cNvSpPr/>
          <p:nvPr/>
        </p:nvSpPr>
        <p:spPr>
          <a:xfrm>
            <a:off x="731520" y="868680"/>
            <a:ext cx="10785348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t6_nav_regua"/>
          <p:cNvSpPr/>
          <p:nvPr/>
        </p:nvSpPr>
        <p:spPr>
          <a:xfrm>
            <a:off x="731520" y="6528816"/>
            <a:ext cx="10785348" cy="9144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t6_nav0"/>
          <p:cNvSpPr txBox="1"/>
          <p:nvPr/>
        </p:nvSpPr>
        <p:spPr>
          <a:xfrm>
            <a:off x="731520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Hipótese</a:t>
            </a:r>
          </a:p>
        </p:txBody>
      </p:sp>
      <p:sp>
        <p:nvSpPr>
          <p:cNvPr id="36" name="!!t6_nav1"/>
          <p:cNvSpPr txBox="1"/>
          <p:nvPr/>
        </p:nvSpPr>
        <p:spPr>
          <a:xfrm>
            <a:off x="2407158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Polymarket</a:t>
            </a:r>
          </a:p>
        </p:txBody>
      </p:sp>
      <p:sp>
        <p:nvSpPr>
          <p:cNvPr id="37" name="!!t6_nav2"/>
          <p:cNvSpPr txBox="1"/>
          <p:nvPr/>
        </p:nvSpPr>
        <p:spPr>
          <a:xfrm>
            <a:off x="4082796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Estratégia</a:t>
            </a:r>
          </a:p>
        </p:txBody>
      </p:sp>
      <p:sp>
        <p:nvSpPr>
          <p:cNvPr id="38" name="!!t6_nav3"/>
          <p:cNvSpPr txBox="1"/>
          <p:nvPr/>
        </p:nvSpPr>
        <p:spPr>
          <a:xfrm>
            <a:off x="5758433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Backtest</a:t>
            </a:r>
          </a:p>
        </p:txBody>
      </p:sp>
      <p:sp>
        <p:nvSpPr>
          <p:cNvPr id="39" name="!!t6_nav4"/>
          <p:cNvSpPr txBox="1"/>
          <p:nvPr/>
        </p:nvSpPr>
        <p:spPr>
          <a:xfrm>
            <a:off x="7434071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9AA3AF"/>
                </a:solidFill>
                <a:latin typeface="Segoe UI"/>
              </a:rPr>
              <a:t>IA</a:t>
            </a:r>
          </a:p>
        </p:txBody>
      </p:sp>
      <p:sp>
        <p:nvSpPr>
          <p:cNvPr id="40" name="!!t6_nav5"/>
          <p:cNvSpPr txBox="1"/>
          <p:nvPr/>
        </p:nvSpPr>
        <p:spPr>
          <a:xfrm>
            <a:off x="9109710" y="6565392"/>
            <a:ext cx="16756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 Semibold"/>
              </a:rPr>
              <a:t>Conclusão</a:t>
            </a:r>
          </a:p>
        </p:txBody>
      </p:sp>
      <p:sp>
        <p:nvSpPr>
          <p:cNvPr id="41" name="!!t6_nav_ativa"/>
          <p:cNvSpPr/>
          <p:nvPr/>
        </p:nvSpPr>
        <p:spPr>
          <a:xfrm>
            <a:off x="9536049" y="6812280"/>
            <a:ext cx="822960" cy="27432"/>
          </a:xfrm>
          <a:prstGeom prst="rect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t6_num"/>
          <p:cNvSpPr txBox="1"/>
          <p:nvPr/>
        </p:nvSpPr>
        <p:spPr>
          <a:xfrm>
            <a:off x="10922508" y="6565392"/>
            <a:ext cx="594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9AA3AF"/>
                </a:solidFill>
                <a:latin typeface="Segoe U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1052720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9D52D9-1779-4941-B3DA-5CEB1F4AA40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e9944b0-24b6-4375-a098-1dec6af89d51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35a1f2-045e-406e-9012-0da5bc3d675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2EDF0E61071D4A988766A1D842EE02" ma:contentTypeVersion="11" ma:contentTypeDescription="Create a new document." ma:contentTypeScope="" ma:versionID="f60ea137259014db3749b1426b44c72e">
  <xsd:schema xmlns:xsd="http://www.w3.org/2001/XMLSchema" xmlns:xs="http://www.w3.org/2001/XMLSchema" xmlns:p="http://schemas.microsoft.com/office/2006/metadata/properties" xmlns:ns3="3635a1f2-045e-406e-9012-0da5bc3d6757" targetNamespace="http://schemas.microsoft.com/office/2006/metadata/properties" ma:root="true" ma:fieldsID="a9b12bf162acc9ff7f28d876283cec31" ns3:_="">
    <xsd:import namespace="3635a1f2-045e-406e-9012-0da5bc3d675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5a1f2-045e-406e-9012-0da5bc3d675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1013D8-329A-4C6F-975A-30CCA4B191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59ED2E-B235-4138-9298-B5C9246350F2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3635a1f2-045e-406e-9012-0da5bc3d6757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B6C67F8-F3DB-4580-A708-6B16170404A8}">
  <ds:schemaRefs>
    <ds:schemaRef ds:uri="3635a1f2-045e-406e-9012-0da5bc3d67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KAIROS_FINAL</Template>
  <TotalTime>5</TotalTime>
  <Words>7180</Words>
  <Application>Microsoft Office PowerPoint</Application>
  <PresentationFormat>Widescreen</PresentationFormat>
  <Paragraphs>730</Paragraphs>
  <Slides>33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33</vt:i4>
      </vt:variant>
    </vt:vector>
  </HeadingPairs>
  <TitlesOfParts>
    <vt:vector size="47" baseType="lpstr">
      <vt:lpstr>Aptos</vt:lpstr>
      <vt:lpstr>Aptos Display</vt:lpstr>
      <vt:lpstr>Arial</vt:lpstr>
      <vt:lpstr>Bahnschrift</vt:lpstr>
      <vt:lpstr>Bahnschrift SemiBold</vt:lpstr>
      <vt:lpstr>Bahnschrift SemiBold Condensed</vt:lpstr>
      <vt:lpstr>Bahnschrift SemiLight</vt:lpstr>
      <vt:lpstr>Calibri</vt:lpstr>
      <vt:lpstr>Consolas</vt:lpstr>
      <vt:lpstr>Georgia</vt:lpstr>
      <vt:lpstr>Segoe UI</vt:lpstr>
      <vt:lpstr>Segoe UI Semibold</vt:lpstr>
      <vt:lpstr>Tema do Office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Felipe da Costa Menusier</dc:creator>
  <cp:keywords/>
  <dc:description>generated using python-pptx</dc:description>
  <cp:lastModifiedBy>Felipe da Costa Menusier</cp:lastModifiedBy>
  <cp:revision>1</cp:revision>
  <dcterms:created xsi:type="dcterms:W3CDTF">2026-09-19T00:53:42Z</dcterms:created>
  <dcterms:modified xsi:type="dcterms:W3CDTF">2026-09-19T00:58:52Z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0x0101004A2EDF0E61071D4A988766A1D842EE02</vt:lpwstr>
  </property>
</Properties>
</file>