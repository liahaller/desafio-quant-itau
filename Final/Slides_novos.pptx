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87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A33C7A-AC3C-4559-8D6A-EE8E5DF7326C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C60552-2E90-46EF-9EBD-6D930DD610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4394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2026-01-27: E_poly = -0.2 bps · juros (DTB3 − DFF) = -5.0 bps · surpresa bruta +4.8 · líquida -0.2 bps · 1 pregão até a reunião.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2025-09-16: E_poly = -26.9 bps · juros (DTB3 − DFF) = -42.0 bps · surpresa bruta +15.1 · líquida +9.1 bps · 1 pregão até a reunião.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Gráficos da página 5 do relatório (Uteis/graficos/p5_*.png, graficos_p5.py; corte de 15/08, 91 sessões dos três LOGs). Esforço: 31/54/15 % das sessões e 25/71/4 % dos tokens. Erros: 145, 88 % pegos na própria sessão. Peneira: GRUPOS do slide 8 da semi. Uma que caiu: momentum do sinal, VR 0,97–1,18 (Premissa_tendencia.md).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Fonte: scripts/estudo_polymarket.py → Uteis/analises/Metricas_estudo.md; guia de leitura em Final/estudo/Guia_slide16.md. Amostra = todo o dado macro do repo (FOMC 76 faixas/18 reuniões, CPI 74 faixas/12 meses), sem exclusão. Brier 0,043 [0,022; 0,067]; calibração b = 1,04 (p = 0,15); FF = proxy DTB3−DFF corrigido do viés (cru: 8,9 bps), DM p = 0,002; 17/17 no desfecho modal. Terceira informação, se pedirem: o movimento do preço não é sinal (VR(5) = 0,78 &lt; 1, Δp com t ≈ 0) — por isso usamos o nível, não o Δp. Detalhe nos apêndices A1–A3.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Tabela: Uteis/dados/estudo/brier_horizonte.csv (IC por bootstrap de evento). BSS = 1 − Brier/Brier da uniforme (1/K por faixa): 0,73 pooled na véspera; FOMC 0,96, CPI 0,42. A 60 dias o FOMC ainda tem BSS 0,67.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Tabelas: Uteis/dados/estudo/fomc_vs_ff.csv, encompassing.csv, leadlag_*.csv. DM com correção HLN; n = 17-18 reuniões por horizonte. A 60 dias a vantagem some (p = 0,76). Granger com Newey-West: t = 1,8 (poly → FF) e 1,9 (FF → poly).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Tabelas: Uteis/dados/estudo/event_study.csv e martingale.csv. FOMC n = 17; a surpresa-FF corrigida explica mais (R² médio 0,19 vs 0,08) porque carrega o caminho de 3 meses, não porque o Polymarket erre. CPI: R² ≈ 0 para as duas. VR(5) por família: FOMC 0,78, CPI 0,72, payrolls 0,43 — nenhuma &gt;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Como funciona o Polymarket</a:t>
            </a:r>
          </a:p>
        </p:txBody>
      </p:sp>
      <p:sp>
        <p:nvSpPr>
          <p:cNvPr id="7" name="s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03</a:t>
            </a:r>
          </a:p>
        </p:txBody>
      </p:sp>
      <p:cxnSp>
        <p:nvCxnSpPr>
          <p:cNvPr id="8" name="s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contrato paga US$ 1 se o evento acontece. O preço é a probabilidade.</a:t>
            </a:r>
          </a:p>
        </p:txBody>
      </p:sp>
      <p:cxnSp>
        <p:nvCxnSpPr>
          <p:cNvPr id="10" name="s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3_11"/>
          <p:cNvSpPr/>
          <p:nvPr/>
        </p:nvSpPr>
        <p:spPr>
          <a:xfrm>
            <a:off x="731520" y="1600200"/>
            <a:ext cx="4160520" cy="29718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s3_12"/>
          <p:cNvSpPr txBox="1"/>
          <p:nvPr/>
        </p:nvSpPr>
        <p:spPr>
          <a:xfrm>
            <a:off x="987552" y="180136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MERCADO REAL  ·  POLYMARKET</a:t>
            </a:r>
          </a:p>
        </p:txBody>
      </p:sp>
      <p:sp>
        <p:nvSpPr>
          <p:cNvPr id="15" name="s3_13"/>
          <p:cNvSpPr txBox="1"/>
          <p:nvPr/>
        </p:nvSpPr>
        <p:spPr>
          <a:xfrm>
            <a:off x="987552" y="2057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F5F7FB"/>
                </a:solidFill>
                <a:latin typeface="Bahnschrift SemiBold"/>
              </a:rPr>
              <a:t>Fed decision in September 2025?</a:t>
            </a:r>
          </a:p>
        </p:txBody>
      </p:sp>
      <p:cxnSp>
        <p:nvCxnSpPr>
          <p:cNvPr id="16" name="s3_14"/>
          <p:cNvCxnSpPr/>
          <p:nvPr/>
        </p:nvCxnSpPr>
        <p:spPr>
          <a:xfrm>
            <a:off x="987552" y="2496312"/>
            <a:ext cx="3648455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3_15"/>
          <p:cNvSpPr txBox="1"/>
          <p:nvPr/>
        </p:nvSpPr>
        <p:spPr>
          <a:xfrm>
            <a:off x="987552" y="2606040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Light"/>
              </a:rPr>
              <a:t>corte de 25 bps</a:t>
            </a:r>
          </a:p>
        </p:txBody>
      </p:sp>
      <p:sp>
        <p:nvSpPr>
          <p:cNvPr id="18" name="s3_16"/>
          <p:cNvSpPr txBox="1"/>
          <p:nvPr/>
        </p:nvSpPr>
        <p:spPr>
          <a:xfrm>
            <a:off x="3931920" y="2606040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B531"/>
                </a:solidFill>
                <a:latin typeface="Consolas"/>
              </a:rPr>
              <a:t>90¢</a:t>
            </a:r>
          </a:p>
        </p:txBody>
      </p:sp>
      <p:sp>
        <p:nvSpPr>
          <p:cNvPr id="19" name="s3_17"/>
          <p:cNvSpPr/>
          <p:nvPr/>
        </p:nvSpPr>
        <p:spPr>
          <a:xfrm>
            <a:off x="987552" y="2880360"/>
            <a:ext cx="3301852" cy="45720"/>
          </a:xfrm>
          <a:prstGeom prst="rect">
            <a:avLst/>
          </a:prstGeom>
          <a:solidFill>
            <a:srgbClr val="FFB531"/>
          </a:solidFill>
          <a:ln>
            <a:noFill/>
          </a:ln>
          <a:effectLst>
            <a:glow rad="40000">
              <a:srgbClr val="FFB531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3_18"/>
          <p:cNvSpPr txBox="1"/>
          <p:nvPr/>
        </p:nvSpPr>
        <p:spPr>
          <a:xfrm>
            <a:off x="987552" y="3026664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corte de 50+ bps</a:t>
            </a:r>
          </a:p>
        </p:txBody>
      </p:sp>
      <p:sp>
        <p:nvSpPr>
          <p:cNvPr id="21" name="s3_19"/>
          <p:cNvSpPr txBox="1"/>
          <p:nvPr/>
        </p:nvSpPr>
        <p:spPr>
          <a:xfrm>
            <a:off x="3931920" y="3026664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7¢</a:t>
            </a:r>
          </a:p>
        </p:txBody>
      </p:sp>
      <p:sp>
        <p:nvSpPr>
          <p:cNvPr id="22" name="s3_20"/>
          <p:cNvSpPr/>
          <p:nvPr/>
        </p:nvSpPr>
        <p:spPr>
          <a:xfrm>
            <a:off x="987552" y="3300984"/>
            <a:ext cx="25356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s3_21"/>
          <p:cNvSpPr txBox="1"/>
          <p:nvPr/>
        </p:nvSpPr>
        <p:spPr>
          <a:xfrm>
            <a:off x="987552" y="34472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sem mudança</a:t>
            </a:r>
          </a:p>
        </p:txBody>
      </p:sp>
      <p:sp>
        <p:nvSpPr>
          <p:cNvPr id="24" name="s3_22"/>
          <p:cNvSpPr txBox="1"/>
          <p:nvPr/>
        </p:nvSpPr>
        <p:spPr>
          <a:xfrm>
            <a:off x="3931920" y="3447288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2¢</a:t>
            </a:r>
          </a:p>
        </p:txBody>
      </p:sp>
      <p:sp>
        <p:nvSpPr>
          <p:cNvPr id="25" name="s3_23"/>
          <p:cNvSpPr/>
          <p:nvPr/>
        </p:nvSpPr>
        <p:spPr>
          <a:xfrm>
            <a:off x="987552" y="3721608"/>
            <a:ext cx="8938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3_24"/>
          <p:cNvSpPr txBox="1"/>
          <p:nvPr/>
        </p:nvSpPr>
        <p:spPr>
          <a:xfrm>
            <a:off x="987552" y="386791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alta de 25+ bps</a:t>
            </a:r>
          </a:p>
        </p:txBody>
      </p:sp>
      <p:sp>
        <p:nvSpPr>
          <p:cNvPr id="27" name="s3_25"/>
          <p:cNvSpPr txBox="1"/>
          <p:nvPr/>
        </p:nvSpPr>
        <p:spPr>
          <a:xfrm>
            <a:off x="3931920" y="3867912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0¢</a:t>
            </a:r>
          </a:p>
        </p:txBody>
      </p:sp>
      <p:sp>
        <p:nvSpPr>
          <p:cNvPr id="28" name="s3_26"/>
          <p:cNvSpPr/>
          <p:nvPr/>
        </p:nvSpPr>
        <p:spPr>
          <a:xfrm>
            <a:off x="987552" y="4142232"/>
            <a:ext cx="27432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3_27"/>
          <p:cNvSpPr txBox="1"/>
          <p:nvPr/>
        </p:nvSpPr>
        <p:spPr>
          <a:xfrm>
            <a:off x="987552" y="418795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US$ 221 mi negociados  ·  leitura de 16/09/2025, véspera</a:t>
            </a:r>
          </a:p>
        </p:txBody>
      </p:sp>
      <p:sp>
        <p:nvSpPr>
          <p:cNvPr id="30" name="s3_28"/>
          <p:cNvSpPr txBox="1"/>
          <p:nvPr/>
        </p:nvSpPr>
        <p:spPr>
          <a:xfrm>
            <a:off x="5251760" y="1508760"/>
            <a:ext cx="5943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A PROBABILIDADE ANDA ATÉ VIRAR 0 OU 100</a:t>
            </a:r>
          </a:p>
        </p:txBody>
      </p:sp>
      <p:pic>
        <p:nvPicPr>
          <p:cNvPr id="31" name="s3_29" descr="s3_fed_set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754" y="1742520"/>
            <a:ext cx="6382512" cy="3236845"/>
          </a:xfrm>
          <a:prstGeom prst="rect">
            <a:avLst/>
          </a:prstGeom>
        </p:spPr>
      </p:pic>
      <p:sp>
        <p:nvSpPr>
          <p:cNvPr id="32" name="s3_30"/>
          <p:cNvSpPr/>
          <p:nvPr/>
        </p:nvSpPr>
        <p:spPr>
          <a:xfrm>
            <a:off x="73152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s3_31"/>
          <p:cNvSpPr txBox="1"/>
          <p:nvPr/>
        </p:nvSpPr>
        <p:spPr>
          <a:xfrm>
            <a:off x="960120" y="5029200"/>
            <a:ext cx="21031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90,1%</a:t>
            </a:r>
          </a:p>
        </p:txBody>
      </p:sp>
      <p:sp>
        <p:nvSpPr>
          <p:cNvPr id="34" name="s3_32"/>
          <p:cNvSpPr txBox="1"/>
          <p:nvPr/>
        </p:nvSpPr>
        <p:spPr>
          <a:xfrm>
            <a:off x="960120" y="5696712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de acerto a 1 mês da resolução</a:t>
            </a:r>
          </a:p>
        </p:txBody>
      </p:sp>
      <p:sp>
        <p:nvSpPr>
          <p:cNvPr id="35" name="s3_33"/>
          <p:cNvSpPr/>
          <p:nvPr/>
        </p:nvSpPr>
        <p:spPr>
          <a:xfrm>
            <a:off x="342900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s3_34"/>
          <p:cNvSpPr txBox="1"/>
          <p:nvPr/>
        </p:nvSpPr>
        <p:spPr>
          <a:xfrm>
            <a:off x="3657600" y="5029200"/>
            <a:ext cx="21031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US$ 26,2 bi</a:t>
            </a:r>
          </a:p>
        </p:txBody>
      </p:sp>
      <p:sp>
        <p:nvSpPr>
          <p:cNvPr id="37" name="s3_35"/>
          <p:cNvSpPr txBox="1"/>
          <p:nvPr/>
        </p:nvSpPr>
        <p:spPr>
          <a:xfrm>
            <a:off x="3657600" y="5696712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negociados no 1º tri de 2026</a:t>
            </a:r>
          </a:p>
        </p:txBody>
      </p:sp>
      <p:sp>
        <p:nvSpPr>
          <p:cNvPr id="38" name="s3_36"/>
          <p:cNvSpPr/>
          <p:nvPr/>
        </p:nvSpPr>
        <p:spPr>
          <a:xfrm>
            <a:off x="6126480" y="4828032"/>
            <a:ext cx="5330951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s3_37"/>
          <p:cNvSpPr txBox="1"/>
          <p:nvPr/>
        </p:nvSpPr>
        <p:spPr>
          <a:xfrm>
            <a:off x="6382512" y="502920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O QUE O KAIROS LÊ</a:t>
            </a:r>
          </a:p>
        </p:txBody>
      </p:sp>
      <p:sp>
        <p:nvSpPr>
          <p:cNvPr id="40" name="s3_38"/>
          <p:cNvSpPr txBox="1"/>
          <p:nvPr/>
        </p:nvSpPr>
        <p:spPr>
          <a:xfrm>
            <a:off x="6382512" y="5303520"/>
            <a:ext cx="481888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O preço de cada desfecho, duas vezes por dia.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Sempre a leitura anterior à abertura da bolsa — nunca a do dia.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Quem errar perde dinheiro de verdade.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É o que faz do preço uma opinião com custo, não uma pesquisa.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4a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mesmo dia, duas previsões</a:t>
            </a:r>
          </a:p>
        </p:txBody>
      </p:sp>
      <p:sp>
        <p:nvSpPr>
          <p:cNvPr id="7" name="s4a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04</a:t>
            </a:r>
          </a:p>
        </p:txBody>
      </p:sp>
      <p:cxnSp>
        <p:nvCxnSpPr>
          <p:cNvPr id="8" name="s4a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4a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Na maioria dos dias, Polymarket e mercado esperam a mesma coisa.</a:t>
            </a:r>
          </a:p>
        </p:txBody>
      </p:sp>
      <p:cxnSp>
        <p:nvCxnSpPr>
          <p:cNvPr id="10" name="s4a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!!faixa"/>
          <p:cNvSpPr/>
          <p:nvPr/>
        </p:nvSpPr>
        <p:spPr>
          <a:xfrm>
            <a:off x="731520" y="157276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s4a_12"/>
          <p:cNvSpPr txBox="1"/>
          <p:nvPr/>
        </p:nvSpPr>
        <p:spPr>
          <a:xfrm>
            <a:off x="987552" y="1700784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VÉSPERA DO FED</a:t>
            </a:r>
            <a:r>
              <a:rPr sz="900" b="0" i="0" spc="60">
                <a:solidFill>
                  <a:srgbClr val="8395B5"/>
                </a:solidFill>
                <a:latin typeface="Consolas"/>
              </a:rPr>
              <a:t>   27/01/2026</a:t>
            </a:r>
          </a:p>
        </p:txBody>
      </p:sp>
      <p:sp>
        <p:nvSpPr>
          <p:cNvPr id="15" name="s4a_13"/>
          <p:cNvSpPr txBox="1"/>
          <p:nvPr/>
        </p:nvSpPr>
        <p:spPr>
          <a:xfrm>
            <a:off x="3749039" y="1636776"/>
            <a:ext cx="7434071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Surpresa de 0 bps. 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Polymarket e juros precificam a mesma decisão — o Kairós não tem opinião e carrega a carteira do mercado.</a:t>
            </a:r>
          </a:p>
        </p:txBody>
      </p:sp>
      <p:cxnSp>
        <p:nvCxnSpPr>
          <p:cNvPr id="16" name="!!grade_-1.5"/>
          <p:cNvCxnSpPr/>
          <p:nvPr/>
        </p:nvCxnSpPr>
        <p:spPr>
          <a:xfrm>
            <a:off x="42062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!!tick_-1.5"/>
          <p:cNvSpPr txBox="1"/>
          <p:nvPr/>
        </p:nvSpPr>
        <p:spPr>
          <a:xfrm>
            <a:off x="3749039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-1,5%</a:t>
            </a:r>
          </a:p>
        </p:txBody>
      </p:sp>
      <p:cxnSp>
        <p:nvCxnSpPr>
          <p:cNvPr id="18" name="!!grade_-1.0"/>
          <p:cNvCxnSpPr/>
          <p:nvPr/>
        </p:nvCxnSpPr>
        <p:spPr>
          <a:xfrm>
            <a:off x="58064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!!tick_-1.0"/>
          <p:cNvSpPr txBox="1"/>
          <p:nvPr/>
        </p:nvSpPr>
        <p:spPr>
          <a:xfrm>
            <a:off x="5349240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-1,0%</a:t>
            </a:r>
          </a:p>
        </p:txBody>
      </p:sp>
      <p:cxnSp>
        <p:nvCxnSpPr>
          <p:cNvPr id="20" name="!!grade_-0.5"/>
          <p:cNvCxnSpPr/>
          <p:nvPr/>
        </p:nvCxnSpPr>
        <p:spPr>
          <a:xfrm>
            <a:off x="74066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!!tick_-0.5"/>
          <p:cNvSpPr txBox="1"/>
          <p:nvPr/>
        </p:nvSpPr>
        <p:spPr>
          <a:xfrm>
            <a:off x="6949440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-0,5%</a:t>
            </a:r>
          </a:p>
        </p:txBody>
      </p:sp>
      <p:cxnSp>
        <p:nvCxnSpPr>
          <p:cNvPr id="22" name="!!grade_0.0"/>
          <p:cNvCxnSpPr/>
          <p:nvPr/>
        </p:nvCxnSpPr>
        <p:spPr>
          <a:xfrm>
            <a:off x="9006839" y="2231136"/>
            <a:ext cx="0" cy="3584448"/>
          </a:xfrm>
          <a:prstGeom prst="line">
            <a:avLst/>
          </a:prstGeom>
          <a:ln w="1587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tick_0.0"/>
          <p:cNvSpPr txBox="1"/>
          <p:nvPr/>
        </p:nvSpPr>
        <p:spPr>
          <a:xfrm>
            <a:off x="8549639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0,0%</a:t>
            </a:r>
          </a:p>
        </p:txBody>
      </p:sp>
      <p:cxnSp>
        <p:nvCxnSpPr>
          <p:cNvPr id="24" name="!!grade_0.5"/>
          <p:cNvCxnSpPr/>
          <p:nvPr/>
        </p:nvCxnSpPr>
        <p:spPr>
          <a:xfrm>
            <a:off x="10607039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!!tick_0.5"/>
          <p:cNvSpPr txBox="1"/>
          <p:nvPr/>
        </p:nvSpPr>
        <p:spPr>
          <a:xfrm>
            <a:off x="10149839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+0,5%</a:t>
            </a:r>
          </a:p>
        </p:txBody>
      </p:sp>
      <p:sp>
        <p:nvSpPr>
          <p:cNvPr id="26" name="!!eixo_rot"/>
          <p:cNvSpPr txBox="1"/>
          <p:nvPr/>
        </p:nvSpPr>
        <p:spPr>
          <a:xfrm>
            <a:off x="731520" y="5852160"/>
            <a:ext cx="23317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395B5"/>
                </a:solidFill>
                <a:latin typeface="Consolas"/>
              </a:rPr>
              <a:t>retorno esperado no dia do anúncio  →</a:t>
            </a:r>
          </a:p>
        </p:txBody>
      </p:sp>
      <p:sp>
        <p:nvSpPr>
          <p:cNvPr id="27" name="!!etf_XLK"/>
          <p:cNvSpPr txBox="1"/>
          <p:nvPr/>
        </p:nvSpPr>
        <p:spPr>
          <a:xfrm>
            <a:off x="731520" y="235000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XLK</a:t>
            </a:r>
          </a:p>
        </p:txBody>
      </p:sp>
      <p:sp>
        <p:nvSpPr>
          <p:cNvPr id="28" name="!!setor_XLK"/>
          <p:cNvSpPr txBox="1"/>
          <p:nvPr/>
        </p:nvSpPr>
        <p:spPr>
          <a:xfrm>
            <a:off x="1389888" y="2350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tecnologia</a:t>
            </a:r>
          </a:p>
        </p:txBody>
      </p:sp>
      <p:cxnSp>
        <p:nvCxnSpPr>
          <p:cNvPr id="29" name="!!trilho_XLK"/>
          <p:cNvCxnSpPr/>
          <p:nvPr/>
        </p:nvCxnSpPr>
        <p:spPr>
          <a:xfrm>
            <a:off x="3246120" y="248716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!!lig_XLK"/>
          <p:cNvCxnSpPr/>
          <p:nvPr/>
        </p:nvCxnSpPr>
        <p:spPr>
          <a:xfrm>
            <a:off x="9149913" y="2487168"/>
            <a:ext cx="116165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!!pm_XLK"/>
          <p:cNvSpPr/>
          <p:nvPr/>
        </p:nvSpPr>
        <p:spPr>
          <a:xfrm>
            <a:off x="9179210" y="240030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!!mk_XLK"/>
          <p:cNvSpPr/>
          <p:nvPr/>
        </p:nvSpPr>
        <p:spPr>
          <a:xfrm>
            <a:off x="9090477" y="242773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!!val_XLK"/>
          <p:cNvSpPr txBox="1"/>
          <p:nvPr/>
        </p:nvSpPr>
        <p:spPr>
          <a:xfrm>
            <a:off x="9421526" y="2368296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+ 0,08%</a:t>
            </a:r>
          </a:p>
        </p:txBody>
      </p:sp>
      <p:sp>
        <p:nvSpPr>
          <p:cNvPr id="34" name="!!etf_SPY"/>
          <p:cNvSpPr txBox="1"/>
          <p:nvPr/>
        </p:nvSpPr>
        <p:spPr>
          <a:xfrm>
            <a:off x="731520" y="273405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SPY</a:t>
            </a:r>
          </a:p>
        </p:txBody>
      </p:sp>
      <p:sp>
        <p:nvSpPr>
          <p:cNvPr id="35" name="!!setor_SPY"/>
          <p:cNvSpPr txBox="1"/>
          <p:nvPr/>
        </p:nvSpPr>
        <p:spPr>
          <a:xfrm>
            <a:off x="1389888" y="273405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S&amp;P 500</a:t>
            </a:r>
          </a:p>
        </p:txBody>
      </p:sp>
      <p:cxnSp>
        <p:nvCxnSpPr>
          <p:cNvPr id="36" name="!!trilho_SPY"/>
          <p:cNvCxnSpPr/>
          <p:nvPr/>
        </p:nvCxnSpPr>
        <p:spPr>
          <a:xfrm>
            <a:off x="3246120" y="287121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!!lig_SPY"/>
          <p:cNvCxnSpPr/>
          <p:nvPr/>
        </p:nvCxnSpPr>
        <p:spPr>
          <a:xfrm>
            <a:off x="9108785" y="2871216"/>
            <a:ext cx="9351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!!pm_SPY"/>
          <p:cNvSpPr/>
          <p:nvPr/>
        </p:nvSpPr>
        <p:spPr>
          <a:xfrm>
            <a:off x="9115433" y="278434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!!mk_SPY"/>
          <p:cNvSpPr/>
          <p:nvPr/>
        </p:nvSpPr>
        <p:spPr>
          <a:xfrm>
            <a:off x="9049349" y="281178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!!val_SPY"/>
          <p:cNvSpPr txBox="1"/>
          <p:nvPr/>
        </p:nvSpPr>
        <p:spPr>
          <a:xfrm>
            <a:off x="9357749" y="275234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+ 0,06%</a:t>
            </a:r>
          </a:p>
        </p:txBody>
      </p:sp>
      <p:sp>
        <p:nvSpPr>
          <p:cNvPr id="41" name="!!etf_XLF"/>
          <p:cNvSpPr txBox="1"/>
          <p:nvPr/>
        </p:nvSpPr>
        <p:spPr>
          <a:xfrm>
            <a:off x="731520" y="31181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XLF</a:t>
            </a:r>
          </a:p>
        </p:txBody>
      </p:sp>
      <p:sp>
        <p:nvSpPr>
          <p:cNvPr id="42" name="!!setor_XLF"/>
          <p:cNvSpPr txBox="1"/>
          <p:nvPr/>
        </p:nvSpPr>
        <p:spPr>
          <a:xfrm>
            <a:off x="1389888" y="311810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financeiro</a:t>
            </a:r>
          </a:p>
        </p:txBody>
      </p:sp>
      <p:cxnSp>
        <p:nvCxnSpPr>
          <p:cNvPr id="43" name="!!trilho_XLF"/>
          <p:cNvCxnSpPr/>
          <p:nvPr/>
        </p:nvCxnSpPr>
        <p:spPr>
          <a:xfrm>
            <a:off x="3246120" y="325526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!!lig_XLF"/>
          <p:cNvCxnSpPr/>
          <p:nvPr/>
        </p:nvCxnSpPr>
        <p:spPr>
          <a:xfrm>
            <a:off x="9087962" y="3255264"/>
            <a:ext cx="97005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!!pm_XLF"/>
          <p:cNvSpPr/>
          <p:nvPr/>
        </p:nvSpPr>
        <p:spPr>
          <a:xfrm>
            <a:off x="9098099" y="316839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!!mk_XLF"/>
          <p:cNvSpPr/>
          <p:nvPr/>
        </p:nvSpPr>
        <p:spPr>
          <a:xfrm>
            <a:off x="9028526" y="319582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!!val_XLF"/>
          <p:cNvSpPr txBox="1"/>
          <p:nvPr/>
        </p:nvSpPr>
        <p:spPr>
          <a:xfrm>
            <a:off x="9340415" y="313639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+ 0,06%</a:t>
            </a:r>
          </a:p>
        </p:txBody>
      </p:sp>
      <p:sp>
        <p:nvSpPr>
          <p:cNvPr id="48" name="!!etf_XLE"/>
          <p:cNvSpPr txBox="1"/>
          <p:nvPr/>
        </p:nvSpPr>
        <p:spPr>
          <a:xfrm>
            <a:off x="731520" y="35021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XLE</a:t>
            </a:r>
          </a:p>
        </p:txBody>
      </p:sp>
      <p:sp>
        <p:nvSpPr>
          <p:cNvPr id="49" name="!!setor_XLE"/>
          <p:cNvSpPr txBox="1"/>
          <p:nvPr/>
        </p:nvSpPr>
        <p:spPr>
          <a:xfrm>
            <a:off x="1389888" y="350215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energia</a:t>
            </a:r>
          </a:p>
        </p:txBody>
      </p:sp>
      <p:cxnSp>
        <p:nvCxnSpPr>
          <p:cNvPr id="50" name="!!trilho_XLE"/>
          <p:cNvCxnSpPr/>
          <p:nvPr/>
        </p:nvCxnSpPr>
        <p:spPr>
          <a:xfrm>
            <a:off x="3246120" y="363931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!!lig_XLE"/>
          <p:cNvCxnSpPr/>
          <p:nvPr/>
        </p:nvCxnSpPr>
        <p:spPr>
          <a:xfrm>
            <a:off x="9077378" y="3639312"/>
            <a:ext cx="5173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!!pm_XLE"/>
          <p:cNvSpPr/>
          <p:nvPr/>
        </p:nvSpPr>
        <p:spPr>
          <a:xfrm>
            <a:off x="9042246" y="355244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!!mk_XLE"/>
          <p:cNvSpPr/>
          <p:nvPr/>
        </p:nvSpPr>
        <p:spPr>
          <a:xfrm>
            <a:off x="9017942" y="357987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!!val_XLE"/>
          <p:cNvSpPr txBox="1"/>
          <p:nvPr/>
        </p:nvSpPr>
        <p:spPr>
          <a:xfrm>
            <a:off x="9284562" y="352044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+ 0,04%</a:t>
            </a:r>
          </a:p>
        </p:txBody>
      </p:sp>
      <p:sp>
        <p:nvSpPr>
          <p:cNvPr id="55" name="!!etf_XLV"/>
          <p:cNvSpPr txBox="1"/>
          <p:nvPr/>
        </p:nvSpPr>
        <p:spPr>
          <a:xfrm>
            <a:off x="731520" y="38862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XLV</a:t>
            </a:r>
          </a:p>
        </p:txBody>
      </p:sp>
      <p:sp>
        <p:nvSpPr>
          <p:cNvPr id="56" name="!!setor_XLV"/>
          <p:cNvSpPr txBox="1"/>
          <p:nvPr/>
        </p:nvSpPr>
        <p:spPr>
          <a:xfrm>
            <a:off x="1389888" y="38862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saúde</a:t>
            </a:r>
          </a:p>
        </p:txBody>
      </p:sp>
      <p:cxnSp>
        <p:nvCxnSpPr>
          <p:cNvPr id="57" name="!!trilho_XLV"/>
          <p:cNvCxnSpPr/>
          <p:nvPr/>
        </p:nvCxnSpPr>
        <p:spPr>
          <a:xfrm>
            <a:off x="3246120" y="4023360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!!lig_XLV"/>
          <p:cNvCxnSpPr/>
          <p:nvPr/>
        </p:nvCxnSpPr>
        <p:spPr>
          <a:xfrm>
            <a:off x="9055277" y="4023360"/>
            <a:ext cx="6138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!!pm_XLV"/>
          <p:cNvSpPr/>
          <p:nvPr/>
        </p:nvSpPr>
        <p:spPr>
          <a:xfrm>
            <a:off x="9029793" y="3936492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!!mk_XLV"/>
          <p:cNvSpPr/>
          <p:nvPr/>
        </p:nvSpPr>
        <p:spPr>
          <a:xfrm>
            <a:off x="8995841" y="3963924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!!val_XLV"/>
          <p:cNvSpPr txBox="1"/>
          <p:nvPr/>
        </p:nvSpPr>
        <p:spPr>
          <a:xfrm>
            <a:off x="9272109" y="3904488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+ 0,03%</a:t>
            </a:r>
          </a:p>
        </p:txBody>
      </p:sp>
      <p:sp>
        <p:nvSpPr>
          <p:cNvPr id="62" name="!!etf_XLP"/>
          <p:cNvSpPr txBox="1"/>
          <p:nvPr/>
        </p:nvSpPr>
        <p:spPr>
          <a:xfrm>
            <a:off x="731520" y="42702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XLP</a:t>
            </a:r>
          </a:p>
        </p:txBody>
      </p:sp>
      <p:sp>
        <p:nvSpPr>
          <p:cNvPr id="63" name="!!setor_XLP"/>
          <p:cNvSpPr txBox="1"/>
          <p:nvPr/>
        </p:nvSpPr>
        <p:spPr>
          <a:xfrm>
            <a:off x="1389888" y="427024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consumo básico</a:t>
            </a:r>
          </a:p>
        </p:txBody>
      </p:sp>
      <p:cxnSp>
        <p:nvCxnSpPr>
          <p:cNvPr id="64" name="!!trilho_XLP"/>
          <p:cNvCxnSpPr/>
          <p:nvPr/>
        </p:nvCxnSpPr>
        <p:spPr>
          <a:xfrm>
            <a:off x="3246120" y="440740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lig_XLP"/>
          <p:cNvCxnSpPr/>
          <p:nvPr/>
        </p:nvCxnSpPr>
        <p:spPr>
          <a:xfrm>
            <a:off x="9031137" y="4407408"/>
            <a:ext cx="71251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!!pm_XLP"/>
          <p:cNvSpPr/>
          <p:nvPr/>
        </p:nvSpPr>
        <p:spPr>
          <a:xfrm>
            <a:off x="9015520" y="432054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!!mk_XLP"/>
          <p:cNvSpPr/>
          <p:nvPr/>
        </p:nvSpPr>
        <p:spPr>
          <a:xfrm>
            <a:off x="8971701" y="434797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!!val_XLP"/>
          <p:cNvSpPr txBox="1"/>
          <p:nvPr/>
        </p:nvSpPr>
        <p:spPr>
          <a:xfrm>
            <a:off x="9257836" y="4288536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+ 0,03%</a:t>
            </a:r>
          </a:p>
        </p:txBody>
      </p:sp>
      <p:sp>
        <p:nvSpPr>
          <p:cNvPr id="69" name="!!etf_TIP"/>
          <p:cNvSpPr txBox="1"/>
          <p:nvPr/>
        </p:nvSpPr>
        <p:spPr>
          <a:xfrm>
            <a:off x="731520" y="465429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TIP</a:t>
            </a:r>
          </a:p>
        </p:txBody>
      </p:sp>
      <p:sp>
        <p:nvSpPr>
          <p:cNvPr id="70" name="!!setor_TIP"/>
          <p:cNvSpPr txBox="1"/>
          <p:nvPr/>
        </p:nvSpPr>
        <p:spPr>
          <a:xfrm>
            <a:off x="1389888" y="465429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· inflação</a:t>
            </a:r>
          </a:p>
        </p:txBody>
      </p:sp>
      <p:cxnSp>
        <p:nvCxnSpPr>
          <p:cNvPr id="71" name="!!trilho_TIP"/>
          <p:cNvCxnSpPr/>
          <p:nvPr/>
        </p:nvCxnSpPr>
        <p:spPr>
          <a:xfrm>
            <a:off x="3246120" y="479145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lig_TIP"/>
          <p:cNvCxnSpPr/>
          <p:nvPr/>
        </p:nvCxnSpPr>
        <p:spPr>
          <a:xfrm>
            <a:off x="9010412" y="4791456"/>
            <a:ext cx="2513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!!pm_TIP"/>
          <p:cNvSpPr/>
          <p:nvPr/>
        </p:nvSpPr>
        <p:spPr>
          <a:xfrm>
            <a:off x="8948678" y="470458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!!mk_TIP"/>
          <p:cNvSpPr/>
          <p:nvPr/>
        </p:nvSpPr>
        <p:spPr>
          <a:xfrm>
            <a:off x="8950976" y="473202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!!val_TIP"/>
          <p:cNvSpPr txBox="1"/>
          <p:nvPr/>
        </p:nvSpPr>
        <p:spPr>
          <a:xfrm>
            <a:off x="9190994" y="467258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+ 0,01%</a:t>
            </a:r>
          </a:p>
        </p:txBody>
      </p:sp>
      <p:sp>
        <p:nvSpPr>
          <p:cNvPr id="76" name="!!etf_XLU"/>
          <p:cNvSpPr txBox="1"/>
          <p:nvPr/>
        </p:nvSpPr>
        <p:spPr>
          <a:xfrm>
            <a:off x="731520" y="503834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XLU</a:t>
            </a:r>
          </a:p>
        </p:txBody>
      </p:sp>
      <p:sp>
        <p:nvSpPr>
          <p:cNvPr id="77" name="!!setor_XLU"/>
          <p:cNvSpPr txBox="1"/>
          <p:nvPr/>
        </p:nvSpPr>
        <p:spPr>
          <a:xfrm>
            <a:off x="1389888" y="503834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utilities</a:t>
            </a:r>
          </a:p>
        </p:txBody>
      </p:sp>
      <p:cxnSp>
        <p:nvCxnSpPr>
          <p:cNvPr id="78" name="!!trilho_XLU"/>
          <p:cNvCxnSpPr/>
          <p:nvPr/>
        </p:nvCxnSpPr>
        <p:spPr>
          <a:xfrm>
            <a:off x="3246120" y="517550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!!lig_XLU"/>
          <p:cNvCxnSpPr/>
          <p:nvPr/>
        </p:nvCxnSpPr>
        <p:spPr>
          <a:xfrm flipH="1">
            <a:off x="9035140" y="5175504"/>
            <a:ext cx="937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!!pm_XLU"/>
          <p:cNvSpPr/>
          <p:nvPr/>
        </p:nvSpPr>
        <p:spPr>
          <a:xfrm>
            <a:off x="8948272" y="508863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!!mk_XLU"/>
          <p:cNvSpPr/>
          <p:nvPr/>
        </p:nvSpPr>
        <p:spPr>
          <a:xfrm>
            <a:off x="8985078" y="511606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!!val_XLU"/>
          <p:cNvSpPr txBox="1"/>
          <p:nvPr/>
        </p:nvSpPr>
        <p:spPr>
          <a:xfrm>
            <a:off x="9190588" y="505663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+ 0,01%</a:t>
            </a:r>
          </a:p>
        </p:txBody>
      </p:sp>
      <p:sp>
        <p:nvSpPr>
          <p:cNvPr id="83" name="!!etf_TLT"/>
          <p:cNvSpPr txBox="1"/>
          <p:nvPr/>
        </p:nvSpPr>
        <p:spPr>
          <a:xfrm>
            <a:off x="731520" y="542239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TLT</a:t>
            </a:r>
          </a:p>
        </p:txBody>
      </p:sp>
      <p:sp>
        <p:nvSpPr>
          <p:cNvPr id="84" name="!!setor_TLT"/>
          <p:cNvSpPr txBox="1"/>
          <p:nvPr/>
        </p:nvSpPr>
        <p:spPr>
          <a:xfrm>
            <a:off x="1389888" y="542239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20+</a:t>
            </a:r>
          </a:p>
        </p:txBody>
      </p:sp>
      <p:cxnSp>
        <p:nvCxnSpPr>
          <p:cNvPr id="85" name="!!trilho_TLT"/>
          <p:cNvCxnSpPr/>
          <p:nvPr/>
        </p:nvCxnSpPr>
        <p:spPr>
          <a:xfrm>
            <a:off x="3246120" y="555955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!!lig_TLT"/>
          <p:cNvCxnSpPr/>
          <p:nvPr/>
        </p:nvCxnSpPr>
        <p:spPr>
          <a:xfrm>
            <a:off x="9013598" y="5559552"/>
            <a:ext cx="617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!!pm_TLT"/>
          <p:cNvSpPr/>
          <p:nvPr/>
        </p:nvSpPr>
        <p:spPr>
          <a:xfrm>
            <a:off x="8932908" y="547268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!!mk_TLT"/>
          <p:cNvSpPr/>
          <p:nvPr/>
        </p:nvSpPr>
        <p:spPr>
          <a:xfrm>
            <a:off x="8954162" y="550011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!!val_TLT"/>
          <p:cNvSpPr txBox="1"/>
          <p:nvPr/>
        </p:nvSpPr>
        <p:spPr>
          <a:xfrm>
            <a:off x="9175224" y="544068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+ 0,00%</a:t>
            </a:r>
          </a:p>
        </p:txBody>
      </p:sp>
      <p:sp>
        <p:nvSpPr>
          <p:cNvPr id="90" name="!!leg_mk"/>
          <p:cNvSpPr/>
          <p:nvPr/>
        </p:nvSpPr>
        <p:spPr>
          <a:xfrm>
            <a:off x="3259836" y="6121907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!!leg_mk_t"/>
          <p:cNvSpPr txBox="1"/>
          <p:nvPr/>
        </p:nvSpPr>
        <p:spPr>
          <a:xfrm>
            <a:off x="3465576" y="6089904"/>
            <a:ext cx="329184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MERCADO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o equilíbrio π — o prêmio normal do dia</a:t>
            </a:r>
          </a:p>
        </p:txBody>
      </p:sp>
      <p:sp>
        <p:nvSpPr>
          <p:cNvPr id="92" name="!!leg_pm"/>
          <p:cNvSpPr/>
          <p:nvPr/>
        </p:nvSpPr>
        <p:spPr>
          <a:xfrm>
            <a:off x="6880859" y="6112764"/>
            <a:ext cx="137160" cy="13716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!!leg_pm_t"/>
          <p:cNvSpPr txBox="1"/>
          <p:nvPr/>
        </p:nvSpPr>
        <p:spPr>
          <a:xfrm>
            <a:off x="7114032" y="6089904"/>
            <a:ext cx="420624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POLYMARKET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π + β × surpresa — β medido em reuniões passadas</a:t>
            </a:r>
          </a:p>
        </p:txBody>
      </p:sp>
      <p:sp>
        <p:nvSpPr>
          <p:cNvPr id="94" name="!!nota"/>
          <p:cNvSpPr txBox="1"/>
          <p:nvPr/>
        </p:nvSpPr>
        <p:spPr>
          <a:xfrm>
            <a:off x="731520" y="6336792"/>
            <a:ext cx="1072591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surpresa = o corte que o Polymarket precifica − o que o T-bill de 3 meses embute, líquida do viés do instrumento  ·  apêndices A5 e A6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4b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mesmo dia, duas previsões</a:t>
            </a:r>
          </a:p>
        </p:txBody>
      </p:sp>
      <p:sp>
        <p:nvSpPr>
          <p:cNvPr id="7" name="s4b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04</a:t>
            </a:r>
          </a:p>
        </p:txBody>
      </p:sp>
      <p:cxnSp>
        <p:nvCxnSpPr>
          <p:cNvPr id="8" name="s4b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4b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Em alguns, divergem — e é aí que o Kairós age.</a:t>
            </a:r>
          </a:p>
        </p:txBody>
      </p:sp>
      <p:cxnSp>
        <p:nvCxnSpPr>
          <p:cNvPr id="10" name="s4b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!!faixa"/>
          <p:cNvSpPr/>
          <p:nvPr/>
        </p:nvSpPr>
        <p:spPr>
          <a:xfrm>
            <a:off x="731520" y="157276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s4b_12"/>
          <p:cNvSpPr txBox="1"/>
          <p:nvPr/>
        </p:nvSpPr>
        <p:spPr>
          <a:xfrm>
            <a:off x="987552" y="1700784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VÉSPERA DO FED</a:t>
            </a:r>
            <a:r>
              <a:rPr sz="900" b="0" i="0" spc="60">
                <a:solidFill>
                  <a:srgbClr val="8395B5"/>
                </a:solidFill>
                <a:latin typeface="Consolas"/>
              </a:rPr>
              <a:t>   16/09/2025</a:t>
            </a:r>
          </a:p>
        </p:txBody>
      </p:sp>
      <p:sp>
        <p:nvSpPr>
          <p:cNvPr id="15" name="s4b_13"/>
          <p:cNvSpPr txBox="1"/>
          <p:nvPr/>
        </p:nvSpPr>
        <p:spPr>
          <a:xfrm>
            <a:off x="3749039" y="1636776"/>
            <a:ext cx="7434071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Surpresa de +9 bps. 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O Polymarket vê menos corte do que os juros embutem: dinheiro em risco discorda do preço. A conta vira retorno esperado por ETF.</a:t>
            </a:r>
          </a:p>
        </p:txBody>
      </p:sp>
      <p:cxnSp>
        <p:nvCxnSpPr>
          <p:cNvPr id="16" name="!!grade_-1.5"/>
          <p:cNvCxnSpPr/>
          <p:nvPr/>
        </p:nvCxnSpPr>
        <p:spPr>
          <a:xfrm>
            <a:off x="42062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!!tick_-1.5"/>
          <p:cNvSpPr txBox="1"/>
          <p:nvPr/>
        </p:nvSpPr>
        <p:spPr>
          <a:xfrm>
            <a:off x="3749039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-1,5%</a:t>
            </a:r>
          </a:p>
        </p:txBody>
      </p:sp>
      <p:cxnSp>
        <p:nvCxnSpPr>
          <p:cNvPr id="18" name="!!grade_-1.0"/>
          <p:cNvCxnSpPr/>
          <p:nvPr/>
        </p:nvCxnSpPr>
        <p:spPr>
          <a:xfrm>
            <a:off x="58064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!!tick_-1.0"/>
          <p:cNvSpPr txBox="1"/>
          <p:nvPr/>
        </p:nvSpPr>
        <p:spPr>
          <a:xfrm>
            <a:off x="5349240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-1,0%</a:t>
            </a:r>
          </a:p>
        </p:txBody>
      </p:sp>
      <p:cxnSp>
        <p:nvCxnSpPr>
          <p:cNvPr id="20" name="!!grade_-0.5"/>
          <p:cNvCxnSpPr/>
          <p:nvPr/>
        </p:nvCxnSpPr>
        <p:spPr>
          <a:xfrm>
            <a:off x="74066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!!tick_-0.5"/>
          <p:cNvSpPr txBox="1"/>
          <p:nvPr/>
        </p:nvSpPr>
        <p:spPr>
          <a:xfrm>
            <a:off x="6949440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-0,5%</a:t>
            </a:r>
          </a:p>
        </p:txBody>
      </p:sp>
      <p:cxnSp>
        <p:nvCxnSpPr>
          <p:cNvPr id="22" name="!!grade_0.0"/>
          <p:cNvCxnSpPr/>
          <p:nvPr/>
        </p:nvCxnSpPr>
        <p:spPr>
          <a:xfrm>
            <a:off x="9006839" y="2231136"/>
            <a:ext cx="0" cy="3584448"/>
          </a:xfrm>
          <a:prstGeom prst="line">
            <a:avLst/>
          </a:prstGeom>
          <a:ln w="1587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tick_0.0"/>
          <p:cNvSpPr txBox="1"/>
          <p:nvPr/>
        </p:nvSpPr>
        <p:spPr>
          <a:xfrm>
            <a:off x="8549639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0,0%</a:t>
            </a:r>
          </a:p>
        </p:txBody>
      </p:sp>
      <p:cxnSp>
        <p:nvCxnSpPr>
          <p:cNvPr id="24" name="!!grade_0.5"/>
          <p:cNvCxnSpPr/>
          <p:nvPr/>
        </p:nvCxnSpPr>
        <p:spPr>
          <a:xfrm>
            <a:off x="10607039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!!tick_0.5"/>
          <p:cNvSpPr txBox="1"/>
          <p:nvPr/>
        </p:nvSpPr>
        <p:spPr>
          <a:xfrm>
            <a:off x="10149839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+0,5%</a:t>
            </a:r>
          </a:p>
        </p:txBody>
      </p:sp>
      <p:sp>
        <p:nvSpPr>
          <p:cNvPr id="26" name="!!eixo_rot"/>
          <p:cNvSpPr txBox="1"/>
          <p:nvPr/>
        </p:nvSpPr>
        <p:spPr>
          <a:xfrm>
            <a:off x="731520" y="5852160"/>
            <a:ext cx="23317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395B5"/>
                </a:solidFill>
                <a:latin typeface="Consolas"/>
              </a:rPr>
              <a:t>retorno esperado no dia do anúncio  →</a:t>
            </a:r>
          </a:p>
        </p:txBody>
      </p:sp>
      <p:sp>
        <p:nvSpPr>
          <p:cNvPr id="27" name="!!etf_XLK"/>
          <p:cNvSpPr txBox="1"/>
          <p:nvPr/>
        </p:nvSpPr>
        <p:spPr>
          <a:xfrm>
            <a:off x="731520" y="235000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XLK</a:t>
            </a:r>
          </a:p>
        </p:txBody>
      </p:sp>
      <p:sp>
        <p:nvSpPr>
          <p:cNvPr id="28" name="!!setor_XLK"/>
          <p:cNvSpPr txBox="1"/>
          <p:nvPr/>
        </p:nvSpPr>
        <p:spPr>
          <a:xfrm>
            <a:off x="1389888" y="2350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tecnologia</a:t>
            </a:r>
          </a:p>
        </p:txBody>
      </p:sp>
      <p:cxnSp>
        <p:nvCxnSpPr>
          <p:cNvPr id="29" name="!!trilho_XLK"/>
          <p:cNvCxnSpPr/>
          <p:nvPr/>
        </p:nvCxnSpPr>
        <p:spPr>
          <a:xfrm>
            <a:off x="3246120" y="248716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!!lig_XLK"/>
          <p:cNvCxnSpPr/>
          <p:nvPr/>
        </p:nvCxnSpPr>
        <p:spPr>
          <a:xfrm flipH="1">
            <a:off x="4126496" y="2487168"/>
            <a:ext cx="5021063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!!pm_XLK"/>
          <p:cNvSpPr/>
          <p:nvPr/>
        </p:nvSpPr>
        <p:spPr>
          <a:xfrm>
            <a:off x="4039628" y="240030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!!mk_XLK"/>
          <p:cNvSpPr/>
          <p:nvPr/>
        </p:nvSpPr>
        <p:spPr>
          <a:xfrm>
            <a:off x="9088123" y="242773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!!val_XLK"/>
          <p:cNvSpPr txBox="1"/>
          <p:nvPr/>
        </p:nvSpPr>
        <p:spPr>
          <a:xfrm>
            <a:off x="3257816" y="2368296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− 1,52%</a:t>
            </a:r>
          </a:p>
        </p:txBody>
      </p:sp>
      <p:sp>
        <p:nvSpPr>
          <p:cNvPr id="34" name="!!etf_SPY"/>
          <p:cNvSpPr txBox="1"/>
          <p:nvPr/>
        </p:nvSpPr>
        <p:spPr>
          <a:xfrm>
            <a:off x="731520" y="273405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SPY</a:t>
            </a:r>
          </a:p>
        </p:txBody>
      </p:sp>
      <p:sp>
        <p:nvSpPr>
          <p:cNvPr id="35" name="!!setor_SPY"/>
          <p:cNvSpPr txBox="1"/>
          <p:nvPr/>
        </p:nvSpPr>
        <p:spPr>
          <a:xfrm>
            <a:off x="1389888" y="273405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S&amp;P 500</a:t>
            </a:r>
          </a:p>
        </p:txBody>
      </p:sp>
      <p:cxnSp>
        <p:nvCxnSpPr>
          <p:cNvPr id="36" name="!!trilho_SPY"/>
          <p:cNvCxnSpPr/>
          <p:nvPr/>
        </p:nvCxnSpPr>
        <p:spPr>
          <a:xfrm>
            <a:off x="3246120" y="287121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!!lig_SPY"/>
          <p:cNvCxnSpPr/>
          <p:nvPr/>
        </p:nvCxnSpPr>
        <p:spPr>
          <a:xfrm flipH="1">
            <a:off x="5358875" y="2871216"/>
            <a:ext cx="375053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!!pm_SPY"/>
          <p:cNvSpPr/>
          <p:nvPr/>
        </p:nvSpPr>
        <p:spPr>
          <a:xfrm>
            <a:off x="5272007" y="278434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!!mk_SPY"/>
          <p:cNvSpPr/>
          <p:nvPr/>
        </p:nvSpPr>
        <p:spPr>
          <a:xfrm>
            <a:off x="9049977" y="281178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!!val_SPY"/>
          <p:cNvSpPr txBox="1"/>
          <p:nvPr/>
        </p:nvSpPr>
        <p:spPr>
          <a:xfrm>
            <a:off x="4490195" y="275234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− 1,14%</a:t>
            </a:r>
          </a:p>
        </p:txBody>
      </p:sp>
      <p:sp>
        <p:nvSpPr>
          <p:cNvPr id="41" name="!!etf_XLF"/>
          <p:cNvSpPr txBox="1"/>
          <p:nvPr/>
        </p:nvSpPr>
        <p:spPr>
          <a:xfrm>
            <a:off x="731520" y="31181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XLF</a:t>
            </a:r>
          </a:p>
        </p:txBody>
      </p:sp>
      <p:sp>
        <p:nvSpPr>
          <p:cNvPr id="42" name="!!setor_XLF"/>
          <p:cNvSpPr txBox="1"/>
          <p:nvPr/>
        </p:nvSpPr>
        <p:spPr>
          <a:xfrm>
            <a:off x="1389888" y="311810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financeiro</a:t>
            </a:r>
          </a:p>
        </p:txBody>
      </p:sp>
      <p:cxnSp>
        <p:nvCxnSpPr>
          <p:cNvPr id="43" name="!!trilho_XLF"/>
          <p:cNvCxnSpPr/>
          <p:nvPr/>
        </p:nvCxnSpPr>
        <p:spPr>
          <a:xfrm>
            <a:off x="3246120" y="325526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!!lig_XLF"/>
          <p:cNvCxnSpPr/>
          <p:nvPr/>
        </p:nvCxnSpPr>
        <p:spPr>
          <a:xfrm flipH="1">
            <a:off x="6216124" y="3255264"/>
            <a:ext cx="287438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!!pm_XLF"/>
          <p:cNvSpPr/>
          <p:nvPr/>
        </p:nvSpPr>
        <p:spPr>
          <a:xfrm>
            <a:off x="6129256" y="316839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!!mk_XLF"/>
          <p:cNvSpPr/>
          <p:nvPr/>
        </p:nvSpPr>
        <p:spPr>
          <a:xfrm>
            <a:off x="9031072" y="319582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!!val_XLF"/>
          <p:cNvSpPr txBox="1"/>
          <p:nvPr/>
        </p:nvSpPr>
        <p:spPr>
          <a:xfrm>
            <a:off x="5347444" y="313639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− 0,87%</a:t>
            </a:r>
          </a:p>
        </p:txBody>
      </p:sp>
      <p:sp>
        <p:nvSpPr>
          <p:cNvPr id="48" name="!!etf_XLE"/>
          <p:cNvSpPr txBox="1"/>
          <p:nvPr/>
        </p:nvSpPr>
        <p:spPr>
          <a:xfrm>
            <a:off x="731520" y="35021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XLE</a:t>
            </a:r>
          </a:p>
        </p:txBody>
      </p:sp>
      <p:sp>
        <p:nvSpPr>
          <p:cNvPr id="49" name="!!setor_XLE"/>
          <p:cNvSpPr txBox="1"/>
          <p:nvPr/>
        </p:nvSpPr>
        <p:spPr>
          <a:xfrm>
            <a:off x="1389888" y="350215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energia</a:t>
            </a:r>
          </a:p>
        </p:txBody>
      </p:sp>
      <p:cxnSp>
        <p:nvCxnSpPr>
          <p:cNvPr id="50" name="!!trilho_XLE"/>
          <p:cNvCxnSpPr/>
          <p:nvPr/>
        </p:nvCxnSpPr>
        <p:spPr>
          <a:xfrm>
            <a:off x="3246120" y="363931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!!lig_XLE"/>
          <p:cNvCxnSpPr/>
          <p:nvPr/>
        </p:nvCxnSpPr>
        <p:spPr>
          <a:xfrm flipH="1">
            <a:off x="6631476" y="3639312"/>
            <a:ext cx="244733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!!pm_XLE"/>
          <p:cNvSpPr/>
          <p:nvPr/>
        </p:nvSpPr>
        <p:spPr>
          <a:xfrm>
            <a:off x="6544608" y="355244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!!mk_XLE"/>
          <p:cNvSpPr/>
          <p:nvPr/>
        </p:nvSpPr>
        <p:spPr>
          <a:xfrm>
            <a:off x="9019378" y="357987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!!val_XLE"/>
          <p:cNvSpPr txBox="1"/>
          <p:nvPr/>
        </p:nvSpPr>
        <p:spPr>
          <a:xfrm>
            <a:off x="5762796" y="352044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− 0,74%</a:t>
            </a:r>
          </a:p>
        </p:txBody>
      </p:sp>
      <p:sp>
        <p:nvSpPr>
          <p:cNvPr id="55" name="!!etf_XLV"/>
          <p:cNvSpPr txBox="1"/>
          <p:nvPr/>
        </p:nvSpPr>
        <p:spPr>
          <a:xfrm>
            <a:off x="731520" y="38862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XLV</a:t>
            </a:r>
          </a:p>
        </p:txBody>
      </p:sp>
      <p:sp>
        <p:nvSpPr>
          <p:cNvPr id="56" name="!!setor_XLV"/>
          <p:cNvSpPr txBox="1"/>
          <p:nvPr/>
        </p:nvSpPr>
        <p:spPr>
          <a:xfrm>
            <a:off x="1389888" y="38862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saúde</a:t>
            </a:r>
          </a:p>
        </p:txBody>
      </p:sp>
      <p:cxnSp>
        <p:nvCxnSpPr>
          <p:cNvPr id="57" name="!!trilho_XLV"/>
          <p:cNvCxnSpPr/>
          <p:nvPr/>
        </p:nvCxnSpPr>
        <p:spPr>
          <a:xfrm>
            <a:off x="3246120" y="4023360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!!lig_XLV"/>
          <p:cNvCxnSpPr/>
          <p:nvPr/>
        </p:nvCxnSpPr>
        <p:spPr>
          <a:xfrm flipH="1">
            <a:off x="7357519" y="4023360"/>
            <a:ext cx="170007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!!pm_XLV"/>
          <p:cNvSpPr/>
          <p:nvPr/>
        </p:nvSpPr>
        <p:spPr>
          <a:xfrm>
            <a:off x="7270651" y="3936492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!!mk_XLV"/>
          <p:cNvSpPr/>
          <p:nvPr/>
        </p:nvSpPr>
        <p:spPr>
          <a:xfrm>
            <a:off x="8998159" y="3963924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!!val_XLV"/>
          <p:cNvSpPr txBox="1"/>
          <p:nvPr/>
        </p:nvSpPr>
        <p:spPr>
          <a:xfrm>
            <a:off x="6488839" y="3904488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− 0,52%</a:t>
            </a:r>
          </a:p>
        </p:txBody>
      </p:sp>
      <p:sp>
        <p:nvSpPr>
          <p:cNvPr id="62" name="!!etf_XLP"/>
          <p:cNvSpPr txBox="1"/>
          <p:nvPr/>
        </p:nvSpPr>
        <p:spPr>
          <a:xfrm>
            <a:off x="731520" y="42702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XLP</a:t>
            </a:r>
          </a:p>
        </p:txBody>
      </p:sp>
      <p:sp>
        <p:nvSpPr>
          <p:cNvPr id="63" name="!!setor_XLP"/>
          <p:cNvSpPr txBox="1"/>
          <p:nvPr/>
        </p:nvSpPr>
        <p:spPr>
          <a:xfrm>
            <a:off x="1389888" y="427024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consumo básico</a:t>
            </a:r>
          </a:p>
        </p:txBody>
      </p:sp>
      <p:cxnSp>
        <p:nvCxnSpPr>
          <p:cNvPr id="64" name="!!trilho_XLP"/>
          <p:cNvCxnSpPr/>
          <p:nvPr/>
        </p:nvCxnSpPr>
        <p:spPr>
          <a:xfrm>
            <a:off x="3246120" y="440740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lig_XLP"/>
          <p:cNvCxnSpPr/>
          <p:nvPr/>
        </p:nvCxnSpPr>
        <p:spPr>
          <a:xfrm flipH="1">
            <a:off x="7369482" y="4407408"/>
            <a:ext cx="166770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!!pm_XLP"/>
          <p:cNvSpPr/>
          <p:nvPr/>
        </p:nvSpPr>
        <p:spPr>
          <a:xfrm>
            <a:off x="7282614" y="432054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!!mk_XLP"/>
          <p:cNvSpPr/>
          <p:nvPr/>
        </p:nvSpPr>
        <p:spPr>
          <a:xfrm>
            <a:off x="8977750" y="434797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!!val_XLP"/>
          <p:cNvSpPr txBox="1"/>
          <p:nvPr/>
        </p:nvSpPr>
        <p:spPr>
          <a:xfrm>
            <a:off x="6500802" y="4288536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− 0,51%</a:t>
            </a:r>
          </a:p>
        </p:txBody>
      </p:sp>
      <p:sp>
        <p:nvSpPr>
          <p:cNvPr id="69" name="!!etf_TIP"/>
          <p:cNvSpPr txBox="1"/>
          <p:nvPr/>
        </p:nvSpPr>
        <p:spPr>
          <a:xfrm>
            <a:off x="731520" y="465429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TIP</a:t>
            </a:r>
          </a:p>
        </p:txBody>
      </p:sp>
      <p:sp>
        <p:nvSpPr>
          <p:cNvPr id="70" name="!!setor_TIP"/>
          <p:cNvSpPr txBox="1"/>
          <p:nvPr/>
        </p:nvSpPr>
        <p:spPr>
          <a:xfrm>
            <a:off x="1389888" y="465429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· inflação</a:t>
            </a:r>
          </a:p>
        </p:txBody>
      </p:sp>
      <p:cxnSp>
        <p:nvCxnSpPr>
          <p:cNvPr id="71" name="!!trilho_TIP"/>
          <p:cNvCxnSpPr/>
          <p:nvPr/>
        </p:nvCxnSpPr>
        <p:spPr>
          <a:xfrm>
            <a:off x="3246120" y="479145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lig_TIP"/>
          <p:cNvCxnSpPr/>
          <p:nvPr/>
        </p:nvCxnSpPr>
        <p:spPr>
          <a:xfrm flipH="1">
            <a:off x="8379781" y="4791456"/>
            <a:ext cx="632287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!!pm_TIP"/>
          <p:cNvSpPr/>
          <p:nvPr/>
        </p:nvSpPr>
        <p:spPr>
          <a:xfrm>
            <a:off x="8292913" y="470458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!!mk_TIP"/>
          <p:cNvSpPr/>
          <p:nvPr/>
        </p:nvSpPr>
        <p:spPr>
          <a:xfrm>
            <a:off x="8952632" y="473202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!!val_TIP"/>
          <p:cNvSpPr txBox="1"/>
          <p:nvPr/>
        </p:nvSpPr>
        <p:spPr>
          <a:xfrm>
            <a:off x="7511101" y="467258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− 0,20%</a:t>
            </a:r>
          </a:p>
        </p:txBody>
      </p:sp>
      <p:sp>
        <p:nvSpPr>
          <p:cNvPr id="76" name="!!etf_XLU"/>
          <p:cNvSpPr txBox="1"/>
          <p:nvPr/>
        </p:nvSpPr>
        <p:spPr>
          <a:xfrm>
            <a:off x="731520" y="503834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XLU</a:t>
            </a:r>
          </a:p>
        </p:txBody>
      </p:sp>
      <p:sp>
        <p:nvSpPr>
          <p:cNvPr id="77" name="!!setor_XLU"/>
          <p:cNvSpPr txBox="1"/>
          <p:nvPr/>
        </p:nvSpPr>
        <p:spPr>
          <a:xfrm>
            <a:off x="1389888" y="503834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utilities</a:t>
            </a:r>
          </a:p>
        </p:txBody>
      </p:sp>
      <p:cxnSp>
        <p:nvCxnSpPr>
          <p:cNvPr id="78" name="!!trilho_XLU"/>
          <p:cNvCxnSpPr/>
          <p:nvPr/>
        </p:nvCxnSpPr>
        <p:spPr>
          <a:xfrm>
            <a:off x="3246120" y="517550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!!lig_XLU"/>
          <p:cNvCxnSpPr/>
          <p:nvPr/>
        </p:nvCxnSpPr>
        <p:spPr>
          <a:xfrm>
            <a:off x="9048468" y="5175504"/>
            <a:ext cx="43582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!!pm_XLU"/>
          <p:cNvSpPr/>
          <p:nvPr/>
        </p:nvSpPr>
        <p:spPr>
          <a:xfrm>
            <a:off x="9397428" y="508863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!!mk_XLU"/>
          <p:cNvSpPr/>
          <p:nvPr/>
        </p:nvSpPr>
        <p:spPr>
          <a:xfrm>
            <a:off x="8989032" y="511606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!!val_XLU"/>
          <p:cNvSpPr txBox="1"/>
          <p:nvPr/>
        </p:nvSpPr>
        <p:spPr>
          <a:xfrm>
            <a:off x="9639744" y="505663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+ 0,15%</a:t>
            </a:r>
          </a:p>
        </p:txBody>
      </p:sp>
      <p:sp>
        <p:nvSpPr>
          <p:cNvPr id="83" name="!!etf_TLT"/>
          <p:cNvSpPr txBox="1"/>
          <p:nvPr/>
        </p:nvSpPr>
        <p:spPr>
          <a:xfrm>
            <a:off x="731520" y="542239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TLT</a:t>
            </a:r>
          </a:p>
        </p:txBody>
      </p:sp>
      <p:sp>
        <p:nvSpPr>
          <p:cNvPr id="84" name="!!setor_TLT"/>
          <p:cNvSpPr txBox="1"/>
          <p:nvPr/>
        </p:nvSpPr>
        <p:spPr>
          <a:xfrm>
            <a:off x="1389888" y="542239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20+</a:t>
            </a:r>
          </a:p>
        </p:txBody>
      </p:sp>
      <p:cxnSp>
        <p:nvCxnSpPr>
          <p:cNvPr id="85" name="!!trilho_TLT"/>
          <p:cNvCxnSpPr/>
          <p:nvPr/>
        </p:nvCxnSpPr>
        <p:spPr>
          <a:xfrm>
            <a:off x="3246120" y="555955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!!lig_TLT"/>
          <p:cNvCxnSpPr/>
          <p:nvPr/>
        </p:nvCxnSpPr>
        <p:spPr>
          <a:xfrm>
            <a:off x="9019047" y="5559552"/>
            <a:ext cx="48685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!!pm_TLT"/>
          <p:cNvSpPr/>
          <p:nvPr/>
        </p:nvSpPr>
        <p:spPr>
          <a:xfrm>
            <a:off x="9419035" y="547268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!!mk_TLT"/>
          <p:cNvSpPr/>
          <p:nvPr/>
        </p:nvSpPr>
        <p:spPr>
          <a:xfrm>
            <a:off x="8959611" y="550011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!!val_TLT"/>
          <p:cNvSpPr txBox="1"/>
          <p:nvPr/>
        </p:nvSpPr>
        <p:spPr>
          <a:xfrm>
            <a:off x="9661351" y="544068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+ 0,16%</a:t>
            </a:r>
          </a:p>
        </p:txBody>
      </p:sp>
      <p:sp>
        <p:nvSpPr>
          <p:cNvPr id="90" name="!!leg_mk"/>
          <p:cNvSpPr/>
          <p:nvPr/>
        </p:nvSpPr>
        <p:spPr>
          <a:xfrm>
            <a:off x="3259836" y="6121907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!!leg_mk_t"/>
          <p:cNvSpPr txBox="1"/>
          <p:nvPr/>
        </p:nvSpPr>
        <p:spPr>
          <a:xfrm>
            <a:off x="3465576" y="6089904"/>
            <a:ext cx="329184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MERCADO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o equilíbrio π — o prêmio normal do dia</a:t>
            </a:r>
          </a:p>
        </p:txBody>
      </p:sp>
      <p:sp>
        <p:nvSpPr>
          <p:cNvPr id="92" name="!!leg_pm"/>
          <p:cNvSpPr/>
          <p:nvPr/>
        </p:nvSpPr>
        <p:spPr>
          <a:xfrm>
            <a:off x="6880859" y="6112764"/>
            <a:ext cx="137160" cy="13716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!!leg_pm_t"/>
          <p:cNvSpPr txBox="1"/>
          <p:nvPr/>
        </p:nvSpPr>
        <p:spPr>
          <a:xfrm>
            <a:off x="7114032" y="6089904"/>
            <a:ext cx="420624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POLYMARKET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π + β × surpresa — β medido em reuniões passadas</a:t>
            </a:r>
          </a:p>
        </p:txBody>
      </p:sp>
      <p:sp>
        <p:nvSpPr>
          <p:cNvPr id="94" name="!!nota"/>
          <p:cNvSpPr txBox="1"/>
          <p:nvPr/>
        </p:nvSpPr>
        <p:spPr>
          <a:xfrm>
            <a:off x="731520" y="6336792"/>
            <a:ext cx="1072591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surpresa = o corte que o Polymarket precifica − o que o T-bill de 3 meses embute, líquida do viés do instrumento  ·  apêndices A5 e A6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59:morph xmlns:p159="http://schemas.microsoft.com/office/powerpoint/2015/09/main" option="byObject"/>
      </p:transition>
    </mc:Choice>
    <mc:Fallback xmlns=""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0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s12_0_1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7" name="s12_0_1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18" name="s12_0_1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s12_0_1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0" name="s12_0_1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1" name="s12_0_1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2" name="s12_0_20"/>
          <p:cNvSpPr txBox="1"/>
          <p:nvPr/>
        </p:nvSpPr>
        <p:spPr>
          <a:xfrm>
            <a:off x="5897880" y="4809744"/>
            <a:ext cx="555955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8698A"/>
                </a:solidFill>
                <a:latin typeface="Consolas"/>
              </a:rPr>
              <a:t>clique para ver o caminho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!!pulso"/>
          <p:cNvSpPr/>
          <p:nvPr/>
        </p:nvSpPr>
        <p:spPr>
          <a:xfrm>
            <a:off x="2530300" y="372880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s12_1_1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9" name="s12_1_1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0" name="s12_1_1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s12_1_1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2" name="s12_1_2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3" name="s12_1_2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!!pulso"/>
          <p:cNvSpPr/>
          <p:nvPr/>
        </p:nvSpPr>
        <p:spPr>
          <a:xfrm>
            <a:off x="1449603" y="262644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s12_2_18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1" name="s12_2_19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2" name="s12_2_2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s12_2_21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4" name="s12_2_22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5" name="s12_2_2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!!pulso"/>
          <p:cNvSpPr/>
          <p:nvPr/>
        </p:nvSpPr>
        <p:spPr>
          <a:xfrm>
            <a:off x="1382760" y="3616475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s12_3_20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3" name="s12_3_21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4" name="s12_3_2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s12_3_23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6" name="s12_3_24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7" name="s12_3_2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4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4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4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4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4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!!pulso"/>
          <p:cNvSpPr/>
          <p:nvPr/>
        </p:nvSpPr>
        <p:spPr>
          <a:xfrm>
            <a:off x="2146815" y="331977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s12_4_22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5" name="s12_4_23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6" name="s12_4_2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s12_4_25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8" name="s12_4_26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9" name="s12_4_2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5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5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5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5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5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!!pulso"/>
          <p:cNvSpPr/>
          <p:nvPr/>
        </p:nvSpPr>
        <p:spPr>
          <a:xfrm>
            <a:off x="2211553" y="395805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2_5_2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7" name="s12_5_2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8" name="s12_5_2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s12_5_2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0" name="s12_5_2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1" name="s12_5_2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6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!!pulso"/>
          <p:cNvSpPr/>
          <p:nvPr/>
        </p:nvSpPr>
        <p:spPr>
          <a:xfrm>
            <a:off x="1747201" y="314645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s12_6_2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9" name="s12_6_2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0" name="s12_6_2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s12_6_2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2" name="s12_6_3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3" name="s12_6_3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3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7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7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7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7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7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!!pulso"/>
          <p:cNvSpPr/>
          <p:nvPr/>
        </p:nvSpPr>
        <p:spPr>
          <a:xfrm>
            <a:off x="3236739" y="324134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s12_7_28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1" name="s12_7_29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2" name="s12_7_3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s12_7_31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4" name="s12_7_32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5" name="s12_7_3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8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9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0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1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2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8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8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8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8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8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!!pulso"/>
          <p:cNvSpPr/>
          <p:nvPr/>
        </p:nvSpPr>
        <p:spPr>
          <a:xfrm>
            <a:off x="2064431" y="357905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s12_8_30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3" name="s12_8_31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4" name="s12_8_3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s12_8_33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6" name="s12_8_34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7" name="s12_8_3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1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2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3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4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5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9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9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9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9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9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!!pulso"/>
          <p:cNvSpPr/>
          <p:nvPr/>
        </p:nvSpPr>
        <p:spPr>
          <a:xfrm>
            <a:off x="2401930" y="259661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s12_9_32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5" name="s12_9_33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6" name="s12_9_3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s12_9_35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8" name="s12_9_36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9" name="s12_9_3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4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5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6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7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48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0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!!pulso"/>
          <p:cNvSpPr/>
          <p:nvPr/>
        </p:nvSpPr>
        <p:spPr>
          <a:xfrm>
            <a:off x="2692843" y="343618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s12_10_3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7" name="s12_10_3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8" name="s12_10_3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s12_10_3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0" name="s12_10_3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1" name="s12_10_3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7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8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9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0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1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" name="!!e_10"/>
          <p:cNvCxnSpPr/>
          <p:nvPr/>
        </p:nvCxnSpPr>
        <p:spPr>
          <a:xfrm>
            <a:off x="2944303" y="3687642"/>
            <a:ext cx="998310" cy="147994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851173" y="507614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!!pulso"/>
          <p:cNvSpPr/>
          <p:nvPr/>
        </p:nvSpPr>
        <p:spPr>
          <a:xfrm>
            <a:off x="3691153" y="491612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s12_11_3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9" name="s12_11_3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40" name="s12_11_3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s12_11_3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2" name="s12_11_4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3" name="s12_11_4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50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1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2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3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4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" name="!!e_10"/>
          <p:cNvCxnSpPr/>
          <p:nvPr/>
        </p:nvCxnSpPr>
        <p:spPr>
          <a:xfrm>
            <a:off x="2944303" y="3687642"/>
            <a:ext cx="998310" cy="147994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851173" y="507614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s12_12_35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8" name="s12_12_36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9" name="s12_12_37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s12_12_38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1" name="s12_12_39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2" name="s12_12_40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3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4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5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6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7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8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9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0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1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2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3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  <p:sp>
        <p:nvSpPr>
          <p:cNvPr id="54" name="s12_12_52"/>
          <p:cNvSpPr txBox="1"/>
          <p:nvPr/>
        </p:nvSpPr>
        <p:spPr>
          <a:xfrm>
            <a:off x="5897880" y="6144768"/>
            <a:ext cx="555955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5F7FB"/>
                </a:solidFill>
                <a:latin typeface="Consolas"/>
              </a:rPr>
              <a:t>23 comandos · 11 arquivos · </a:t>
            </a:r>
            <a:r>
              <a:rPr sz="900" b="1" i="0">
                <a:solidFill>
                  <a:srgbClr val="FFB531"/>
                </a:solidFill>
                <a:latin typeface="Consolas"/>
              </a:rPr>
              <a:t>contrato  →  análise  →  código  →  dado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>
        <p159:morph xmlns:p159="http://schemas.microsoft.com/office/powerpoint/2015/09/main" option="byObject"/>
      </p:transition>
    </mc:Choice>
    <mc:Fallback xmlns=""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IA em números</a:t>
            </a:r>
          </a:p>
        </p:txBody>
      </p:sp>
      <p:sp>
        <p:nvSpPr>
          <p:cNvPr id="7" name="s1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13</a:t>
            </a:r>
          </a:p>
        </p:txBody>
      </p:sp>
      <p:cxnSp>
        <p:nvCxnSpPr>
          <p:cNvPr id="8" name="s1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Medimos o uso de IA como medimos a estratégia: pelo registro.</a:t>
            </a:r>
          </a:p>
        </p:txBody>
      </p:sp>
      <p:cxnSp>
        <p:nvCxnSpPr>
          <p:cNvPr id="10" name="s1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3_11"/>
          <p:cNvSpPr/>
          <p:nvPr/>
        </p:nvSpPr>
        <p:spPr>
          <a:xfrm>
            <a:off x="73152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s13_12"/>
          <p:cNvSpPr txBox="1"/>
          <p:nvPr/>
        </p:nvSpPr>
        <p:spPr>
          <a:xfrm>
            <a:off x="932688" y="151790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91</a:t>
            </a:r>
          </a:p>
        </p:txBody>
      </p:sp>
      <p:sp>
        <p:nvSpPr>
          <p:cNvPr id="15" name="s13_13"/>
          <p:cNvSpPr txBox="1"/>
          <p:nvPr/>
        </p:nvSpPr>
        <p:spPr>
          <a:xfrm>
            <a:off x="1965960" y="1591056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SESSÕES DE IA</a:t>
            </a:r>
          </a:p>
        </p:txBody>
      </p:sp>
      <p:sp>
        <p:nvSpPr>
          <p:cNvPr id="16" name="s13_14"/>
          <p:cNvSpPr txBox="1"/>
          <p:nvPr/>
        </p:nvSpPr>
        <p:spPr>
          <a:xfrm>
            <a:off x="1965960" y="184708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Felipe 55 · Lia 18 · Paulo 18</a:t>
            </a:r>
          </a:p>
        </p:txBody>
      </p:sp>
      <p:sp>
        <p:nvSpPr>
          <p:cNvPr id="17" name="s13_15"/>
          <p:cNvSpPr/>
          <p:nvPr/>
        </p:nvSpPr>
        <p:spPr>
          <a:xfrm>
            <a:off x="344043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s13_16"/>
          <p:cNvSpPr txBox="1"/>
          <p:nvPr/>
        </p:nvSpPr>
        <p:spPr>
          <a:xfrm>
            <a:off x="3641598" y="151790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232k</a:t>
            </a:r>
          </a:p>
        </p:txBody>
      </p:sp>
      <p:sp>
        <p:nvSpPr>
          <p:cNvPr id="19" name="s13_17"/>
          <p:cNvSpPr txBox="1"/>
          <p:nvPr/>
        </p:nvSpPr>
        <p:spPr>
          <a:xfrm>
            <a:off x="4674870" y="1591056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TOKENS POR SESSÃO</a:t>
            </a:r>
          </a:p>
        </p:txBody>
      </p:sp>
      <p:sp>
        <p:nvSpPr>
          <p:cNvPr id="20" name="s13_18"/>
          <p:cNvSpPr txBox="1"/>
          <p:nvPr/>
        </p:nvSpPr>
        <p:spPr>
          <a:xfrm>
            <a:off x="4674870" y="184708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média · 19,7M no total</a:t>
            </a:r>
          </a:p>
        </p:txBody>
      </p:sp>
      <p:sp>
        <p:nvSpPr>
          <p:cNvPr id="21" name="s13_19"/>
          <p:cNvSpPr/>
          <p:nvPr/>
        </p:nvSpPr>
        <p:spPr>
          <a:xfrm>
            <a:off x="614934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s13_20"/>
          <p:cNvSpPr txBox="1"/>
          <p:nvPr/>
        </p:nvSpPr>
        <p:spPr>
          <a:xfrm>
            <a:off x="6350507" y="151790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81</a:t>
            </a:r>
          </a:p>
        </p:txBody>
      </p:sp>
      <p:sp>
        <p:nvSpPr>
          <p:cNvPr id="23" name="s13_21"/>
          <p:cNvSpPr txBox="1"/>
          <p:nvPr/>
        </p:nvSpPr>
        <p:spPr>
          <a:xfrm>
            <a:off x="7383779" y="1591056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DECISÕES REGISTRADAS</a:t>
            </a:r>
          </a:p>
        </p:txBody>
      </p:sp>
      <p:sp>
        <p:nvSpPr>
          <p:cNvPr id="24" name="s13_22"/>
          <p:cNvSpPr txBox="1"/>
          <p:nvPr/>
        </p:nvSpPr>
        <p:spPr>
          <a:xfrm>
            <a:off x="7383779" y="184708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escaladas ao humano</a:t>
            </a:r>
          </a:p>
        </p:txBody>
      </p:sp>
      <p:sp>
        <p:nvSpPr>
          <p:cNvPr id="25" name="s13_23"/>
          <p:cNvSpPr/>
          <p:nvPr/>
        </p:nvSpPr>
        <p:spPr>
          <a:xfrm>
            <a:off x="885825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3_24"/>
          <p:cNvSpPr txBox="1"/>
          <p:nvPr/>
        </p:nvSpPr>
        <p:spPr>
          <a:xfrm>
            <a:off x="9059418" y="151790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37%</a:t>
            </a:r>
          </a:p>
        </p:txBody>
      </p:sp>
      <p:sp>
        <p:nvSpPr>
          <p:cNvPr id="27" name="s13_25"/>
          <p:cNvSpPr txBox="1"/>
          <p:nvPr/>
        </p:nvSpPr>
        <p:spPr>
          <a:xfrm>
            <a:off x="10092690" y="1591056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TAXA DE RECORREÇÃO</a:t>
            </a:r>
          </a:p>
        </p:txBody>
      </p:sp>
      <p:sp>
        <p:nvSpPr>
          <p:cNvPr id="28" name="s13_26"/>
          <p:cNvSpPr txBox="1"/>
          <p:nvPr/>
        </p:nvSpPr>
        <p:spPr>
          <a:xfrm>
            <a:off x="10092690" y="184708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pediram 2ª rodada</a:t>
            </a:r>
          </a:p>
        </p:txBody>
      </p:sp>
      <p:sp>
        <p:nvSpPr>
          <p:cNvPr id="29" name="s13_27"/>
          <p:cNvSpPr txBox="1"/>
          <p:nvPr/>
        </p:nvSpPr>
        <p:spPr>
          <a:xfrm>
            <a:off x="731520" y="2432304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CONTEXTO POR DIA  ·  DECISÕES ACUMULADAS</a:t>
            </a:r>
          </a:p>
        </p:txBody>
      </p:sp>
      <p:pic>
        <p:nvPicPr>
          <p:cNvPr id="30" name="s13_28" descr="p5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51760"/>
            <a:ext cx="5715000" cy="2395334"/>
          </a:xfrm>
          <a:prstGeom prst="rect">
            <a:avLst/>
          </a:prstGeom>
        </p:spPr>
      </p:pic>
      <p:sp>
        <p:nvSpPr>
          <p:cNvPr id="31" name="s13_29"/>
          <p:cNvSpPr txBox="1"/>
          <p:nvPr/>
        </p:nvSpPr>
        <p:spPr>
          <a:xfrm>
            <a:off x="6793992" y="2432304"/>
            <a:ext cx="4663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145 ERROS DA IA  ·  QUEM PEGOU</a:t>
            </a:r>
          </a:p>
        </p:txBody>
      </p:sp>
      <p:pic>
        <p:nvPicPr>
          <p:cNvPr id="32" name="s13_30" descr="p5_er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70048"/>
            <a:ext cx="4663440" cy="2238174"/>
          </a:xfrm>
          <a:prstGeom prst="rect">
            <a:avLst/>
          </a:prstGeom>
        </p:spPr>
      </p:pic>
      <p:sp>
        <p:nvSpPr>
          <p:cNvPr id="33" name="s13_31"/>
          <p:cNvSpPr txBox="1"/>
          <p:nvPr/>
        </p:nvSpPr>
        <p:spPr>
          <a:xfrm>
            <a:off x="731520" y="5120640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ONDE FOI O ESFORÇO</a:t>
            </a:r>
          </a:p>
        </p:txBody>
      </p:sp>
      <p:sp>
        <p:nvSpPr>
          <p:cNvPr id="34" name="s13_32"/>
          <p:cNvSpPr txBox="1"/>
          <p:nvPr/>
        </p:nvSpPr>
        <p:spPr>
          <a:xfrm>
            <a:off x="731520" y="5376672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por sessão</a:t>
            </a:r>
          </a:p>
        </p:txBody>
      </p:sp>
      <p:sp>
        <p:nvSpPr>
          <p:cNvPr id="35" name="s13_33"/>
          <p:cNvSpPr/>
          <p:nvPr/>
        </p:nvSpPr>
        <p:spPr>
          <a:xfrm>
            <a:off x="1600200" y="5376672"/>
            <a:ext cx="1491175" cy="219456"/>
          </a:xfrm>
          <a:prstGeom prst="rect">
            <a:avLst/>
          </a:prstGeom>
          <a:solidFill>
            <a:srgbClr val="FFB531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s13_34"/>
          <p:cNvSpPr txBox="1"/>
          <p:nvPr/>
        </p:nvSpPr>
        <p:spPr>
          <a:xfrm>
            <a:off x="1600200" y="5376672"/>
            <a:ext cx="1491175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31%</a:t>
            </a:r>
          </a:p>
        </p:txBody>
      </p:sp>
      <p:sp>
        <p:nvSpPr>
          <p:cNvPr id="37" name="s13_35"/>
          <p:cNvSpPr/>
          <p:nvPr/>
        </p:nvSpPr>
        <p:spPr>
          <a:xfrm>
            <a:off x="3091375" y="5376672"/>
            <a:ext cx="2609556" cy="219456"/>
          </a:xfrm>
          <a:prstGeom prst="rect">
            <a:avLst/>
          </a:prstGeom>
          <a:solidFill>
            <a:srgbClr val="4F8EF7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s13_36"/>
          <p:cNvSpPr txBox="1"/>
          <p:nvPr/>
        </p:nvSpPr>
        <p:spPr>
          <a:xfrm>
            <a:off x="3091375" y="5376672"/>
            <a:ext cx="2609556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54%</a:t>
            </a:r>
          </a:p>
        </p:txBody>
      </p:sp>
      <p:sp>
        <p:nvSpPr>
          <p:cNvPr id="39" name="s13_37"/>
          <p:cNvSpPr/>
          <p:nvPr/>
        </p:nvSpPr>
        <p:spPr>
          <a:xfrm>
            <a:off x="5700932" y="5376672"/>
            <a:ext cx="745587" cy="219456"/>
          </a:xfrm>
          <a:prstGeom prst="rect">
            <a:avLst/>
          </a:prstGeom>
          <a:solidFill>
            <a:srgbClr val="2FD3B0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s13_38"/>
          <p:cNvSpPr txBox="1"/>
          <p:nvPr/>
        </p:nvSpPr>
        <p:spPr>
          <a:xfrm>
            <a:off x="5700932" y="5376672"/>
            <a:ext cx="745587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15%</a:t>
            </a:r>
          </a:p>
        </p:txBody>
      </p:sp>
      <p:sp>
        <p:nvSpPr>
          <p:cNvPr id="41" name="s13_39"/>
          <p:cNvSpPr txBox="1"/>
          <p:nvPr/>
        </p:nvSpPr>
        <p:spPr>
          <a:xfrm>
            <a:off x="731520" y="5687568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por token</a:t>
            </a:r>
          </a:p>
        </p:txBody>
      </p:sp>
      <p:sp>
        <p:nvSpPr>
          <p:cNvPr id="42" name="s13_40"/>
          <p:cNvSpPr/>
          <p:nvPr/>
        </p:nvSpPr>
        <p:spPr>
          <a:xfrm>
            <a:off x="1600200" y="5687568"/>
            <a:ext cx="1196847" cy="219456"/>
          </a:xfrm>
          <a:prstGeom prst="rect">
            <a:avLst/>
          </a:prstGeom>
          <a:solidFill>
            <a:srgbClr val="FFB531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s13_41"/>
          <p:cNvSpPr txBox="1"/>
          <p:nvPr/>
        </p:nvSpPr>
        <p:spPr>
          <a:xfrm>
            <a:off x="1600200" y="5687568"/>
            <a:ext cx="1196847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25%</a:t>
            </a:r>
          </a:p>
        </p:txBody>
      </p:sp>
      <p:sp>
        <p:nvSpPr>
          <p:cNvPr id="44" name="s13_42"/>
          <p:cNvSpPr/>
          <p:nvPr/>
        </p:nvSpPr>
        <p:spPr>
          <a:xfrm>
            <a:off x="2797047" y="5687568"/>
            <a:ext cx="3454923" cy="219456"/>
          </a:xfrm>
          <a:prstGeom prst="rect">
            <a:avLst/>
          </a:prstGeom>
          <a:solidFill>
            <a:srgbClr val="4F8EF7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s13_43"/>
          <p:cNvSpPr txBox="1"/>
          <p:nvPr/>
        </p:nvSpPr>
        <p:spPr>
          <a:xfrm>
            <a:off x="2797047" y="5687568"/>
            <a:ext cx="345492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71%</a:t>
            </a:r>
          </a:p>
        </p:txBody>
      </p:sp>
      <p:sp>
        <p:nvSpPr>
          <p:cNvPr id="46" name="s13_44"/>
          <p:cNvSpPr/>
          <p:nvPr/>
        </p:nvSpPr>
        <p:spPr>
          <a:xfrm>
            <a:off x="6251970" y="5687568"/>
            <a:ext cx="194549" cy="219456"/>
          </a:xfrm>
          <a:prstGeom prst="rect">
            <a:avLst/>
          </a:prstGeom>
          <a:solidFill>
            <a:srgbClr val="2FD3B0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s13_45"/>
          <p:cNvSpPr/>
          <p:nvPr/>
        </p:nvSpPr>
        <p:spPr>
          <a:xfrm>
            <a:off x="1604772" y="6094476"/>
            <a:ext cx="100584" cy="100584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s13_46"/>
          <p:cNvSpPr txBox="1"/>
          <p:nvPr/>
        </p:nvSpPr>
        <p:spPr>
          <a:xfrm>
            <a:off x="1773936" y="6053328"/>
            <a:ext cx="21945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pesquisa e decisão</a:t>
            </a:r>
          </a:p>
        </p:txBody>
      </p:sp>
      <p:sp>
        <p:nvSpPr>
          <p:cNvPr id="49" name="s13_47"/>
          <p:cNvSpPr/>
          <p:nvPr/>
        </p:nvSpPr>
        <p:spPr>
          <a:xfrm>
            <a:off x="2963570" y="6094476"/>
            <a:ext cx="100584" cy="100584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s13_48"/>
          <p:cNvSpPr txBox="1"/>
          <p:nvPr/>
        </p:nvSpPr>
        <p:spPr>
          <a:xfrm>
            <a:off x="3132734" y="6053328"/>
            <a:ext cx="21945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análise e medição</a:t>
            </a:r>
          </a:p>
        </p:txBody>
      </p:sp>
      <p:sp>
        <p:nvSpPr>
          <p:cNvPr id="51" name="s13_49"/>
          <p:cNvSpPr/>
          <p:nvPr/>
        </p:nvSpPr>
        <p:spPr>
          <a:xfrm>
            <a:off x="4265676" y="6094476"/>
            <a:ext cx="100584" cy="100584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s13_50"/>
          <p:cNvSpPr txBox="1"/>
          <p:nvPr/>
        </p:nvSpPr>
        <p:spPr>
          <a:xfrm>
            <a:off x="4434840" y="6053328"/>
            <a:ext cx="21945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código</a:t>
            </a:r>
          </a:p>
        </p:txBody>
      </p:sp>
      <p:sp>
        <p:nvSpPr>
          <p:cNvPr id="53" name="s13_51"/>
          <p:cNvSpPr txBox="1"/>
          <p:nvPr/>
        </p:nvSpPr>
        <p:spPr>
          <a:xfrm>
            <a:off x="6793992" y="5120640"/>
            <a:ext cx="4663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PESQUISA  ·  31 HIPÓTESES MEDIDAS, 7 ENTRARAM</a:t>
            </a:r>
          </a:p>
        </p:txBody>
      </p:sp>
      <p:sp>
        <p:nvSpPr>
          <p:cNvPr id="54" name="s13_52"/>
          <p:cNvSpPr txBox="1"/>
          <p:nvPr/>
        </p:nvSpPr>
        <p:spPr>
          <a:xfrm>
            <a:off x="6793992" y="537667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13 ideias de sinal</a:t>
            </a:r>
          </a:p>
        </p:txBody>
      </p:sp>
      <p:sp>
        <p:nvSpPr>
          <p:cNvPr id="55" name="s13_53"/>
          <p:cNvSpPr/>
          <p:nvPr/>
        </p:nvSpPr>
        <p:spPr>
          <a:xfrm>
            <a:off x="839876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s13_54"/>
          <p:cNvSpPr/>
          <p:nvPr/>
        </p:nvSpPr>
        <p:spPr>
          <a:xfrm>
            <a:off x="858164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s13_55"/>
          <p:cNvSpPr/>
          <p:nvPr/>
        </p:nvSpPr>
        <p:spPr>
          <a:xfrm>
            <a:off x="876452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s13_56"/>
          <p:cNvSpPr/>
          <p:nvPr/>
        </p:nvSpPr>
        <p:spPr>
          <a:xfrm>
            <a:off x="894740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s13_57"/>
          <p:cNvSpPr/>
          <p:nvPr/>
        </p:nvSpPr>
        <p:spPr>
          <a:xfrm>
            <a:off x="913028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s13_58"/>
          <p:cNvSpPr/>
          <p:nvPr/>
        </p:nvSpPr>
        <p:spPr>
          <a:xfrm>
            <a:off x="931316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s13_59"/>
          <p:cNvSpPr/>
          <p:nvPr/>
        </p:nvSpPr>
        <p:spPr>
          <a:xfrm>
            <a:off x="9477756" y="54086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s13_60"/>
          <p:cNvSpPr/>
          <p:nvPr/>
        </p:nvSpPr>
        <p:spPr>
          <a:xfrm>
            <a:off x="967892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s13_61"/>
          <p:cNvSpPr/>
          <p:nvPr/>
        </p:nvSpPr>
        <p:spPr>
          <a:xfrm>
            <a:off x="986180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s13_62"/>
          <p:cNvSpPr/>
          <p:nvPr/>
        </p:nvSpPr>
        <p:spPr>
          <a:xfrm>
            <a:off x="1004468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s13_63"/>
          <p:cNvSpPr/>
          <p:nvPr/>
        </p:nvSpPr>
        <p:spPr>
          <a:xfrm>
            <a:off x="1022756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s13_64"/>
          <p:cNvSpPr/>
          <p:nvPr/>
        </p:nvSpPr>
        <p:spPr>
          <a:xfrm>
            <a:off x="1041044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s13_65"/>
          <p:cNvSpPr/>
          <p:nvPr/>
        </p:nvSpPr>
        <p:spPr>
          <a:xfrm>
            <a:off x="1059332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s13_66"/>
          <p:cNvSpPr txBox="1"/>
          <p:nvPr/>
        </p:nvSpPr>
        <p:spPr>
          <a:xfrm>
            <a:off x="10908792" y="5376672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1 de 13</a:t>
            </a:r>
          </a:p>
        </p:txBody>
      </p:sp>
      <p:sp>
        <p:nvSpPr>
          <p:cNvPr id="69" name="s13_67"/>
          <p:cNvSpPr txBox="1"/>
          <p:nvPr/>
        </p:nvSpPr>
        <p:spPr>
          <a:xfrm>
            <a:off x="6793992" y="560527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4 critérios do Ω</a:t>
            </a:r>
          </a:p>
        </p:txBody>
      </p:sp>
      <p:sp>
        <p:nvSpPr>
          <p:cNvPr id="70" name="s13_68"/>
          <p:cNvSpPr/>
          <p:nvPr/>
        </p:nvSpPr>
        <p:spPr>
          <a:xfrm>
            <a:off x="8398764" y="56555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s13_69"/>
          <p:cNvSpPr/>
          <p:nvPr/>
        </p:nvSpPr>
        <p:spPr>
          <a:xfrm>
            <a:off x="8563356" y="56372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s13_70"/>
          <p:cNvSpPr/>
          <p:nvPr/>
        </p:nvSpPr>
        <p:spPr>
          <a:xfrm>
            <a:off x="8746236" y="56372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" name="s13_71"/>
          <p:cNvSpPr/>
          <p:nvPr/>
        </p:nvSpPr>
        <p:spPr>
          <a:xfrm>
            <a:off x="8947404" y="56555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s13_72"/>
          <p:cNvSpPr txBox="1"/>
          <p:nvPr/>
        </p:nvSpPr>
        <p:spPr>
          <a:xfrm>
            <a:off x="10908792" y="5605272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2 de 4</a:t>
            </a:r>
          </a:p>
        </p:txBody>
      </p:sp>
      <p:sp>
        <p:nvSpPr>
          <p:cNvPr id="75" name="s13_73"/>
          <p:cNvSpPr txBox="1"/>
          <p:nvPr/>
        </p:nvSpPr>
        <p:spPr>
          <a:xfrm>
            <a:off x="6793992" y="583387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6 janelas</a:t>
            </a:r>
          </a:p>
        </p:txBody>
      </p:sp>
      <p:sp>
        <p:nvSpPr>
          <p:cNvPr id="76" name="s13_74"/>
          <p:cNvSpPr/>
          <p:nvPr/>
        </p:nvSpPr>
        <p:spPr>
          <a:xfrm>
            <a:off x="8398764" y="58841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s13_75"/>
          <p:cNvSpPr/>
          <p:nvPr/>
        </p:nvSpPr>
        <p:spPr>
          <a:xfrm>
            <a:off x="8563356" y="58658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s13_76"/>
          <p:cNvSpPr/>
          <p:nvPr/>
        </p:nvSpPr>
        <p:spPr>
          <a:xfrm>
            <a:off x="8746236" y="58658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" name="s13_77"/>
          <p:cNvSpPr/>
          <p:nvPr/>
        </p:nvSpPr>
        <p:spPr>
          <a:xfrm>
            <a:off x="8929116" y="58658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" name="s13_78"/>
          <p:cNvSpPr/>
          <p:nvPr/>
        </p:nvSpPr>
        <p:spPr>
          <a:xfrm>
            <a:off x="9130284" y="58841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s13_79"/>
          <p:cNvSpPr/>
          <p:nvPr/>
        </p:nvSpPr>
        <p:spPr>
          <a:xfrm>
            <a:off x="9313164" y="58841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s13_80"/>
          <p:cNvSpPr txBox="1"/>
          <p:nvPr/>
        </p:nvSpPr>
        <p:spPr>
          <a:xfrm>
            <a:off x="10908792" y="5833872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3 de 6</a:t>
            </a:r>
          </a:p>
        </p:txBody>
      </p:sp>
      <p:sp>
        <p:nvSpPr>
          <p:cNvPr id="83" name="s13_81"/>
          <p:cNvSpPr txBox="1"/>
          <p:nvPr/>
        </p:nvSpPr>
        <p:spPr>
          <a:xfrm>
            <a:off x="6793992" y="606247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8 tetos de risco</a:t>
            </a:r>
          </a:p>
        </p:txBody>
      </p:sp>
      <p:sp>
        <p:nvSpPr>
          <p:cNvPr id="84" name="s13_82"/>
          <p:cNvSpPr/>
          <p:nvPr/>
        </p:nvSpPr>
        <p:spPr>
          <a:xfrm>
            <a:off x="839876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5" name="s13_83"/>
          <p:cNvSpPr/>
          <p:nvPr/>
        </p:nvSpPr>
        <p:spPr>
          <a:xfrm>
            <a:off x="858164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s13_84"/>
          <p:cNvSpPr/>
          <p:nvPr/>
        </p:nvSpPr>
        <p:spPr>
          <a:xfrm>
            <a:off x="876452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s13_85"/>
          <p:cNvSpPr/>
          <p:nvPr/>
        </p:nvSpPr>
        <p:spPr>
          <a:xfrm>
            <a:off x="8929116" y="60944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s13_86"/>
          <p:cNvSpPr/>
          <p:nvPr/>
        </p:nvSpPr>
        <p:spPr>
          <a:xfrm>
            <a:off x="913028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s13_87"/>
          <p:cNvSpPr/>
          <p:nvPr/>
        </p:nvSpPr>
        <p:spPr>
          <a:xfrm>
            <a:off x="931316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s13_88"/>
          <p:cNvSpPr/>
          <p:nvPr/>
        </p:nvSpPr>
        <p:spPr>
          <a:xfrm>
            <a:off x="949604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s13_89"/>
          <p:cNvSpPr/>
          <p:nvPr/>
        </p:nvSpPr>
        <p:spPr>
          <a:xfrm>
            <a:off x="967892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s13_90"/>
          <p:cNvSpPr txBox="1"/>
          <p:nvPr/>
        </p:nvSpPr>
        <p:spPr>
          <a:xfrm>
            <a:off x="10908792" y="6062472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1 de 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16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Polymarket como fonte de dados</a:t>
            </a:r>
          </a:p>
        </p:txBody>
      </p:sp>
      <p:sp>
        <p:nvSpPr>
          <p:cNvPr id="7" name="s1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16</a:t>
            </a:r>
          </a:p>
        </p:txBody>
      </p:sp>
      <p:cxnSp>
        <p:nvCxnSpPr>
          <p:cNvPr id="8" name="s1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6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Calibrado e mais preciso que o mercado de juros.</a:t>
            </a:r>
          </a:p>
        </p:txBody>
      </p:sp>
      <p:cxnSp>
        <p:nvCxnSpPr>
          <p:cNvPr id="10" name="s1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6_11"/>
          <p:cNvSpPr txBox="1"/>
          <p:nvPr/>
        </p:nvSpPr>
        <p:spPr>
          <a:xfrm>
            <a:off x="731520" y="1417320"/>
            <a:ext cx="51343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OBSERVAÇÃO 1  ·  CALIBRAÇÃO</a:t>
            </a:r>
          </a:p>
        </p:txBody>
      </p:sp>
      <p:sp>
        <p:nvSpPr>
          <p:cNvPr id="14" name="s16_12"/>
          <p:cNvSpPr txBox="1"/>
          <p:nvPr/>
        </p:nvSpPr>
        <p:spPr>
          <a:xfrm>
            <a:off x="731520" y="1645920"/>
            <a:ext cx="513435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Quando o Polymarket diz X %, acontece X % das vezes.</a:t>
            </a:r>
          </a:p>
        </p:txBody>
      </p:sp>
      <p:sp>
        <p:nvSpPr>
          <p:cNvPr id="15" name="s16_13"/>
          <p:cNvSpPr txBox="1"/>
          <p:nvPr/>
        </p:nvSpPr>
        <p:spPr>
          <a:xfrm>
            <a:off x="731520" y="2212848"/>
            <a:ext cx="155448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B531"/>
                </a:solidFill>
                <a:latin typeface="Bahnschrift SemiBold Condensed"/>
              </a:rPr>
              <a:t>0,043</a:t>
            </a:r>
          </a:p>
        </p:txBody>
      </p:sp>
      <p:sp>
        <p:nvSpPr>
          <p:cNvPr id="16" name="s16_14"/>
          <p:cNvSpPr txBox="1"/>
          <p:nvPr/>
        </p:nvSpPr>
        <p:spPr>
          <a:xfrm>
            <a:off x="1874519" y="2258568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40">
                <a:solidFill>
                  <a:srgbClr val="F5F7FB"/>
                </a:solidFill>
                <a:latin typeface="Consolas"/>
              </a:rPr>
              <a:t>BRIER NA VÉSPERA</a:t>
            </a:r>
          </a:p>
        </p:txBody>
      </p:sp>
      <p:sp>
        <p:nvSpPr>
          <p:cNvPr id="17" name="s16_15"/>
          <p:cNvSpPr txBox="1"/>
          <p:nvPr/>
        </p:nvSpPr>
        <p:spPr>
          <a:xfrm>
            <a:off x="1874519" y="2496312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395B5"/>
                </a:solidFill>
                <a:latin typeface="Bahnschrift SemiLight"/>
              </a:rPr>
              <a:t>Kalshi a 1 h: 0,045</a:t>
            </a:r>
          </a:p>
        </p:txBody>
      </p:sp>
      <p:pic>
        <p:nvPicPr>
          <p:cNvPr id="18" name="s16_16" descr="estudo_s0_calibr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52928"/>
            <a:ext cx="5134355" cy="2616594"/>
          </a:xfrm>
          <a:prstGeom prst="rect">
            <a:avLst/>
          </a:prstGeom>
        </p:spPr>
      </p:pic>
      <p:sp>
        <p:nvSpPr>
          <p:cNvPr id="19" name="s16_17"/>
          <p:cNvSpPr txBox="1"/>
          <p:nvPr/>
        </p:nvSpPr>
        <p:spPr>
          <a:xfrm>
            <a:off x="6323075" y="1417320"/>
            <a:ext cx="51343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OBSERVAÇÃO 2  ·  DECISÃO DO FED</a:t>
            </a:r>
          </a:p>
        </p:txBody>
      </p:sp>
      <p:sp>
        <p:nvSpPr>
          <p:cNvPr id="20" name="s16_18"/>
          <p:cNvSpPr txBox="1"/>
          <p:nvPr/>
        </p:nvSpPr>
        <p:spPr>
          <a:xfrm>
            <a:off x="6323075" y="1645920"/>
            <a:ext cx="513435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Na decisão do Fed, o Polymarket erra 0,9 bps; o mercado de juros, 4,8.</a:t>
            </a:r>
          </a:p>
        </p:txBody>
      </p:sp>
      <p:sp>
        <p:nvSpPr>
          <p:cNvPr id="21" name="s16_19"/>
          <p:cNvSpPr txBox="1"/>
          <p:nvPr/>
        </p:nvSpPr>
        <p:spPr>
          <a:xfrm>
            <a:off x="6323075" y="2212848"/>
            <a:ext cx="155448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B531"/>
                </a:solidFill>
                <a:latin typeface="Bahnschrift SemiBold Condensed"/>
              </a:rPr>
              <a:t>0,9 × 4,8</a:t>
            </a:r>
          </a:p>
        </p:txBody>
      </p:sp>
      <p:sp>
        <p:nvSpPr>
          <p:cNvPr id="22" name="s16_20"/>
          <p:cNvSpPr txBox="1"/>
          <p:nvPr/>
        </p:nvSpPr>
        <p:spPr>
          <a:xfrm>
            <a:off x="7923275" y="2258568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40">
                <a:solidFill>
                  <a:srgbClr val="F5F7FB"/>
                </a:solidFill>
                <a:latin typeface="Consolas"/>
              </a:rPr>
              <a:t>BPS DE ERRO NA VÉSPERA</a:t>
            </a:r>
          </a:p>
        </p:txBody>
      </p:sp>
      <p:sp>
        <p:nvSpPr>
          <p:cNvPr id="23" name="s16_21"/>
          <p:cNvSpPr txBox="1"/>
          <p:nvPr/>
        </p:nvSpPr>
        <p:spPr>
          <a:xfrm>
            <a:off x="7923275" y="2496312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395B5"/>
                </a:solidFill>
                <a:latin typeface="Bahnschrift SemiLight"/>
              </a:rPr>
              <a:t>Polymarket × futuro de FF</a:t>
            </a:r>
          </a:p>
        </p:txBody>
      </p:sp>
      <p:pic>
        <p:nvPicPr>
          <p:cNvPr id="24" name="s16_22" descr="estudo_s2_m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075" y="2852928"/>
            <a:ext cx="5134355" cy="2615335"/>
          </a:xfrm>
          <a:prstGeom prst="rect">
            <a:avLst/>
          </a:prstGeom>
        </p:spPr>
      </p:pic>
      <p:sp>
        <p:nvSpPr>
          <p:cNvPr id="25" name="s16_23"/>
          <p:cNvSpPr/>
          <p:nvPr/>
        </p:nvSpPr>
        <p:spPr>
          <a:xfrm>
            <a:off x="731520" y="559612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6_24"/>
          <p:cNvSpPr txBox="1"/>
          <p:nvPr/>
        </p:nvSpPr>
        <p:spPr>
          <a:xfrm>
            <a:off x="960120" y="56509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2FD3B0"/>
                </a:solidFill>
                <a:latin typeface="Consolas"/>
              </a:rPr>
              <a:t>CONCLUSÃO</a:t>
            </a:r>
          </a:p>
        </p:txBody>
      </p:sp>
      <p:sp>
        <p:nvSpPr>
          <p:cNvPr id="27" name="s16_25"/>
          <p:cNvSpPr txBox="1"/>
          <p:nvPr/>
        </p:nvSpPr>
        <p:spPr>
          <a:xfrm>
            <a:off x="960120" y="5824728"/>
            <a:ext cx="10268711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5F7FB"/>
                </a:solidFill>
                <a:latin typeface="Bahnschrift SemiBold"/>
              </a:rPr>
              <a:t>É uma probabilidade confiável — e melhor que os juros no que os dois precificam. </a:t>
            </a:r>
            <a:r>
              <a:rPr sz="1300" b="0" i="0">
                <a:solidFill>
                  <a:srgbClr val="FFB531"/>
                </a:solidFill>
                <a:latin typeface="Bahnschrift SemiBold"/>
              </a:rPr>
              <a:t>Por isso ela é a opinião do Black-Litterman.</a:t>
            </a:r>
          </a:p>
        </p:txBody>
      </p:sp>
      <p:sp>
        <p:nvSpPr>
          <p:cNvPr id="28" name="s16_26"/>
          <p:cNvSpPr txBox="1"/>
          <p:nvPr/>
        </p:nvSpPr>
        <p:spPr>
          <a:xfrm>
            <a:off x="731520" y="6336792"/>
            <a:ext cx="10725911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Consolas"/>
              </a:rPr>
              <a:t>150 contratos do Polymarket (Fed e CPI) · 30 eventos · 1416 leituras em 11 horizontes · resolução no FRED · apêndice A1–A3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A1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acurácia por horizonte</a:t>
            </a:r>
          </a:p>
        </p:txBody>
      </p:sp>
      <p:sp>
        <p:nvSpPr>
          <p:cNvPr id="7" name="sA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A1</a:t>
            </a:r>
          </a:p>
        </p:txBody>
      </p:sp>
      <p:cxnSp>
        <p:nvCxnSpPr>
          <p:cNvPr id="8" name="sA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Quanto mais perto do evento, menor o erro — e na véspera está no nível do Kalshi.</a:t>
            </a:r>
          </a:p>
        </p:txBody>
      </p:sp>
      <p:cxnSp>
        <p:nvCxnSpPr>
          <p:cNvPr id="10" name="sA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1_11"/>
          <p:cNvSpPr txBox="1"/>
          <p:nvPr/>
        </p:nvSpPr>
        <p:spPr>
          <a:xfrm>
            <a:off x="1705355" y="1417320"/>
            <a:ext cx="8778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BRIER POR DIAS ANTES DA RESOLUÇÃO  ·  SKILL SOBRE A PMF UNIFORME</a:t>
            </a:r>
          </a:p>
        </p:txBody>
      </p:sp>
      <p:pic>
        <p:nvPicPr>
          <p:cNvPr id="14" name="sA1_12" descr="estudo_2_br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5355" y="1645920"/>
            <a:ext cx="8778240" cy="3666611"/>
          </a:xfrm>
          <a:prstGeom prst="rect">
            <a:avLst/>
          </a:prstGeom>
        </p:spPr>
      </p:pic>
      <p:sp>
        <p:nvSpPr>
          <p:cNvPr id="15" name="sA1_13"/>
          <p:cNvSpPr txBox="1"/>
          <p:nvPr/>
        </p:nvSpPr>
        <p:spPr>
          <a:xfrm>
            <a:off x="731520" y="5532120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FOMC: 0,035 a 20 dias → 0,007 na véspera. CPI: 0,092 → 0,078 (é o objeto difícil; ninguém sabe o CPI na véspera).</a:t>
            </a:r>
          </a:p>
        </p:txBody>
      </p:sp>
      <p:sp>
        <p:nvSpPr>
          <p:cNvPr id="16" name="sA1_14"/>
          <p:cNvSpPr txBox="1"/>
          <p:nvPr/>
        </p:nvSpPr>
        <p:spPr>
          <a:xfrm>
            <a:off x="731520" y="5824728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A linha branca (as duas famílias) para em 20 dias porque os mercados de CPI vivem ~30 dias; depois só sobra FOMC.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Polymarket × mercado de juros</a:t>
            </a:r>
          </a:p>
        </p:txBody>
      </p:sp>
      <p:sp>
        <p:nvSpPr>
          <p:cNvPr id="7" name="sA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A2</a:t>
            </a:r>
          </a:p>
        </p:txBody>
      </p:sp>
      <p:cxnSp>
        <p:nvCxnSpPr>
          <p:cNvPr id="8" name="sA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No FOMC, o Polymarket erra menos e o futuro de FF não acrescenta informação.</a:t>
            </a:r>
          </a:p>
        </p:txBody>
      </p:sp>
      <p:cxnSp>
        <p:nvCxnSpPr>
          <p:cNvPr id="10" name="sA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2_11"/>
          <p:cNvSpPr txBox="1"/>
          <p:nvPr/>
        </p:nvSpPr>
        <p:spPr>
          <a:xfrm>
            <a:off x="731520" y="1417320"/>
            <a:ext cx="6583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ERRO DO Δ TAXA E ACERTO DO DESFECHO MODAL, POR HORIZONTE</a:t>
            </a:r>
          </a:p>
        </p:txBody>
      </p:sp>
      <p:pic>
        <p:nvPicPr>
          <p:cNvPr id="14" name="sA2_12" descr="estudo_3_fomc_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6583680" cy="2749958"/>
          </a:xfrm>
          <a:prstGeom prst="rect">
            <a:avLst/>
          </a:prstGeom>
        </p:spPr>
      </p:pic>
      <p:sp>
        <p:nvSpPr>
          <p:cNvPr id="15" name="sA2_13"/>
          <p:cNvSpPr txBox="1"/>
          <p:nvPr/>
        </p:nvSpPr>
        <p:spPr>
          <a:xfrm>
            <a:off x="7589520" y="1417320"/>
            <a:ext cx="386791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QUEM SE MOVE PRIMEIRO</a:t>
            </a:r>
          </a:p>
        </p:txBody>
      </p:sp>
      <p:pic>
        <p:nvPicPr>
          <p:cNvPr id="16" name="sA2_14" descr="estudo_4_leadl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645920"/>
            <a:ext cx="3867911" cy="2610490"/>
          </a:xfrm>
          <a:prstGeom prst="rect">
            <a:avLst/>
          </a:prstGeom>
        </p:spPr>
      </p:pic>
      <p:sp>
        <p:nvSpPr>
          <p:cNvPr id="17" name="sA2_15"/>
          <p:cNvSpPr txBox="1"/>
          <p:nvPr/>
        </p:nvSpPr>
        <p:spPr>
          <a:xfrm>
            <a:off x="731520" y="4892040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Encompassing na véspera:  Δreal = a + 1,14·E_poly -0,06·E_FF   (t = 19,0 e -1,1),</a:t>
            </a:r>
          </a:p>
        </p:txBody>
      </p:sp>
      <p:sp>
        <p:nvSpPr>
          <p:cNvPr id="18" name="sA2_16"/>
          <p:cNvSpPr txBox="1"/>
          <p:nvPr/>
        </p:nvSpPr>
        <p:spPr>
          <a:xfrm>
            <a:off x="731520" y="5184648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Proxy = DTB3 − DFF (sem o contrato ZQ, D12), corrigido do viés pela média expansiva dos erros passados (D12a).</a:t>
            </a:r>
          </a:p>
        </p:txBody>
      </p:sp>
      <p:sp>
        <p:nvSpPr>
          <p:cNvPr id="19" name="sA2_17"/>
          <p:cNvSpPr txBox="1"/>
          <p:nvPr/>
        </p:nvSpPr>
        <p:spPr>
          <a:xfrm>
            <a:off x="731520" y="5477255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Lead-lag: nos lags sem sobreposição de janela (k = +1, −2) a correlação é ≈ 0 — a informação chega aos dois no mesmo pregão.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onde está o valor</a:t>
            </a:r>
          </a:p>
        </p:txBody>
      </p:sp>
      <p:sp>
        <p:nvSpPr>
          <p:cNvPr id="7" name="sA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A3</a:t>
            </a:r>
          </a:p>
        </p:txBody>
      </p:sp>
      <p:cxnSp>
        <p:nvCxnSpPr>
          <p:cNvPr id="8" name="sA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O nível é sinal; o movimento não é — por isso Black-Litterman, e não trading de Δp.</a:t>
            </a:r>
          </a:p>
        </p:txBody>
      </p:sp>
      <p:cxnSp>
        <p:nvCxnSpPr>
          <p:cNvPr id="10" name="sA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3_11"/>
          <p:cNvSpPr txBox="1"/>
          <p:nvPr/>
        </p:nvSpPr>
        <p:spPr>
          <a:xfrm>
            <a:off x="731520" y="1417320"/>
            <a:ext cx="5760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QUAL EXPECTATIVA EXPLICA O RETORNO DO DIA DO FOMC (R², 9 ETFs)</a:t>
            </a:r>
          </a:p>
        </p:txBody>
      </p:sp>
      <p:pic>
        <p:nvPicPr>
          <p:cNvPr id="14" name="sA3_12" descr="estudo_5_event_stu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760720" cy="2891990"/>
          </a:xfrm>
          <a:prstGeom prst="rect">
            <a:avLst/>
          </a:prstGeom>
        </p:spPr>
      </p:pic>
      <p:sp>
        <p:nvSpPr>
          <p:cNvPr id="15" name="sA3_13"/>
          <p:cNvSpPr txBox="1"/>
          <p:nvPr/>
        </p:nvSpPr>
        <p:spPr>
          <a:xfrm>
            <a:off x="6812279" y="1417320"/>
            <a:ext cx="4645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PLACAR DO ESTUDO</a:t>
            </a:r>
          </a:p>
        </p:txBody>
      </p:sp>
      <p:pic>
        <p:nvPicPr>
          <p:cNvPr id="16" name="sA3_14" descr="estudo_6_sinte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79" y="1645920"/>
            <a:ext cx="4645152" cy="2845885"/>
          </a:xfrm>
          <a:prstGeom prst="rect">
            <a:avLst/>
          </a:prstGeom>
        </p:spPr>
      </p:pic>
      <p:sp>
        <p:nvSpPr>
          <p:cNvPr id="17" name="sA3_15"/>
          <p:cNvSpPr txBox="1"/>
          <p:nvPr/>
        </p:nvSpPr>
        <p:spPr>
          <a:xfrm>
            <a:off x="731520" y="4892040"/>
            <a:ext cx="61264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Na véspera quase não sobra surpresa (MAE 0,9 bps): o que move os ETFs no dia é o caminho da política, não a decisão.</a:t>
            </a:r>
          </a:p>
        </p:txBody>
      </p:sp>
      <p:sp>
        <p:nvSpPr>
          <p:cNvPr id="18" name="sA3_16"/>
          <p:cNvSpPr txBox="1"/>
          <p:nvPr/>
        </p:nvSpPr>
        <p:spPr>
          <a:xfrm>
            <a:off x="731520" y="5184648"/>
            <a:ext cx="61264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Antes do anúncio, Δp não antecipa o retorno (Teste_sinal.md: t ≈ 0 em h = 0, 1, 5); o preço do Polymarket reverte em 12 h (ACF −0,13, VR(5) = 0,78).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4584</Words>
  <Application>Microsoft Office PowerPoint</Application>
  <PresentationFormat>Widescreen</PresentationFormat>
  <Paragraphs>483</Paragraphs>
  <Slides>21</Slides>
  <Notes>20</Notes>
  <HiddenSlides>0</HiddenSlides>
  <MMClips>0</MMClips>
  <ScaleCrop>false</ScaleCrop>
  <HeadingPairs>
    <vt:vector size="6" baseType="variant">
      <vt:variant>
        <vt:lpstr>Fontes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31" baseType="lpstr">
      <vt:lpstr>Aptos</vt:lpstr>
      <vt:lpstr>Arial</vt:lpstr>
      <vt:lpstr>Bahnschrift</vt:lpstr>
      <vt:lpstr>Bahnschrift SemiBold</vt:lpstr>
      <vt:lpstr>Bahnschrift SemiBold Condensed</vt:lpstr>
      <vt:lpstr>Bahnschrift SemiLight</vt:lpstr>
      <vt:lpstr>Calibri</vt:lpstr>
      <vt:lpstr>Consolas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Felipe da Costa Menusier</cp:lastModifiedBy>
  <cp:revision>2</cp:revision>
  <dcterms:created xsi:type="dcterms:W3CDTF">2013-01-27T09:14:16Z</dcterms:created>
  <dcterms:modified xsi:type="dcterms:W3CDTF">2026-09-17T21:45:31Z</dcterms:modified>
  <cp:category/>
</cp:coreProperties>
</file>