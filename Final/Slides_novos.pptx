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90" autoAdjust="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A33C7A-AC3C-4559-8D6A-EE8E5DF7326C}" type="datetimeFigureOut">
              <a:rPr lang="pt-BR" smtClean="0"/>
              <a:t>17/09/2026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C60552-2E90-46EF-9EBD-6D930DD6101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4394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2026-01-27: E_poly = -0.2 bps · juros (DTB3 − DFF) = -5.0 bps · surpresa bruta +4.8 · líquida -0.2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2025-09-16: E_poly = -26.9 bps · juros (DTB3 − DFF) = -42.0 bps · surpresa bruta +15.1 · líquida +9.1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Gráficos da página 5 do relatório (Uteis/graficos/p5_*.png, graficos_p5.py; corte de 15/08, 91 sessões dos três LOGs). Esforço: 31/54/15 % das sessões e 25/71/4 % dos tokens. Erros: 145, 88 % pegos na própria sessão. Peneira: GRUPOS do slide 8 da semi. Uma que caiu: momentum do sinal, VR 0,97–1,18 (Premissa_tendencia.md).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Fonte: scripts/estudo_polymarket.py → Uteis/analises/Metricas_estudo.md; guia de leitura em Final/estudo/Guia_slide16.md. Amostra = todo o dado macro do repo (FOMC 76 faixas/18 reuniões, CPI 74 faixas/12 meses), sem exclusão. Brier 0,043 [0,022; 0,067]; calibração b = 1,04 (p = 0,15); FF = proxy DTB3−DFF corrigido do viés (cru: 8,9 bps), DM p = 0,002; 17/17 no desfecho modal. Terceira informação, se pedirem: o movimento do preço não é sinal (VR(5) = 0,78 &lt; 1, Δp com t ≈ 0) — por isso usamos o nível, não o Δp. Detalhe nos apêndices A1–A3.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Tabela: Uteis/dados/estudo/brier_horizonte.csv (IC por bootstrap de evento). BSS = 1 − Brier/Brier da uniforme (1/K por faixa): 0,73 pooled na véspera; FOMC 0,96, CPI 0,42. A 60 dias o FOMC ainda tem BSS 0,67.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Tabelas: Uteis/dados/estudo/fomc_vs_ff.csv, encompassing.csv, leadlag_*.csv. DM com correção HLN; n = 17-18 reuniões por horizonte. A 60 dias a vantagem some (p = 0,76). Granger com Newey-West: t = 1,8 (poly → FF) e 1,9 (FF → poly).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Tabelas: Uteis/dados/estudo/event_study.csv e martingale.csv. FOMC n = 17; a surpresa-FF corrigida explica mais (R² médio 0,19 vs 0,08) porque carrega o caminho de 3 meses, não porque o Polymarket erre. CPI: R² ≈ 0 para as duas. VR(5) por família: FOMC 0,78, CPI 0,72, payrolls 0,43 — nenhuma &gt;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Como funciona o Polymarket</a:t>
            </a:r>
          </a:p>
        </p:txBody>
      </p:sp>
      <p:sp>
        <p:nvSpPr>
          <p:cNvPr id="7" name="s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03</a:t>
            </a:r>
          </a:p>
        </p:txBody>
      </p:sp>
      <p:cxnSp>
        <p:nvCxnSpPr>
          <p:cNvPr id="8" name="s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contrato paga US$ 1 se o evento acontece. O preço é a probabilidade.</a:t>
            </a:r>
          </a:p>
        </p:txBody>
      </p:sp>
      <p:cxnSp>
        <p:nvCxnSpPr>
          <p:cNvPr id="10" name="s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3_11"/>
          <p:cNvSpPr/>
          <p:nvPr/>
        </p:nvSpPr>
        <p:spPr>
          <a:xfrm>
            <a:off x="731520" y="1600200"/>
            <a:ext cx="4160520" cy="29718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3_12"/>
          <p:cNvSpPr txBox="1"/>
          <p:nvPr/>
        </p:nvSpPr>
        <p:spPr>
          <a:xfrm>
            <a:off x="987552" y="1801368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MERCADO REAL  ·  POLYMARKET</a:t>
            </a:r>
          </a:p>
        </p:txBody>
      </p:sp>
      <p:sp>
        <p:nvSpPr>
          <p:cNvPr id="15" name="s3_13"/>
          <p:cNvSpPr txBox="1"/>
          <p:nvPr/>
        </p:nvSpPr>
        <p:spPr>
          <a:xfrm>
            <a:off x="987552" y="20574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F5F7FB"/>
                </a:solidFill>
                <a:latin typeface="Bahnschrift SemiBold"/>
              </a:rPr>
              <a:t>Fed decision in September 2025?</a:t>
            </a:r>
          </a:p>
        </p:txBody>
      </p:sp>
      <p:cxnSp>
        <p:nvCxnSpPr>
          <p:cNvPr id="16" name="s3_14"/>
          <p:cNvCxnSpPr/>
          <p:nvPr/>
        </p:nvCxnSpPr>
        <p:spPr>
          <a:xfrm>
            <a:off x="987552" y="2496312"/>
            <a:ext cx="3648455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3_15"/>
          <p:cNvSpPr txBox="1"/>
          <p:nvPr/>
        </p:nvSpPr>
        <p:spPr>
          <a:xfrm>
            <a:off x="987552" y="2606040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Light"/>
              </a:rPr>
              <a:t>corte de 25 bps</a:t>
            </a:r>
          </a:p>
        </p:txBody>
      </p:sp>
      <p:sp>
        <p:nvSpPr>
          <p:cNvPr id="18" name="s3_16"/>
          <p:cNvSpPr txBox="1"/>
          <p:nvPr/>
        </p:nvSpPr>
        <p:spPr>
          <a:xfrm>
            <a:off x="3931920" y="2606040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531"/>
                </a:solidFill>
                <a:latin typeface="Consolas"/>
              </a:rPr>
              <a:t>90¢</a:t>
            </a:r>
          </a:p>
        </p:txBody>
      </p:sp>
      <p:sp>
        <p:nvSpPr>
          <p:cNvPr id="19" name="s3_17"/>
          <p:cNvSpPr/>
          <p:nvPr/>
        </p:nvSpPr>
        <p:spPr>
          <a:xfrm>
            <a:off x="987552" y="2880360"/>
            <a:ext cx="3301852" cy="45720"/>
          </a:xfrm>
          <a:prstGeom prst="rect">
            <a:avLst/>
          </a:prstGeom>
          <a:solidFill>
            <a:srgbClr val="FFB531"/>
          </a:solidFill>
          <a:ln>
            <a:noFill/>
          </a:ln>
          <a:effectLst>
            <a:glow rad="40000">
              <a:srgbClr val="FFB531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3_18"/>
          <p:cNvSpPr txBox="1"/>
          <p:nvPr/>
        </p:nvSpPr>
        <p:spPr>
          <a:xfrm>
            <a:off x="987552" y="3026664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corte de 50+ bps</a:t>
            </a:r>
          </a:p>
        </p:txBody>
      </p:sp>
      <p:sp>
        <p:nvSpPr>
          <p:cNvPr id="21" name="s3_19"/>
          <p:cNvSpPr txBox="1"/>
          <p:nvPr/>
        </p:nvSpPr>
        <p:spPr>
          <a:xfrm>
            <a:off x="3931920" y="3026664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7¢</a:t>
            </a:r>
          </a:p>
        </p:txBody>
      </p:sp>
      <p:sp>
        <p:nvSpPr>
          <p:cNvPr id="22" name="s3_20"/>
          <p:cNvSpPr/>
          <p:nvPr/>
        </p:nvSpPr>
        <p:spPr>
          <a:xfrm>
            <a:off x="987552" y="3300984"/>
            <a:ext cx="25356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s3_21"/>
          <p:cNvSpPr txBox="1"/>
          <p:nvPr/>
        </p:nvSpPr>
        <p:spPr>
          <a:xfrm>
            <a:off x="987552" y="3447288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sem mudança</a:t>
            </a:r>
          </a:p>
        </p:txBody>
      </p:sp>
      <p:sp>
        <p:nvSpPr>
          <p:cNvPr id="24" name="s3_22"/>
          <p:cNvSpPr txBox="1"/>
          <p:nvPr/>
        </p:nvSpPr>
        <p:spPr>
          <a:xfrm>
            <a:off x="3931920" y="3447288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2¢</a:t>
            </a:r>
          </a:p>
        </p:txBody>
      </p:sp>
      <p:sp>
        <p:nvSpPr>
          <p:cNvPr id="25" name="s3_23"/>
          <p:cNvSpPr/>
          <p:nvPr/>
        </p:nvSpPr>
        <p:spPr>
          <a:xfrm>
            <a:off x="987552" y="3721608"/>
            <a:ext cx="8938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3_24"/>
          <p:cNvSpPr txBox="1"/>
          <p:nvPr/>
        </p:nvSpPr>
        <p:spPr>
          <a:xfrm>
            <a:off x="987552" y="3867912"/>
            <a:ext cx="20116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alta de 25+ bps</a:t>
            </a:r>
          </a:p>
        </p:txBody>
      </p:sp>
      <p:sp>
        <p:nvSpPr>
          <p:cNvPr id="27" name="s3_25"/>
          <p:cNvSpPr txBox="1"/>
          <p:nvPr/>
        </p:nvSpPr>
        <p:spPr>
          <a:xfrm>
            <a:off x="3931920" y="3867912"/>
            <a:ext cx="70408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0¢</a:t>
            </a:r>
          </a:p>
        </p:txBody>
      </p:sp>
      <p:sp>
        <p:nvSpPr>
          <p:cNvPr id="28" name="s3_26"/>
          <p:cNvSpPr/>
          <p:nvPr/>
        </p:nvSpPr>
        <p:spPr>
          <a:xfrm>
            <a:off x="987552" y="4142232"/>
            <a:ext cx="27432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3_27"/>
          <p:cNvSpPr txBox="1"/>
          <p:nvPr/>
        </p:nvSpPr>
        <p:spPr>
          <a:xfrm>
            <a:off x="987552" y="418795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US$ 221 mi negociados  ·  leitura de 16/09/2025, véspera</a:t>
            </a:r>
          </a:p>
        </p:txBody>
      </p:sp>
      <p:sp>
        <p:nvSpPr>
          <p:cNvPr id="30" name="s3_28"/>
          <p:cNvSpPr txBox="1"/>
          <p:nvPr/>
        </p:nvSpPr>
        <p:spPr>
          <a:xfrm>
            <a:off x="5251760" y="1508760"/>
            <a:ext cx="5943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PROBABILIDADE ANDA ATÉ VIRAR 0 OU 100</a:t>
            </a:r>
          </a:p>
        </p:txBody>
      </p:sp>
      <p:pic>
        <p:nvPicPr>
          <p:cNvPr id="31" name="s3_29" descr="s3_fed_set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2304" y="1540829"/>
            <a:ext cx="6382512" cy="3236845"/>
          </a:xfrm>
          <a:prstGeom prst="rect">
            <a:avLst/>
          </a:prstGeom>
        </p:spPr>
      </p:pic>
      <p:sp>
        <p:nvSpPr>
          <p:cNvPr id="32" name="s3_30"/>
          <p:cNvSpPr/>
          <p:nvPr/>
        </p:nvSpPr>
        <p:spPr>
          <a:xfrm>
            <a:off x="73152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3_31"/>
          <p:cNvSpPr txBox="1"/>
          <p:nvPr/>
        </p:nvSpPr>
        <p:spPr>
          <a:xfrm>
            <a:off x="960120" y="5029200"/>
            <a:ext cx="2103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90,1%</a:t>
            </a:r>
          </a:p>
        </p:txBody>
      </p:sp>
      <p:sp>
        <p:nvSpPr>
          <p:cNvPr id="34" name="s3_32"/>
          <p:cNvSpPr txBox="1"/>
          <p:nvPr/>
        </p:nvSpPr>
        <p:spPr>
          <a:xfrm>
            <a:off x="960120" y="56967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de acerto a 1 mês da resolução</a:t>
            </a:r>
          </a:p>
        </p:txBody>
      </p:sp>
      <p:sp>
        <p:nvSpPr>
          <p:cNvPr id="35" name="s3_33"/>
          <p:cNvSpPr/>
          <p:nvPr/>
        </p:nvSpPr>
        <p:spPr>
          <a:xfrm>
            <a:off x="342900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3_34"/>
          <p:cNvSpPr txBox="1"/>
          <p:nvPr/>
        </p:nvSpPr>
        <p:spPr>
          <a:xfrm>
            <a:off x="3657600" y="5029200"/>
            <a:ext cx="21031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US$ 26,2 bi</a:t>
            </a:r>
          </a:p>
        </p:txBody>
      </p:sp>
      <p:sp>
        <p:nvSpPr>
          <p:cNvPr id="37" name="s3_35"/>
          <p:cNvSpPr txBox="1"/>
          <p:nvPr/>
        </p:nvSpPr>
        <p:spPr>
          <a:xfrm>
            <a:off x="3657600" y="5696712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negociados no 1º tri de 2026</a:t>
            </a:r>
          </a:p>
        </p:txBody>
      </p:sp>
      <p:sp>
        <p:nvSpPr>
          <p:cNvPr id="38" name="s3_36"/>
          <p:cNvSpPr/>
          <p:nvPr/>
        </p:nvSpPr>
        <p:spPr>
          <a:xfrm>
            <a:off x="6126480" y="4828032"/>
            <a:ext cx="5330951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s3_37"/>
          <p:cNvSpPr txBox="1"/>
          <p:nvPr/>
        </p:nvSpPr>
        <p:spPr>
          <a:xfrm>
            <a:off x="6382512" y="502920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 dirty="0">
                <a:solidFill>
                  <a:srgbClr val="FFB531"/>
                </a:solidFill>
                <a:latin typeface="Consolas"/>
              </a:rPr>
              <a:t>O QUE O KAIROS LÊ</a:t>
            </a:r>
          </a:p>
        </p:txBody>
      </p:sp>
      <p:sp>
        <p:nvSpPr>
          <p:cNvPr id="40" name="s3_38"/>
          <p:cNvSpPr txBox="1"/>
          <p:nvPr/>
        </p:nvSpPr>
        <p:spPr>
          <a:xfrm>
            <a:off x="6382512" y="5303520"/>
            <a:ext cx="481888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O preço de cada desfecho, duas vezes por dia.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Sempre a leitura anterior à abertura da bolsa — nunca a do dia.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Quem errar perde dinheiro de verdade.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É o que faz do preço uma opinião com custo, não uma pesquisa.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4a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a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a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a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Na maioria dos dias, Polymarket e mercado esperam a mesma coisa.</a:t>
            </a:r>
          </a:p>
        </p:txBody>
      </p:sp>
      <p:cxnSp>
        <p:nvCxnSpPr>
          <p:cNvPr id="10" name="s4a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4a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27/01/2026</a:t>
            </a:r>
          </a:p>
        </p:txBody>
      </p:sp>
      <p:sp>
        <p:nvSpPr>
          <p:cNvPr id="15" name="s4a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0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Polymarket e juros precificam a mesma decisão — o Kairós não tem opinião e carrega a carteira do mercado.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>
            <a:off x="9149913" y="2487168"/>
            <a:ext cx="11616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9179210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!!mk_XLK"/>
          <p:cNvSpPr/>
          <p:nvPr/>
        </p:nvSpPr>
        <p:spPr>
          <a:xfrm>
            <a:off x="9090477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!!val_XLK"/>
          <p:cNvSpPr txBox="1"/>
          <p:nvPr/>
        </p:nvSpPr>
        <p:spPr>
          <a:xfrm>
            <a:off x="9421526" y="2368296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+ 0,08%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>
            <a:off x="9108785" y="2871216"/>
            <a:ext cx="9351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9115433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!!mk_SPY"/>
          <p:cNvSpPr/>
          <p:nvPr/>
        </p:nvSpPr>
        <p:spPr>
          <a:xfrm>
            <a:off x="9049349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!!val_SPY"/>
          <p:cNvSpPr txBox="1"/>
          <p:nvPr/>
        </p:nvSpPr>
        <p:spPr>
          <a:xfrm>
            <a:off x="9357749" y="275234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>
            <a:off x="9087962" y="3255264"/>
            <a:ext cx="9700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9098099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!!mk_XLF"/>
          <p:cNvSpPr/>
          <p:nvPr/>
        </p:nvSpPr>
        <p:spPr>
          <a:xfrm>
            <a:off x="9028526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!!val_XLF"/>
          <p:cNvSpPr txBox="1"/>
          <p:nvPr/>
        </p:nvSpPr>
        <p:spPr>
          <a:xfrm>
            <a:off x="9340415" y="313639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>
            <a:off x="9077378" y="3639312"/>
            <a:ext cx="5173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9042246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!!mk_XLE"/>
          <p:cNvSpPr/>
          <p:nvPr/>
        </p:nvSpPr>
        <p:spPr>
          <a:xfrm>
            <a:off x="9017942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!!val_XLE"/>
          <p:cNvSpPr txBox="1"/>
          <p:nvPr/>
        </p:nvSpPr>
        <p:spPr>
          <a:xfrm>
            <a:off x="9284562" y="352044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>
            <a:off x="9055277" y="4023360"/>
            <a:ext cx="61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9029793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!!mk_XLV"/>
          <p:cNvSpPr/>
          <p:nvPr/>
        </p:nvSpPr>
        <p:spPr>
          <a:xfrm>
            <a:off x="8995841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!!val_XLV"/>
          <p:cNvSpPr txBox="1"/>
          <p:nvPr/>
        </p:nvSpPr>
        <p:spPr>
          <a:xfrm>
            <a:off x="9272109" y="3904488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>
            <a:off x="9031137" y="4407408"/>
            <a:ext cx="71251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9015520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!!mk_XLP"/>
          <p:cNvSpPr/>
          <p:nvPr/>
        </p:nvSpPr>
        <p:spPr>
          <a:xfrm>
            <a:off x="8971701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!!val_XLP"/>
          <p:cNvSpPr txBox="1"/>
          <p:nvPr/>
        </p:nvSpPr>
        <p:spPr>
          <a:xfrm>
            <a:off x="9257836" y="4288536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>
            <a:off x="9010412" y="4791456"/>
            <a:ext cx="2513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948678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!!mk_TIP"/>
          <p:cNvSpPr/>
          <p:nvPr/>
        </p:nvSpPr>
        <p:spPr>
          <a:xfrm>
            <a:off x="8950976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!!val_TIP"/>
          <p:cNvSpPr txBox="1"/>
          <p:nvPr/>
        </p:nvSpPr>
        <p:spPr>
          <a:xfrm>
            <a:off x="9190994" y="467258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 flipH="1">
            <a:off x="9035140" y="5175504"/>
            <a:ext cx="937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8948272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!!mk_XLU"/>
          <p:cNvSpPr/>
          <p:nvPr/>
        </p:nvSpPr>
        <p:spPr>
          <a:xfrm>
            <a:off x="8985078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!!val_XLU"/>
          <p:cNvSpPr txBox="1"/>
          <p:nvPr/>
        </p:nvSpPr>
        <p:spPr>
          <a:xfrm>
            <a:off x="9190588" y="505663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3598" y="5559552"/>
            <a:ext cx="617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8932908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!!mk_TLT"/>
          <p:cNvSpPr/>
          <p:nvPr/>
        </p:nvSpPr>
        <p:spPr>
          <a:xfrm>
            <a:off x="8954162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!!val_TLT"/>
          <p:cNvSpPr txBox="1"/>
          <p:nvPr/>
        </p:nvSpPr>
        <p:spPr>
          <a:xfrm>
            <a:off x="9175224" y="544068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+ 0,00%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4b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b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b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b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Em alguns, divergem — e é aí que o Kairós age.</a:t>
            </a:r>
          </a:p>
        </p:txBody>
      </p:sp>
      <p:cxnSp>
        <p:nvCxnSpPr>
          <p:cNvPr id="10" name="s4b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4b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16/09/2025</a:t>
            </a:r>
          </a:p>
        </p:txBody>
      </p:sp>
      <p:sp>
        <p:nvSpPr>
          <p:cNvPr id="15" name="s4b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+9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O Polymarket vê menos corte do que os juros embutem: dinheiro em risco discorda do preço. A conta vira retorno esperado por ETF.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 flipH="1">
            <a:off x="4126496" y="2487168"/>
            <a:ext cx="5021063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4039628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!!mk_XLK"/>
          <p:cNvSpPr/>
          <p:nvPr/>
        </p:nvSpPr>
        <p:spPr>
          <a:xfrm>
            <a:off x="9088123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!!val_XLK"/>
          <p:cNvSpPr txBox="1"/>
          <p:nvPr/>
        </p:nvSpPr>
        <p:spPr>
          <a:xfrm>
            <a:off x="3257816" y="2368296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− 1,52%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 flipH="1">
            <a:off x="5358875" y="2871216"/>
            <a:ext cx="37505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5272007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!!mk_SPY"/>
          <p:cNvSpPr/>
          <p:nvPr/>
        </p:nvSpPr>
        <p:spPr>
          <a:xfrm>
            <a:off x="9049977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!!val_SPY"/>
          <p:cNvSpPr txBox="1"/>
          <p:nvPr/>
        </p:nvSpPr>
        <p:spPr>
          <a:xfrm>
            <a:off x="4490195" y="275234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− 1,14%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 flipH="1">
            <a:off x="6216124" y="3255264"/>
            <a:ext cx="2874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6129256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!!mk_XLF"/>
          <p:cNvSpPr/>
          <p:nvPr/>
        </p:nvSpPr>
        <p:spPr>
          <a:xfrm>
            <a:off x="9031072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!!val_XLF"/>
          <p:cNvSpPr txBox="1"/>
          <p:nvPr/>
        </p:nvSpPr>
        <p:spPr>
          <a:xfrm>
            <a:off x="5347444" y="313639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− 0,87%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 flipH="1">
            <a:off x="6631476" y="3639312"/>
            <a:ext cx="24473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6544608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!!mk_XLE"/>
          <p:cNvSpPr/>
          <p:nvPr/>
        </p:nvSpPr>
        <p:spPr>
          <a:xfrm>
            <a:off x="9019378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!!val_XLE"/>
          <p:cNvSpPr txBox="1"/>
          <p:nvPr/>
        </p:nvSpPr>
        <p:spPr>
          <a:xfrm>
            <a:off x="5762796" y="352044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− 0,74%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 flipH="1">
            <a:off x="7357519" y="4023360"/>
            <a:ext cx="170007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7270651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!!mk_XLV"/>
          <p:cNvSpPr/>
          <p:nvPr/>
        </p:nvSpPr>
        <p:spPr>
          <a:xfrm>
            <a:off x="8998159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!!val_XLV"/>
          <p:cNvSpPr txBox="1"/>
          <p:nvPr/>
        </p:nvSpPr>
        <p:spPr>
          <a:xfrm>
            <a:off x="6488839" y="3904488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− 0,52%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 flipH="1">
            <a:off x="7369482" y="4407408"/>
            <a:ext cx="166770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7282614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!!mk_XLP"/>
          <p:cNvSpPr/>
          <p:nvPr/>
        </p:nvSpPr>
        <p:spPr>
          <a:xfrm>
            <a:off x="8977750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!!val_XLP"/>
          <p:cNvSpPr txBox="1"/>
          <p:nvPr/>
        </p:nvSpPr>
        <p:spPr>
          <a:xfrm>
            <a:off x="6500802" y="4288536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− 0,51%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 flipH="1">
            <a:off x="8379781" y="4791456"/>
            <a:ext cx="632287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292913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!!mk_TIP"/>
          <p:cNvSpPr/>
          <p:nvPr/>
        </p:nvSpPr>
        <p:spPr>
          <a:xfrm>
            <a:off x="8952632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!!val_TIP"/>
          <p:cNvSpPr txBox="1"/>
          <p:nvPr/>
        </p:nvSpPr>
        <p:spPr>
          <a:xfrm>
            <a:off x="7511101" y="467258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− 0,20%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>
            <a:off x="9048468" y="5175504"/>
            <a:ext cx="43582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9397428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!!mk_XLU"/>
          <p:cNvSpPr/>
          <p:nvPr/>
        </p:nvSpPr>
        <p:spPr>
          <a:xfrm>
            <a:off x="8989032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!!val_XLU"/>
          <p:cNvSpPr txBox="1"/>
          <p:nvPr/>
        </p:nvSpPr>
        <p:spPr>
          <a:xfrm>
            <a:off x="9639744" y="5056632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+ 0,15%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9047" y="5559552"/>
            <a:ext cx="48685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9419035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!!mk_TLT"/>
          <p:cNvSpPr/>
          <p:nvPr/>
        </p:nvSpPr>
        <p:spPr>
          <a:xfrm>
            <a:off x="8959611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!!val_TLT"/>
          <p:cNvSpPr txBox="1"/>
          <p:nvPr/>
        </p:nvSpPr>
        <p:spPr>
          <a:xfrm>
            <a:off x="9661351" y="5440680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+ 0,16%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59:morph xmlns:p159="http://schemas.microsoft.com/office/powerpoint/2015/09/main" option="byObject"/>
      </p:transition>
    </mc:Choice>
    <mc:Fallback xmlns=""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s12_0_1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7" name="s12_0_1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18" name="s12_0_1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s12_0_1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0" name="s12_0_1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1" name="s12_0_1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2" name="s12_0_20"/>
          <p:cNvSpPr txBox="1"/>
          <p:nvPr/>
        </p:nvSpPr>
        <p:spPr>
          <a:xfrm>
            <a:off x="5897880" y="4809744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8698A"/>
                </a:solidFill>
                <a:latin typeface="Consolas"/>
              </a:rPr>
              <a:t>clique para ver o caminho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!!pulso"/>
          <p:cNvSpPr/>
          <p:nvPr/>
        </p:nvSpPr>
        <p:spPr>
          <a:xfrm>
            <a:off x="2530300" y="372880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s12_1_1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9" name="s12_1_1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0" name="s12_1_1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s12_1_1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2" name="s12_1_2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3" name="s12_1_2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!!pulso"/>
          <p:cNvSpPr/>
          <p:nvPr/>
        </p:nvSpPr>
        <p:spPr>
          <a:xfrm>
            <a:off x="1449603" y="262644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s12_2_1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1" name="s12_2_1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2" name="s12_2_2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s12_2_2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4" name="s12_2_2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5" name="s12_2_2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!!pulso"/>
          <p:cNvSpPr/>
          <p:nvPr/>
        </p:nvSpPr>
        <p:spPr>
          <a:xfrm>
            <a:off x="1382760" y="361647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s12_3_2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3" name="s12_3_2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4" name="s12_3_2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s12_3_2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6" name="s12_3_2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7" name="s12_3_2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4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4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4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4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4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!!pulso"/>
          <p:cNvSpPr/>
          <p:nvPr/>
        </p:nvSpPr>
        <p:spPr>
          <a:xfrm>
            <a:off x="2146815" y="331977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s12_4_2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5" name="s12_4_2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6" name="s12_4_2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s12_4_2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8" name="s12_4_2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9" name="s12_4_2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5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5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5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5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5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!!pulso"/>
          <p:cNvSpPr/>
          <p:nvPr/>
        </p:nvSpPr>
        <p:spPr>
          <a:xfrm>
            <a:off x="2211553" y="395805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2_5_2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7" name="s12_5_2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8" name="s12_5_2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s12_5_2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0" name="s12_5_2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1" name="s12_5_2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!!pulso"/>
          <p:cNvSpPr/>
          <p:nvPr/>
        </p:nvSpPr>
        <p:spPr>
          <a:xfrm>
            <a:off x="1747201" y="314645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s12_6_2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9" name="s12_6_2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0" name="s12_6_2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s12_6_2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2" name="s12_6_3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3" name="s12_6_3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3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7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7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7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7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7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!!pulso"/>
          <p:cNvSpPr/>
          <p:nvPr/>
        </p:nvSpPr>
        <p:spPr>
          <a:xfrm>
            <a:off x="3236739" y="324134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s12_7_2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1" name="s12_7_2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2" name="s12_7_3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s12_7_3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4" name="s12_7_3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5" name="s12_7_3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8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9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0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1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2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8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8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8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8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8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!!pulso"/>
          <p:cNvSpPr/>
          <p:nvPr/>
        </p:nvSpPr>
        <p:spPr>
          <a:xfrm>
            <a:off x="2064431" y="357905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s12_8_3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3" name="s12_8_3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4" name="s12_8_3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s12_8_3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6" name="s12_8_3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7" name="s12_8_3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1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2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3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4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5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9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9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9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9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9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!!pulso"/>
          <p:cNvSpPr/>
          <p:nvPr/>
        </p:nvSpPr>
        <p:spPr>
          <a:xfrm>
            <a:off x="2401930" y="2596617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s12_9_3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5" name="s12_9_3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6" name="s12_9_3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s12_9_3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8" name="s12_9_3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9" name="s12_9_3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4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5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6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7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48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!!pulso"/>
          <p:cNvSpPr/>
          <p:nvPr/>
        </p:nvSpPr>
        <p:spPr>
          <a:xfrm>
            <a:off x="2692843" y="343618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12_10_3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7" name="s12_10_3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8" name="s12_10_3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s12_10_3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0" name="s12_10_3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1" name="s12_10_3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7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8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9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0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1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!!pulso"/>
          <p:cNvSpPr/>
          <p:nvPr/>
        </p:nvSpPr>
        <p:spPr>
          <a:xfrm>
            <a:off x="3691153" y="491612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s12_11_3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9" name="s12_11_3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40" name="s12_11_3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s12_11_3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2" name="s12_11_4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3" name="s12_11_4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50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1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2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3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4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 advTm="320">
        <p159:morph xmlns:p159="http://schemas.microsoft.com/office/powerpoint/2015/09/main" option="byObject"/>
      </p:transition>
    </mc:Choice>
    <mc:Fallback xmlns="">
      <p:transition spd="fast" advTm="32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2_1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209 arquivos  ·  719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690320" y="3888827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!!e_1"/>
          <p:cNvCxnSpPr/>
          <p:nvPr/>
        </p:nvCxnSpPr>
        <p:spPr>
          <a:xfrm flipH="1" flipV="1">
            <a:off x="1701063" y="2877907"/>
            <a:ext cx="1080697" cy="110236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609623" y="2786467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9" name="!!e_2"/>
          <p:cNvCxnSpPr/>
          <p:nvPr/>
        </p:nvCxnSpPr>
        <p:spPr>
          <a:xfrm flipH="1">
            <a:off x="1634220" y="2877907"/>
            <a:ext cx="66843" cy="99002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542780" y="377649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1" name="!!e_3"/>
          <p:cNvCxnSpPr/>
          <p:nvPr/>
        </p:nvCxnSpPr>
        <p:spPr>
          <a:xfrm flipV="1">
            <a:off x="1634220" y="3571236"/>
            <a:ext cx="764055" cy="29669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306835" y="347979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3" name="!!e_4"/>
          <p:cNvCxnSpPr/>
          <p:nvPr/>
        </p:nvCxnSpPr>
        <p:spPr>
          <a:xfrm>
            <a:off x="2398275" y="3571236"/>
            <a:ext cx="64738" cy="63827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2371573" y="4118072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5" name="!!e_5"/>
          <p:cNvCxnSpPr/>
          <p:nvPr/>
        </p:nvCxnSpPr>
        <p:spPr>
          <a:xfrm flipH="1" flipV="1">
            <a:off x="1998661" y="3397918"/>
            <a:ext cx="464352" cy="81159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1907221" y="330647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7" name="!!e_6"/>
          <p:cNvCxnSpPr/>
          <p:nvPr/>
        </p:nvCxnSpPr>
        <p:spPr>
          <a:xfrm>
            <a:off x="1998661" y="3397918"/>
            <a:ext cx="1489538" cy="94890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96759" y="340136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9" name="!!e_7"/>
          <p:cNvCxnSpPr/>
          <p:nvPr/>
        </p:nvCxnSpPr>
        <p:spPr>
          <a:xfrm flipH="1">
            <a:off x="2315891" y="3492808"/>
            <a:ext cx="1172308" cy="33770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2224451" y="3739076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1" name="!!e_8"/>
          <p:cNvCxnSpPr/>
          <p:nvPr/>
        </p:nvCxnSpPr>
        <p:spPr>
          <a:xfrm flipV="1">
            <a:off x="2315891" y="2848077"/>
            <a:ext cx="337499" cy="98243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61950" y="2756637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3" name="!!e_9"/>
          <p:cNvCxnSpPr/>
          <p:nvPr/>
        </p:nvCxnSpPr>
        <p:spPr>
          <a:xfrm>
            <a:off x="2653390" y="2848077"/>
            <a:ext cx="290913" cy="83956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2852863" y="359620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" name="!!e_10"/>
          <p:cNvCxnSpPr/>
          <p:nvPr/>
        </p:nvCxnSpPr>
        <p:spPr>
          <a:xfrm>
            <a:off x="2944303" y="3687642"/>
            <a:ext cx="998310" cy="1479946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3851173" y="507614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s12_12_35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8" name="s12_12_36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9" name="s12_12_37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s12_12_38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1" name="s12_12_39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2" name="s12_12_40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3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4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5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6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7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8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9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0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1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2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3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  <p:sp>
        <p:nvSpPr>
          <p:cNvPr id="54" name="s12_12_52"/>
          <p:cNvSpPr txBox="1"/>
          <p:nvPr/>
        </p:nvSpPr>
        <p:spPr>
          <a:xfrm>
            <a:off x="5897880" y="6144768"/>
            <a:ext cx="555955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7FB"/>
                </a:solidFill>
                <a:latin typeface="Consolas"/>
              </a:rPr>
              <a:t>23 comandos · 11 arquivos · </a:t>
            </a:r>
            <a:r>
              <a:rPr sz="900" b="1" i="0">
                <a:solidFill>
                  <a:srgbClr val="FFB531"/>
                </a:solidFill>
                <a:latin typeface="Consolas"/>
              </a:rPr>
              <a:t>contrato  →  análise  →  código  →  dado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550">
        <p159:morph xmlns:p159="http://schemas.microsoft.com/office/powerpoint/2015/09/main" option="byObject"/>
      </p:transition>
    </mc:Choice>
    <mc:Fallback xmlns=""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IA em números</a:t>
            </a:r>
          </a:p>
        </p:txBody>
      </p:sp>
      <p:sp>
        <p:nvSpPr>
          <p:cNvPr id="7" name="s1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13</a:t>
            </a:r>
          </a:p>
        </p:txBody>
      </p:sp>
      <p:cxnSp>
        <p:nvCxnSpPr>
          <p:cNvPr id="8" name="s1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Medimos o uso de IA como medimos a estratégia: pelo registro.</a:t>
            </a:r>
          </a:p>
        </p:txBody>
      </p:sp>
      <p:cxnSp>
        <p:nvCxnSpPr>
          <p:cNvPr id="10" name="s1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3_11"/>
          <p:cNvSpPr/>
          <p:nvPr/>
        </p:nvSpPr>
        <p:spPr>
          <a:xfrm>
            <a:off x="73152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s13_12"/>
          <p:cNvSpPr txBox="1"/>
          <p:nvPr/>
        </p:nvSpPr>
        <p:spPr>
          <a:xfrm>
            <a:off x="932688" y="151790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91</a:t>
            </a:r>
          </a:p>
        </p:txBody>
      </p:sp>
      <p:sp>
        <p:nvSpPr>
          <p:cNvPr id="15" name="s13_13"/>
          <p:cNvSpPr txBox="1"/>
          <p:nvPr/>
        </p:nvSpPr>
        <p:spPr>
          <a:xfrm>
            <a:off x="1965960" y="1591056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SESSÕES DE IA</a:t>
            </a:r>
          </a:p>
        </p:txBody>
      </p:sp>
      <p:sp>
        <p:nvSpPr>
          <p:cNvPr id="16" name="s13_14"/>
          <p:cNvSpPr txBox="1"/>
          <p:nvPr/>
        </p:nvSpPr>
        <p:spPr>
          <a:xfrm>
            <a:off x="1965960" y="184708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Felipe 55 · Lia 18 · Paulo 18</a:t>
            </a:r>
          </a:p>
        </p:txBody>
      </p:sp>
      <p:sp>
        <p:nvSpPr>
          <p:cNvPr id="17" name="s13_15"/>
          <p:cNvSpPr/>
          <p:nvPr/>
        </p:nvSpPr>
        <p:spPr>
          <a:xfrm>
            <a:off x="344043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s13_16"/>
          <p:cNvSpPr txBox="1"/>
          <p:nvPr/>
        </p:nvSpPr>
        <p:spPr>
          <a:xfrm>
            <a:off x="3641598" y="151790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232k</a:t>
            </a:r>
          </a:p>
        </p:txBody>
      </p:sp>
      <p:sp>
        <p:nvSpPr>
          <p:cNvPr id="19" name="s13_17"/>
          <p:cNvSpPr txBox="1"/>
          <p:nvPr/>
        </p:nvSpPr>
        <p:spPr>
          <a:xfrm>
            <a:off x="4674870" y="1591056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TOKENS POR SESSÃO</a:t>
            </a:r>
          </a:p>
        </p:txBody>
      </p:sp>
      <p:sp>
        <p:nvSpPr>
          <p:cNvPr id="20" name="s13_18"/>
          <p:cNvSpPr txBox="1"/>
          <p:nvPr/>
        </p:nvSpPr>
        <p:spPr>
          <a:xfrm>
            <a:off x="4674870" y="184708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média · 19,7M no total</a:t>
            </a:r>
          </a:p>
        </p:txBody>
      </p:sp>
      <p:sp>
        <p:nvSpPr>
          <p:cNvPr id="21" name="s13_19"/>
          <p:cNvSpPr/>
          <p:nvPr/>
        </p:nvSpPr>
        <p:spPr>
          <a:xfrm>
            <a:off x="614934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s13_20"/>
          <p:cNvSpPr txBox="1"/>
          <p:nvPr/>
        </p:nvSpPr>
        <p:spPr>
          <a:xfrm>
            <a:off x="6350507" y="151790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81</a:t>
            </a:r>
          </a:p>
        </p:txBody>
      </p:sp>
      <p:sp>
        <p:nvSpPr>
          <p:cNvPr id="23" name="s13_21"/>
          <p:cNvSpPr txBox="1"/>
          <p:nvPr/>
        </p:nvSpPr>
        <p:spPr>
          <a:xfrm>
            <a:off x="7383779" y="1591056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DECISÕES REGISTRADAS</a:t>
            </a:r>
          </a:p>
        </p:txBody>
      </p:sp>
      <p:sp>
        <p:nvSpPr>
          <p:cNvPr id="24" name="s13_22"/>
          <p:cNvSpPr txBox="1"/>
          <p:nvPr/>
        </p:nvSpPr>
        <p:spPr>
          <a:xfrm>
            <a:off x="7383779" y="184708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escaladas ao humano</a:t>
            </a:r>
          </a:p>
        </p:txBody>
      </p:sp>
      <p:sp>
        <p:nvSpPr>
          <p:cNvPr id="25" name="s13_23"/>
          <p:cNvSpPr/>
          <p:nvPr/>
        </p:nvSpPr>
        <p:spPr>
          <a:xfrm>
            <a:off x="8858250" y="1481328"/>
            <a:ext cx="2599182" cy="786384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3_24"/>
          <p:cNvSpPr txBox="1"/>
          <p:nvPr/>
        </p:nvSpPr>
        <p:spPr>
          <a:xfrm>
            <a:off x="9059418" y="151790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37%</a:t>
            </a:r>
          </a:p>
        </p:txBody>
      </p:sp>
      <p:sp>
        <p:nvSpPr>
          <p:cNvPr id="27" name="s13_25"/>
          <p:cNvSpPr txBox="1"/>
          <p:nvPr/>
        </p:nvSpPr>
        <p:spPr>
          <a:xfrm>
            <a:off x="10092690" y="1591056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60">
                <a:solidFill>
                  <a:srgbClr val="F5F7FB"/>
                </a:solidFill>
                <a:latin typeface="Consolas"/>
              </a:rPr>
              <a:t>TAXA DE RECORREÇÃO</a:t>
            </a:r>
          </a:p>
        </p:txBody>
      </p:sp>
      <p:sp>
        <p:nvSpPr>
          <p:cNvPr id="28" name="s13_26"/>
          <p:cNvSpPr txBox="1"/>
          <p:nvPr/>
        </p:nvSpPr>
        <p:spPr>
          <a:xfrm>
            <a:off x="10092690" y="1847088"/>
            <a:ext cx="1227581" cy="27432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pediram 2ª rodada</a:t>
            </a:r>
          </a:p>
        </p:txBody>
      </p:sp>
      <p:sp>
        <p:nvSpPr>
          <p:cNvPr id="29" name="s13_27"/>
          <p:cNvSpPr txBox="1"/>
          <p:nvPr/>
        </p:nvSpPr>
        <p:spPr>
          <a:xfrm>
            <a:off x="731520" y="2432304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CONTEXTO POR DIA  ·  DECISÕES ACUMULADAS</a:t>
            </a:r>
          </a:p>
        </p:txBody>
      </p:sp>
      <p:pic>
        <p:nvPicPr>
          <p:cNvPr id="30" name="s13_28" descr="p5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51760"/>
            <a:ext cx="5715000" cy="2395334"/>
          </a:xfrm>
          <a:prstGeom prst="rect">
            <a:avLst/>
          </a:prstGeom>
        </p:spPr>
      </p:pic>
      <p:sp>
        <p:nvSpPr>
          <p:cNvPr id="31" name="s13_29"/>
          <p:cNvSpPr txBox="1"/>
          <p:nvPr/>
        </p:nvSpPr>
        <p:spPr>
          <a:xfrm>
            <a:off x="6793992" y="2432304"/>
            <a:ext cx="4663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145 ERROS DA IA  ·  QUEM PEGOU</a:t>
            </a:r>
          </a:p>
        </p:txBody>
      </p:sp>
      <p:pic>
        <p:nvPicPr>
          <p:cNvPr id="32" name="s13_30" descr="p5_err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2670048"/>
            <a:ext cx="4663440" cy="2238174"/>
          </a:xfrm>
          <a:prstGeom prst="rect">
            <a:avLst/>
          </a:prstGeom>
        </p:spPr>
      </p:pic>
      <p:sp>
        <p:nvSpPr>
          <p:cNvPr id="33" name="s13_31"/>
          <p:cNvSpPr txBox="1"/>
          <p:nvPr/>
        </p:nvSpPr>
        <p:spPr>
          <a:xfrm>
            <a:off x="731520" y="5120640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ONDE FOI O ESFORÇO</a:t>
            </a:r>
          </a:p>
        </p:txBody>
      </p:sp>
      <p:sp>
        <p:nvSpPr>
          <p:cNvPr id="34" name="s13_32"/>
          <p:cNvSpPr txBox="1"/>
          <p:nvPr/>
        </p:nvSpPr>
        <p:spPr>
          <a:xfrm>
            <a:off x="731520" y="5376672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por sessão</a:t>
            </a:r>
          </a:p>
        </p:txBody>
      </p:sp>
      <p:sp>
        <p:nvSpPr>
          <p:cNvPr id="35" name="s13_33"/>
          <p:cNvSpPr/>
          <p:nvPr/>
        </p:nvSpPr>
        <p:spPr>
          <a:xfrm>
            <a:off x="1600200" y="5376672"/>
            <a:ext cx="1491175" cy="219456"/>
          </a:xfrm>
          <a:prstGeom prst="rect">
            <a:avLst/>
          </a:prstGeom>
          <a:solidFill>
            <a:srgbClr val="FFB531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s13_34"/>
          <p:cNvSpPr txBox="1"/>
          <p:nvPr/>
        </p:nvSpPr>
        <p:spPr>
          <a:xfrm>
            <a:off x="1600200" y="5376672"/>
            <a:ext cx="1491175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31%</a:t>
            </a:r>
          </a:p>
        </p:txBody>
      </p:sp>
      <p:sp>
        <p:nvSpPr>
          <p:cNvPr id="37" name="s13_35"/>
          <p:cNvSpPr/>
          <p:nvPr/>
        </p:nvSpPr>
        <p:spPr>
          <a:xfrm>
            <a:off x="3091375" y="5376672"/>
            <a:ext cx="2609556" cy="219456"/>
          </a:xfrm>
          <a:prstGeom prst="rect">
            <a:avLst/>
          </a:prstGeom>
          <a:solidFill>
            <a:srgbClr val="4F8EF7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s13_36"/>
          <p:cNvSpPr txBox="1"/>
          <p:nvPr/>
        </p:nvSpPr>
        <p:spPr>
          <a:xfrm>
            <a:off x="3091375" y="5376672"/>
            <a:ext cx="2609556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54%</a:t>
            </a:r>
          </a:p>
        </p:txBody>
      </p:sp>
      <p:sp>
        <p:nvSpPr>
          <p:cNvPr id="39" name="s13_37"/>
          <p:cNvSpPr/>
          <p:nvPr/>
        </p:nvSpPr>
        <p:spPr>
          <a:xfrm>
            <a:off x="5700932" y="5376672"/>
            <a:ext cx="745587" cy="219456"/>
          </a:xfrm>
          <a:prstGeom prst="rect">
            <a:avLst/>
          </a:prstGeom>
          <a:solidFill>
            <a:srgbClr val="2FD3B0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s13_38"/>
          <p:cNvSpPr txBox="1"/>
          <p:nvPr/>
        </p:nvSpPr>
        <p:spPr>
          <a:xfrm>
            <a:off x="5700932" y="5376672"/>
            <a:ext cx="745587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15%</a:t>
            </a:r>
          </a:p>
        </p:txBody>
      </p:sp>
      <p:sp>
        <p:nvSpPr>
          <p:cNvPr id="41" name="s13_39"/>
          <p:cNvSpPr txBox="1"/>
          <p:nvPr/>
        </p:nvSpPr>
        <p:spPr>
          <a:xfrm>
            <a:off x="731520" y="5687568"/>
            <a:ext cx="82296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por token</a:t>
            </a:r>
          </a:p>
        </p:txBody>
      </p:sp>
      <p:sp>
        <p:nvSpPr>
          <p:cNvPr id="42" name="s13_40"/>
          <p:cNvSpPr/>
          <p:nvPr/>
        </p:nvSpPr>
        <p:spPr>
          <a:xfrm>
            <a:off x="1600200" y="5687568"/>
            <a:ext cx="1196847" cy="219456"/>
          </a:xfrm>
          <a:prstGeom prst="rect">
            <a:avLst/>
          </a:prstGeom>
          <a:solidFill>
            <a:srgbClr val="FFB531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s13_41"/>
          <p:cNvSpPr txBox="1"/>
          <p:nvPr/>
        </p:nvSpPr>
        <p:spPr>
          <a:xfrm>
            <a:off x="1600200" y="5687568"/>
            <a:ext cx="1196847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25%</a:t>
            </a:r>
          </a:p>
        </p:txBody>
      </p:sp>
      <p:sp>
        <p:nvSpPr>
          <p:cNvPr id="44" name="s13_42"/>
          <p:cNvSpPr/>
          <p:nvPr/>
        </p:nvSpPr>
        <p:spPr>
          <a:xfrm>
            <a:off x="2797047" y="5687568"/>
            <a:ext cx="3454923" cy="219456"/>
          </a:xfrm>
          <a:prstGeom prst="rect">
            <a:avLst/>
          </a:prstGeom>
          <a:solidFill>
            <a:srgbClr val="4F8EF7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s13_43"/>
          <p:cNvSpPr txBox="1"/>
          <p:nvPr/>
        </p:nvSpPr>
        <p:spPr>
          <a:xfrm>
            <a:off x="2797047" y="5687568"/>
            <a:ext cx="345492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A1325"/>
                </a:solidFill>
                <a:latin typeface="Consolas"/>
              </a:rPr>
              <a:t>71%</a:t>
            </a:r>
          </a:p>
        </p:txBody>
      </p:sp>
      <p:sp>
        <p:nvSpPr>
          <p:cNvPr id="46" name="s13_44"/>
          <p:cNvSpPr/>
          <p:nvPr/>
        </p:nvSpPr>
        <p:spPr>
          <a:xfrm>
            <a:off x="6251970" y="5687568"/>
            <a:ext cx="194549" cy="219456"/>
          </a:xfrm>
          <a:prstGeom prst="rect">
            <a:avLst/>
          </a:prstGeom>
          <a:solidFill>
            <a:srgbClr val="2FD3B0"/>
          </a:solidFill>
          <a:ln w="9525">
            <a:solidFill>
              <a:srgbClr val="0A13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s13_45"/>
          <p:cNvSpPr/>
          <p:nvPr/>
        </p:nvSpPr>
        <p:spPr>
          <a:xfrm>
            <a:off x="1604772" y="6094476"/>
            <a:ext cx="100584" cy="100584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s13_46"/>
          <p:cNvSpPr txBox="1"/>
          <p:nvPr/>
        </p:nvSpPr>
        <p:spPr>
          <a:xfrm>
            <a:off x="1773936" y="6053328"/>
            <a:ext cx="21945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pesquisa e decisão</a:t>
            </a:r>
          </a:p>
        </p:txBody>
      </p:sp>
      <p:sp>
        <p:nvSpPr>
          <p:cNvPr id="49" name="s13_47"/>
          <p:cNvSpPr/>
          <p:nvPr/>
        </p:nvSpPr>
        <p:spPr>
          <a:xfrm>
            <a:off x="2963570" y="6094476"/>
            <a:ext cx="100584" cy="100584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s13_48"/>
          <p:cNvSpPr txBox="1"/>
          <p:nvPr/>
        </p:nvSpPr>
        <p:spPr>
          <a:xfrm>
            <a:off x="3132734" y="6053328"/>
            <a:ext cx="21945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análise e medição</a:t>
            </a:r>
          </a:p>
        </p:txBody>
      </p:sp>
      <p:sp>
        <p:nvSpPr>
          <p:cNvPr id="51" name="s13_49"/>
          <p:cNvSpPr/>
          <p:nvPr/>
        </p:nvSpPr>
        <p:spPr>
          <a:xfrm>
            <a:off x="4265676" y="6094476"/>
            <a:ext cx="100584" cy="100584"/>
          </a:xfrm>
          <a:prstGeom prst="ellipse">
            <a:avLst/>
          </a:prstGeom>
          <a:solidFill>
            <a:srgbClr val="2FD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s13_50"/>
          <p:cNvSpPr txBox="1"/>
          <p:nvPr/>
        </p:nvSpPr>
        <p:spPr>
          <a:xfrm>
            <a:off x="4434840" y="6053328"/>
            <a:ext cx="219456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395B5"/>
                </a:solidFill>
                <a:latin typeface="Bahnschrift SemiLight"/>
              </a:rPr>
              <a:t>código</a:t>
            </a:r>
          </a:p>
        </p:txBody>
      </p:sp>
      <p:sp>
        <p:nvSpPr>
          <p:cNvPr id="53" name="s13_51"/>
          <p:cNvSpPr txBox="1"/>
          <p:nvPr/>
        </p:nvSpPr>
        <p:spPr>
          <a:xfrm>
            <a:off x="6793992" y="5120640"/>
            <a:ext cx="46634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PESQUISA  ·  31 HIPÓTESES MEDIDAS, 7 ENTRARAM</a:t>
            </a:r>
          </a:p>
        </p:txBody>
      </p:sp>
      <p:sp>
        <p:nvSpPr>
          <p:cNvPr id="54" name="s13_52"/>
          <p:cNvSpPr txBox="1"/>
          <p:nvPr/>
        </p:nvSpPr>
        <p:spPr>
          <a:xfrm>
            <a:off x="6793992" y="537667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13 ideias de sinal</a:t>
            </a:r>
          </a:p>
        </p:txBody>
      </p:sp>
      <p:sp>
        <p:nvSpPr>
          <p:cNvPr id="55" name="s13_53"/>
          <p:cNvSpPr/>
          <p:nvPr/>
        </p:nvSpPr>
        <p:spPr>
          <a:xfrm>
            <a:off x="83987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s13_54"/>
          <p:cNvSpPr/>
          <p:nvPr/>
        </p:nvSpPr>
        <p:spPr>
          <a:xfrm>
            <a:off x="858164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s13_55"/>
          <p:cNvSpPr/>
          <p:nvPr/>
        </p:nvSpPr>
        <p:spPr>
          <a:xfrm>
            <a:off x="87645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s13_56"/>
          <p:cNvSpPr/>
          <p:nvPr/>
        </p:nvSpPr>
        <p:spPr>
          <a:xfrm>
            <a:off x="894740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s13_57"/>
          <p:cNvSpPr/>
          <p:nvPr/>
        </p:nvSpPr>
        <p:spPr>
          <a:xfrm>
            <a:off x="913028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s13_58"/>
          <p:cNvSpPr/>
          <p:nvPr/>
        </p:nvSpPr>
        <p:spPr>
          <a:xfrm>
            <a:off x="93131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s13_59"/>
          <p:cNvSpPr/>
          <p:nvPr/>
        </p:nvSpPr>
        <p:spPr>
          <a:xfrm>
            <a:off x="9477756" y="54086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s13_60"/>
          <p:cNvSpPr/>
          <p:nvPr/>
        </p:nvSpPr>
        <p:spPr>
          <a:xfrm>
            <a:off x="96789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s13_61"/>
          <p:cNvSpPr/>
          <p:nvPr/>
        </p:nvSpPr>
        <p:spPr>
          <a:xfrm>
            <a:off x="986180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s13_62"/>
          <p:cNvSpPr/>
          <p:nvPr/>
        </p:nvSpPr>
        <p:spPr>
          <a:xfrm>
            <a:off x="1004468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s13_63"/>
          <p:cNvSpPr/>
          <p:nvPr/>
        </p:nvSpPr>
        <p:spPr>
          <a:xfrm>
            <a:off x="1022756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s13_64"/>
          <p:cNvSpPr/>
          <p:nvPr/>
        </p:nvSpPr>
        <p:spPr>
          <a:xfrm>
            <a:off x="1041044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s13_65"/>
          <p:cNvSpPr/>
          <p:nvPr/>
        </p:nvSpPr>
        <p:spPr>
          <a:xfrm>
            <a:off x="10593324" y="54269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s13_66"/>
          <p:cNvSpPr txBox="1"/>
          <p:nvPr/>
        </p:nvSpPr>
        <p:spPr>
          <a:xfrm>
            <a:off x="10908792" y="537667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1 de 13</a:t>
            </a:r>
          </a:p>
        </p:txBody>
      </p:sp>
      <p:sp>
        <p:nvSpPr>
          <p:cNvPr id="69" name="s13_67"/>
          <p:cNvSpPr txBox="1"/>
          <p:nvPr/>
        </p:nvSpPr>
        <p:spPr>
          <a:xfrm>
            <a:off x="6793992" y="560527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4 critérios do Ω</a:t>
            </a:r>
          </a:p>
        </p:txBody>
      </p:sp>
      <p:sp>
        <p:nvSpPr>
          <p:cNvPr id="70" name="s13_68"/>
          <p:cNvSpPr/>
          <p:nvPr/>
        </p:nvSpPr>
        <p:spPr>
          <a:xfrm>
            <a:off x="8398764" y="56555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s13_69"/>
          <p:cNvSpPr/>
          <p:nvPr/>
        </p:nvSpPr>
        <p:spPr>
          <a:xfrm>
            <a:off x="8563356" y="56372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s13_70"/>
          <p:cNvSpPr/>
          <p:nvPr/>
        </p:nvSpPr>
        <p:spPr>
          <a:xfrm>
            <a:off x="8746236" y="56372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s13_71"/>
          <p:cNvSpPr/>
          <p:nvPr/>
        </p:nvSpPr>
        <p:spPr>
          <a:xfrm>
            <a:off x="8947404" y="56555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s13_72"/>
          <p:cNvSpPr txBox="1"/>
          <p:nvPr/>
        </p:nvSpPr>
        <p:spPr>
          <a:xfrm>
            <a:off x="10908792" y="560527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2 de 4</a:t>
            </a:r>
          </a:p>
        </p:txBody>
      </p:sp>
      <p:sp>
        <p:nvSpPr>
          <p:cNvPr id="75" name="s13_73"/>
          <p:cNvSpPr txBox="1"/>
          <p:nvPr/>
        </p:nvSpPr>
        <p:spPr>
          <a:xfrm>
            <a:off x="6793992" y="583387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6 janelas</a:t>
            </a:r>
          </a:p>
        </p:txBody>
      </p:sp>
      <p:sp>
        <p:nvSpPr>
          <p:cNvPr id="76" name="s13_74"/>
          <p:cNvSpPr/>
          <p:nvPr/>
        </p:nvSpPr>
        <p:spPr>
          <a:xfrm>
            <a:off x="839876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s13_75"/>
          <p:cNvSpPr/>
          <p:nvPr/>
        </p:nvSpPr>
        <p:spPr>
          <a:xfrm>
            <a:off x="856335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" name="s13_76"/>
          <p:cNvSpPr/>
          <p:nvPr/>
        </p:nvSpPr>
        <p:spPr>
          <a:xfrm>
            <a:off x="874623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9" name="s13_77"/>
          <p:cNvSpPr/>
          <p:nvPr/>
        </p:nvSpPr>
        <p:spPr>
          <a:xfrm>
            <a:off x="8929116" y="58658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s13_78"/>
          <p:cNvSpPr/>
          <p:nvPr/>
        </p:nvSpPr>
        <p:spPr>
          <a:xfrm>
            <a:off x="913028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1" name="s13_79"/>
          <p:cNvSpPr/>
          <p:nvPr/>
        </p:nvSpPr>
        <p:spPr>
          <a:xfrm>
            <a:off x="9313164" y="58841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s13_80"/>
          <p:cNvSpPr txBox="1"/>
          <p:nvPr/>
        </p:nvSpPr>
        <p:spPr>
          <a:xfrm>
            <a:off x="10908792" y="583387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3 de 6</a:t>
            </a:r>
          </a:p>
        </p:txBody>
      </p:sp>
      <p:sp>
        <p:nvSpPr>
          <p:cNvPr id="83" name="s13_81"/>
          <p:cNvSpPr txBox="1"/>
          <p:nvPr/>
        </p:nvSpPr>
        <p:spPr>
          <a:xfrm>
            <a:off x="6793992" y="6062472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BAC6DA"/>
                </a:solidFill>
                <a:latin typeface="Bahnschrift SemiLight"/>
              </a:rPr>
              <a:t>8 tetos de risco</a:t>
            </a:r>
          </a:p>
        </p:txBody>
      </p:sp>
      <p:sp>
        <p:nvSpPr>
          <p:cNvPr id="84" name="s13_82"/>
          <p:cNvSpPr/>
          <p:nvPr/>
        </p:nvSpPr>
        <p:spPr>
          <a:xfrm>
            <a:off x="839876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5" name="s13_83"/>
          <p:cNvSpPr/>
          <p:nvPr/>
        </p:nvSpPr>
        <p:spPr>
          <a:xfrm>
            <a:off x="858164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6" name="s13_84"/>
          <p:cNvSpPr/>
          <p:nvPr/>
        </p:nvSpPr>
        <p:spPr>
          <a:xfrm>
            <a:off x="876452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s13_85"/>
          <p:cNvSpPr/>
          <p:nvPr/>
        </p:nvSpPr>
        <p:spPr>
          <a:xfrm>
            <a:off x="8929116" y="6094476"/>
            <a:ext cx="118872" cy="118872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5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8" name="s13_86"/>
          <p:cNvSpPr/>
          <p:nvPr/>
        </p:nvSpPr>
        <p:spPr>
          <a:xfrm>
            <a:off x="913028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9" name="s13_87"/>
          <p:cNvSpPr/>
          <p:nvPr/>
        </p:nvSpPr>
        <p:spPr>
          <a:xfrm>
            <a:off x="931316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0" name="s13_88"/>
          <p:cNvSpPr/>
          <p:nvPr/>
        </p:nvSpPr>
        <p:spPr>
          <a:xfrm>
            <a:off x="949604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1" name="s13_89"/>
          <p:cNvSpPr/>
          <p:nvPr/>
        </p:nvSpPr>
        <p:spPr>
          <a:xfrm>
            <a:off x="9678924" y="6112764"/>
            <a:ext cx="82296" cy="82296"/>
          </a:xfrm>
          <a:prstGeom prst="ellipse">
            <a:avLst/>
          </a:prstGeom>
          <a:solidFill>
            <a:srgbClr val="2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s13_90"/>
          <p:cNvSpPr txBox="1"/>
          <p:nvPr/>
        </p:nvSpPr>
        <p:spPr>
          <a:xfrm>
            <a:off x="10908792" y="6062472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FFB531"/>
                </a:solidFill>
                <a:latin typeface="Consolas"/>
              </a:rPr>
              <a:t>1 de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16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1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Polymarket como fonte de dados</a:t>
            </a:r>
          </a:p>
        </p:txBody>
      </p:sp>
      <p:sp>
        <p:nvSpPr>
          <p:cNvPr id="7" name="s1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16</a:t>
            </a:r>
          </a:p>
        </p:txBody>
      </p:sp>
      <p:cxnSp>
        <p:nvCxnSpPr>
          <p:cNvPr id="8" name="s1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Calibrado e mais preciso que o mercado de juros.</a:t>
            </a:r>
          </a:p>
        </p:txBody>
      </p:sp>
      <p:cxnSp>
        <p:nvCxnSpPr>
          <p:cNvPr id="10" name="s1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16_11"/>
          <p:cNvSpPr txBox="1"/>
          <p:nvPr/>
        </p:nvSpPr>
        <p:spPr>
          <a:xfrm>
            <a:off x="731520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1  ·  CALIBRAÇÃO</a:t>
            </a:r>
          </a:p>
        </p:txBody>
      </p:sp>
      <p:sp>
        <p:nvSpPr>
          <p:cNvPr id="14" name="s16_12"/>
          <p:cNvSpPr txBox="1"/>
          <p:nvPr/>
        </p:nvSpPr>
        <p:spPr>
          <a:xfrm>
            <a:off x="731520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Quando o Polymarket diz X %, acontece X % das vezes.</a:t>
            </a:r>
          </a:p>
        </p:txBody>
      </p:sp>
      <p:sp>
        <p:nvSpPr>
          <p:cNvPr id="15" name="s16_13"/>
          <p:cNvSpPr txBox="1"/>
          <p:nvPr/>
        </p:nvSpPr>
        <p:spPr>
          <a:xfrm>
            <a:off x="731520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0,043</a:t>
            </a:r>
          </a:p>
        </p:txBody>
      </p:sp>
      <p:sp>
        <p:nvSpPr>
          <p:cNvPr id="16" name="s16_14"/>
          <p:cNvSpPr txBox="1"/>
          <p:nvPr/>
        </p:nvSpPr>
        <p:spPr>
          <a:xfrm>
            <a:off x="1874519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BRIER NA VÉSPERA</a:t>
            </a:r>
          </a:p>
        </p:txBody>
      </p:sp>
      <p:sp>
        <p:nvSpPr>
          <p:cNvPr id="17" name="s16_15"/>
          <p:cNvSpPr txBox="1"/>
          <p:nvPr/>
        </p:nvSpPr>
        <p:spPr>
          <a:xfrm>
            <a:off x="1874519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Kalshi a 1 h: 0,045</a:t>
            </a:r>
          </a:p>
        </p:txBody>
      </p:sp>
      <p:pic>
        <p:nvPicPr>
          <p:cNvPr id="18" name="s16_16" descr="estudo_s0_calibr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52928"/>
            <a:ext cx="5134355" cy="2616594"/>
          </a:xfrm>
          <a:prstGeom prst="rect">
            <a:avLst/>
          </a:prstGeom>
        </p:spPr>
      </p:pic>
      <p:sp>
        <p:nvSpPr>
          <p:cNvPr id="19" name="s16_17"/>
          <p:cNvSpPr txBox="1"/>
          <p:nvPr/>
        </p:nvSpPr>
        <p:spPr>
          <a:xfrm>
            <a:off x="6323075" y="1417320"/>
            <a:ext cx="51343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OBSERVAÇÃO 2  ·  DECISÃO DO FED</a:t>
            </a:r>
          </a:p>
        </p:txBody>
      </p:sp>
      <p:sp>
        <p:nvSpPr>
          <p:cNvPr id="20" name="s16_18"/>
          <p:cNvSpPr txBox="1"/>
          <p:nvPr/>
        </p:nvSpPr>
        <p:spPr>
          <a:xfrm>
            <a:off x="6323075" y="1645920"/>
            <a:ext cx="5134355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Na decisão do Fed, o Polymarket erra 0,9 bps; o mercado de juros, 4,8.</a:t>
            </a:r>
          </a:p>
        </p:txBody>
      </p:sp>
      <p:sp>
        <p:nvSpPr>
          <p:cNvPr id="21" name="s16_19"/>
          <p:cNvSpPr txBox="1"/>
          <p:nvPr/>
        </p:nvSpPr>
        <p:spPr>
          <a:xfrm>
            <a:off x="6323075" y="2212848"/>
            <a:ext cx="1554480" cy="56692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>
                <a:solidFill>
                  <a:srgbClr val="FFB531"/>
                </a:solidFill>
                <a:latin typeface="Bahnschrift SemiBold Condensed"/>
              </a:rPr>
              <a:t>0,9 × 4,8</a:t>
            </a:r>
          </a:p>
        </p:txBody>
      </p:sp>
      <p:sp>
        <p:nvSpPr>
          <p:cNvPr id="22" name="s16_20"/>
          <p:cNvSpPr txBox="1"/>
          <p:nvPr/>
        </p:nvSpPr>
        <p:spPr>
          <a:xfrm>
            <a:off x="7923275" y="2258568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40">
                <a:solidFill>
                  <a:srgbClr val="F5F7FB"/>
                </a:solidFill>
                <a:latin typeface="Consolas"/>
              </a:rPr>
              <a:t>BPS DE ERRO NA VÉSPERA</a:t>
            </a:r>
          </a:p>
        </p:txBody>
      </p:sp>
      <p:sp>
        <p:nvSpPr>
          <p:cNvPr id="23" name="s16_21"/>
          <p:cNvSpPr txBox="1"/>
          <p:nvPr/>
        </p:nvSpPr>
        <p:spPr>
          <a:xfrm>
            <a:off x="7923275" y="2496312"/>
            <a:ext cx="3488435" cy="2377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395B5"/>
                </a:solidFill>
                <a:latin typeface="Bahnschrift SemiLight"/>
              </a:rPr>
              <a:t>Polymarket × futuro de FF</a:t>
            </a:r>
          </a:p>
        </p:txBody>
      </p:sp>
      <p:pic>
        <p:nvPicPr>
          <p:cNvPr id="24" name="s16_22" descr="estudo_s2_m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5" y="2852928"/>
            <a:ext cx="5134355" cy="2615335"/>
          </a:xfrm>
          <a:prstGeom prst="rect">
            <a:avLst/>
          </a:prstGeom>
        </p:spPr>
      </p:pic>
      <p:sp>
        <p:nvSpPr>
          <p:cNvPr id="25" name="s16_23"/>
          <p:cNvSpPr/>
          <p:nvPr/>
        </p:nvSpPr>
        <p:spPr>
          <a:xfrm>
            <a:off x="731520" y="559612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s16_24"/>
          <p:cNvSpPr txBox="1"/>
          <p:nvPr/>
        </p:nvSpPr>
        <p:spPr>
          <a:xfrm>
            <a:off x="9601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2FD3B0"/>
                </a:solidFill>
                <a:latin typeface="Consolas"/>
              </a:rPr>
              <a:t>CONCLUSÃO</a:t>
            </a:r>
          </a:p>
        </p:txBody>
      </p:sp>
      <p:sp>
        <p:nvSpPr>
          <p:cNvPr id="27" name="s16_25"/>
          <p:cNvSpPr txBox="1"/>
          <p:nvPr/>
        </p:nvSpPr>
        <p:spPr>
          <a:xfrm>
            <a:off x="960120" y="5824728"/>
            <a:ext cx="10268711" cy="38404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5F7FB"/>
                </a:solidFill>
                <a:latin typeface="Bahnschrift SemiBold"/>
              </a:rPr>
              <a:t>É uma probabilidade confiável — e melhor que os juros no que os dois precificam. </a:t>
            </a:r>
            <a:r>
              <a:rPr sz="1300" b="0" i="0">
                <a:solidFill>
                  <a:srgbClr val="FFB531"/>
                </a:solidFill>
                <a:latin typeface="Bahnschrift SemiBold"/>
              </a:rPr>
              <a:t>Por isso ela é a opinião do Black-Litterman.</a:t>
            </a:r>
          </a:p>
        </p:txBody>
      </p:sp>
      <p:sp>
        <p:nvSpPr>
          <p:cNvPr id="28" name="s16_26"/>
          <p:cNvSpPr txBox="1"/>
          <p:nvPr/>
        </p:nvSpPr>
        <p:spPr>
          <a:xfrm>
            <a:off x="731520" y="6336792"/>
            <a:ext cx="10725911" cy="14630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395B5"/>
                </a:solidFill>
                <a:latin typeface="Consolas"/>
              </a:rPr>
              <a:t>150 contratos do Polymarket (Fed e CPI) · 30 eventos · 1416 leituras em 11 horizontes · resolução no FRED · apêndice A1–A3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A1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acurácia por horizonte</a:t>
            </a:r>
          </a:p>
        </p:txBody>
      </p:sp>
      <p:sp>
        <p:nvSpPr>
          <p:cNvPr id="7" name="sA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A1</a:t>
            </a:r>
          </a:p>
        </p:txBody>
      </p:sp>
      <p:cxnSp>
        <p:nvCxnSpPr>
          <p:cNvPr id="8" name="sA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Quanto mais perto do evento, menor o erro — e na véspera está no nível do Kalshi.</a:t>
            </a:r>
          </a:p>
        </p:txBody>
      </p:sp>
      <p:cxnSp>
        <p:nvCxnSpPr>
          <p:cNvPr id="10" name="sA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1_11"/>
          <p:cNvSpPr txBox="1"/>
          <p:nvPr/>
        </p:nvSpPr>
        <p:spPr>
          <a:xfrm>
            <a:off x="1705355" y="1417320"/>
            <a:ext cx="8778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BRIER POR DIAS ANTES DA RESOLUÇÃO  ·  SKILL SOBRE A PMF UNIFORME</a:t>
            </a:r>
          </a:p>
        </p:txBody>
      </p:sp>
      <p:pic>
        <p:nvPicPr>
          <p:cNvPr id="14" name="sA1_12" descr="estudo_2_br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5355" y="1645920"/>
            <a:ext cx="8778240" cy="3666611"/>
          </a:xfrm>
          <a:prstGeom prst="rect">
            <a:avLst/>
          </a:prstGeom>
        </p:spPr>
      </p:pic>
      <p:sp>
        <p:nvSpPr>
          <p:cNvPr id="15" name="sA1_13"/>
          <p:cNvSpPr txBox="1"/>
          <p:nvPr/>
        </p:nvSpPr>
        <p:spPr>
          <a:xfrm>
            <a:off x="731520" y="5532120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FOMC: 0,035 a 20 dias → 0,007 na véspera. CPI: 0,092 → 0,078 (é o objeto difícil; ninguém sabe o CPI na véspera).</a:t>
            </a:r>
          </a:p>
        </p:txBody>
      </p:sp>
      <p:sp>
        <p:nvSpPr>
          <p:cNvPr id="16" name="sA1_14"/>
          <p:cNvSpPr txBox="1"/>
          <p:nvPr/>
        </p:nvSpPr>
        <p:spPr>
          <a:xfrm>
            <a:off x="731520" y="5824728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 linha branca (as duas famílias) para em 20 dias porque os mercados de CPI vivem ~30 dias; depois só sobra FOMC.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Polymarket × mercado de juros</a:t>
            </a:r>
          </a:p>
        </p:txBody>
      </p:sp>
      <p:sp>
        <p:nvSpPr>
          <p:cNvPr id="7" name="sA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A2</a:t>
            </a:r>
          </a:p>
        </p:txBody>
      </p:sp>
      <p:cxnSp>
        <p:nvCxnSpPr>
          <p:cNvPr id="8" name="sA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No FOMC, o Polymarket erra menos e o futuro de FF não acrescenta informação.</a:t>
            </a:r>
          </a:p>
        </p:txBody>
      </p:sp>
      <p:cxnSp>
        <p:nvCxnSpPr>
          <p:cNvPr id="10" name="sA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2_11"/>
          <p:cNvSpPr txBox="1"/>
          <p:nvPr/>
        </p:nvSpPr>
        <p:spPr>
          <a:xfrm>
            <a:off x="731520" y="1417320"/>
            <a:ext cx="6583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ERRO DO Δ TAXA E ACERTO DO DESFECHO MODAL, POR HORIZONTE</a:t>
            </a:r>
          </a:p>
        </p:txBody>
      </p:sp>
      <p:pic>
        <p:nvPicPr>
          <p:cNvPr id="14" name="sA2_12" descr="estudo_3_fomc_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6583680" cy="2749958"/>
          </a:xfrm>
          <a:prstGeom prst="rect">
            <a:avLst/>
          </a:prstGeom>
        </p:spPr>
      </p:pic>
      <p:sp>
        <p:nvSpPr>
          <p:cNvPr id="15" name="sA2_13"/>
          <p:cNvSpPr txBox="1"/>
          <p:nvPr/>
        </p:nvSpPr>
        <p:spPr>
          <a:xfrm>
            <a:off x="7589520" y="1417320"/>
            <a:ext cx="3867911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QUEM SE MOVE PRIMEIRO</a:t>
            </a:r>
          </a:p>
        </p:txBody>
      </p:sp>
      <p:pic>
        <p:nvPicPr>
          <p:cNvPr id="16" name="sA2_14" descr="estudo_4_leadl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645920"/>
            <a:ext cx="3867911" cy="2610490"/>
          </a:xfrm>
          <a:prstGeom prst="rect">
            <a:avLst/>
          </a:prstGeom>
        </p:spPr>
      </p:pic>
      <p:sp>
        <p:nvSpPr>
          <p:cNvPr id="17" name="sA2_15"/>
          <p:cNvSpPr txBox="1"/>
          <p:nvPr/>
        </p:nvSpPr>
        <p:spPr>
          <a:xfrm>
            <a:off x="731520" y="4892040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Encompassing na véspera:  Δreal = a + 1,14·E_poly -0,06·E_FF   (t = 19,0 e -1,1),</a:t>
            </a:r>
          </a:p>
        </p:txBody>
      </p:sp>
      <p:sp>
        <p:nvSpPr>
          <p:cNvPr id="18" name="sA2_16"/>
          <p:cNvSpPr txBox="1"/>
          <p:nvPr/>
        </p:nvSpPr>
        <p:spPr>
          <a:xfrm>
            <a:off x="731520" y="5184648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Proxy = DTB3 − DFF (sem o contrato ZQ, D12), corrigido do viés pela média expansiva dos erros passados (D12a).</a:t>
            </a:r>
          </a:p>
        </p:txBody>
      </p:sp>
      <p:sp>
        <p:nvSpPr>
          <p:cNvPr id="19" name="sA2_17"/>
          <p:cNvSpPr txBox="1"/>
          <p:nvPr/>
        </p:nvSpPr>
        <p:spPr>
          <a:xfrm>
            <a:off x="731520" y="5477255"/>
            <a:ext cx="10725911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Lead-lag: nos lags sem sobreposição de janela (k = +1, −2) a correlação é ≈ 0 — a informação chega aos dois no mesmo pregão.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A3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A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Apêndice · onde está o valor</a:t>
            </a:r>
          </a:p>
        </p:txBody>
      </p:sp>
      <p:sp>
        <p:nvSpPr>
          <p:cNvPr id="7" name="sA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A3</a:t>
            </a:r>
          </a:p>
        </p:txBody>
      </p:sp>
      <p:cxnSp>
        <p:nvCxnSpPr>
          <p:cNvPr id="8" name="sA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A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O nível é sinal; o movimento não é — por isso Black-Litterman, e não trading de Δp.</a:t>
            </a:r>
          </a:p>
        </p:txBody>
      </p:sp>
      <p:cxnSp>
        <p:nvCxnSpPr>
          <p:cNvPr id="10" name="sA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A3_11"/>
          <p:cNvSpPr txBox="1"/>
          <p:nvPr/>
        </p:nvSpPr>
        <p:spPr>
          <a:xfrm>
            <a:off x="731520" y="1417320"/>
            <a:ext cx="5760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QUAL EXPECTATIVA EXPLICA O RETORNO DO DIA DO FOMC (R², 9 ETFs)</a:t>
            </a:r>
          </a:p>
        </p:txBody>
      </p:sp>
      <p:pic>
        <p:nvPicPr>
          <p:cNvPr id="14" name="sA3_12" descr="estudo_5_event_stud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5920"/>
            <a:ext cx="5760720" cy="2891990"/>
          </a:xfrm>
          <a:prstGeom prst="rect">
            <a:avLst/>
          </a:prstGeom>
        </p:spPr>
      </p:pic>
      <p:sp>
        <p:nvSpPr>
          <p:cNvPr id="15" name="sA3_13"/>
          <p:cNvSpPr txBox="1"/>
          <p:nvPr/>
        </p:nvSpPr>
        <p:spPr>
          <a:xfrm>
            <a:off x="6812279" y="1417320"/>
            <a:ext cx="464515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PLACAR DO ESTUDO</a:t>
            </a:r>
          </a:p>
        </p:txBody>
      </p:sp>
      <p:pic>
        <p:nvPicPr>
          <p:cNvPr id="16" name="sA3_14" descr="estudo_6_sinte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79" y="1645920"/>
            <a:ext cx="4645152" cy="2845885"/>
          </a:xfrm>
          <a:prstGeom prst="rect">
            <a:avLst/>
          </a:prstGeom>
        </p:spPr>
      </p:pic>
      <p:sp>
        <p:nvSpPr>
          <p:cNvPr id="17" name="sA3_15"/>
          <p:cNvSpPr txBox="1"/>
          <p:nvPr/>
        </p:nvSpPr>
        <p:spPr>
          <a:xfrm>
            <a:off x="731520" y="4892040"/>
            <a:ext cx="6126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Na véspera quase não sobra surpresa (MAE 0,9 bps): o que move os ETFs no dia é o caminho da política, não a decisão.</a:t>
            </a:r>
          </a:p>
        </p:txBody>
      </p:sp>
      <p:sp>
        <p:nvSpPr>
          <p:cNvPr id="18" name="sA3_16"/>
          <p:cNvSpPr txBox="1"/>
          <p:nvPr/>
        </p:nvSpPr>
        <p:spPr>
          <a:xfrm>
            <a:off x="731520" y="5184648"/>
            <a:ext cx="61264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 SemiLight"/>
              </a:rPr>
              <a:t>Antes do anúncio, Δp não antecipa o retorno (Teste_sinal.md: t ≈ 0 em h = 0, 1, 5); o preço do Polymarket reverte em 12 h (ACF −0,13, VR(5) = 0,78).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1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a conta inteira</a:t>
            </a:r>
          </a:p>
        </p:txBody>
      </p:sp>
      <p:sp>
        <p:nvSpPr>
          <p:cNvPr id="3" name="sA1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A1</a:t>
            </a:r>
          </a:p>
        </p:txBody>
      </p:sp>
      <p:cxnSp>
        <p:nvCxnSpPr>
          <p:cNvPr id="4" name="sA1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1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1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1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1_6"/>
          <p:cNvSpPr/>
          <p:nvPr/>
        </p:nvSpPr>
        <p:spPr>
          <a:xfrm>
            <a:off x="82296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A1_7"/>
          <p:cNvSpPr txBox="1"/>
          <p:nvPr/>
        </p:nvSpPr>
        <p:spPr>
          <a:xfrm>
            <a:off x="104241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1 · EQUILÍBRIO</a:t>
            </a:r>
          </a:p>
        </p:txBody>
      </p:sp>
      <p:sp>
        <p:nvSpPr>
          <p:cNvPr id="10" name="sA1_8"/>
          <p:cNvSpPr txBox="1"/>
          <p:nvPr/>
        </p:nvSpPr>
        <p:spPr>
          <a:xfrm>
            <a:off x="104241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π = δ · Σ · w_mkt</a:t>
            </a:r>
          </a:p>
        </p:txBody>
      </p:sp>
      <p:sp>
        <p:nvSpPr>
          <p:cNvPr id="11" name="sA1_9"/>
          <p:cNvSpPr txBox="1"/>
          <p:nvPr/>
        </p:nvSpPr>
        <p:spPr>
          <a:xfrm>
            <a:off x="1042416" y="1993392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Em vez de perguntar quais pesos são os melhores, perguntamos o contrário: que retornos fariam a carteira do mercado ser a ótima? É o ponto de partida, e não precisa de previsão nenhuma.</a:t>
            </a:r>
          </a:p>
        </p:txBody>
      </p:sp>
      <p:sp>
        <p:nvSpPr>
          <p:cNvPr id="12" name="sA1_10"/>
          <p:cNvSpPr/>
          <p:nvPr/>
        </p:nvSpPr>
        <p:spPr>
          <a:xfrm>
            <a:off x="352044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A1_11"/>
          <p:cNvSpPr txBox="1"/>
          <p:nvPr/>
        </p:nvSpPr>
        <p:spPr>
          <a:xfrm>
            <a:off x="373989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2 · A OPINIÃO</a:t>
            </a:r>
          </a:p>
        </p:txBody>
      </p:sp>
      <p:sp>
        <p:nvSpPr>
          <p:cNvPr id="14" name="sA1_12"/>
          <p:cNvSpPr txBox="1"/>
          <p:nvPr/>
        </p:nvSpPr>
        <p:spPr>
          <a:xfrm>
            <a:off x="373989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E8EDF2"/>
                </a:solidFill>
                <a:latin typeface="Consolas"/>
              </a:rPr>
              <a:t>P[i] = 2·(β_i − β_SPY) / Σ|β − β_SPY|</a:t>
            </a:r>
          </a:p>
        </p:txBody>
      </p:sp>
      <p:sp>
        <p:nvSpPr>
          <p:cNvPr id="15" name="sA1_13"/>
          <p:cNvSpPr txBox="1"/>
          <p:nvPr/>
        </p:nvSpPr>
        <p:spPr>
          <a:xfrm>
            <a:off x="3739896" y="2084831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Q  = (Σ P·β) × surpresa</a:t>
            </a:r>
          </a:p>
        </p:txBody>
      </p:sp>
      <p:sp>
        <p:nvSpPr>
          <p:cNvPr id="16" name="sA1_14"/>
          <p:cNvSpPr txBox="1"/>
          <p:nvPr/>
        </p:nvSpPr>
        <p:spPr>
          <a:xfrm>
            <a:off x="3739896" y="2560320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P diz quem compra e quem vende, na proporção da sensibilidade medida. Q é essa sensibilidade vezes a surpresa de hoje: o Polymarket menos o que a bolsa já embutiu.</a:t>
            </a:r>
          </a:p>
        </p:txBody>
      </p:sp>
      <p:sp>
        <p:nvSpPr>
          <p:cNvPr id="17" name="sA1_15"/>
          <p:cNvSpPr/>
          <p:nvPr/>
        </p:nvSpPr>
        <p:spPr>
          <a:xfrm>
            <a:off x="621792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A1_16"/>
          <p:cNvSpPr txBox="1"/>
          <p:nvPr/>
        </p:nvSpPr>
        <p:spPr>
          <a:xfrm>
            <a:off x="643737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3 · A MISTURA</a:t>
            </a:r>
          </a:p>
        </p:txBody>
      </p:sp>
      <p:sp>
        <p:nvSpPr>
          <p:cNvPr id="19" name="sA1_17"/>
          <p:cNvSpPr txBox="1"/>
          <p:nvPr/>
        </p:nvSpPr>
        <p:spPr>
          <a:xfrm>
            <a:off x="643737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μ = π + peso · (Q − P·π)</a:t>
            </a:r>
          </a:p>
        </p:txBody>
      </p:sp>
      <p:sp>
        <p:nvSpPr>
          <p:cNvPr id="20" name="sA1_18"/>
          <p:cNvSpPr txBox="1"/>
          <p:nvPr/>
        </p:nvSpPr>
        <p:spPr>
          <a:xfrm>
            <a:off x="6437376" y="1993392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Só a discordância move a carteira: se a opinião concordar com o equilíbrio, nada muda. O peso vem do Ω — a confiança medida, que está no slide 5.</a:t>
            </a:r>
          </a:p>
        </p:txBody>
      </p:sp>
      <p:sp>
        <p:nvSpPr>
          <p:cNvPr id="21" name="sA1_19"/>
          <p:cNvSpPr/>
          <p:nvPr/>
        </p:nvSpPr>
        <p:spPr>
          <a:xfrm>
            <a:off x="8915400" y="969264"/>
            <a:ext cx="2450592" cy="2724912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A1_20"/>
          <p:cNvSpPr txBox="1"/>
          <p:nvPr/>
        </p:nvSpPr>
        <p:spPr>
          <a:xfrm>
            <a:off x="9134856" y="1188720"/>
            <a:ext cx="2084832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00">
                <a:solidFill>
                  <a:srgbClr val="F5A623"/>
                </a:solidFill>
                <a:latin typeface="Segoe UI"/>
              </a:rPr>
              <a:t>4 · A CARTEIRA</a:t>
            </a:r>
          </a:p>
        </p:txBody>
      </p:sp>
      <p:sp>
        <p:nvSpPr>
          <p:cNvPr id="23" name="sA1_21"/>
          <p:cNvSpPr txBox="1"/>
          <p:nvPr/>
        </p:nvSpPr>
        <p:spPr>
          <a:xfrm>
            <a:off x="9134856" y="1517904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w = inv(δ · Σ) · μ</a:t>
            </a:r>
          </a:p>
        </p:txBody>
      </p:sp>
      <p:sp>
        <p:nvSpPr>
          <p:cNvPr id="24" name="sA1_22"/>
          <p:cNvSpPr txBox="1"/>
          <p:nvPr/>
        </p:nvSpPr>
        <p:spPr>
          <a:xfrm>
            <a:off x="9134856" y="1847088"/>
            <a:ext cx="208483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8EDF2"/>
                </a:solidFill>
                <a:latin typeface="Consolas"/>
              </a:rPr>
              <a:t>Σ|w − w_mkt| ≤ 1</a:t>
            </a:r>
          </a:p>
        </p:txBody>
      </p:sp>
      <p:sp>
        <p:nvSpPr>
          <p:cNvPr id="25" name="sA1_23"/>
          <p:cNvSpPr txBox="1"/>
          <p:nvPr/>
        </p:nvSpPr>
        <p:spPr>
          <a:xfrm>
            <a:off x="9134856" y="2322576"/>
            <a:ext cx="2084832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 conta clássica de carteira ótima, sem restrição de sinal — é o que permite comprar um setor e vender outro. O teto limita o desvio contra o mercado, não o tamanho da carteira.</a:t>
            </a:r>
          </a:p>
        </p:txBody>
      </p:sp>
      <p:sp>
        <p:nvSpPr>
          <p:cNvPr id="26" name="sA1_24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O QUE CADA SÍMBOLO É</a:t>
            </a:r>
          </a:p>
        </p:txBody>
      </p:sp>
      <p:sp>
        <p:nvSpPr>
          <p:cNvPr id="27" name="sA1_25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δ   </a:t>
            </a:r>
            <a:r>
              <a:rPr sz="1050" b="0">
                <a:solidFill>
                  <a:srgbClr val="93A9BC"/>
                </a:solidFill>
                <a:latin typeface="Segoe UI"/>
              </a:rPr>
              <a:t>o quanto o investidor típico odeia risco — medido no S&amp;P 500 em 22 anos.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Σ   </a:t>
            </a:r>
            <a:r>
              <a:rPr sz="1050" b="0">
                <a:solidFill>
                  <a:srgbClr val="93A9BC"/>
                </a:solidFill>
                <a:latin typeface="Segoe UI"/>
              </a:rPr>
              <a:t>como os nove fundos se mexem juntos — dois anos de histórico, até a véspera.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w_mkt   </a:t>
            </a:r>
            <a:r>
              <a:rPr sz="1050" b="0">
                <a:solidFill>
                  <a:srgbClr val="93A9BC"/>
                </a:solidFill>
                <a:latin typeface="Segoe UI"/>
              </a:rPr>
              <a:t>a carteira do mercado: 100% no S&amp;P 500, porque os setores já estão dentro dele.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β   </a:t>
            </a:r>
            <a:r>
              <a:rPr sz="1050" b="0">
                <a:solidFill>
                  <a:srgbClr val="93A9BC"/>
                </a:solidFill>
                <a:latin typeface="Segoe UI"/>
              </a:rPr>
              <a:t>quanto cada fundo anda quando o evento surpreende — sai de regressão, nunca de palpite.</a:t>
            </a:r>
          </a:p>
          <a:p>
            <a:pPr algn="l">
              <a:lnSpc>
                <a:spcPct val="126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1">
                <a:solidFill>
                  <a:srgbClr val="F5A623"/>
                </a:solidFill>
                <a:latin typeface="Segoe UI"/>
              </a:rPr>
              <a:t>μ   </a:t>
            </a:r>
            <a:r>
              <a:rPr sz="1050" b="0">
                <a:solidFill>
                  <a:srgbClr val="93A9BC"/>
                </a:solidFill>
                <a:latin typeface="Segoe UI"/>
              </a:rPr>
              <a:t>o retorno esperado final, já misturando equilíbrio e opinião.</a:t>
            </a:r>
          </a:p>
        </p:txBody>
      </p:sp>
      <p:sp>
        <p:nvSpPr>
          <p:cNvPr id="28" name="sA1_26"/>
          <p:cNvSpPr/>
          <p:nvPr/>
        </p:nvSpPr>
        <p:spPr>
          <a:xfrm>
            <a:off x="6245352" y="4078224"/>
            <a:ext cx="45720" cy="1024127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A1_27"/>
          <p:cNvSpPr txBox="1"/>
          <p:nvPr/>
        </p:nvSpPr>
        <p:spPr>
          <a:xfrm>
            <a:off x="6464808" y="4041648"/>
            <a:ext cx="4901183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 prova de que a conta está certa. </a:t>
            </a:r>
            <a:r>
              <a:rPr sz="1150" b="0">
                <a:solidFill>
                  <a:srgbClr val="93A9BC"/>
                </a:solidFill>
                <a:latin typeface="Segoe UI"/>
              </a:rPr>
              <a:t>Sem nenhuma opinião ativa, ela devolve exatamente a carteira do mercado — sem sobra e sem resíduo. O caso extremo é testado automaticamente.</a:t>
            </a:r>
          </a:p>
        </p:txBody>
      </p:sp>
      <p:sp>
        <p:nvSpPr>
          <p:cNvPr id="30" name="sA1_28"/>
          <p:cNvSpPr/>
          <p:nvPr/>
        </p:nvSpPr>
        <p:spPr>
          <a:xfrm>
            <a:off x="6245352" y="5321807"/>
            <a:ext cx="45720" cy="84124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sA1_29"/>
          <p:cNvSpPr txBox="1"/>
          <p:nvPr/>
        </p:nvSpPr>
        <p:spPr>
          <a:xfrm>
            <a:off x="6464808" y="5285231"/>
            <a:ext cx="490118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 confiança (Ω) não está aqui de propósito.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fórmula dela é o slide 5: a régua de coerência e estabilidade do próprio mercado.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2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o teto de risco, e as 8 configurações</a:t>
            </a:r>
          </a:p>
        </p:txBody>
      </p:sp>
      <p:sp>
        <p:nvSpPr>
          <p:cNvPr id="3" name="sA2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A2</a:t>
            </a:r>
          </a:p>
        </p:txBody>
      </p:sp>
      <p:cxnSp>
        <p:nvCxnSpPr>
          <p:cNvPr id="4" name="sA2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2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2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2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2_6"/>
          <p:cNvSpPr txBox="1"/>
          <p:nvPr/>
        </p:nvSpPr>
        <p:spPr>
          <a:xfrm>
            <a:off x="822960" y="1042415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ENCOLHENDO A CARTEIRA INTEIRA</a:t>
            </a:r>
          </a:p>
        </p:txBody>
      </p:sp>
      <p:sp>
        <p:nvSpPr>
          <p:cNvPr id="9" name="sA2_7"/>
          <p:cNvSpPr txBox="1"/>
          <p:nvPr/>
        </p:nvSpPr>
        <p:spPr>
          <a:xfrm>
            <a:off x="822960" y="1389888"/>
            <a:ext cx="25054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</a:t>
            </a:r>
          </a:p>
        </p:txBody>
      </p:sp>
      <p:sp>
        <p:nvSpPr>
          <p:cNvPr id="10" name="sA2_8"/>
          <p:cNvSpPr txBox="1"/>
          <p:nvPr/>
        </p:nvSpPr>
        <p:spPr>
          <a:xfrm>
            <a:off x="3328415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RETORNO</a:t>
            </a:r>
          </a:p>
        </p:txBody>
      </p:sp>
      <p:sp>
        <p:nvSpPr>
          <p:cNvPr id="11" name="sA2_9"/>
          <p:cNvSpPr txBox="1"/>
          <p:nvPr/>
        </p:nvSpPr>
        <p:spPr>
          <a:xfrm>
            <a:off x="4498848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cxnSp>
        <p:nvCxnSpPr>
          <p:cNvPr id="12" name="sA2_10"/>
          <p:cNvCxnSpPr/>
          <p:nvPr/>
        </p:nvCxnSpPr>
        <p:spPr>
          <a:xfrm>
            <a:off x="822960" y="160934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A2_11"/>
          <p:cNvSpPr txBox="1"/>
          <p:nvPr/>
        </p:nvSpPr>
        <p:spPr>
          <a:xfrm>
            <a:off x="822960" y="170078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1</a:t>
            </a:r>
          </a:p>
        </p:txBody>
      </p:sp>
      <p:sp>
        <p:nvSpPr>
          <p:cNvPr id="14" name="sA2_12"/>
          <p:cNvSpPr txBox="1"/>
          <p:nvPr/>
        </p:nvSpPr>
        <p:spPr>
          <a:xfrm>
            <a:off x="3328415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+15,3%</a:t>
            </a:r>
          </a:p>
        </p:txBody>
      </p:sp>
      <p:sp>
        <p:nvSpPr>
          <p:cNvPr id="15" name="sA2_13"/>
          <p:cNvSpPr txBox="1"/>
          <p:nvPr/>
        </p:nvSpPr>
        <p:spPr>
          <a:xfrm>
            <a:off x="4498848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−14,9 pp</a:t>
            </a:r>
          </a:p>
        </p:txBody>
      </p:sp>
      <p:cxnSp>
        <p:nvCxnSpPr>
          <p:cNvPr id="16" name="sA2_14"/>
          <p:cNvCxnSpPr/>
          <p:nvPr/>
        </p:nvCxnSpPr>
        <p:spPr>
          <a:xfrm>
            <a:off x="822960" y="188366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A2_15"/>
          <p:cNvSpPr txBox="1"/>
          <p:nvPr/>
        </p:nvSpPr>
        <p:spPr>
          <a:xfrm>
            <a:off x="822960" y="197510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18" name="sA2_16"/>
          <p:cNvSpPr txBox="1"/>
          <p:nvPr/>
        </p:nvSpPr>
        <p:spPr>
          <a:xfrm>
            <a:off x="3328415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+18,8%</a:t>
            </a:r>
          </a:p>
        </p:txBody>
      </p:sp>
      <p:sp>
        <p:nvSpPr>
          <p:cNvPr id="19" name="sA2_17"/>
          <p:cNvSpPr txBox="1"/>
          <p:nvPr/>
        </p:nvSpPr>
        <p:spPr>
          <a:xfrm>
            <a:off x="4498848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−11,4 pp</a:t>
            </a:r>
          </a:p>
        </p:txBody>
      </p:sp>
      <p:cxnSp>
        <p:nvCxnSpPr>
          <p:cNvPr id="20" name="sA2_18"/>
          <p:cNvCxnSpPr/>
          <p:nvPr/>
        </p:nvCxnSpPr>
        <p:spPr>
          <a:xfrm>
            <a:off x="822960" y="215798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A2_19"/>
          <p:cNvSpPr txBox="1"/>
          <p:nvPr/>
        </p:nvSpPr>
        <p:spPr>
          <a:xfrm>
            <a:off x="822960" y="224942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22" name="sA2_20"/>
          <p:cNvSpPr txBox="1"/>
          <p:nvPr/>
        </p:nvSpPr>
        <p:spPr>
          <a:xfrm>
            <a:off x="3328415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+23,8%</a:t>
            </a:r>
          </a:p>
        </p:txBody>
      </p:sp>
      <p:sp>
        <p:nvSpPr>
          <p:cNvPr id="23" name="sA2_21"/>
          <p:cNvSpPr txBox="1"/>
          <p:nvPr/>
        </p:nvSpPr>
        <p:spPr>
          <a:xfrm>
            <a:off x="4498848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−6,4 pp</a:t>
            </a:r>
          </a:p>
        </p:txBody>
      </p:sp>
      <p:cxnSp>
        <p:nvCxnSpPr>
          <p:cNvPr id="24" name="sA2_22"/>
          <p:cNvCxnSpPr/>
          <p:nvPr/>
        </p:nvCxnSpPr>
        <p:spPr>
          <a:xfrm>
            <a:off x="822960" y="243230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A2_23"/>
          <p:cNvSpPr txBox="1"/>
          <p:nvPr/>
        </p:nvSpPr>
        <p:spPr>
          <a:xfrm>
            <a:off x="822960" y="252374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26" name="sA2_24"/>
          <p:cNvSpPr txBox="1"/>
          <p:nvPr/>
        </p:nvSpPr>
        <p:spPr>
          <a:xfrm>
            <a:off x="3328415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+28,3%</a:t>
            </a:r>
          </a:p>
        </p:txBody>
      </p:sp>
      <p:sp>
        <p:nvSpPr>
          <p:cNvPr id="27" name="sA2_25"/>
          <p:cNvSpPr txBox="1"/>
          <p:nvPr/>
        </p:nvSpPr>
        <p:spPr>
          <a:xfrm>
            <a:off x="4498848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−1,8 pp</a:t>
            </a:r>
          </a:p>
        </p:txBody>
      </p:sp>
      <p:cxnSp>
        <p:nvCxnSpPr>
          <p:cNvPr id="28" name="sA2_26"/>
          <p:cNvCxnSpPr/>
          <p:nvPr/>
        </p:nvCxnSpPr>
        <p:spPr>
          <a:xfrm>
            <a:off x="822960" y="270662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A2_27"/>
          <p:cNvSpPr txBox="1"/>
          <p:nvPr/>
        </p:nvSpPr>
        <p:spPr>
          <a:xfrm>
            <a:off x="822960" y="30175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Corta tudo pelo mesmo fator, inclusive a parte que é mercado. Num ano em que o índice subiu 30%, vender índice custa caro sozinho — sem ter nada a ver com a qualidade das apostas.</a:t>
            </a:r>
          </a:p>
        </p:txBody>
      </p:sp>
      <p:sp>
        <p:nvSpPr>
          <p:cNvPr id="30" name="sA2_28"/>
          <p:cNvSpPr txBox="1"/>
          <p:nvPr/>
        </p:nvSpPr>
        <p:spPr>
          <a:xfrm>
            <a:off x="6519672" y="1042415"/>
            <a:ext cx="4846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4FC3A1"/>
                </a:solidFill>
                <a:latin typeface="Segoe UI"/>
              </a:rPr>
              <a:t>ENCOLHENDO SÓ O DESVIO  ·  A NOSSA</a:t>
            </a:r>
          </a:p>
        </p:txBody>
      </p:sp>
      <p:sp>
        <p:nvSpPr>
          <p:cNvPr id="31" name="sA2_29"/>
          <p:cNvSpPr txBox="1"/>
          <p:nvPr/>
        </p:nvSpPr>
        <p:spPr>
          <a:xfrm>
            <a:off x="6519672" y="1389888"/>
            <a:ext cx="250545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</a:t>
            </a:r>
          </a:p>
        </p:txBody>
      </p:sp>
      <p:sp>
        <p:nvSpPr>
          <p:cNvPr id="32" name="sA2_30"/>
          <p:cNvSpPr txBox="1"/>
          <p:nvPr/>
        </p:nvSpPr>
        <p:spPr>
          <a:xfrm>
            <a:off x="9025128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RETORNO</a:t>
            </a:r>
          </a:p>
        </p:txBody>
      </p:sp>
      <p:sp>
        <p:nvSpPr>
          <p:cNvPr id="33" name="sA2_31"/>
          <p:cNvSpPr txBox="1"/>
          <p:nvPr/>
        </p:nvSpPr>
        <p:spPr>
          <a:xfrm>
            <a:off x="10195559" y="1389888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cxnSp>
        <p:nvCxnSpPr>
          <p:cNvPr id="34" name="sA2_32"/>
          <p:cNvCxnSpPr/>
          <p:nvPr/>
        </p:nvCxnSpPr>
        <p:spPr>
          <a:xfrm>
            <a:off x="6519672" y="160934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A2_33"/>
          <p:cNvSpPr txBox="1"/>
          <p:nvPr/>
        </p:nvSpPr>
        <p:spPr>
          <a:xfrm>
            <a:off x="6519672" y="170078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teto 1</a:t>
            </a:r>
          </a:p>
        </p:txBody>
      </p:sp>
      <p:sp>
        <p:nvSpPr>
          <p:cNvPr id="36" name="sA2_34"/>
          <p:cNvSpPr txBox="1"/>
          <p:nvPr/>
        </p:nvSpPr>
        <p:spPr>
          <a:xfrm>
            <a:off x="9025128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+33,2%</a:t>
            </a:r>
          </a:p>
        </p:txBody>
      </p:sp>
      <p:sp>
        <p:nvSpPr>
          <p:cNvPr id="37" name="sA2_35"/>
          <p:cNvSpPr txBox="1"/>
          <p:nvPr/>
        </p:nvSpPr>
        <p:spPr>
          <a:xfrm>
            <a:off x="10195559" y="170078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4FC3A1"/>
                </a:solidFill>
                <a:latin typeface="Segoe UI"/>
              </a:rPr>
              <a:t>+3,0 pp</a:t>
            </a:r>
          </a:p>
        </p:txBody>
      </p:sp>
      <p:cxnSp>
        <p:nvCxnSpPr>
          <p:cNvPr id="38" name="sA2_36"/>
          <p:cNvCxnSpPr/>
          <p:nvPr/>
        </p:nvCxnSpPr>
        <p:spPr>
          <a:xfrm>
            <a:off x="6519672" y="188366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A2_37"/>
          <p:cNvSpPr txBox="1"/>
          <p:nvPr/>
        </p:nvSpPr>
        <p:spPr>
          <a:xfrm>
            <a:off x="6519672" y="197510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40" name="sA2_38"/>
          <p:cNvSpPr txBox="1"/>
          <p:nvPr/>
        </p:nvSpPr>
        <p:spPr>
          <a:xfrm>
            <a:off x="9025128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+36,5%</a:t>
            </a:r>
          </a:p>
        </p:txBody>
      </p:sp>
      <p:sp>
        <p:nvSpPr>
          <p:cNvPr id="41" name="sA2_39"/>
          <p:cNvSpPr txBox="1"/>
          <p:nvPr/>
        </p:nvSpPr>
        <p:spPr>
          <a:xfrm>
            <a:off x="10195559" y="197510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+6,4 pp</a:t>
            </a:r>
          </a:p>
        </p:txBody>
      </p:sp>
      <p:cxnSp>
        <p:nvCxnSpPr>
          <p:cNvPr id="42" name="sA2_40"/>
          <p:cNvCxnSpPr/>
          <p:nvPr/>
        </p:nvCxnSpPr>
        <p:spPr>
          <a:xfrm>
            <a:off x="6519672" y="2157984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sA2_41"/>
          <p:cNvSpPr txBox="1"/>
          <p:nvPr/>
        </p:nvSpPr>
        <p:spPr>
          <a:xfrm>
            <a:off x="6519672" y="224942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44" name="sA2_42"/>
          <p:cNvSpPr txBox="1"/>
          <p:nvPr/>
        </p:nvSpPr>
        <p:spPr>
          <a:xfrm>
            <a:off x="9025128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+38,9%</a:t>
            </a:r>
          </a:p>
        </p:txBody>
      </p:sp>
      <p:sp>
        <p:nvSpPr>
          <p:cNvPr id="45" name="sA2_43"/>
          <p:cNvSpPr txBox="1"/>
          <p:nvPr/>
        </p:nvSpPr>
        <p:spPr>
          <a:xfrm>
            <a:off x="10195559" y="224942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+8,8 pp</a:t>
            </a:r>
          </a:p>
        </p:txBody>
      </p:sp>
      <p:cxnSp>
        <p:nvCxnSpPr>
          <p:cNvPr id="46" name="sA2_44"/>
          <p:cNvCxnSpPr/>
          <p:nvPr/>
        </p:nvCxnSpPr>
        <p:spPr>
          <a:xfrm>
            <a:off x="6519672" y="243230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sA2_45"/>
          <p:cNvSpPr txBox="1"/>
          <p:nvPr/>
        </p:nvSpPr>
        <p:spPr>
          <a:xfrm>
            <a:off x="6519672" y="2523744"/>
            <a:ext cx="2505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48" name="sA2_46"/>
          <p:cNvSpPr txBox="1"/>
          <p:nvPr/>
        </p:nvSpPr>
        <p:spPr>
          <a:xfrm>
            <a:off x="9025128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+45,8%</a:t>
            </a:r>
          </a:p>
        </p:txBody>
      </p:sp>
      <p:sp>
        <p:nvSpPr>
          <p:cNvPr id="49" name="sA2_47"/>
          <p:cNvSpPr txBox="1"/>
          <p:nvPr/>
        </p:nvSpPr>
        <p:spPr>
          <a:xfrm>
            <a:off x="10195559" y="2523744"/>
            <a:ext cx="11704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8299"/>
                </a:solidFill>
                <a:latin typeface="Segoe UI"/>
              </a:rPr>
              <a:t>+15,7 pp</a:t>
            </a:r>
          </a:p>
        </p:txBody>
      </p:sp>
      <p:cxnSp>
        <p:nvCxnSpPr>
          <p:cNvPr id="50" name="sA2_48"/>
          <p:cNvCxnSpPr/>
          <p:nvPr/>
        </p:nvCxnSpPr>
        <p:spPr>
          <a:xfrm>
            <a:off x="6519672" y="2706623"/>
            <a:ext cx="48463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sA2_49"/>
          <p:cNvSpPr txBox="1"/>
          <p:nvPr/>
        </p:nvSpPr>
        <p:spPr>
          <a:xfrm>
            <a:off x="6519672" y="3017520"/>
            <a:ext cx="4846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Limita só o quanto a carteira se afasta do índice e entrega a perna de mercado inteira. É o escopo da entrega — e a linha que usamos é a MAIS APERTADA da tabela, não a de melhor número.</a:t>
            </a:r>
          </a:p>
        </p:txBody>
      </p:sp>
      <p:sp>
        <p:nvSpPr>
          <p:cNvPr id="52" name="sA2_50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POR QUE ISSO NÃO É ESCOLHER O QUE FICOU BOM</a:t>
            </a:r>
          </a:p>
        </p:txBody>
      </p:sp>
      <p:sp>
        <p:nvSpPr>
          <p:cNvPr id="53" name="sA2_51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A regra veio antes.</a:t>
            </a:r>
            <a:r>
              <a:rPr sz="1050" b="0">
                <a:solidFill>
                  <a:srgbClr val="93A9BC"/>
                </a:solidFill>
                <a:latin typeface="Segoe UI"/>
              </a:rPr>
              <a:t> O escopo e o nível foram fixados antes de rodar o backtest, com plano B escrito. Nenhuma linha desta tabela foi escolhida depois.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Publicamos as oito.</a:t>
            </a:r>
            <a:r>
              <a:rPr sz="1050" b="0">
                <a:solidFill>
                  <a:srgbClr val="93A9BC"/>
                </a:solidFill>
                <a:latin typeface="Segoe UI"/>
              </a:rPr>
              <a:t> A alternativa honesta a escolher uma configuração é mostrar a grade inteira — inclusive as quatro em que perdemos do índice.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E ficamos na mais apertada.</a:t>
            </a:r>
            <a:r>
              <a:rPr sz="1050" b="0">
                <a:solidFill>
                  <a:srgbClr val="93A9BC"/>
                </a:solidFill>
                <a:latin typeface="Segoe UI"/>
              </a:rPr>
              <a:t> Afrouxar o limite melhoraria o número em toda a coluna. Não afrouxamos.</a:t>
            </a:r>
          </a:p>
        </p:txBody>
      </p:sp>
      <p:sp>
        <p:nvSpPr>
          <p:cNvPr id="54" name="sA2_52"/>
          <p:cNvSpPr/>
          <p:nvPr/>
        </p:nvSpPr>
        <p:spPr>
          <a:xfrm>
            <a:off x="6245352" y="4078224"/>
            <a:ext cx="45720" cy="13898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sA2_53"/>
          <p:cNvSpPr txBox="1"/>
          <p:nvPr/>
        </p:nvSpPr>
        <p:spPr>
          <a:xfrm>
            <a:off x="6464808" y="4041648"/>
            <a:ext cx="4901183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escopo vale 18 pontos, e é mecânico.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diferença entre as duas tabelas no mesmo limite não vem das apostas: vem de uma delas vender índice e a outra não. Por ser uma escolha tão pesada, ela é a que mais precisava ser fixada antes.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3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a camada tática por dentro</a:t>
            </a:r>
          </a:p>
        </p:txBody>
      </p:sp>
      <p:sp>
        <p:nvSpPr>
          <p:cNvPr id="3" name="sA3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A3</a:t>
            </a:r>
          </a:p>
        </p:txBody>
      </p:sp>
      <p:cxnSp>
        <p:nvCxnSpPr>
          <p:cNvPr id="4" name="sA3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3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3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3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3_6"/>
          <p:cNvSpPr/>
          <p:nvPr/>
        </p:nvSpPr>
        <p:spPr>
          <a:xfrm>
            <a:off x="822960" y="1005840"/>
            <a:ext cx="3291840" cy="169164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A3_7"/>
          <p:cNvSpPr/>
          <p:nvPr/>
        </p:nvSpPr>
        <p:spPr>
          <a:xfrm>
            <a:off x="1005840" y="1207008"/>
            <a:ext cx="45720" cy="1289304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sA3_8"/>
          <p:cNvSpPr txBox="1"/>
          <p:nvPr/>
        </p:nvSpPr>
        <p:spPr>
          <a:xfrm>
            <a:off x="1225296" y="1207008"/>
            <a:ext cx="2706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4FC3A1"/>
                </a:solidFill>
                <a:latin typeface="Segoe UI"/>
              </a:rPr>
              <a:t>+42,6 pp</a:t>
            </a:r>
          </a:p>
        </p:txBody>
      </p:sp>
      <p:sp>
        <p:nvSpPr>
          <p:cNvPr id="11" name="sA3_9"/>
          <p:cNvSpPr txBox="1"/>
          <p:nvPr/>
        </p:nvSpPr>
        <p:spPr>
          <a:xfrm>
            <a:off x="1225296" y="1755648"/>
            <a:ext cx="2706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Sozinha, fora da carteira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327 pregões ativos · acerta a direção em 54% deles · e sem os três melhores dias sobe para +64 pp</a:t>
            </a:r>
          </a:p>
        </p:txBody>
      </p:sp>
      <p:sp>
        <p:nvSpPr>
          <p:cNvPr id="12" name="sA3_10"/>
          <p:cNvSpPr/>
          <p:nvPr/>
        </p:nvSpPr>
        <p:spPr>
          <a:xfrm>
            <a:off x="4343400" y="1005840"/>
            <a:ext cx="3291840" cy="169164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5400000" scaled="0"/>
          </a:gra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A3_11"/>
          <p:cNvSpPr/>
          <p:nvPr/>
        </p:nvSpPr>
        <p:spPr>
          <a:xfrm>
            <a:off x="4526280" y="1207008"/>
            <a:ext cx="45720" cy="1289304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A3_12"/>
          <p:cNvSpPr txBox="1"/>
          <p:nvPr/>
        </p:nvSpPr>
        <p:spPr>
          <a:xfrm>
            <a:off x="4745736" y="1207008"/>
            <a:ext cx="270662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−2,9 pp</a:t>
            </a:r>
          </a:p>
        </p:txBody>
      </p:sp>
      <p:sp>
        <p:nvSpPr>
          <p:cNvPr id="15" name="sA3_13"/>
          <p:cNvSpPr txBox="1"/>
          <p:nvPr/>
        </p:nvSpPr>
        <p:spPr>
          <a:xfrm>
            <a:off x="4745736" y="1755648"/>
            <a:ext cx="270662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Ao entrar na carteira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excesso sobre o índice cai de +6,0 pp para +3,0 pp. Não é contradição — é divisão de um orçamento fixo de risco.</a:t>
            </a:r>
          </a:p>
        </p:txBody>
      </p:sp>
      <p:sp>
        <p:nvSpPr>
          <p:cNvPr id="16" name="sA3_14"/>
          <p:cNvSpPr/>
          <p:nvPr/>
        </p:nvSpPr>
        <p:spPr>
          <a:xfrm>
            <a:off x="822960" y="2980944"/>
            <a:ext cx="45720" cy="74980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A3_15"/>
          <p:cNvSpPr txBox="1"/>
          <p:nvPr/>
        </p:nvSpPr>
        <p:spPr>
          <a:xfrm>
            <a:off x="1042416" y="2944368"/>
            <a:ext cx="659282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Diga assim, se perguntarem: </a:t>
            </a:r>
            <a:r>
              <a:rPr sz="1150" b="0">
                <a:solidFill>
                  <a:srgbClr val="93A9BC"/>
                </a:solidFill>
                <a:latin typeface="Segoe UI"/>
              </a:rPr>
              <a:t>“o limite de risco é fixo. Quando a camada tática entra, ela não soma — ela divide. Nessa janela, o que ela deslocou valia um pouco mais do que o que ela trouxe.”</a:t>
            </a:r>
          </a:p>
        </p:txBody>
      </p:sp>
      <p:sp>
        <p:nvSpPr>
          <p:cNvPr id="18" name="sA3_16"/>
          <p:cNvSpPr txBox="1"/>
          <p:nvPr/>
        </p:nvSpPr>
        <p:spPr>
          <a:xfrm>
            <a:off x="8074152" y="1005840"/>
            <a:ext cx="32918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POR QUE ELA NÃO CABE</a:t>
            </a:r>
          </a:p>
        </p:txBody>
      </p:sp>
      <p:sp>
        <p:nvSpPr>
          <p:cNvPr id="19" name="sA3_17"/>
          <p:cNvSpPr txBox="1"/>
          <p:nvPr/>
        </p:nvSpPr>
        <p:spPr>
          <a:xfrm>
            <a:off x="8074152" y="138988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limite de risco da carteira inteira</a:t>
            </a:r>
          </a:p>
        </p:txBody>
      </p:sp>
      <p:sp>
        <p:nvSpPr>
          <p:cNvPr id="20" name="sA3_18"/>
          <p:cNvSpPr/>
          <p:nvPr/>
        </p:nvSpPr>
        <p:spPr>
          <a:xfrm>
            <a:off x="8074152" y="162763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6B8299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A3_19"/>
          <p:cNvSpPr/>
          <p:nvPr/>
        </p:nvSpPr>
        <p:spPr>
          <a:xfrm>
            <a:off x="8074152" y="1627632"/>
            <a:ext cx="1296000" cy="201168"/>
          </a:xfrm>
          <a:prstGeom prst="roundRect">
            <a:avLst>
              <a:gd name="adj" fmla="val 11000"/>
            </a:avLst>
          </a:prstGeom>
          <a:solidFill>
            <a:srgbClr val="9BAEC0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sA3_20"/>
          <p:cNvSpPr txBox="1"/>
          <p:nvPr/>
        </p:nvSpPr>
        <p:spPr>
          <a:xfrm>
            <a:off x="8074152" y="188366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BAEC0"/>
                </a:solidFill>
                <a:latin typeface="Segoe UI"/>
              </a:rPr>
              <a:t>1,0</a:t>
            </a:r>
          </a:p>
        </p:txBody>
      </p:sp>
      <p:sp>
        <p:nvSpPr>
          <p:cNvPr id="23" name="sA3_21"/>
          <p:cNvSpPr txBox="1"/>
          <p:nvPr/>
        </p:nvSpPr>
        <p:spPr>
          <a:xfrm>
            <a:off x="8074152" y="212140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3A9BC"/>
                </a:solidFill>
                <a:latin typeface="Segoe UI"/>
              </a:rPr>
              <a:t>O que a camada tática pede sozinha</a:t>
            </a:r>
          </a:p>
        </p:txBody>
      </p:sp>
      <p:sp>
        <p:nvSpPr>
          <p:cNvPr id="24" name="sA3_22"/>
          <p:cNvSpPr/>
          <p:nvPr/>
        </p:nvSpPr>
        <p:spPr>
          <a:xfrm>
            <a:off x="8074152" y="235915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6B8299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sA3_23"/>
          <p:cNvSpPr/>
          <p:nvPr/>
        </p:nvSpPr>
        <p:spPr>
          <a:xfrm>
            <a:off x="8074152" y="2359152"/>
            <a:ext cx="3291840" cy="201168"/>
          </a:xfrm>
          <a:prstGeom prst="roundRect">
            <a:avLst>
              <a:gd name="adj" fmla="val 11000"/>
            </a:avLst>
          </a:prstGeom>
          <a:solidFill>
            <a:srgbClr val="F5A623"/>
          </a:solidFill>
          <a:ln w="12700">
            <a:solidFill>
              <a:srgbClr val="23384C"/>
            </a:solidFill>
          </a:ln>
          <a:effectLst>
            <a:outerShdw blurRad="170000" dist="44000" dir="5400000" rotWithShape="0">
              <a:srgbClr val="000000">
                <a:alpha val="4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sA3_24"/>
          <p:cNvSpPr txBox="1"/>
          <p:nvPr/>
        </p:nvSpPr>
        <p:spPr>
          <a:xfrm>
            <a:off x="8074152" y="2615184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5A623"/>
                </a:solidFill>
                <a:latin typeface="Segoe UI"/>
              </a:rPr>
              <a:t>2,54</a:t>
            </a:r>
          </a:p>
        </p:txBody>
      </p:sp>
      <p:sp>
        <p:nvSpPr>
          <p:cNvPr id="27" name="sA3_25"/>
          <p:cNvSpPr txBox="1"/>
          <p:nvPr/>
        </p:nvSpPr>
        <p:spPr>
          <a:xfrm>
            <a:off x="8074152" y="2834640"/>
            <a:ext cx="32918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Em 80% dos dias ativos o pedido dela sozinho já não cabe — então o corte encolhe também as outras apostas.</a:t>
            </a:r>
          </a:p>
        </p:txBody>
      </p:sp>
      <p:sp>
        <p:nvSpPr>
          <p:cNvPr id="28" name="sA3_26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 AFROUXAR O LIMITE RESOLVERIA? NÃO</a:t>
            </a:r>
          </a:p>
        </p:txBody>
      </p:sp>
      <p:sp>
        <p:nvSpPr>
          <p:cNvPr id="29" name="sA3_27"/>
          <p:cNvSpPr txBox="1"/>
          <p:nvPr/>
        </p:nvSpPr>
        <p:spPr>
          <a:xfrm>
            <a:off x="822960" y="4297680"/>
            <a:ext cx="277977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LIMITE DE RISCO</a:t>
            </a:r>
          </a:p>
        </p:txBody>
      </p:sp>
      <p:sp>
        <p:nvSpPr>
          <p:cNvPr id="30" name="sA3_28"/>
          <p:cNvSpPr txBox="1"/>
          <p:nvPr/>
        </p:nvSpPr>
        <p:spPr>
          <a:xfrm>
            <a:off x="3602735" y="4297680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EFEITO</a:t>
            </a:r>
          </a:p>
        </p:txBody>
      </p:sp>
      <p:sp>
        <p:nvSpPr>
          <p:cNvPr id="31" name="sA3_29"/>
          <p:cNvSpPr txBox="1"/>
          <p:nvPr/>
        </p:nvSpPr>
        <p:spPr>
          <a:xfrm>
            <a:off x="4773168" y="4297680"/>
            <a:ext cx="11704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2" name="sA3_30"/>
          <p:cNvCxnSpPr/>
          <p:nvPr/>
        </p:nvCxnSpPr>
        <p:spPr>
          <a:xfrm>
            <a:off x="822960" y="4498848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A3_31"/>
          <p:cNvSpPr txBox="1"/>
          <p:nvPr/>
        </p:nvSpPr>
        <p:spPr>
          <a:xfrm>
            <a:off x="822960" y="4590288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1</a:t>
            </a:r>
          </a:p>
        </p:txBody>
      </p:sp>
      <p:sp>
        <p:nvSpPr>
          <p:cNvPr id="34" name="sA3_32"/>
          <p:cNvSpPr txBox="1"/>
          <p:nvPr/>
        </p:nvSpPr>
        <p:spPr>
          <a:xfrm>
            <a:off x="3602735" y="4590288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−2,94 pp</a:t>
            </a:r>
          </a:p>
        </p:txBody>
      </p:sp>
      <p:sp>
        <p:nvSpPr>
          <p:cNvPr id="35" name="sA3_33"/>
          <p:cNvSpPr txBox="1"/>
          <p:nvPr/>
        </p:nvSpPr>
        <p:spPr>
          <a:xfrm>
            <a:off x="4773168" y="4590288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6" name="sA3_34"/>
          <p:cNvCxnSpPr/>
          <p:nvPr/>
        </p:nvCxnSpPr>
        <p:spPr>
          <a:xfrm>
            <a:off x="822960" y="4754880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A3_35"/>
          <p:cNvSpPr txBox="1"/>
          <p:nvPr/>
        </p:nvSpPr>
        <p:spPr>
          <a:xfrm>
            <a:off x="822960" y="4846320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2</a:t>
            </a:r>
          </a:p>
        </p:txBody>
      </p:sp>
      <p:sp>
        <p:nvSpPr>
          <p:cNvPr id="38" name="sA3_36"/>
          <p:cNvSpPr txBox="1"/>
          <p:nvPr/>
        </p:nvSpPr>
        <p:spPr>
          <a:xfrm>
            <a:off x="3602735" y="4846320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−6,75 pp</a:t>
            </a:r>
          </a:p>
        </p:txBody>
      </p:sp>
      <p:sp>
        <p:nvSpPr>
          <p:cNvPr id="39" name="sA3_37"/>
          <p:cNvSpPr txBox="1"/>
          <p:nvPr/>
        </p:nvSpPr>
        <p:spPr>
          <a:xfrm>
            <a:off x="4773168" y="4846320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0" name="sA3_38"/>
          <p:cNvCxnSpPr/>
          <p:nvPr/>
        </p:nvCxnSpPr>
        <p:spPr>
          <a:xfrm>
            <a:off x="822960" y="5010912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sA3_39"/>
          <p:cNvSpPr txBox="1"/>
          <p:nvPr/>
        </p:nvSpPr>
        <p:spPr>
          <a:xfrm>
            <a:off x="822960" y="5102352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3</a:t>
            </a:r>
          </a:p>
        </p:txBody>
      </p:sp>
      <p:sp>
        <p:nvSpPr>
          <p:cNvPr id="42" name="sA3_40"/>
          <p:cNvSpPr txBox="1"/>
          <p:nvPr/>
        </p:nvSpPr>
        <p:spPr>
          <a:xfrm>
            <a:off x="3602735" y="5102352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−8,90 pp</a:t>
            </a:r>
          </a:p>
        </p:txBody>
      </p:sp>
      <p:sp>
        <p:nvSpPr>
          <p:cNvPr id="43" name="sA3_41"/>
          <p:cNvSpPr txBox="1"/>
          <p:nvPr/>
        </p:nvSpPr>
        <p:spPr>
          <a:xfrm>
            <a:off x="4773168" y="5102352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4" name="sA3_42"/>
          <p:cNvCxnSpPr/>
          <p:nvPr/>
        </p:nvCxnSpPr>
        <p:spPr>
          <a:xfrm>
            <a:off x="822960" y="5266944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sA3_43"/>
          <p:cNvSpPr txBox="1"/>
          <p:nvPr/>
        </p:nvSpPr>
        <p:spPr>
          <a:xfrm>
            <a:off x="822960" y="5358384"/>
            <a:ext cx="277977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9BAEC0"/>
                </a:solidFill>
                <a:latin typeface="Segoe UI"/>
              </a:rPr>
              <a:t>teto 5</a:t>
            </a:r>
          </a:p>
        </p:txBody>
      </p:sp>
      <p:sp>
        <p:nvSpPr>
          <p:cNvPr id="46" name="sA3_44"/>
          <p:cNvSpPr txBox="1"/>
          <p:nvPr/>
        </p:nvSpPr>
        <p:spPr>
          <a:xfrm>
            <a:off x="3602735" y="5358384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+3,82 pp</a:t>
            </a:r>
          </a:p>
        </p:txBody>
      </p:sp>
      <p:sp>
        <p:nvSpPr>
          <p:cNvPr id="47" name="sA3_45"/>
          <p:cNvSpPr txBox="1"/>
          <p:nvPr/>
        </p:nvSpPr>
        <p:spPr>
          <a:xfrm>
            <a:off x="4773168" y="5358384"/>
            <a:ext cx="117043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8" name="sA3_46"/>
          <p:cNvCxnSpPr/>
          <p:nvPr/>
        </p:nvCxnSpPr>
        <p:spPr>
          <a:xfrm>
            <a:off x="822960" y="5522976"/>
            <a:ext cx="512064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sA3_47"/>
          <p:cNvSpPr txBox="1"/>
          <p:nvPr/>
        </p:nvSpPr>
        <p:spPr>
          <a:xfrm>
            <a:off x="822960" y="557784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O efeito piora até o teto 3 e só depois vira. Um padrão assim não se lê como 'a camada perde' nem como 'ela só disputa espaço' — e escolher o limite que fica bom seria exatamente o overfit que a gente diz evitar.</a:t>
            </a:r>
          </a:p>
        </p:txBody>
      </p:sp>
      <p:sp>
        <p:nvSpPr>
          <p:cNvPr id="50" name="sA3_48"/>
          <p:cNvSpPr/>
          <p:nvPr/>
        </p:nvSpPr>
        <p:spPr>
          <a:xfrm>
            <a:off x="6245352" y="407822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sA3_49"/>
          <p:cNvSpPr txBox="1"/>
          <p:nvPr/>
        </p:nvSpPr>
        <p:spPr>
          <a:xfrm>
            <a:off x="6464808" y="404164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Ela entrou por mecanismo, não por lucro. </a:t>
            </a:r>
            <a:r>
              <a:rPr sz="1150" b="0">
                <a:solidFill>
                  <a:srgbClr val="93A9BC"/>
                </a:solidFill>
                <a:latin typeface="Segoe UI"/>
              </a:rPr>
              <a:t>Lê o movimento da probabilidade, não o nível; nenhum parâmetro foi escolhido olhando resultado. Prejuízo não reprova — e o custo dessa decisão está medido acima.</a:t>
            </a:r>
          </a:p>
        </p:txBody>
      </p:sp>
      <p:sp>
        <p:nvSpPr>
          <p:cNvPr id="52" name="sA3_50"/>
          <p:cNvSpPr/>
          <p:nvPr/>
        </p:nvSpPr>
        <p:spPr>
          <a:xfrm>
            <a:off x="6245352" y="526694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sA3_51"/>
          <p:cNvSpPr txBox="1"/>
          <p:nvPr/>
        </p:nvSpPr>
        <p:spPr>
          <a:xfrm>
            <a:off x="6464808" y="523036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único teste fora da amostra do projeto. </a:t>
            </a:r>
            <a:r>
              <a:rPr sz="1150" b="0">
                <a:solidFill>
                  <a:srgbClr val="93A9BC"/>
                </a:solidFill>
                <a:latin typeface="Segoe UI"/>
              </a:rPr>
              <a:t>A aposta da Câmara repete o comportamento em um mercado parecido, que não foi usado para construí-la. É o teste mais forte que temos, e é o único.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4_0"/>
          <p:cNvSpPr txBox="1"/>
          <p:nvPr/>
        </p:nvSpPr>
        <p:spPr>
          <a:xfrm>
            <a:off x="822960" y="292608"/>
            <a:ext cx="8229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 Apêndice · robustez, concentração e cauda</a:t>
            </a:r>
          </a:p>
        </p:txBody>
      </p:sp>
      <p:sp>
        <p:nvSpPr>
          <p:cNvPr id="3" name="sA4_1"/>
          <p:cNvSpPr txBox="1"/>
          <p:nvPr/>
        </p:nvSpPr>
        <p:spPr>
          <a:xfrm>
            <a:off x="8988552" y="347472"/>
            <a:ext cx="2377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8299"/>
                </a:solidFill>
                <a:latin typeface="Segoe UI"/>
              </a:rPr>
              <a:t>A4</a:t>
            </a:r>
          </a:p>
        </p:txBody>
      </p:sp>
      <p:cxnSp>
        <p:nvCxnSpPr>
          <p:cNvPr id="4" name="sA4_2"/>
          <p:cNvCxnSpPr/>
          <p:nvPr/>
        </p:nvCxnSpPr>
        <p:spPr>
          <a:xfrm>
            <a:off x="822960" y="768096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A4_3"/>
          <p:cNvCxnSpPr/>
          <p:nvPr/>
        </p:nvCxnSpPr>
        <p:spPr>
          <a:xfrm>
            <a:off x="822960" y="3931920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A4_4"/>
          <p:cNvCxnSpPr/>
          <p:nvPr/>
        </p:nvCxnSpPr>
        <p:spPr>
          <a:xfrm>
            <a:off x="822960" y="6291072"/>
            <a:ext cx="10543032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A4_5"/>
          <p:cNvSpPr txBox="1"/>
          <p:nvPr/>
        </p:nvSpPr>
        <p:spPr>
          <a:xfrm>
            <a:off x="822960" y="6382512"/>
            <a:ext cx="1054303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scripts/slides_apendice_pptx.py</a:t>
            </a:r>
          </a:p>
        </p:txBody>
      </p:sp>
      <p:sp>
        <p:nvSpPr>
          <p:cNvPr id="8" name="sA4_6"/>
          <p:cNvSpPr txBox="1"/>
          <p:nvPr/>
        </p:nvSpPr>
        <p:spPr>
          <a:xfrm>
            <a:off x="822960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SEM OS TRÊS MAIORES DIAS</a:t>
            </a:r>
          </a:p>
        </p:txBody>
      </p:sp>
      <p:sp>
        <p:nvSpPr>
          <p:cNvPr id="9" name="sA4_7"/>
          <p:cNvSpPr txBox="1"/>
          <p:nvPr/>
        </p:nvSpPr>
        <p:spPr>
          <a:xfrm>
            <a:off x="822960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APOSTA</a:t>
            </a:r>
          </a:p>
        </p:txBody>
      </p:sp>
      <p:sp>
        <p:nvSpPr>
          <p:cNvPr id="10" name="sA4_8"/>
          <p:cNvSpPr txBox="1"/>
          <p:nvPr/>
        </p:nvSpPr>
        <p:spPr>
          <a:xfrm>
            <a:off x="233172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SOMA</a:t>
            </a:r>
          </a:p>
        </p:txBody>
      </p:sp>
      <p:sp>
        <p:nvSpPr>
          <p:cNvPr id="11" name="sA4_9"/>
          <p:cNvSpPr txBox="1"/>
          <p:nvPr/>
        </p:nvSpPr>
        <p:spPr>
          <a:xfrm>
            <a:off x="320040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SEM 3</a:t>
            </a:r>
          </a:p>
        </p:txBody>
      </p:sp>
      <p:cxnSp>
        <p:nvCxnSpPr>
          <p:cNvPr id="12" name="sA4_10"/>
          <p:cNvCxnSpPr/>
          <p:nvPr/>
        </p:nvCxnSpPr>
        <p:spPr>
          <a:xfrm>
            <a:off x="822960" y="1591056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sA4_11"/>
          <p:cNvSpPr txBox="1"/>
          <p:nvPr/>
        </p:nvSpPr>
        <p:spPr>
          <a:xfrm>
            <a:off x="822960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Incerteza</a:t>
            </a:r>
          </a:p>
        </p:txBody>
      </p:sp>
      <p:sp>
        <p:nvSpPr>
          <p:cNvPr id="14" name="sA4_12"/>
          <p:cNvSpPr txBox="1"/>
          <p:nvPr/>
        </p:nvSpPr>
        <p:spPr>
          <a:xfrm>
            <a:off x="233172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+3,9 pp</a:t>
            </a:r>
          </a:p>
        </p:txBody>
      </p:sp>
      <p:sp>
        <p:nvSpPr>
          <p:cNvPr id="15" name="sA4_13"/>
          <p:cNvSpPr txBox="1"/>
          <p:nvPr/>
        </p:nvSpPr>
        <p:spPr>
          <a:xfrm>
            <a:off x="320040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−0,5 pp</a:t>
            </a:r>
          </a:p>
        </p:txBody>
      </p:sp>
      <p:cxnSp>
        <p:nvCxnSpPr>
          <p:cNvPr id="16" name="sA4_14"/>
          <p:cNvCxnSpPr/>
          <p:nvPr/>
        </p:nvCxnSpPr>
        <p:spPr>
          <a:xfrm>
            <a:off x="822960" y="1847088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A4_15"/>
          <p:cNvSpPr txBox="1"/>
          <p:nvPr/>
        </p:nvSpPr>
        <p:spPr>
          <a:xfrm>
            <a:off x="822960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Trajetória</a:t>
            </a:r>
          </a:p>
        </p:txBody>
      </p:sp>
      <p:sp>
        <p:nvSpPr>
          <p:cNvPr id="18" name="sA4_16"/>
          <p:cNvSpPr txBox="1"/>
          <p:nvPr/>
        </p:nvSpPr>
        <p:spPr>
          <a:xfrm>
            <a:off x="233172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−1,4 pp</a:t>
            </a:r>
          </a:p>
        </p:txBody>
      </p:sp>
      <p:sp>
        <p:nvSpPr>
          <p:cNvPr id="19" name="sA4_17"/>
          <p:cNvSpPr txBox="1"/>
          <p:nvPr/>
        </p:nvSpPr>
        <p:spPr>
          <a:xfrm>
            <a:off x="320040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+2,9 pp</a:t>
            </a:r>
          </a:p>
        </p:txBody>
      </p:sp>
      <p:cxnSp>
        <p:nvCxnSpPr>
          <p:cNvPr id="20" name="sA4_18"/>
          <p:cNvCxnSpPr/>
          <p:nvPr/>
        </p:nvCxnSpPr>
        <p:spPr>
          <a:xfrm>
            <a:off x="822960" y="2103120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A4_19"/>
          <p:cNvSpPr txBox="1"/>
          <p:nvPr/>
        </p:nvSpPr>
        <p:spPr>
          <a:xfrm>
            <a:off x="822960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As duas juntas</a:t>
            </a:r>
          </a:p>
        </p:txBody>
      </p:sp>
      <p:sp>
        <p:nvSpPr>
          <p:cNvPr id="22" name="sA4_20"/>
          <p:cNvSpPr txBox="1"/>
          <p:nvPr/>
        </p:nvSpPr>
        <p:spPr>
          <a:xfrm>
            <a:off x="233172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+2,2 pp</a:t>
            </a:r>
          </a:p>
        </p:txBody>
      </p:sp>
      <p:sp>
        <p:nvSpPr>
          <p:cNvPr id="23" name="sA4_21"/>
          <p:cNvSpPr txBox="1"/>
          <p:nvPr/>
        </p:nvSpPr>
        <p:spPr>
          <a:xfrm>
            <a:off x="320040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8299"/>
                </a:solidFill>
                <a:latin typeface="Segoe UI"/>
              </a:rPr>
              <a:t>+2,5 pp</a:t>
            </a:r>
          </a:p>
        </p:txBody>
      </p:sp>
      <p:cxnSp>
        <p:nvCxnSpPr>
          <p:cNvPr id="24" name="sA4_22"/>
          <p:cNvCxnSpPr/>
          <p:nvPr/>
        </p:nvCxnSpPr>
        <p:spPr>
          <a:xfrm>
            <a:off x="822960" y="2359152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sA4_23"/>
          <p:cNvSpPr txBox="1"/>
          <p:nvPr/>
        </p:nvSpPr>
        <p:spPr>
          <a:xfrm>
            <a:off x="822960" y="2578608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 aposta de incerteza vira negativa sem os três maiores dias — e isso foi escrito ANTES de ligá-la. O acerto de direção das duas é de 48% e 49%: cara ou coroa.</a:t>
            </a:r>
          </a:p>
        </p:txBody>
      </p:sp>
      <p:sp>
        <p:nvSpPr>
          <p:cNvPr id="26" name="sA4_24"/>
          <p:cNvSpPr txBox="1"/>
          <p:nvPr/>
        </p:nvSpPr>
        <p:spPr>
          <a:xfrm>
            <a:off x="4434840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SE CORRIGIRMOS O VIÉS DE AZARÃO</a:t>
            </a:r>
          </a:p>
        </p:txBody>
      </p:sp>
      <p:sp>
        <p:nvSpPr>
          <p:cNvPr id="27" name="sA4_25"/>
          <p:cNvSpPr txBox="1"/>
          <p:nvPr/>
        </p:nvSpPr>
        <p:spPr>
          <a:xfrm>
            <a:off x="4434840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CORREÇÃO</a:t>
            </a:r>
          </a:p>
        </p:txBody>
      </p:sp>
      <p:sp>
        <p:nvSpPr>
          <p:cNvPr id="28" name="sA4_26"/>
          <p:cNvSpPr txBox="1"/>
          <p:nvPr/>
        </p:nvSpPr>
        <p:spPr>
          <a:xfrm>
            <a:off x="594360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VS ÍNDICE</a:t>
            </a:r>
          </a:p>
        </p:txBody>
      </p:sp>
      <p:sp>
        <p:nvSpPr>
          <p:cNvPr id="29" name="sA4_27"/>
          <p:cNvSpPr txBox="1"/>
          <p:nvPr/>
        </p:nvSpPr>
        <p:spPr>
          <a:xfrm>
            <a:off x="6812280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0" name="sA4_28"/>
          <p:cNvCxnSpPr/>
          <p:nvPr/>
        </p:nvCxnSpPr>
        <p:spPr>
          <a:xfrm>
            <a:off x="4434840" y="1591056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A4_29"/>
          <p:cNvSpPr txBox="1"/>
          <p:nvPr/>
        </p:nvSpPr>
        <p:spPr>
          <a:xfrm>
            <a:off x="4434840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1,0</a:t>
            </a:r>
          </a:p>
        </p:txBody>
      </p:sp>
      <p:sp>
        <p:nvSpPr>
          <p:cNvPr id="32" name="sA4_30"/>
          <p:cNvSpPr txBox="1"/>
          <p:nvPr/>
        </p:nvSpPr>
        <p:spPr>
          <a:xfrm>
            <a:off x="594360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+3,0 pp</a:t>
            </a:r>
          </a:p>
        </p:txBody>
      </p:sp>
      <p:sp>
        <p:nvSpPr>
          <p:cNvPr id="33" name="sA4_31"/>
          <p:cNvSpPr txBox="1"/>
          <p:nvPr/>
        </p:nvSpPr>
        <p:spPr>
          <a:xfrm>
            <a:off x="6812280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4" name="sA4_32"/>
          <p:cNvCxnSpPr/>
          <p:nvPr/>
        </p:nvCxnSpPr>
        <p:spPr>
          <a:xfrm>
            <a:off x="4434840" y="1847088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A4_33"/>
          <p:cNvSpPr txBox="1"/>
          <p:nvPr/>
        </p:nvSpPr>
        <p:spPr>
          <a:xfrm>
            <a:off x="4434840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1,1</a:t>
            </a:r>
          </a:p>
        </p:txBody>
      </p:sp>
      <p:sp>
        <p:nvSpPr>
          <p:cNvPr id="36" name="sA4_34"/>
          <p:cNvSpPr txBox="1"/>
          <p:nvPr/>
        </p:nvSpPr>
        <p:spPr>
          <a:xfrm>
            <a:off x="594360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+3,6 pp</a:t>
            </a:r>
          </a:p>
        </p:txBody>
      </p:sp>
      <p:sp>
        <p:nvSpPr>
          <p:cNvPr id="37" name="sA4_35"/>
          <p:cNvSpPr txBox="1"/>
          <p:nvPr/>
        </p:nvSpPr>
        <p:spPr>
          <a:xfrm>
            <a:off x="6812280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38" name="sA4_36"/>
          <p:cNvCxnSpPr/>
          <p:nvPr/>
        </p:nvCxnSpPr>
        <p:spPr>
          <a:xfrm>
            <a:off x="4434840" y="2103120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sA4_37"/>
          <p:cNvSpPr txBox="1"/>
          <p:nvPr/>
        </p:nvSpPr>
        <p:spPr>
          <a:xfrm>
            <a:off x="4434840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γ = 1,25</a:t>
            </a:r>
          </a:p>
        </p:txBody>
      </p:sp>
      <p:sp>
        <p:nvSpPr>
          <p:cNvPr id="40" name="sA4_38"/>
          <p:cNvSpPr txBox="1"/>
          <p:nvPr/>
        </p:nvSpPr>
        <p:spPr>
          <a:xfrm>
            <a:off x="594360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+3,9 pp</a:t>
            </a:r>
          </a:p>
        </p:txBody>
      </p:sp>
      <p:sp>
        <p:nvSpPr>
          <p:cNvPr id="41" name="sA4_39"/>
          <p:cNvSpPr txBox="1"/>
          <p:nvPr/>
        </p:nvSpPr>
        <p:spPr>
          <a:xfrm>
            <a:off x="6812280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2" name="sA4_40"/>
          <p:cNvCxnSpPr/>
          <p:nvPr/>
        </p:nvCxnSpPr>
        <p:spPr>
          <a:xfrm>
            <a:off x="4434840" y="2359152"/>
            <a:ext cx="3246119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sA4_41"/>
          <p:cNvSpPr txBox="1"/>
          <p:nvPr/>
        </p:nvSpPr>
        <p:spPr>
          <a:xfrm>
            <a:off x="4434840" y="2578608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Apostadores pagam caro demais no azarão. Não corrigimos esse viés no resultado principal — e corrigir só melhoraria o número. A conclusão não depende disso.</a:t>
            </a:r>
          </a:p>
        </p:txBody>
      </p:sp>
      <p:sp>
        <p:nvSpPr>
          <p:cNvPr id="44" name="sA4_42"/>
          <p:cNvSpPr txBox="1"/>
          <p:nvPr/>
        </p:nvSpPr>
        <p:spPr>
          <a:xfrm>
            <a:off x="8119872" y="1042415"/>
            <a:ext cx="32461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CAPTURA DE ALTA E DE QUEDA</a:t>
            </a:r>
          </a:p>
        </p:txBody>
      </p:sp>
      <p:sp>
        <p:nvSpPr>
          <p:cNvPr id="45" name="sA4_43"/>
          <p:cNvSpPr txBox="1"/>
          <p:nvPr/>
        </p:nvSpPr>
        <p:spPr>
          <a:xfrm>
            <a:off x="8119872" y="138988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NO DIA EM QUE</a:t>
            </a:r>
          </a:p>
        </p:txBody>
      </p:sp>
      <p:sp>
        <p:nvSpPr>
          <p:cNvPr id="46" name="sA4_44"/>
          <p:cNvSpPr txBox="1"/>
          <p:nvPr/>
        </p:nvSpPr>
        <p:spPr>
          <a:xfrm>
            <a:off x="9628632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spc="100">
                <a:solidFill>
                  <a:srgbClr val="6B8299"/>
                </a:solidFill>
                <a:latin typeface="Segoe UI"/>
              </a:rPr>
              <a:t>CAPTURA</a:t>
            </a:r>
          </a:p>
        </p:txBody>
      </p:sp>
      <p:sp>
        <p:nvSpPr>
          <p:cNvPr id="47" name="sA4_45"/>
          <p:cNvSpPr txBox="1"/>
          <p:nvPr/>
        </p:nvSpPr>
        <p:spPr>
          <a:xfrm>
            <a:off x="10497312" y="1389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48" name="sA4_46"/>
          <p:cNvCxnSpPr/>
          <p:nvPr/>
        </p:nvCxnSpPr>
        <p:spPr>
          <a:xfrm>
            <a:off x="8119872" y="1591056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sA4_47"/>
          <p:cNvSpPr txBox="1"/>
          <p:nvPr/>
        </p:nvSpPr>
        <p:spPr>
          <a:xfrm>
            <a:off x="8119872" y="1682496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dias de alta</a:t>
            </a:r>
          </a:p>
        </p:txBody>
      </p:sp>
      <p:sp>
        <p:nvSpPr>
          <p:cNvPr id="50" name="sA4_48"/>
          <p:cNvSpPr txBox="1"/>
          <p:nvPr/>
        </p:nvSpPr>
        <p:spPr>
          <a:xfrm>
            <a:off x="9628632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95%</a:t>
            </a:r>
          </a:p>
        </p:txBody>
      </p:sp>
      <p:sp>
        <p:nvSpPr>
          <p:cNvPr id="51" name="sA4_49"/>
          <p:cNvSpPr txBox="1"/>
          <p:nvPr/>
        </p:nvSpPr>
        <p:spPr>
          <a:xfrm>
            <a:off x="10497312" y="1682496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52" name="sA4_50"/>
          <p:cNvCxnSpPr/>
          <p:nvPr/>
        </p:nvCxnSpPr>
        <p:spPr>
          <a:xfrm>
            <a:off x="8119872" y="1847088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A4_51"/>
          <p:cNvSpPr txBox="1"/>
          <p:nvPr/>
        </p:nvSpPr>
        <p:spPr>
          <a:xfrm>
            <a:off x="8119872" y="19385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dias de baixa</a:t>
            </a:r>
          </a:p>
        </p:txBody>
      </p:sp>
      <p:sp>
        <p:nvSpPr>
          <p:cNvPr id="54" name="sA4_52"/>
          <p:cNvSpPr txBox="1"/>
          <p:nvPr/>
        </p:nvSpPr>
        <p:spPr>
          <a:xfrm>
            <a:off x="9628632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91%</a:t>
            </a:r>
          </a:p>
        </p:txBody>
      </p:sp>
      <p:sp>
        <p:nvSpPr>
          <p:cNvPr id="55" name="sA4_53"/>
          <p:cNvSpPr txBox="1"/>
          <p:nvPr/>
        </p:nvSpPr>
        <p:spPr>
          <a:xfrm>
            <a:off x="10497312" y="193852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56" name="sA4_54"/>
          <p:cNvCxnSpPr/>
          <p:nvPr/>
        </p:nvCxnSpPr>
        <p:spPr>
          <a:xfrm>
            <a:off x="8119872" y="2103120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sA4_55"/>
          <p:cNvSpPr txBox="1"/>
          <p:nvPr/>
        </p:nvSpPr>
        <p:spPr>
          <a:xfrm>
            <a:off x="8119872" y="2194560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5% piores dias</a:t>
            </a:r>
          </a:p>
        </p:txBody>
      </p:sp>
      <p:sp>
        <p:nvSpPr>
          <p:cNvPr id="58" name="sA4_56"/>
          <p:cNvSpPr txBox="1"/>
          <p:nvPr/>
        </p:nvSpPr>
        <p:spPr>
          <a:xfrm>
            <a:off x="9628632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98%</a:t>
            </a:r>
          </a:p>
        </p:txBody>
      </p:sp>
      <p:sp>
        <p:nvSpPr>
          <p:cNvPr id="59" name="sA4_57"/>
          <p:cNvSpPr txBox="1"/>
          <p:nvPr/>
        </p:nvSpPr>
        <p:spPr>
          <a:xfrm>
            <a:off x="10497312" y="219456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60" name="sA4_58"/>
          <p:cNvCxnSpPr/>
          <p:nvPr/>
        </p:nvCxnSpPr>
        <p:spPr>
          <a:xfrm>
            <a:off x="8119872" y="2359152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sA4_59"/>
          <p:cNvSpPr txBox="1"/>
          <p:nvPr/>
        </p:nvSpPr>
        <p:spPr>
          <a:xfrm>
            <a:off x="8119872" y="2450592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BAEC0"/>
                </a:solidFill>
                <a:latin typeface="Segoe UI"/>
              </a:rPr>
              <a:t>5% melhores dias</a:t>
            </a:r>
          </a:p>
        </p:txBody>
      </p:sp>
      <p:sp>
        <p:nvSpPr>
          <p:cNvPr id="62" name="sA4_60"/>
          <p:cNvSpPr txBox="1"/>
          <p:nvPr/>
        </p:nvSpPr>
        <p:spPr>
          <a:xfrm>
            <a:off x="9628632" y="245059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E8EDF2"/>
                </a:solidFill>
                <a:latin typeface="Segoe UI"/>
              </a:rPr>
              <a:t>90%</a:t>
            </a:r>
          </a:p>
        </p:txBody>
      </p:sp>
      <p:sp>
        <p:nvSpPr>
          <p:cNvPr id="63" name="sA4_61"/>
          <p:cNvSpPr txBox="1"/>
          <p:nvPr/>
        </p:nvSpPr>
        <p:spPr>
          <a:xfrm>
            <a:off x="10497312" y="245059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cxnSp>
        <p:nvCxnSpPr>
          <p:cNvPr id="64" name="sA4_62"/>
          <p:cNvCxnSpPr/>
          <p:nvPr/>
        </p:nvCxnSpPr>
        <p:spPr>
          <a:xfrm>
            <a:off x="8119872" y="2615184"/>
            <a:ext cx="3246120" cy="0"/>
          </a:xfrm>
          <a:prstGeom prst="line">
            <a:avLst/>
          </a:prstGeom>
          <a:ln w="9525">
            <a:solidFill>
              <a:srgbClr val="2437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sA4_63"/>
          <p:cNvSpPr txBox="1"/>
          <p:nvPr/>
        </p:nvSpPr>
        <p:spPr>
          <a:xfrm>
            <a:off x="8119872" y="2834640"/>
            <a:ext cx="3246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3A9BC"/>
                </a:solidFill>
                <a:latin typeface="Segoe UI"/>
              </a:rPr>
              <a:t>No dia comum a carteira cai um pouco menos que o índice. Nos dias extremos a vantagem some: caímos quase igual e subimos menos.</a:t>
            </a:r>
          </a:p>
        </p:txBody>
      </p:sp>
      <p:sp>
        <p:nvSpPr>
          <p:cNvPr id="66" name="sA4_64"/>
          <p:cNvSpPr txBox="1"/>
          <p:nvPr/>
        </p:nvSpPr>
        <p:spPr>
          <a:xfrm>
            <a:off x="822960" y="4041648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100">
                <a:solidFill>
                  <a:srgbClr val="F5A623"/>
                </a:solidFill>
                <a:latin typeface="Segoe UI"/>
              </a:rPr>
              <a:t>E O GANHO DE TRÊS PONTOS — É SORTE?</a:t>
            </a:r>
          </a:p>
        </p:txBody>
      </p:sp>
      <p:sp>
        <p:nvSpPr>
          <p:cNvPr id="67" name="sA4_65"/>
          <p:cNvSpPr txBox="1"/>
          <p:nvPr/>
        </p:nvSpPr>
        <p:spPr>
          <a:xfrm>
            <a:off x="822960" y="4352544"/>
            <a:ext cx="51206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Pode ser, e não temos como provar o contrário.</a:t>
            </a:r>
            <a:r>
              <a:rPr sz="1050" b="0">
                <a:solidFill>
                  <a:srgbClr val="93A9BC"/>
                </a:solidFill>
                <a:latin typeface="Segoe UI"/>
              </a:rPr>
              <a:t> O teste dá 0,62 e o mínimo para se afirmar algo é 2. Com um ano e meio de dados, chegar lá é matematicamente impossível.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Não é um mês sortudo.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A carteira bateu o índice em 11 dos 19 meses do período.</a:t>
            </a:r>
          </a:p>
          <a:p>
            <a:pPr algn="l">
              <a:lnSpc>
                <a:spcPct val="126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1">
                <a:solidFill>
                  <a:srgbClr val="E8EDF2"/>
                </a:solidFill>
                <a:latin typeface="Segoe UI"/>
              </a:rPr>
              <a:t>O que defendemos é o método.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Cada peça foi escolhida por um motivo escrito antes de medir — e nenhuma aposta foi cortada por dar prejuízo.</a:t>
            </a:r>
          </a:p>
        </p:txBody>
      </p:sp>
      <p:sp>
        <p:nvSpPr>
          <p:cNvPr id="68" name="sA4_66"/>
          <p:cNvSpPr/>
          <p:nvPr/>
        </p:nvSpPr>
        <p:spPr>
          <a:xfrm>
            <a:off x="6245352" y="407822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sA4_67"/>
          <p:cNvSpPr txBox="1"/>
          <p:nvPr/>
        </p:nvSpPr>
        <p:spPr>
          <a:xfrm>
            <a:off x="6464808" y="404164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O custo não decide o resultado. </a:t>
            </a:r>
            <a:r>
              <a:rPr sz="1150" b="0">
                <a:solidFill>
                  <a:srgbClr val="93A9BC"/>
                </a:solidFill>
                <a:latin typeface="Segoe UI"/>
              </a:rPr>
              <a:t>Supomos 2 bps por lado. O custo teria de ser 11 vezes maior para zerar o ganho — e testamos negociar menos, sem melhora.</a:t>
            </a:r>
          </a:p>
        </p:txBody>
      </p:sp>
      <p:sp>
        <p:nvSpPr>
          <p:cNvPr id="70" name="sA4_68"/>
          <p:cNvSpPr/>
          <p:nvPr/>
        </p:nvSpPr>
        <p:spPr>
          <a:xfrm>
            <a:off x="6245352" y="5266944"/>
            <a:ext cx="45720" cy="932688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sA4_69"/>
          <p:cNvSpPr txBox="1"/>
          <p:nvPr/>
        </p:nvSpPr>
        <p:spPr>
          <a:xfrm>
            <a:off x="6464808" y="5230368"/>
            <a:ext cx="4901183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EDF2"/>
                </a:solidFill>
                <a:latin typeface="Segoe UI"/>
              </a:rPr>
              <a:t>Alfa e beta, para quem pedir. </a:t>
            </a:r>
            <a:r>
              <a:rPr sz="1150" b="0">
                <a:solidFill>
                  <a:srgbClr val="93A9BC"/>
                </a:solidFill>
                <a:latin typeface="Segoe UI"/>
              </a:rPr>
              <a:t>Beta de 0,95 e alfa de +2,57% ao ano, pela regressão diária contra o S&amp;P 500, com taxa livre de risco zero para os dois lados.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100"/>
            <a:ext cx="8229600" cy="311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80"/>
              </a:lnSpc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Apêndice · de onde sai o 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89060" y="347980"/>
            <a:ext cx="2377440" cy="21971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1100" b="0">
                <a:solidFill>
                  <a:srgbClr val="6B8299"/>
                </a:solidFill>
                <a:latin typeface="Segoe UI"/>
              </a:rPr>
              <a:t>A5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76835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29158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6383020"/>
            <a:ext cx="1054354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semifinal/fonte/montar_apendices.py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669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1 · A MEDIÇÃO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669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OLS(r, surpresa)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669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Para cada ETF, uma regressão do retorno dos dias de anúncio contra a surpresa daquele dia — event-study à la Bernanke-Kuttner. A literatura confere a ordem de grandeza; não é a fonte do número.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015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 · SEM OLHAR PARA A FRENTE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15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surpresa − média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015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A média é expansiva: em cada dia entra só o que já havia acontecido até ali. Nenhum β é estimado com dado que ainda não existia.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63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3 · A UNIDADE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63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fração / bp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63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−0,0008 é −0,08% por ponto-base. É a unidade em que a literatura publica os dela, e é assim que se confere se o nosso é plausível.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511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4 · O QUE O P GARANTE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11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P[SPY]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5110" y="184531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Σ|P| =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35110" y="232156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Subtrair o β do índice zera o peso do SPY: a view não aposta na direção da bolsa. E a escala é a mesma em toda view — quem dimensiona a posição é o BL.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041140"/>
            <a:ext cx="512064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AS TRÊS EXCEÇÕES, DECLARADAS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35229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Inflação (2.2): sem regressão.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O β é a duration do breakeven de 10 anos e o par é fixo, +1 TIP contra −1 TLT. Exceção mecânica, escrita na espec antes de medir.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02920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Taxa no fim do ano (B): β próprio.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Reusar o β do Fed punha duas linhas idênticas no P, e duas views viravam uma. Medido em 37 reuniões: trocar o vértice da regressão gira o P em 95,6°.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70611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Dúvida na véspera (15b): direcional.</a:t>
            </a:r>
            <a:r>
              <a:rPr sz="1050" b="0">
                <a:solidFill>
                  <a:srgbClr val="93A9BC"/>
                </a:solidFill>
                <a:latin typeface="Segoe UI"/>
              </a:rPr>
              <a:t>  O β é a reação à incerteza e o P é 2 no índice — a única view que aposta na direção do mercado.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860" y="435229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64300" y="435229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Onde o β entra na conta.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Duas vezes: no P, que decide quem compra e quem vende, e no Q, que dá o tamanho do retorno esperado.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5860" y="525780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64300" y="525780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Por que β medido, e não declarado.</a:t>
            </a:r>
            <a:r>
              <a:rPr sz="1050" b="0">
                <a:solidFill>
                  <a:srgbClr val="93A9BC"/>
                </a:solidFill>
                <a:latin typeface="Segoe UI"/>
              </a:rPr>
              <a:t>  É a mesma disciplina do Ω, agora do lado do retorno: opinião trocada por medição.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92100"/>
            <a:ext cx="8229600" cy="3111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80"/>
              </a:lnSpc>
            </a:pPr>
            <a:r>
              <a:rPr sz="1500" b="1" spc="80">
                <a:solidFill>
                  <a:srgbClr val="F5A623"/>
                </a:solidFill>
                <a:latin typeface="Segoe UI"/>
              </a:rPr>
              <a:t>KAIRÓS</a:t>
            </a:r>
            <a:r>
              <a:rPr sz="1500" b="0" spc="80">
                <a:solidFill>
                  <a:srgbClr val="E8EDF2"/>
                </a:solidFill>
                <a:latin typeface="Segoe UI"/>
              </a:rPr>
              <a:t>  Apêndice · de onde sai a âncora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989060" y="347980"/>
            <a:ext cx="2377440" cy="21971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r>
              <a:rPr sz="1100" b="0">
                <a:solidFill>
                  <a:srgbClr val="6B8299"/>
                </a:solidFill>
                <a:latin typeface="Segoe UI"/>
              </a:rPr>
              <a:t>A6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76835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6291580"/>
            <a:ext cx="10543540" cy="9525"/>
          </a:xfrm>
          <a:prstGeom prst="rect">
            <a:avLst/>
          </a:prstGeom>
          <a:solidFill>
            <a:srgbClr val="243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6383020"/>
            <a:ext cx="10543540" cy="18288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0">
                <a:solidFill>
                  <a:srgbClr val="6B8299"/>
                </a:solidFill>
                <a:latin typeface="Segoe UI"/>
              </a:rPr>
              <a:t>Apêndice — fora dos 6 minutos, mostrado só se perguntarem.   </a:t>
            </a:r>
            <a:r>
              <a:rPr sz="850" b="0">
                <a:solidFill>
                  <a:srgbClr val="9BAEC0"/>
                </a:solidFill>
                <a:latin typeface="Segoe UI"/>
              </a:rPr>
              <a:t>semifinal/fonte/montar_apendices.py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669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2.3 · DECISÃO DO FED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669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DTB3 − DFF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669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 Polymarket diz quanto o Fed corta na reunião, em pontos-base. O que já estava no preço sai do papel de 3 meses contra a taxa efetiva.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4015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2.2 · INFLAÇÃO DO MÊS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015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breakeven 10a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015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 CPI do mês, anualizado antes de comparar, contra o breakeven de 10 anos do FRED (T10YIE).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763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B · TAXA NO FIM DO 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63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DGS1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63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Onde a taxa termina o ano, contra o Treasury de 1 ano — o vértice da própria pergunta, e não o de 3 meses da view do Fed.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15400" y="969010"/>
            <a:ext cx="2451100" cy="2725420"/>
          </a:xfrm>
          <a:prstGeom prst="roundRect">
            <a:avLst>
              <a:gd name="adj" fmla="val 11000"/>
            </a:avLst>
          </a:prstGeom>
          <a:gradFill rotWithShape="1">
            <a:gsLst>
              <a:gs pos="0">
                <a:srgbClr val="1B2D40"/>
              </a:gs>
              <a:gs pos="100000">
                <a:srgbClr val="0C1824"/>
              </a:gs>
            </a:gsLst>
            <a:lin ang="16200000" scaled="0"/>
          </a:gradFill>
          <a:ln w="12700">
            <a:solidFill>
              <a:srgbClr val="233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35110" y="1188720"/>
            <a:ext cx="201168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850" b="1" spc="100">
                <a:solidFill>
                  <a:srgbClr val="F5A623"/>
                </a:solidFill>
                <a:latin typeface="Segoe UI"/>
              </a:rPr>
              <a:t>15b · DÚVIDA NA VÉSPERA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5110" y="1517650"/>
            <a:ext cx="2011680" cy="3111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100" b="0">
                <a:solidFill>
                  <a:srgbClr val="E8EDF2"/>
                </a:solidFill>
                <a:latin typeface="Consolas"/>
              </a:rPr>
              <a:t>média da família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5110" y="1993900"/>
            <a:ext cx="2011680" cy="127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>
                <a:solidFill>
                  <a:srgbClr val="93A9BC"/>
                </a:solidFill>
                <a:latin typeface="Segoe UI"/>
              </a:rPr>
              <a:t>Aqui não há âncora de preço: nenhum instrumento cota incerteza. A comparação é com a média histórica daquele tipo de anúncio.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041140"/>
            <a:ext cx="512064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A REGRA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5229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A âncora é lida, nunca escolhida.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Cada view mede o mesmo evento em dois lugares: no mercado de apostas e no instrumento que já negocia aquilo. A subtração só é legítima porque os dois lados medem a mesma grandeza — e o segundo lado é sempre um preço de juros ou de inflação, nunca o da bolsa.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21300"/>
            <a:ext cx="512064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vértice tem de bater com a pergunta.</a:t>
            </a:r>
            <a:r>
              <a:rPr sz="1050" b="0">
                <a:solidFill>
                  <a:srgbClr val="93A9BC"/>
                </a:solidFill>
                <a:latin typeface="Segoe UI"/>
              </a:rPr>
              <a:t>  "Nessa reunião" pede papel de 3 meses; "no fim do ano" pede o de 1 ano. Foi por isso que a view B trocou de âncora.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300" y="4041140"/>
            <a:ext cx="4900930" cy="165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/>
            <a:r>
              <a:rPr sz="950" b="1" spc="100">
                <a:solidFill>
                  <a:srgbClr val="F5A623"/>
                </a:solidFill>
                <a:latin typeface="Segoe UI"/>
              </a:rPr>
              <a:t>POR QUE ETF, E NÃO JUROS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5860" y="4352290"/>
            <a:ext cx="45720" cy="660400"/>
          </a:xfrm>
          <a:prstGeom prst="roundRect">
            <a:avLst>
              <a:gd name="adj" fmla="val 50000"/>
            </a:avLst>
          </a:prstGeom>
          <a:solidFill>
            <a:srgbClr val="4FC3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64300" y="435229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universo é o do desafio:</a:t>
            </a:r>
            <a:r>
              <a:rPr sz="1050" b="0">
                <a:solidFill>
                  <a:srgbClr val="93A9BC"/>
                </a:solidFill>
                <a:latin typeface="Segoe UI"/>
              </a:rPr>
              <a:t>  9 ETFs americanos. A surpresa de juros não vira posição em juros — vira posição em ações, pela reação medida.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5860" y="5257800"/>
            <a:ext cx="45720" cy="83820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64300" y="5257800"/>
            <a:ext cx="490093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50" b="1">
                <a:solidFill>
                  <a:srgbClr val="E8EDF2"/>
                </a:solidFill>
                <a:latin typeface="Segoe UI"/>
              </a:rPr>
              <a:t>O ideal seria o futuro de fed funds (ZQ),</a:t>
            </a:r>
            <a:r>
              <a:rPr sz="1050" b="0">
                <a:solidFill>
                  <a:srgbClr val="93A9BC"/>
                </a:solidFill>
                <a:latin typeface="Segoe UI"/>
              </a:rPr>
              <a:t>  que não tem fonte gratuita. O substituto está declarado na espec da view, e a surpresa entra centrada na média.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>
            <a:extLst>
              <a:ext uri="{FF2B5EF4-FFF2-40B4-BE49-F238E27FC236}">
                <a16:creationId xmlns:a16="http://schemas.microsoft.com/office/drawing/2014/main" id="{2A704A66-47E2-4505-D630-B3C6D0C49E26}"/>
              </a:ext>
            </a:extLst>
          </p:cNvPr>
          <p:cNvSpPr txBox="1"/>
          <p:nvPr/>
        </p:nvSpPr>
        <p:spPr>
          <a:xfrm>
            <a:off x="3064020" y="1629561"/>
            <a:ext cx="656642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POLYMARKET VS KALSHI – Analise kalshi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79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6821</Words>
  <Application>Microsoft Office PowerPoint</Application>
  <PresentationFormat>Widescreen</PresentationFormat>
  <Paragraphs>669</Paragraphs>
  <Slides>28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28</vt:i4>
      </vt:variant>
    </vt:vector>
  </HeadingPairs>
  <TitlesOfParts>
    <vt:vector size="39" baseType="lpstr">
      <vt:lpstr>Aptos</vt:lpstr>
      <vt:lpstr>Arial</vt:lpstr>
      <vt:lpstr>Bahnschrift</vt:lpstr>
      <vt:lpstr>Bahnschrift SemiBold</vt:lpstr>
      <vt:lpstr>Bahnschrift SemiBold Condensed</vt:lpstr>
      <vt:lpstr>Bahnschrift SemiLight</vt:lpstr>
      <vt:lpstr>Calibri</vt:lpstr>
      <vt:lpstr>Consolas</vt:lpstr>
      <vt:lpstr>Georgia</vt:lpstr>
      <vt:lpstr>Segoe UI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Felipe da Costa Menusier</cp:lastModifiedBy>
  <cp:revision>3</cp:revision>
  <dcterms:created xsi:type="dcterms:W3CDTF">2013-01-27T09:14:16Z</dcterms:created>
  <dcterms:modified xsi:type="dcterms:W3CDTF">2026-09-18T01:26:40Z</dcterms:modified>
  <cp:category/>
</cp:coreProperties>
</file>