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2026-01-27: E_poly = -0.2 bps · juros (DTB3 − DFF) = -5.0 bps · surpresa bruta +4.8 · líquida -0.2 bps · 1 pregão até a reunião.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2025-09-16: E_poly = -26.9 bps · juros (DTB3 − DFF) = -42.0 bps · surpresa bruta +15.1 · líquida +9.1 bps · 1 pregão até a reunião.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Números da página 5 do relatório (corte de 15/08, 91 sessões dos três LOGs) — Uteis/analises/Metricas_p5.md. VR de Uteis/analises/Premissa_tendencia.md. Peneira: GRUPOS do slide 8 da semi.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03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3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Como funciona o Polymarket</a:t>
            </a:r>
          </a:p>
        </p:txBody>
      </p:sp>
      <p:sp>
        <p:nvSpPr>
          <p:cNvPr id="7" name="s3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03</a:t>
            </a:r>
          </a:p>
        </p:txBody>
      </p:sp>
      <p:cxnSp>
        <p:nvCxnSpPr>
          <p:cNvPr id="8" name="s3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3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contrato paga US$ 1 se o evento acontece. O preço é a probabilidade.</a:t>
            </a:r>
          </a:p>
        </p:txBody>
      </p:sp>
      <p:cxnSp>
        <p:nvCxnSpPr>
          <p:cNvPr id="10" name="s3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3_11"/>
          <p:cNvSpPr/>
          <p:nvPr/>
        </p:nvSpPr>
        <p:spPr>
          <a:xfrm>
            <a:off x="731520" y="1600200"/>
            <a:ext cx="4160520" cy="297180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s3_12"/>
          <p:cNvSpPr txBox="1"/>
          <p:nvPr/>
        </p:nvSpPr>
        <p:spPr>
          <a:xfrm>
            <a:off x="987552" y="1801368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MERCADO REAL  ·  POLYMARKET</a:t>
            </a:r>
          </a:p>
        </p:txBody>
      </p:sp>
      <p:sp>
        <p:nvSpPr>
          <p:cNvPr id="15" name="s3_13"/>
          <p:cNvSpPr txBox="1"/>
          <p:nvPr/>
        </p:nvSpPr>
        <p:spPr>
          <a:xfrm>
            <a:off x="987552" y="20574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5F7FB"/>
                </a:solidFill>
                <a:latin typeface="Bahnschrift SemiBold"/>
              </a:rPr>
              <a:t>Fed decision in September 2025?</a:t>
            </a:r>
          </a:p>
        </p:txBody>
      </p:sp>
      <p:cxnSp>
        <p:nvCxnSpPr>
          <p:cNvPr id="16" name="s3_14"/>
          <p:cNvCxnSpPr/>
          <p:nvPr/>
        </p:nvCxnSpPr>
        <p:spPr>
          <a:xfrm>
            <a:off x="987552" y="2496312"/>
            <a:ext cx="3648455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s3_15"/>
          <p:cNvSpPr txBox="1"/>
          <p:nvPr/>
        </p:nvSpPr>
        <p:spPr>
          <a:xfrm>
            <a:off x="987552" y="2606040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5F7FB"/>
                </a:solidFill>
                <a:latin typeface="Bahnschrift SemiLight"/>
              </a:rPr>
              <a:t>corte de 25 bps</a:t>
            </a:r>
          </a:p>
        </p:txBody>
      </p:sp>
      <p:sp>
        <p:nvSpPr>
          <p:cNvPr id="18" name="s3_16"/>
          <p:cNvSpPr txBox="1"/>
          <p:nvPr/>
        </p:nvSpPr>
        <p:spPr>
          <a:xfrm>
            <a:off x="3931920" y="2606040"/>
            <a:ext cx="70408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B531"/>
                </a:solidFill>
                <a:latin typeface="Consolas"/>
              </a:rPr>
              <a:t>90¢</a:t>
            </a:r>
          </a:p>
        </p:txBody>
      </p:sp>
      <p:sp>
        <p:nvSpPr>
          <p:cNvPr id="19" name="s3_17"/>
          <p:cNvSpPr/>
          <p:nvPr/>
        </p:nvSpPr>
        <p:spPr>
          <a:xfrm>
            <a:off x="987552" y="2880360"/>
            <a:ext cx="3301852" cy="45720"/>
          </a:xfrm>
          <a:prstGeom prst="rect">
            <a:avLst/>
          </a:prstGeom>
          <a:solidFill>
            <a:srgbClr val="FFB531"/>
          </a:solidFill>
          <a:ln>
            <a:noFill/>
          </a:ln>
          <a:effectLst>
            <a:glow rad="40000">
              <a:srgbClr val="FFB531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3_18"/>
          <p:cNvSpPr txBox="1"/>
          <p:nvPr/>
        </p:nvSpPr>
        <p:spPr>
          <a:xfrm>
            <a:off x="987552" y="3026664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AC6DA"/>
                </a:solidFill>
                <a:latin typeface="Bahnschrift SemiLight"/>
              </a:rPr>
              <a:t>corte de 50+ bps</a:t>
            </a:r>
          </a:p>
        </p:txBody>
      </p:sp>
      <p:sp>
        <p:nvSpPr>
          <p:cNvPr id="21" name="s3_19"/>
          <p:cNvSpPr txBox="1"/>
          <p:nvPr/>
        </p:nvSpPr>
        <p:spPr>
          <a:xfrm>
            <a:off x="3931920" y="3026664"/>
            <a:ext cx="70408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395B5"/>
                </a:solidFill>
                <a:latin typeface="Consolas"/>
              </a:rPr>
              <a:t>7¢</a:t>
            </a:r>
          </a:p>
        </p:txBody>
      </p:sp>
      <p:sp>
        <p:nvSpPr>
          <p:cNvPr id="22" name="s3_20"/>
          <p:cNvSpPr/>
          <p:nvPr/>
        </p:nvSpPr>
        <p:spPr>
          <a:xfrm>
            <a:off x="987552" y="3300984"/>
            <a:ext cx="253567" cy="45720"/>
          </a:xfrm>
          <a:prstGeom prst="rect">
            <a:avLst/>
          </a:prstGeom>
          <a:solidFill>
            <a:srgbClr val="839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3_21"/>
          <p:cNvSpPr txBox="1"/>
          <p:nvPr/>
        </p:nvSpPr>
        <p:spPr>
          <a:xfrm>
            <a:off x="987552" y="3447288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AC6DA"/>
                </a:solidFill>
                <a:latin typeface="Bahnschrift SemiLight"/>
              </a:rPr>
              <a:t>sem mudança</a:t>
            </a:r>
          </a:p>
        </p:txBody>
      </p:sp>
      <p:sp>
        <p:nvSpPr>
          <p:cNvPr id="24" name="s3_22"/>
          <p:cNvSpPr txBox="1"/>
          <p:nvPr/>
        </p:nvSpPr>
        <p:spPr>
          <a:xfrm>
            <a:off x="3931920" y="3447288"/>
            <a:ext cx="70408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395B5"/>
                </a:solidFill>
                <a:latin typeface="Consolas"/>
              </a:rPr>
              <a:t>2¢</a:t>
            </a:r>
          </a:p>
        </p:txBody>
      </p:sp>
      <p:sp>
        <p:nvSpPr>
          <p:cNvPr id="25" name="s3_23"/>
          <p:cNvSpPr/>
          <p:nvPr/>
        </p:nvSpPr>
        <p:spPr>
          <a:xfrm>
            <a:off x="987552" y="3721608"/>
            <a:ext cx="89387" cy="45720"/>
          </a:xfrm>
          <a:prstGeom prst="rect">
            <a:avLst/>
          </a:prstGeom>
          <a:solidFill>
            <a:srgbClr val="839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s3_24"/>
          <p:cNvSpPr txBox="1"/>
          <p:nvPr/>
        </p:nvSpPr>
        <p:spPr>
          <a:xfrm>
            <a:off x="987552" y="3867912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AC6DA"/>
                </a:solidFill>
                <a:latin typeface="Bahnschrift SemiLight"/>
              </a:rPr>
              <a:t>alta de 25+ bps</a:t>
            </a:r>
          </a:p>
        </p:txBody>
      </p:sp>
      <p:sp>
        <p:nvSpPr>
          <p:cNvPr id="27" name="s3_25"/>
          <p:cNvSpPr txBox="1"/>
          <p:nvPr/>
        </p:nvSpPr>
        <p:spPr>
          <a:xfrm>
            <a:off x="3931920" y="3867912"/>
            <a:ext cx="70408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395B5"/>
                </a:solidFill>
                <a:latin typeface="Consolas"/>
              </a:rPr>
              <a:t>0¢</a:t>
            </a:r>
          </a:p>
        </p:txBody>
      </p:sp>
      <p:sp>
        <p:nvSpPr>
          <p:cNvPr id="28" name="s3_26"/>
          <p:cNvSpPr/>
          <p:nvPr/>
        </p:nvSpPr>
        <p:spPr>
          <a:xfrm>
            <a:off x="987552" y="4142232"/>
            <a:ext cx="27432" cy="45720"/>
          </a:xfrm>
          <a:prstGeom prst="rect">
            <a:avLst/>
          </a:prstGeom>
          <a:solidFill>
            <a:srgbClr val="839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s3_27"/>
          <p:cNvSpPr txBox="1"/>
          <p:nvPr/>
        </p:nvSpPr>
        <p:spPr>
          <a:xfrm>
            <a:off x="987552" y="4187952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US$ 221 mi negociados  ·  leitura de 16/09/2025, véspera</a:t>
            </a:r>
          </a:p>
        </p:txBody>
      </p:sp>
      <p:sp>
        <p:nvSpPr>
          <p:cNvPr id="30" name="s3_28"/>
          <p:cNvSpPr txBox="1"/>
          <p:nvPr/>
        </p:nvSpPr>
        <p:spPr>
          <a:xfrm>
            <a:off x="5257800" y="160020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A PROBABILIDADE ANDA ATÉ VIRAR 0 OU 100</a:t>
            </a:r>
          </a:p>
        </p:txBody>
      </p:sp>
      <p:pic>
        <p:nvPicPr>
          <p:cNvPr id="31" name="s3_29" descr="s3_fed_set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810512"/>
            <a:ext cx="6382512" cy="3236845"/>
          </a:xfrm>
          <a:prstGeom prst="rect">
            <a:avLst/>
          </a:prstGeom>
        </p:spPr>
      </p:pic>
      <p:sp>
        <p:nvSpPr>
          <p:cNvPr id="32" name="s3_30"/>
          <p:cNvSpPr/>
          <p:nvPr/>
        </p:nvSpPr>
        <p:spPr>
          <a:xfrm>
            <a:off x="731520" y="4828032"/>
            <a:ext cx="2487168" cy="146304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s3_31"/>
          <p:cNvSpPr txBox="1"/>
          <p:nvPr/>
        </p:nvSpPr>
        <p:spPr>
          <a:xfrm>
            <a:off x="960120" y="5029200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90,1%</a:t>
            </a:r>
          </a:p>
        </p:txBody>
      </p:sp>
      <p:sp>
        <p:nvSpPr>
          <p:cNvPr id="34" name="s3_32"/>
          <p:cNvSpPr txBox="1"/>
          <p:nvPr/>
        </p:nvSpPr>
        <p:spPr>
          <a:xfrm>
            <a:off x="960120" y="5696712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"/>
              </a:rPr>
              <a:t>de acerto a 1 mês da resolução</a:t>
            </a:r>
          </a:p>
        </p:txBody>
      </p:sp>
      <p:sp>
        <p:nvSpPr>
          <p:cNvPr id="35" name="s3_33"/>
          <p:cNvSpPr/>
          <p:nvPr/>
        </p:nvSpPr>
        <p:spPr>
          <a:xfrm>
            <a:off x="3429000" y="4828032"/>
            <a:ext cx="2487168" cy="146304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s3_34"/>
          <p:cNvSpPr txBox="1"/>
          <p:nvPr/>
        </p:nvSpPr>
        <p:spPr>
          <a:xfrm>
            <a:off x="3657600" y="5029200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US$ 26,2 bi</a:t>
            </a:r>
          </a:p>
        </p:txBody>
      </p:sp>
      <p:sp>
        <p:nvSpPr>
          <p:cNvPr id="37" name="s3_35"/>
          <p:cNvSpPr txBox="1"/>
          <p:nvPr/>
        </p:nvSpPr>
        <p:spPr>
          <a:xfrm>
            <a:off x="3657600" y="5696712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"/>
              </a:rPr>
              <a:t>negociados no 1º tri de 2026</a:t>
            </a:r>
          </a:p>
        </p:txBody>
      </p:sp>
      <p:sp>
        <p:nvSpPr>
          <p:cNvPr id="38" name="s3_36"/>
          <p:cNvSpPr/>
          <p:nvPr/>
        </p:nvSpPr>
        <p:spPr>
          <a:xfrm>
            <a:off x="6126480" y="4828032"/>
            <a:ext cx="5330951" cy="146304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s3_37"/>
          <p:cNvSpPr txBox="1"/>
          <p:nvPr/>
        </p:nvSpPr>
        <p:spPr>
          <a:xfrm>
            <a:off x="6382512" y="502920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O KAIROS LÊ</a:t>
            </a:r>
          </a:p>
        </p:txBody>
      </p:sp>
      <p:sp>
        <p:nvSpPr>
          <p:cNvPr id="40" name="s3_38"/>
          <p:cNvSpPr txBox="1"/>
          <p:nvPr/>
        </p:nvSpPr>
        <p:spPr>
          <a:xfrm>
            <a:off x="6382512" y="5303520"/>
            <a:ext cx="481888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5F7FB"/>
                </a:solidFill>
                <a:latin typeface="Bahnschrift SemiBold"/>
              </a:rPr>
              <a:t>O preço de cada desfecho, duas vezes por dia. </a:t>
            </a:r>
            <a:r>
              <a:rPr sz="1150" b="0" i="0">
                <a:solidFill>
                  <a:srgbClr val="BAC6DA"/>
                </a:solidFill>
                <a:latin typeface="Bahnschrift SemiLight"/>
              </a:rPr>
              <a:t>Sempre a leitura anterior à abertura da bolsa — nunca a do dia.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5F7FB"/>
                </a:solidFill>
                <a:latin typeface="Bahnschrift SemiBold"/>
              </a:rPr>
              <a:t>Quem errar perde dinheiro de verdade. </a:t>
            </a:r>
            <a:r>
              <a:rPr sz="1150" b="0" i="0">
                <a:solidFill>
                  <a:srgbClr val="BAC6DA"/>
                </a:solidFill>
                <a:latin typeface="Bahnschrift SemiLight"/>
              </a:rPr>
              <a:t>É o que faz do preço uma opinião com custo, não uma pesquisa.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04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4a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O mesmo dia, duas previsões</a:t>
            </a:r>
          </a:p>
        </p:txBody>
      </p:sp>
      <p:sp>
        <p:nvSpPr>
          <p:cNvPr id="7" name="s4a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04</a:t>
            </a:r>
          </a:p>
        </p:txBody>
      </p:sp>
      <p:cxnSp>
        <p:nvCxnSpPr>
          <p:cNvPr id="8" name="s4a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4a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Na maioria dos dias, Polymarket e mercado esperam a mesma coisa.</a:t>
            </a:r>
          </a:p>
        </p:txBody>
      </p:sp>
      <p:cxnSp>
        <p:nvCxnSpPr>
          <p:cNvPr id="10" name="s4a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!!faixa"/>
          <p:cNvSpPr/>
          <p:nvPr/>
        </p:nvSpPr>
        <p:spPr>
          <a:xfrm>
            <a:off x="731520" y="1572768"/>
            <a:ext cx="10725911" cy="65836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s4a_12"/>
          <p:cNvSpPr txBox="1"/>
          <p:nvPr/>
        </p:nvSpPr>
        <p:spPr>
          <a:xfrm>
            <a:off x="987552" y="1700784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VÉSPERA DO FED</a:t>
            </a:r>
            <a:r>
              <a:rPr sz="900" b="0" i="0" spc="60">
                <a:solidFill>
                  <a:srgbClr val="8395B5"/>
                </a:solidFill>
                <a:latin typeface="Consolas"/>
              </a:rPr>
              <a:t>   27/01/2026</a:t>
            </a:r>
          </a:p>
        </p:txBody>
      </p:sp>
      <p:sp>
        <p:nvSpPr>
          <p:cNvPr id="15" name="s4a_13"/>
          <p:cNvSpPr txBox="1"/>
          <p:nvPr/>
        </p:nvSpPr>
        <p:spPr>
          <a:xfrm>
            <a:off x="3749039" y="1636776"/>
            <a:ext cx="743407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5F7FB"/>
                </a:solidFill>
                <a:latin typeface="Bahnschrift SemiBold"/>
              </a:rPr>
              <a:t>Surpresa de 0 bps.  </a:t>
            </a:r>
            <a:r>
              <a:rPr sz="1150" b="0" i="0">
                <a:solidFill>
                  <a:srgbClr val="BAC6DA"/>
                </a:solidFill>
                <a:latin typeface="Bahnschrift SemiLight"/>
              </a:rPr>
              <a:t>Polymarket e juros precificam a mesma decisão — o Kairós não tem opinião e carrega a carteira do mercado.</a:t>
            </a:r>
          </a:p>
        </p:txBody>
      </p:sp>
      <p:cxnSp>
        <p:nvCxnSpPr>
          <p:cNvPr id="16" name="!!grade_-1.5"/>
          <p:cNvCxnSpPr/>
          <p:nvPr/>
        </p:nvCxnSpPr>
        <p:spPr>
          <a:xfrm>
            <a:off x="42062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!!tick_-1.5"/>
          <p:cNvSpPr txBox="1"/>
          <p:nvPr/>
        </p:nvSpPr>
        <p:spPr>
          <a:xfrm>
            <a:off x="3749039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-1,5%</a:t>
            </a:r>
          </a:p>
        </p:txBody>
      </p:sp>
      <p:cxnSp>
        <p:nvCxnSpPr>
          <p:cNvPr id="18" name="!!grade_-1.0"/>
          <p:cNvCxnSpPr/>
          <p:nvPr/>
        </p:nvCxnSpPr>
        <p:spPr>
          <a:xfrm>
            <a:off x="58064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!!tick_-1.0"/>
          <p:cNvSpPr txBox="1"/>
          <p:nvPr/>
        </p:nvSpPr>
        <p:spPr>
          <a:xfrm>
            <a:off x="5349240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-1,0%</a:t>
            </a:r>
          </a:p>
        </p:txBody>
      </p:sp>
      <p:cxnSp>
        <p:nvCxnSpPr>
          <p:cNvPr id="20" name="!!grade_-0.5"/>
          <p:cNvCxnSpPr/>
          <p:nvPr/>
        </p:nvCxnSpPr>
        <p:spPr>
          <a:xfrm>
            <a:off x="74066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!!tick_-0.5"/>
          <p:cNvSpPr txBox="1"/>
          <p:nvPr/>
        </p:nvSpPr>
        <p:spPr>
          <a:xfrm>
            <a:off x="6949440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-0,5%</a:t>
            </a:r>
          </a:p>
        </p:txBody>
      </p:sp>
      <p:cxnSp>
        <p:nvCxnSpPr>
          <p:cNvPr id="22" name="!!grade_0.0"/>
          <p:cNvCxnSpPr/>
          <p:nvPr/>
        </p:nvCxnSpPr>
        <p:spPr>
          <a:xfrm>
            <a:off x="9006839" y="2231136"/>
            <a:ext cx="0" cy="3584448"/>
          </a:xfrm>
          <a:prstGeom prst="line">
            <a:avLst/>
          </a:prstGeom>
          <a:ln w="1587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!!tick_0.0"/>
          <p:cNvSpPr txBox="1"/>
          <p:nvPr/>
        </p:nvSpPr>
        <p:spPr>
          <a:xfrm>
            <a:off x="8549639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0,0%</a:t>
            </a:r>
          </a:p>
        </p:txBody>
      </p:sp>
      <p:cxnSp>
        <p:nvCxnSpPr>
          <p:cNvPr id="24" name="!!grade_0.5"/>
          <p:cNvCxnSpPr/>
          <p:nvPr/>
        </p:nvCxnSpPr>
        <p:spPr>
          <a:xfrm>
            <a:off x="10607039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!!tick_0.5"/>
          <p:cNvSpPr txBox="1"/>
          <p:nvPr/>
        </p:nvSpPr>
        <p:spPr>
          <a:xfrm>
            <a:off x="10149839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+0,5%</a:t>
            </a:r>
          </a:p>
        </p:txBody>
      </p:sp>
      <p:sp>
        <p:nvSpPr>
          <p:cNvPr id="26" name="!!eixo_rot"/>
          <p:cNvSpPr txBox="1"/>
          <p:nvPr/>
        </p:nvSpPr>
        <p:spPr>
          <a:xfrm>
            <a:off x="731520" y="5852160"/>
            <a:ext cx="233172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60">
                <a:solidFill>
                  <a:srgbClr val="8395B5"/>
                </a:solidFill>
                <a:latin typeface="Consolas"/>
              </a:rPr>
              <a:t>retorno esperado no dia do anúncio  →</a:t>
            </a:r>
          </a:p>
        </p:txBody>
      </p:sp>
      <p:sp>
        <p:nvSpPr>
          <p:cNvPr id="27" name="!!etf_XLK"/>
          <p:cNvSpPr txBox="1"/>
          <p:nvPr/>
        </p:nvSpPr>
        <p:spPr>
          <a:xfrm>
            <a:off x="731520" y="235000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XLK</a:t>
            </a:r>
          </a:p>
        </p:txBody>
      </p:sp>
      <p:sp>
        <p:nvSpPr>
          <p:cNvPr id="28" name="!!setor_XLK"/>
          <p:cNvSpPr txBox="1"/>
          <p:nvPr/>
        </p:nvSpPr>
        <p:spPr>
          <a:xfrm>
            <a:off x="1389888" y="23500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tecnologia</a:t>
            </a:r>
          </a:p>
        </p:txBody>
      </p:sp>
      <p:cxnSp>
        <p:nvCxnSpPr>
          <p:cNvPr id="29" name="!!trilho_XLK"/>
          <p:cNvCxnSpPr/>
          <p:nvPr/>
        </p:nvCxnSpPr>
        <p:spPr>
          <a:xfrm>
            <a:off x="3246120" y="2487168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!!lig_XLK"/>
          <p:cNvCxnSpPr/>
          <p:nvPr/>
        </p:nvCxnSpPr>
        <p:spPr>
          <a:xfrm>
            <a:off x="9149913" y="2487168"/>
            <a:ext cx="116165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!!pm_XLK"/>
          <p:cNvSpPr/>
          <p:nvPr/>
        </p:nvSpPr>
        <p:spPr>
          <a:xfrm>
            <a:off x="9179210" y="2400300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!!mk_XLK"/>
          <p:cNvSpPr/>
          <p:nvPr/>
        </p:nvSpPr>
        <p:spPr>
          <a:xfrm>
            <a:off x="9090477" y="2427732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!!val_XLK"/>
          <p:cNvSpPr txBox="1"/>
          <p:nvPr/>
        </p:nvSpPr>
        <p:spPr>
          <a:xfrm>
            <a:off x="9421526" y="2368296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+ 0,08%</a:t>
            </a:r>
          </a:p>
        </p:txBody>
      </p:sp>
      <p:sp>
        <p:nvSpPr>
          <p:cNvPr id="34" name="!!etf_SPY"/>
          <p:cNvSpPr txBox="1"/>
          <p:nvPr/>
        </p:nvSpPr>
        <p:spPr>
          <a:xfrm>
            <a:off x="731520" y="27340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SPY</a:t>
            </a:r>
          </a:p>
        </p:txBody>
      </p:sp>
      <p:sp>
        <p:nvSpPr>
          <p:cNvPr id="35" name="!!setor_SPY"/>
          <p:cNvSpPr txBox="1"/>
          <p:nvPr/>
        </p:nvSpPr>
        <p:spPr>
          <a:xfrm>
            <a:off x="1389888" y="273405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S&amp;P 500</a:t>
            </a:r>
          </a:p>
        </p:txBody>
      </p:sp>
      <p:cxnSp>
        <p:nvCxnSpPr>
          <p:cNvPr id="36" name="!!trilho_SPY"/>
          <p:cNvCxnSpPr/>
          <p:nvPr/>
        </p:nvCxnSpPr>
        <p:spPr>
          <a:xfrm>
            <a:off x="3246120" y="2871216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!!lig_SPY"/>
          <p:cNvCxnSpPr/>
          <p:nvPr/>
        </p:nvCxnSpPr>
        <p:spPr>
          <a:xfrm>
            <a:off x="9108785" y="2871216"/>
            <a:ext cx="93516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!!pm_SPY"/>
          <p:cNvSpPr/>
          <p:nvPr/>
        </p:nvSpPr>
        <p:spPr>
          <a:xfrm>
            <a:off x="9115433" y="2784348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!!mk_SPY"/>
          <p:cNvSpPr/>
          <p:nvPr/>
        </p:nvSpPr>
        <p:spPr>
          <a:xfrm>
            <a:off x="9049349" y="2811780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!!val_SPY"/>
          <p:cNvSpPr txBox="1"/>
          <p:nvPr/>
        </p:nvSpPr>
        <p:spPr>
          <a:xfrm>
            <a:off x="9357749" y="275234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+ 0,06%</a:t>
            </a:r>
          </a:p>
        </p:txBody>
      </p:sp>
      <p:sp>
        <p:nvSpPr>
          <p:cNvPr id="41" name="!!etf_XLF"/>
          <p:cNvSpPr txBox="1"/>
          <p:nvPr/>
        </p:nvSpPr>
        <p:spPr>
          <a:xfrm>
            <a:off x="731520" y="311810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XLF</a:t>
            </a:r>
          </a:p>
        </p:txBody>
      </p:sp>
      <p:sp>
        <p:nvSpPr>
          <p:cNvPr id="42" name="!!setor_XLF"/>
          <p:cNvSpPr txBox="1"/>
          <p:nvPr/>
        </p:nvSpPr>
        <p:spPr>
          <a:xfrm>
            <a:off x="1389888" y="31181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financeiro</a:t>
            </a:r>
          </a:p>
        </p:txBody>
      </p:sp>
      <p:cxnSp>
        <p:nvCxnSpPr>
          <p:cNvPr id="43" name="!!trilho_XLF"/>
          <p:cNvCxnSpPr/>
          <p:nvPr/>
        </p:nvCxnSpPr>
        <p:spPr>
          <a:xfrm>
            <a:off x="3246120" y="3255264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!!lig_XLF"/>
          <p:cNvCxnSpPr/>
          <p:nvPr/>
        </p:nvCxnSpPr>
        <p:spPr>
          <a:xfrm>
            <a:off x="9087962" y="3255264"/>
            <a:ext cx="97005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!!pm_XLF"/>
          <p:cNvSpPr/>
          <p:nvPr/>
        </p:nvSpPr>
        <p:spPr>
          <a:xfrm>
            <a:off x="9098099" y="3168396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!!mk_XLF"/>
          <p:cNvSpPr/>
          <p:nvPr/>
        </p:nvSpPr>
        <p:spPr>
          <a:xfrm>
            <a:off x="9028526" y="3195828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!!val_XLF"/>
          <p:cNvSpPr txBox="1"/>
          <p:nvPr/>
        </p:nvSpPr>
        <p:spPr>
          <a:xfrm>
            <a:off x="9340415" y="313639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+ 0,06%</a:t>
            </a:r>
          </a:p>
        </p:txBody>
      </p:sp>
      <p:sp>
        <p:nvSpPr>
          <p:cNvPr id="48" name="!!etf_XLE"/>
          <p:cNvSpPr txBox="1"/>
          <p:nvPr/>
        </p:nvSpPr>
        <p:spPr>
          <a:xfrm>
            <a:off x="731520" y="350215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XLE</a:t>
            </a:r>
          </a:p>
        </p:txBody>
      </p:sp>
      <p:sp>
        <p:nvSpPr>
          <p:cNvPr id="49" name="!!setor_XLE"/>
          <p:cNvSpPr txBox="1"/>
          <p:nvPr/>
        </p:nvSpPr>
        <p:spPr>
          <a:xfrm>
            <a:off x="1389888" y="35021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energia</a:t>
            </a:r>
          </a:p>
        </p:txBody>
      </p:sp>
      <p:cxnSp>
        <p:nvCxnSpPr>
          <p:cNvPr id="50" name="!!trilho_XLE"/>
          <p:cNvCxnSpPr/>
          <p:nvPr/>
        </p:nvCxnSpPr>
        <p:spPr>
          <a:xfrm>
            <a:off x="3246120" y="3639312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!!lig_XLE"/>
          <p:cNvCxnSpPr/>
          <p:nvPr/>
        </p:nvCxnSpPr>
        <p:spPr>
          <a:xfrm>
            <a:off x="9077378" y="3639312"/>
            <a:ext cx="51736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!!pm_XLE"/>
          <p:cNvSpPr/>
          <p:nvPr/>
        </p:nvSpPr>
        <p:spPr>
          <a:xfrm>
            <a:off x="9042246" y="3552444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!!mk_XLE"/>
          <p:cNvSpPr/>
          <p:nvPr/>
        </p:nvSpPr>
        <p:spPr>
          <a:xfrm>
            <a:off x="9017942" y="3579876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!!val_XLE"/>
          <p:cNvSpPr txBox="1"/>
          <p:nvPr/>
        </p:nvSpPr>
        <p:spPr>
          <a:xfrm>
            <a:off x="9284562" y="35204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+ 0,04%</a:t>
            </a:r>
          </a:p>
        </p:txBody>
      </p:sp>
      <p:sp>
        <p:nvSpPr>
          <p:cNvPr id="55" name="!!etf_XLV"/>
          <p:cNvSpPr txBox="1"/>
          <p:nvPr/>
        </p:nvSpPr>
        <p:spPr>
          <a:xfrm>
            <a:off x="731520" y="38862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XLV</a:t>
            </a:r>
          </a:p>
        </p:txBody>
      </p:sp>
      <p:sp>
        <p:nvSpPr>
          <p:cNvPr id="56" name="!!setor_XLV"/>
          <p:cNvSpPr txBox="1"/>
          <p:nvPr/>
        </p:nvSpPr>
        <p:spPr>
          <a:xfrm>
            <a:off x="1389888" y="3886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saúde</a:t>
            </a:r>
          </a:p>
        </p:txBody>
      </p:sp>
      <p:cxnSp>
        <p:nvCxnSpPr>
          <p:cNvPr id="57" name="!!trilho_XLV"/>
          <p:cNvCxnSpPr/>
          <p:nvPr/>
        </p:nvCxnSpPr>
        <p:spPr>
          <a:xfrm>
            <a:off x="3246120" y="4023360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!!lig_XLV"/>
          <p:cNvCxnSpPr/>
          <p:nvPr/>
        </p:nvCxnSpPr>
        <p:spPr>
          <a:xfrm>
            <a:off x="9055277" y="4023360"/>
            <a:ext cx="61384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!!pm_XLV"/>
          <p:cNvSpPr/>
          <p:nvPr/>
        </p:nvSpPr>
        <p:spPr>
          <a:xfrm>
            <a:off x="9029793" y="3936492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!!mk_XLV"/>
          <p:cNvSpPr/>
          <p:nvPr/>
        </p:nvSpPr>
        <p:spPr>
          <a:xfrm>
            <a:off x="8995841" y="3963924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!!val_XLV"/>
          <p:cNvSpPr txBox="1"/>
          <p:nvPr/>
        </p:nvSpPr>
        <p:spPr>
          <a:xfrm>
            <a:off x="9272109" y="390448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+ 0,03%</a:t>
            </a:r>
          </a:p>
        </p:txBody>
      </p:sp>
      <p:sp>
        <p:nvSpPr>
          <p:cNvPr id="62" name="!!etf_XLP"/>
          <p:cNvSpPr txBox="1"/>
          <p:nvPr/>
        </p:nvSpPr>
        <p:spPr>
          <a:xfrm>
            <a:off x="731520" y="427024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XLP</a:t>
            </a:r>
          </a:p>
        </p:txBody>
      </p:sp>
      <p:sp>
        <p:nvSpPr>
          <p:cNvPr id="63" name="!!setor_XLP"/>
          <p:cNvSpPr txBox="1"/>
          <p:nvPr/>
        </p:nvSpPr>
        <p:spPr>
          <a:xfrm>
            <a:off x="1389888" y="42702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consumo básico</a:t>
            </a:r>
          </a:p>
        </p:txBody>
      </p:sp>
      <p:cxnSp>
        <p:nvCxnSpPr>
          <p:cNvPr id="64" name="!!trilho_XLP"/>
          <p:cNvCxnSpPr/>
          <p:nvPr/>
        </p:nvCxnSpPr>
        <p:spPr>
          <a:xfrm>
            <a:off x="3246120" y="4407408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!!lig_XLP"/>
          <p:cNvCxnSpPr/>
          <p:nvPr/>
        </p:nvCxnSpPr>
        <p:spPr>
          <a:xfrm>
            <a:off x="9031137" y="4407408"/>
            <a:ext cx="71251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!!pm_XLP"/>
          <p:cNvSpPr/>
          <p:nvPr/>
        </p:nvSpPr>
        <p:spPr>
          <a:xfrm>
            <a:off x="9015520" y="4320540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!!mk_XLP"/>
          <p:cNvSpPr/>
          <p:nvPr/>
        </p:nvSpPr>
        <p:spPr>
          <a:xfrm>
            <a:off x="8971701" y="4347972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!!val_XLP"/>
          <p:cNvSpPr txBox="1"/>
          <p:nvPr/>
        </p:nvSpPr>
        <p:spPr>
          <a:xfrm>
            <a:off x="9257836" y="4288536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+ 0,03%</a:t>
            </a:r>
          </a:p>
        </p:txBody>
      </p:sp>
      <p:sp>
        <p:nvSpPr>
          <p:cNvPr id="69" name="!!etf_TIP"/>
          <p:cNvSpPr txBox="1"/>
          <p:nvPr/>
        </p:nvSpPr>
        <p:spPr>
          <a:xfrm>
            <a:off x="731520" y="465429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TIP</a:t>
            </a:r>
          </a:p>
        </p:txBody>
      </p:sp>
      <p:sp>
        <p:nvSpPr>
          <p:cNvPr id="70" name="!!setor_TIP"/>
          <p:cNvSpPr txBox="1"/>
          <p:nvPr/>
        </p:nvSpPr>
        <p:spPr>
          <a:xfrm>
            <a:off x="1389888" y="46542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Treasury · inflação</a:t>
            </a:r>
          </a:p>
        </p:txBody>
      </p:sp>
      <p:cxnSp>
        <p:nvCxnSpPr>
          <p:cNvPr id="71" name="!!trilho_TIP"/>
          <p:cNvCxnSpPr/>
          <p:nvPr/>
        </p:nvCxnSpPr>
        <p:spPr>
          <a:xfrm>
            <a:off x="3246120" y="4791456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!!lig_TIP"/>
          <p:cNvCxnSpPr/>
          <p:nvPr/>
        </p:nvCxnSpPr>
        <p:spPr>
          <a:xfrm>
            <a:off x="9010412" y="4791456"/>
            <a:ext cx="25134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!!pm_TIP"/>
          <p:cNvSpPr/>
          <p:nvPr/>
        </p:nvSpPr>
        <p:spPr>
          <a:xfrm>
            <a:off x="8948678" y="4704588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!!mk_TIP"/>
          <p:cNvSpPr/>
          <p:nvPr/>
        </p:nvSpPr>
        <p:spPr>
          <a:xfrm>
            <a:off x="8950976" y="4732020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!!val_TIP"/>
          <p:cNvSpPr txBox="1"/>
          <p:nvPr/>
        </p:nvSpPr>
        <p:spPr>
          <a:xfrm>
            <a:off x="9190994" y="467258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+ 0,01%</a:t>
            </a:r>
          </a:p>
        </p:txBody>
      </p:sp>
      <p:sp>
        <p:nvSpPr>
          <p:cNvPr id="76" name="!!etf_XLU"/>
          <p:cNvSpPr txBox="1"/>
          <p:nvPr/>
        </p:nvSpPr>
        <p:spPr>
          <a:xfrm>
            <a:off x="731520" y="503834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XLU</a:t>
            </a:r>
          </a:p>
        </p:txBody>
      </p:sp>
      <p:sp>
        <p:nvSpPr>
          <p:cNvPr id="77" name="!!setor_XLU"/>
          <p:cNvSpPr txBox="1"/>
          <p:nvPr/>
        </p:nvSpPr>
        <p:spPr>
          <a:xfrm>
            <a:off x="1389888" y="503834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utilities</a:t>
            </a:r>
          </a:p>
        </p:txBody>
      </p:sp>
      <p:cxnSp>
        <p:nvCxnSpPr>
          <p:cNvPr id="78" name="!!trilho_XLU"/>
          <p:cNvCxnSpPr/>
          <p:nvPr/>
        </p:nvCxnSpPr>
        <p:spPr>
          <a:xfrm>
            <a:off x="3246120" y="5175504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!!lig_XLU"/>
          <p:cNvCxnSpPr/>
          <p:nvPr/>
        </p:nvCxnSpPr>
        <p:spPr>
          <a:xfrm flipH="1">
            <a:off x="9035140" y="5175504"/>
            <a:ext cx="9374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!!pm_XLU"/>
          <p:cNvSpPr/>
          <p:nvPr/>
        </p:nvSpPr>
        <p:spPr>
          <a:xfrm>
            <a:off x="8948272" y="5088636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!!mk_XLU"/>
          <p:cNvSpPr/>
          <p:nvPr/>
        </p:nvSpPr>
        <p:spPr>
          <a:xfrm>
            <a:off x="8985078" y="5116068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!!val_XLU"/>
          <p:cNvSpPr txBox="1"/>
          <p:nvPr/>
        </p:nvSpPr>
        <p:spPr>
          <a:xfrm>
            <a:off x="9190588" y="505663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+ 0,01%</a:t>
            </a:r>
          </a:p>
        </p:txBody>
      </p:sp>
      <p:sp>
        <p:nvSpPr>
          <p:cNvPr id="83" name="!!etf_TLT"/>
          <p:cNvSpPr txBox="1"/>
          <p:nvPr/>
        </p:nvSpPr>
        <p:spPr>
          <a:xfrm>
            <a:off x="731520" y="542239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TLT</a:t>
            </a:r>
          </a:p>
        </p:txBody>
      </p:sp>
      <p:sp>
        <p:nvSpPr>
          <p:cNvPr id="84" name="!!setor_TLT"/>
          <p:cNvSpPr txBox="1"/>
          <p:nvPr/>
        </p:nvSpPr>
        <p:spPr>
          <a:xfrm>
            <a:off x="1389888" y="54223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Treasury 20+</a:t>
            </a:r>
          </a:p>
        </p:txBody>
      </p:sp>
      <p:cxnSp>
        <p:nvCxnSpPr>
          <p:cNvPr id="85" name="!!trilho_TLT"/>
          <p:cNvCxnSpPr/>
          <p:nvPr/>
        </p:nvCxnSpPr>
        <p:spPr>
          <a:xfrm>
            <a:off x="3246120" y="5559552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!!lig_TLT"/>
          <p:cNvCxnSpPr/>
          <p:nvPr/>
        </p:nvCxnSpPr>
        <p:spPr>
          <a:xfrm>
            <a:off x="9013598" y="5559552"/>
            <a:ext cx="6178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!!pm_TLT"/>
          <p:cNvSpPr/>
          <p:nvPr/>
        </p:nvSpPr>
        <p:spPr>
          <a:xfrm>
            <a:off x="8932908" y="5472684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!!mk_TLT"/>
          <p:cNvSpPr/>
          <p:nvPr/>
        </p:nvSpPr>
        <p:spPr>
          <a:xfrm>
            <a:off x="8954162" y="5500116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!!val_TLT"/>
          <p:cNvSpPr txBox="1"/>
          <p:nvPr/>
        </p:nvSpPr>
        <p:spPr>
          <a:xfrm>
            <a:off x="9175224" y="544068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+ 0,00%</a:t>
            </a:r>
          </a:p>
        </p:txBody>
      </p:sp>
      <p:sp>
        <p:nvSpPr>
          <p:cNvPr id="90" name="!!leg_mk"/>
          <p:cNvSpPr/>
          <p:nvPr/>
        </p:nvSpPr>
        <p:spPr>
          <a:xfrm>
            <a:off x="3259836" y="6121907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!!leg_mk_t"/>
          <p:cNvSpPr txBox="1"/>
          <p:nvPr/>
        </p:nvSpPr>
        <p:spPr>
          <a:xfrm>
            <a:off x="3465576" y="60899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00">
                <a:solidFill>
                  <a:srgbClr val="F5F7FB"/>
                </a:solidFill>
                <a:latin typeface="Consolas"/>
              </a:rPr>
              <a:t>MERCADO</a:t>
            </a:r>
            <a:r>
              <a:rPr sz="900" b="0" i="0">
                <a:solidFill>
                  <a:srgbClr val="8395B5"/>
                </a:solidFill>
                <a:latin typeface="Bahnschrift SemiLight"/>
              </a:rPr>
              <a:t>  o equilíbrio π — o prêmio normal do dia</a:t>
            </a:r>
          </a:p>
        </p:txBody>
      </p:sp>
      <p:sp>
        <p:nvSpPr>
          <p:cNvPr id="92" name="!!leg_pm"/>
          <p:cNvSpPr/>
          <p:nvPr/>
        </p:nvSpPr>
        <p:spPr>
          <a:xfrm>
            <a:off x="6880859" y="6112764"/>
            <a:ext cx="137160" cy="137160"/>
          </a:xfrm>
          <a:prstGeom prst="ellipse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!!leg_pm_t"/>
          <p:cNvSpPr txBox="1"/>
          <p:nvPr/>
        </p:nvSpPr>
        <p:spPr>
          <a:xfrm>
            <a:off x="7114032" y="6089904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00">
                <a:solidFill>
                  <a:srgbClr val="F5F7FB"/>
                </a:solidFill>
                <a:latin typeface="Consolas"/>
              </a:rPr>
              <a:t>POLYMARKET</a:t>
            </a:r>
            <a:r>
              <a:rPr sz="900" b="0" i="0">
                <a:solidFill>
                  <a:srgbClr val="8395B5"/>
                </a:solidFill>
                <a:latin typeface="Bahnschrift SemiLight"/>
              </a:rPr>
              <a:t>  π + β × surpresa — β medido em reuniões passadas</a:t>
            </a:r>
          </a:p>
        </p:txBody>
      </p:sp>
      <p:sp>
        <p:nvSpPr>
          <p:cNvPr id="94" name="!!nota"/>
          <p:cNvSpPr txBox="1"/>
          <p:nvPr/>
        </p:nvSpPr>
        <p:spPr>
          <a:xfrm>
            <a:off x="731520" y="6336792"/>
            <a:ext cx="107259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surpresa = o corte que o Polymarket precifica − o que o T-bill de 3 meses embute, líquida do viés do instrumento  ·  apêndices A5 e A6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04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4b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O mesmo dia, duas previsões</a:t>
            </a:r>
          </a:p>
        </p:txBody>
      </p:sp>
      <p:sp>
        <p:nvSpPr>
          <p:cNvPr id="7" name="s4b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04</a:t>
            </a:r>
          </a:p>
        </p:txBody>
      </p:sp>
      <p:cxnSp>
        <p:nvCxnSpPr>
          <p:cNvPr id="8" name="s4b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4b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Em alguns, divergem — e é aí que o Kairós age.</a:t>
            </a:r>
          </a:p>
        </p:txBody>
      </p:sp>
      <p:cxnSp>
        <p:nvCxnSpPr>
          <p:cNvPr id="10" name="s4b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!!faixa"/>
          <p:cNvSpPr/>
          <p:nvPr/>
        </p:nvSpPr>
        <p:spPr>
          <a:xfrm>
            <a:off x="731520" y="1572768"/>
            <a:ext cx="10725911" cy="65836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s4b_12"/>
          <p:cNvSpPr txBox="1"/>
          <p:nvPr/>
        </p:nvSpPr>
        <p:spPr>
          <a:xfrm>
            <a:off x="987552" y="1700784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VÉSPERA DO FED</a:t>
            </a:r>
            <a:r>
              <a:rPr sz="900" b="0" i="0" spc="60">
                <a:solidFill>
                  <a:srgbClr val="8395B5"/>
                </a:solidFill>
                <a:latin typeface="Consolas"/>
              </a:rPr>
              <a:t>   16/09/2025</a:t>
            </a:r>
          </a:p>
        </p:txBody>
      </p:sp>
      <p:sp>
        <p:nvSpPr>
          <p:cNvPr id="15" name="s4b_13"/>
          <p:cNvSpPr txBox="1"/>
          <p:nvPr/>
        </p:nvSpPr>
        <p:spPr>
          <a:xfrm>
            <a:off x="3749039" y="1636776"/>
            <a:ext cx="743407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5F7FB"/>
                </a:solidFill>
                <a:latin typeface="Bahnschrift SemiBold"/>
              </a:rPr>
              <a:t>Surpresa de +9 bps.  </a:t>
            </a:r>
            <a:r>
              <a:rPr sz="1150" b="0" i="0">
                <a:solidFill>
                  <a:srgbClr val="BAC6DA"/>
                </a:solidFill>
                <a:latin typeface="Bahnschrift SemiLight"/>
              </a:rPr>
              <a:t>O Polymarket vê menos corte do que os juros embutem: dinheiro em risco discorda do preço. A conta vira retorno esperado por ETF.</a:t>
            </a:r>
          </a:p>
        </p:txBody>
      </p:sp>
      <p:cxnSp>
        <p:nvCxnSpPr>
          <p:cNvPr id="16" name="!!grade_-1.5"/>
          <p:cNvCxnSpPr/>
          <p:nvPr/>
        </p:nvCxnSpPr>
        <p:spPr>
          <a:xfrm>
            <a:off x="42062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!!tick_-1.5"/>
          <p:cNvSpPr txBox="1"/>
          <p:nvPr/>
        </p:nvSpPr>
        <p:spPr>
          <a:xfrm>
            <a:off x="3749039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-1,5%</a:t>
            </a:r>
          </a:p>
        </p:txBody>
      </p:sp>
      <p:cxnSp>
        <p:nvCxnSpPr>
          <p:cNvPr id="18" name="!!grade_-1.0"/>
          <p:cNvCxnSpPr/>
          <p:nvPr/>
        </p:nvCxnSpPr>
        <p:spPr>
          <a:xfrm>
            <a:off x="58064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!!tick_-1.0"/>
          <p:cNvSpPr txBox="1"/>
          <p:nvPr/>
        </p:nvSpPr>
        <p:spPr>
          <a:xfrm>
            <a:off x="5349240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-1,0%</a:t>
            </a:r>
          </a:p>
        </p:txBody>
      </p:sp>
      <p:cxnSp>
        <p:nvCxnSpPr>
          <p:cNvPr id="20" name="!!grade_-0.5"/>
          <p:cNvCxnSpPr/>
          <p:nvPr/>
        </p:nvCxnSpPr>
        <p:spPr>
          <a:xfrm>
            <a:off x="74066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!!tick_-0.5"/>
          <p:cNvSpPr txBox="1"/>
          <p:nvPr/>
        </p:nvSpPr>
        <p:spPr>
          <a:xfrm>
            <a:off x="6949440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-0,5%</a:t>
            </a:r>
          </a:p>
        </p:txBody>
      </p:sp>
      <p:cxnSp>
        <p:nvCxnSpPr>
          <p:cNvPr id="22" name="!!grade_0.0"/>
          <p:cNvCxnSpPr/>
          <p:nvPr/>
        </p:nvCxnSpPr>
        <p:spPr>
          <a:xfrm>
            <a:off x="9006839" y="2231136"/>
            <a:ext cx="0" cy="3584448"/>
          </a:xfrm>
          <a:prstGeom prst="line">
            <a:avLst/>
          </a:prstGeom>
          <a:ln w="1587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!!tick_0.0"/>
          <p:cNvSpPr txBox="1"/>
          <p:nvPr/>
        </p:nvSpPr>
        <p:spPr>
          <a:xfrm>
            <a:off x="8549639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0,0%</a:t>
            </a:r>
          </a:p>
        </p:txBody>
      </p:sp>
      <p:cxnSp>
        <p:nvCxnSpPr>
          <p:cNvPr id="24" name="!!grade_0.5"/>
          <p:cNvCxnSpPr/>
          <p:nvPr/>
        </p:nvCxnSpPr>
        <p:spPr>
          <a:xfrm>
            <a:off x="10607039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!!tick_0.5"/>
          <p:cNvSpPr txBox="1"/>
          <p:nvPr/>
        </p:nvSpPr>
        <p:spPr>
          <a:xfrm>
            <a:off x="10149839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+0,5%</a:t>
            </a:r>
          </a:p>
        </p:txBody>
      </p:sp>
      <p:sp>
        <p:nvSpPr>
          <p:cNvPr id="26" name="!!eixo_rot"/>
          <p:cNvSpPr txBox="1"/>
          <p:nvPr/>
        </p:nvSpPr>
        <p:spPr>
          <a:xfrm>
            <a:off x="731520" y="5852160"/>
            <a:ext cx="233172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60">
                <a:solidFill>
                  <a:srgbClr val="8395B5"/>
                </a:solidFill>
                <a:latin typeface="Consolas"/>
              </a:rPr>
              <a:t>retorno esperado no dia do anúncio  →</a:t>
            </a:r>
          </a:p>
        </p:txBody>
      </p:sp>
      <p:sp>
        <p:nvSpPr>
          <p:cNvPr id="27" name="!!etf_XLK"/>
          <p:cNvSpPr txBox="1"/>
          <p:nvPr/>
        </p:nvSpPr>
        <p:spPr>
          <a:xfrm>
            <a:off x="731520" y="235000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XLK</a:t>
            </a:r>
          </a:p>
        </p:txBody>
      </p:sp>
      <p:sp>
        <p:nvSpPr>
          <p:cNvPr id="28" name="!!setor_XLK"/>
          <p:cNvSpPr txBox="1"/>
          <p:nvPr/>
        </p:nvSpPr>
        <p:spPr>
          <a:xfrm>
            <a:off x="1389888" y="23500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tecnologia</a:t>
            </a:r>
          </a:p>
        </p:txBody>
      </p:sp>
      <p:cxnSp>
        <p:nvCxnSpPr>
          <p:cNvPr id="29" name="!!trilho_XLK"/>
          <p:cNvCxnSpPr/>
          <p:nvPr/>
        </p:nvCxnSpPr>
        <p:spPr>
          <a:xfrm>
            <a:off x="3246120" y="2487168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!!lig_XLK"/>
          <p:cNvCxnSpPr/>
          <p:nvPr/>
        </p:nvCxnSpPr>
        <p:spPr>
          <a:xfrm flipH="1">
            <a:off x="4126496" y="2487168"/>
            <a:ext cx="5021063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!!pm_XLK"/>
          <p:cNvSpPr/>
          <p:nvPr/>
        </p:nvSpPr>
        <p:spPr>
          <a:xfrm>
            <a:off x="4039628" y="2400300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!!mk_XLK"/>
          <p:cNvSpPr/>
          <p:nvPr/>
        </p:nvSpPr>
        <p:spPr>
          <a:xfrm>
            <a:off x="9088123" y="2427732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!!val_XLK"/>
          <p:cNvSpPr txBox="1"/>
          <p:nvPr/>
        </p:nvSpPr>
        <p:spPr>
          <a:xfrm>
            <a:off x="3257816" y="2368296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− 1,52%</a:t>
            </a:r>
          </a:p>
        </p:txBody>
      </p:sp>
      <p:sp>
        <p:nvSpPr>
          <p:cNvPr id="34" name="!!etf_SPY"/>
          <p:cNvSpPr txBox="1"/>
          <p:nvPr/>
        </p:nvSpPr>
        <p:spPr>
          <a:xfrm>
            <a:off x="731520" y="27340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SPY</a:t>
            </a:r>
          </a:p>
        </p:txBody>
      </p:sp>
      <p:sp>
        <p:nvSpPr>
          <p:cNvPr id="35" name="!!setor_SPY"/>
          <p:cNvSpPr txBox="1"/>
          <p:nvPr/>
        </p:nvSpPr>
        <p:spPr>
          <a:xfrm>
            <a:off x="1389888" y="273405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S&amp;P 500</a:t>
            </a:r>
          </a:p>
        </p:txBody>
      </p:sp>
      <p:cxnSp>
        <p:nvCxnSpPr>
          <p:cNvPr id="36" name="!!trilho_SPY"/>
          <p:cNvCxnSpPr/>
          <p:nvPr/>
        </p:nvCxnSpPr>
        <p:spPr>
          <a:xfrm>
            <a:off x="3246120" y="2871216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!!lig_SPY"/>
          <p:cNvCxnSpPr/>
          <p:nvPr/>
        </p:nvCxnSpPr>
        <p:spPr>
          <a:xfrm flipH="1">
            <a:off x="5358875" y="2871216"/>
            <a:ext cx="3750538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!!pm_SPY"/>
          <p:cNvSpPr/>
          <p:nvPr/>
        </p:nvSpPr>
        <p:spPr>
          <a:xfrm>
            <a:off x="5272007" y="2784348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!!mk_SPY"/>
          <p:cNvSpPr/>
          <p:nvPr/>
        </p:nvSpPr>
        <p:spPr>
          <a:xfrm>
            <a:off x="9049977" y="2811780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!!val_SPY"/>
          <p:cNvSpPr txBox="1"/>
          <p:nvPr/>
        </p:nvSpPr>
        <p:spPr>
          <a:xfrm>
            <a:off x="4490195" y="275234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− 1,14%</a:t>
            </a:r>
          </a:p>
        </p:txBody>
      </p:sp>
      <p:sp>
        <p:nvSpPr>
          <p:cNvPr id="41" name="!!etf_XLF"/>
          <p:cNvSpPr txBox="1"/>
          <p:nvPr/>
        </p:nvSpPr>
        <p:spPr>
          <a:xfrm>
            <a:off x="731520" y="311810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XLF</a:t>
            </a:r>
          </a:p>
        </p:txBody>
      </p:sp>
      <p:sp>
        <p:nvSpPr>
          <p:cNvPr id="42" name="!!setor_XLF"/>
          <p:cNvSpPr txBox="1"/>
          <p:nvPr/>
        </p:nvSpPr>
        <p:spPr>
          <a:xfrm>
            <a:off x="1389888" y="31181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financeiro</a:t>
            </a:r>
          </a:p>
        </p:txBody>
      </p:sp>
      <p:cxnSp>
        <p:nvCxnSpPr>
          <p:cNvPr id="43" name="!!trilho_XLF"/>
          <p:cNvCxnSpPr/>
          <p:nvPr/>
        </p:nvCxnSpPr>
        <p:spPr>
          <a:xfrm>
            <a:off x="3246120" y="3255264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!!lig_XLF"/>
          <p:cNvCxnSpPr/>
          <p:nvPr/>
        </p:nvCxnSpPr>
        <p:spPr>
          <a:xfrm flipH="1">
            <a:off x="6216124" y="3255264"/>
            <a:ext cx="2874384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!!pm_XLF"/>
          <p:cNvSpPr/>
          <p:nvPr/>
        </p:nvSpPr>
        <p:spPr>
          <a:xfrm>
            <a:off x="6129256" y="3168396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!!mk_XLF"/>
          <p:cNvSpPr/>
          <p:nvPr/>
        </p:nvSpPr>
        <p:spPr>
          <a:xfrm>
            <a:off x="9031072" y="3195828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!!val_XLF"/>
          <p:cNvSpPr txBox="1"/>
          <p:nvPr/>
        </p:nvSpPr>
        <p:spPr>
          <a:xfrm>
            <a:off x="5347444" y="313639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− 0,87%</a:t>
            </a:r>
          </a:p>
        </p:txBody>
      </p:sp>
      <p:sp>
        <p:nvSpPr>
          <p:cNvPr id="48" name="!!etf_XLE"/>
          <p:cNvSpPr txBox="1"/>
          <p:nvPr/>
        </p:nvSpPr>
        <p:spPr>
          <a:xfrm>
            <a:off x="731520" y="350215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XLE</a:t>
            </a:r>
          </a:p>
        </p:txBody>
      </p:sp>
      <p:sp>
        <p:nvSpPr>
          <p:cNvPr id="49" name="!!setor_XLE"/>
          <p:cNvSpPr txBox="1"/>
          <p:nvPr/>
        </p:nvSpPr>
        <p:spPr>
          <a:xfrm>
            <a:off x="1389888" y="35021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energia</a:t>
            </a:r>
          </a:p>
        </p:txBody>
      </p:sp>
      <p:cxnSp>
        <p:nvCxnSpPr>
          <p:cNvPr id="50" name="!!trilho_XLE"/>
          <p:cNvCxnSpPr/>
          <p:nvPr/>
        </p:nvCxnSpPr>
        <p:spPr>
          <a:xfrm>
            <a:off x="3246120" y="3639312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!!lig_XLE"/>
          <p:cNvCxnSpPr/>
          <p:nvPr/>
        </p:nvCxnSpPr>
        <p:spPr>
          <a:xfrm flipH="1">
            <a:off x="6631476" y="3639312"/>
            <a:ext cx="2447338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!!pm_XLE"/>
          <p:cNvSpPr/>
          <p:nvPr/>
        </p:nvSpPr>
        <p:spPr>
          <a:xfrm>
            <a:off x="6544608" y="3552444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!!mk_XLE"/>
          <p:cNvSpPr/>
          <p:nvPr/>
        </p:nvSpPr>
        <p:spPr>
          <a:xfrm>
            <a:off x="9019378" y="3579876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!!val_XLE"/>
          <p:cNvSpPr txBox="1"/>
          <p:nvPr/>
        </p:nvSpPr>
        <p:spPr>
          <a:xfrm>
            <a:off x="5762796" y="35204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− 0,74%</a:t>
            </a:r>
          </a:p>
        </p:txBody>
      </p:sp>
      <p:sp>
        <p:nvSpPr>
          <p:cNvPr id="55" name="!!etf_XLV"/>
          <p:cNvSpPr txBox="1"/>
          <p:nvPr/>
        </p:nvSpPr>
        <p:spPr>
          <a:xfrm>
            <a:off x="731520" y="38862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XLV</a:t>
            </a:r>
          </a:p>
        </p:txBody>
      </p:sp>
      <p:sp>
        <p:nvSpPr>
          <p:cNvPr id="56" name="!!setor_XLV"/>
          <p:cNvSpPr txBox="1"/>
          <p:nvPr/>
        </p:nvSpPr>
        <p:spPr>
          <a:xfrm>
            <a:off x="1389888" y="3886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saúde</a:t>
            </a:r>
          </a:p>
        </p:txBody>
      </p:sp>
      <p:cxnSp>
        <p:nvCxnSpPr>
          <p:cNvPr id="57" name="!!trilho_XLV"/>
          <p:cNvCxnSpPr/>
          <p:nvPr/>
        </p:nvCxnSpPr>
        <p:spPr>
          <a:xfrm>
            <a:off x="3246120" y="4023360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!!lig_XLV"/>
          <p:cNvCxnSpPr/>
          <p:nvPr/>
        </p:nvCxnSpPr>
        <p:spPr>
          <a:xfrm flipH="1">
            <a:off x="7357519" y="4023360"/>
            <a:ext cx="1700076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!!pm_XLV"/>
          <p:cNvSpPr/>
          <p:nvPr/>
        </p:nvSpPr>
        <p:spPr>
          <a:xfrm>
            <a:off x="7270651" y="3936492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!!mk_XLV"/>
          <p:cNvSpPr/>
          <p:nvPr/>
        </p:nvSpPr>
        <p:spPr>
          <a:xfrm>
            <a:off x="8998159" y="3963924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!!val_XLV"/>
          <p:cNvSpPr txBox="1"/>
          <p:nvPr/>
        </p:nvSpPr>
        <p:spPr>
          <a:xfrm>
            <a:off x="6488839" y="390448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− 0,52%</a:t>
            </a:r>
          </a:p>
        </p:txBody>
      </p:sp>
      <p:sp>
        <p:nvSpPr>
          <p:cNvPr id="62" name="!!etf_XLP"/>
          <p:cNvSpPr txBox="1"/>
          <p:nvPr/>
        </p:nvSpPr>
        <p:spPr>
          <a:xfrm>
            <a:off x="731520" y="427024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XLP</a:t>
            </a:r>
          </a:p>
        </p:txBody>
      </p:sp>
      <p:sp>
        <p:nvSpPr>
          <p:cNvPr id="63" name="!!setor_XLP"/>
          <p:cNvSpPr txBox="1"/>
          <p:nvPr/>
        </p:nvSpPr>
        <p:spPr>
          <a:xfrm>
            <a:off x="1389888" y="42702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consumo básico</a:t>
            </a:r>
          </a:p>
        </p:txBody>
      </p:sp>
      <p:cxnSp>
        <p:nvCxnSpPr>
          <p:cNvPr id="64" name="!!trilho_XLP"/>
          <p:cNvCxnSpPr/>
          <p:nvPr/>
        </p:nvCxnSpPr>
        <p:spPr>
          <a:xfrm>
            <a:off x="3246120" y="4407408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!!lig_XLP"/>
          <p:cNvCxnSpPr/>
          <p:nvPr/>
        </p:nvCxnSpPr>
        <p:spPr>
          <a:xfrm flipH="1">
            <a:off x="7369482" y="4407408"/>
            <a:ext cx="1667704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!!pm_XLP"/>
          <p:cNvSpPr/>
          <p:nvPr/>
        </p:nvSpPr>
        <p:spPr>
          <a:xfrm>
            <a:off x="7282614" y="4320540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!!mk_XLP"/>
          <p:cNvSpPr/>
          <p:nvPr/>
        </p:nvSpPr>
        <p:spPr>
          <a:xfrm>
            <a:off x="8977750" y="4347972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!!val_XLP"/>
          <p:cNvSpPr txBox="1"/>
          <p:nvPr/>
        </p:nvSpPr>
        <p:spPr>
          <a:xfrm>
            <a:off x="6500802" y="4288536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− 0,51%</a:t>
            </a:r>
          </a:p>
        </p:txBody>
      </p:sp>
      <p:sp>
        <p:nvSpPr>
          <p:cNvPr id="69" name="!!etf_TIP"/>
          <p:cNvSpPr txBox="1"/>
          <p:nvPr/>
        </p:nvSpPr>
        <p:spPr>
          <a:xfrm>
            <a:off x="731520" y="465429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TIP</a:t>
            </a:r>
          </a:p>
        </p:txBody>
      </p:sp>
      <p:sp>
        <p:nvSpPr>
          <p:cNvPr id="70" name="!!setor_TIP"/>
          <p:cNvSpPr txBox="1"/>
          <p:nvPr/>
        </p:nvSpPr>
        <p:spPr>
          <a:xfrm>
            <a:off x="1389888" y="46542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Treasury · inflação</a:t>
            </a:r>
          </a:p>
        </p:txBody>
      </p:sp>
      <p:cxnSp>
        <p:nvCxnSpPr>
          <p:cNvPr id="71" name="!!trilho_TIP"/>
          <p:cNvCxnSpPr/>
          <p:nvPr/>
        </p:nvCxnSpPr>
        <p:spPr>
          <a:xfrm>
            <a:off x="3246120" y="4791456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!!lig_TIP"/>
          <p:cNvCxnSpPr/>
          <p:nvPr/>
        </p:nvCxnSpPr>
        <p:spPr>
          <a:xfrm flipH="1">
            <a:off x="8379781" y="4791456"/>
            <a:ext cx="632287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!!pm_TIP"/>
          <p:cNvSpPr/>
          <p:nvPr/>
        </p:nvSpPr>
        <p:spPr>
          <a:xfrm>
            <a:off x="8292913" y="4704588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!!mk_TIP"/>
          <p:cNvSpPr/>
          <p:nvPr/>
        </p:nvSpPr>
        <p:spPr>
          <a:xfrm>
            <a:off x="8952632" y="4732020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!!val_TIP"/>
          <p:cNvSpPr txBox="1"/>
          <p:nvPr/>
        </p:nvSpPr>
        <p:spPr>
          <a:xfrm>
            <a:off x="7511101" y="467258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− 0,20%</a:t>
            </a:r>
          </a:p>
        </p:txBody>
      </p:sp>
      <p:sp>
        <p:nvSpPr>
          <p:cNvPr id="76" name="!!etf_XLU"/>
          <p:cNvSpPr txBox="1"/>
          <p:nvPr/>
        </p:nvSpPr>
        <p:spPr>
          <a:xfrm>
            <a:off x="731520" y="503834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XLU</a:t>
            </a:r>
          </a:p>
        </p:txBody>
      </p:sp>
      <p:sp>
        <p:nvSpPr>
          <p:cNvPr id="77" name="!!setor_XLU"/>
          <p:cNvSpPr txBox="1"/>
          <p:nvPr/>
        </p:nvSpPr>
        <p:spPr>
          <a:xfrm>
            <a:off x="1389888" y="503834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utilities</a:t>
            </a:r>
          </a:p>
        </p:txBody>
      </p:sp>
      <p:cxnSp>
        <p:nvCxnSpPr>
          <p:cNvPr id="78" name="!!trilho_XLU"/>
          <p:cNvCxnSpPr/>
          <p:nvPr/>
        </p:nvCxnSpPr>
        <p:spPr>
          <a:xfrm>
            <a:off x="3246120" y="5175504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!!lig_XLU"/>
          <p:cNvCxnSpPr/>
          <p:nvPr/>
        </p:nvCxnSpPr>
        <p:spPr>
          <a:xfrm>
            <a:off x="9048468" y="5175504"/>
            <a:ext cx="435828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!!pm_XLU"/>
          <p:cNvSpPr/>
          <p:nvPr/>
        </p:nvSpPr>
        <p:spPr>
          <a:xfrm>
            <a:off x="9397428" y="5088636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!!mk_XLU"/>
          <p:cNvSpPr/>
          <p:nvPr/>
        </p:nvSpPr>
        <p:spPr>
          <a:xfrm>
            <a:off x="8989032" y="5116068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!!val_XLU"/>
          <p:cNvSpPr txBox="1"/>
          <p:nvPr/>
        </p:nvSpPr>
        <p:spPr>
          <a:xfrm>
            <a:off x="9639744" y="505663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+ 0,15%</a:t>
            </a:r>
          </a:p>
        </p:txBody>
      </p:sp>
      <p:sp>
        <p:nvSpPr>
          <p:cNvPr id="83" name="!!etf_TLT"/>
          <p:cNvSpPr txBox="1"/>
          <p:nvPr/>
        </p:nvSpPr>
        <p:spPr>
          <a:xfrm>
            <a:off x="731520" y="542239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TLT</a:t>
            </a:r>
          </a:p>
        </p:txBody>
      </p:sp>
      <p:sp>
        <p:nvSpPr>
          <p:cNvPr id="84" name="!!setor_TLT"/>
          <p:cNvSpPr txBox="1"/>
          <p:nvPr/>
        </p:nvSpPr>
        <p:spPr>
          <a:xfrm>
            <a:off x="1389888" y="54223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Treasury 20+</a:t>
            </a:r>
          </a:p>
        </p:txBody>
      </p:sp>
      <p:cxnSp>
        <p:nvCxnSpPr>
          <p:cNvPr id="85" name="!!trilho_TLT"/>
          <p:cNvCxnSpPr/>
          <p:nvPr/>
        </p:nvCxnSpPr>
        <p:spPr>
          <a:xfrm>
            <a:off x="3246120" y="5559552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!!lig_TLT"/>
          <p:cNvCxnSpPr/>
          <p:nvPr/>
        </p:nvCxnSpPr>
        <p:spPr>
          <a:xfrm>
            <a:off x="9019047" y="5559552"/>
            <a:ext cx="486856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!!pm_TLT"/>
          <p:cNvSpPr/>
          <p:nvPr/>
        </p:nvSpPr>
        <p:spPr>
          <a:xfrm>
            <a:off x="9419035" y="5472684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!!mk_TLT"/>
          <p:cNvSpPr/>
          <p:nvPr/>
        </p:nvSpPr>
        <p:spPr>
          <a:xfrm>
            <a:off x="8959611" y="5500116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!!val_TLT"/>
          <p:cNvSpPr txBox="1"/>
          <p:nvPr/>
        </p:nvSpPr>
        <p:spPr>
          <a:xfrm>
            <a:off x="9661351" y="544068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+ 0,16%</a:t>
            </a:r>
          </a:p>
        </p:txBody>
      </p:sp>
      <p:sp>
        <p:nvSpPr>
          <p:cNvPr id="90" name="!!leg_mk"/>
          <p:cNvSpPr/>
          <p:nvPr/>
        </p:nvSpPr>
        <p:spPr>
          <a:xfrm>
            <a:off x="3259836" y="6121907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!!leg_mk_t"/>
          <p:cNvSpPr txBox="1"/>
          <p:nvPr/>
        </p:nvSpPr>
        <p:spPr>
          <a:xfrm>
            <a:off x="3465576" y="60899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00">
                <a:solidFill>
                  <a:srgbClr val="F5F7FB"/>
                </a:solidFill>
                <a:latin typeface="Consolas"/>
              </a:rPr>
              <a:t>MERCADO</a:t>
            </a:r>
            <a:r>
              <a:rPr sz="900" b="0" i="0">
                <a:solidFill>
                  <a:srgbClr val="8395B5"/>
                </a:solidFill>
                <a:latin typeface="Bahnschrift SemiLight"/>
              </a:rPr>
              <a:t>  o equilíbrio π — o prêmio normal do dia</a:t>
            </a:r>
          </a:p>
        </p:txBody>
      </p:sp>
      <p:sp>
        <p:nvSpPr>
          <p:cNvPr id="92" name="!!leg_pm"/>
          <p:cNvSpPr/>
          <p:nvPr/>
        </p:nvSpPr>
        <p:spPr>
          <a:xfrm>
            <a:off x="6880859" y="6112764"/>
            <a:ext cx="137160" cy="137160"/>
          </a:xfrm>
          <a:prstGeom prst="ellipse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!!leg_pm_t"/>
          <p:cNvSpPr txBox="1"/>
          <p:nvPr/>
        </p:nvSpPr>
        <p:spPr>
          <a:xfrm>
            <a:off x="7114032" y="6089904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00">
                <a:solidFill>
                  <a:srgbClr val="F5F7FB"/>
                </a:solidFill>
                <a:latin typeface="Consolas"/>
              </a:rPr>
              <a:t>POLYMARKET</a:t>
            </a:r>
            <a:r>
              <a:rPr sz="900" b="0" i="0">
                <a:solidFill>
                  <a:srgbClr val="8395B5"/>
                </a:solidFill>
                <a:latin typeface="Bahnschrift SemiLight"/>
              </a:rPr>
              <a:t>  π + β × surpresa — β medido em reuniões passadas</a:t>
            </a:r>
          </a:p>
        </p:txBody>
      </p:sp>
      <p:sp>
        <p:nvSpPr>
          <p:cNvPr id="94" name="!!nota"/>
          <p:cNvSpPr txBox="1"/>
          <p:nvPr/>
        </p:nvSpPr>
        <p:spPr>
          <a:xfrm>
            <a:off x="731520" y="6336792"/>
            <a:ext cx="107259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surpresa = o corte que o Polymarket precifica − o que o T-bill de 3 meses embute, líquida do viés do instrumento  ·  apêndices A5 e A6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159:morph xmlns:p159="http://schemas.microsoft.com/office/powerpoint/2015/09/main" option="byObject"/>
      </p:transition>
    </mc:Choice>
    <mc:Fallback>
      <p:transition spd="fast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0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0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0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0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0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700 ligações  ·  medido no branch por grafo_repo.py</a:t>
            </a:r>
          </a:p>
        </p:txBody>
      </p:sp>
      <p:sp>
        <p:nvSpPr>
          <p:cNvPr id="16" name="s12_0_14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17" name="s12_0_15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18" name="s12_0_16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s12_0_17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20" name="s12_0_18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21" name="s12_0_19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2" name="s12_0_20"/>
          <p:cNvSpPr txBox="1"/>
          <p:nvPr/>
        </p:nvSpPr>
        <p:spPr>
          <a:xfrm>
            <a:off x="5897880" y="4809744"/>
            <a:ext cx="55595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8698A"/>
                </a:solidFill>
                <a:latin typeface="Consolas"/>
              </a:rPr>
              <a:t>clique para ver o caminho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1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1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700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3032275" y="3979405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pulso"/>
          <p:cNvSpPr/>
          <p:nvPr/>
        </p:nvSpPr>
        <p:spPr>
          <a:xfrm>
            <a:off x="2872255" y="3819385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s12_1_16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19" name="s12_1_17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20" name="s12_1_18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s12_1_19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22" name="s12_1_20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23" name="s12_1_21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4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2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2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2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2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2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700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3032275" y="3979405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V="1">
            <a:off x="3123715" y="2966173"/>
            <a:ext cx="1452894" cy="1104672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4485169" y="2874733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pulso"/>
          <p:cNvSpPr/>
          <p:nvPr/>
        </p:nvSpPr>
        <p:spPr>
          <a:xfrm>
            <a:off x="4325149" y="2714713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s12_2_18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1" name="s12_2_19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22" name="s12_2_20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s12_2_21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24" name="s12_2_22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25" name="s12_2_23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6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27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3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3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3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3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3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700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3032275" y="3979405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V="1">
            <a:off x="3123715" y="2966173"/>
            <a:ext cx="1452894" cy="1104672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4485169" y="2874733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H="1">
            <a:off x="4229439" y="2966173"/>
            <a:ext cx="347170" cy="140207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4137999" y="427681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!!pulso"/>
          <p:cNvSpPr/>
          <p:nvPr/>
        </p:nvSpPr>
        <p:spPr>
          <a:xfrm>
            <a:off x="3977979" y="4116792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s12_3_20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3" name="s12_3_21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24" name="s12_3_22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s12_3_23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26" name="s12_3_24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27" name="s12_3_25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8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29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0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4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4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4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4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4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700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3032275" y="3979405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V="1">
            <a:off x="3123715" y="2966173"/>
            <a:ext cx="1452894" cy="1104672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4485169" y="2874733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H="1">
            <a:off x="4229439" y="2966173"/>
            <a:ext cx="347170" cy="140207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4137999" y="427681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 flipH="1" flipV="1">
            <a:off x="3322795" y="3741475"/>
            <a:ext cx="906644" cy="62677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3231355" y="365003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!!pulso"/>
          <p:cNvSpPr/>
          <p:nvPr/>
        </p:nvSpPr>
        <p:spPr>
          <a:xfrm>
            <a:off x="3071335" y="3490015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s12_4_22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5" name="s12_4_23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26" name="s12_4_24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s12_4_25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28" name="s12_4_26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29" name="s12_4_27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0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1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2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3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5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5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5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5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5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700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3032275" y="3979405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V="1">
            <a:off x="3123715" y="2966173"/>
            <a:ext cx="1452894" cy="1104672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4485169" y="2874733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H="1">
            <a:off x="4229439" y="2966173"/>
            <a:ext cx="347170" cy="140207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4137999" y="427681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 flipH="1" flipV="1">
            <a:off x="3322795" y="3741475"/>
            <a:ext cx="906644" cy="62677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3231355" y="365003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!!e_4"/>
          <p:cNvCxnSpPr/>
          <p:nvPr/>
        </p:nvCxnSpPr>
        <p:spPr>
          <a:xfrm>
            <a:off x="3322795" y="3741475"/>
            <a:ext cx="135298" cy="50672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3366653" y="4156760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!!pulso"/>
          <p:cNvSpPr/>
          <p:nvPr/>
        </p:nvSpPr>
        <p:spPr>
          <a:xfrm>
            <a:off x="3206633" y="3996740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s12_5_24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7" name="s12_5_25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28" name="s12_5_26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s12_5_27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30" name="s12_5_28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31" name="s12_5_29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2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3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4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5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36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6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6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6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6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6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700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3032275" y="3979405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V="1">
            <a:off x="3123715" y="2966173"/>
            <a:ext cx="1452894" cy="1104672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4485169" y="2874733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H="1">
            <a:off x="4229439" y="2966173"/>
            <a:ext cx="347170" cy="140207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4137999" y="427681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 flipH="1" flipV="1">
            <a:off x="3322795" y="3741475"/>
            <a:ext cx="906644" cy="62677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3231355" y="365003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!!e_4"/>
          <p:cNvCxnSpPr/>
          <p:nvPr/>
        </p:nvCxnSpPr>
        <p:spPr>
          <a:xfrm>
            <a:off x="3322795" y="3741475"/>
            <a:ext cx="135298" cy="50672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3366653" y="4156760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!!e_5"/>
          <p:cNvCxnSpPr/>
          <p:nvPr/>
        </p:nvCxnSpPr>
        <p:spPr>
          <a:xfrm flipH="1" flipV="1">
            <a:off x="3415287" y="3111280"/>
            <a:ext cx="42806" cy="113692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3323847" y="3019840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!!pulso"/>
          <p:cNvSpPr/>
          <p:nvPr/>
        </p:nvSpPr>
        <p:spPr>
          <a:xfrm>
            <a:off x="3163827" y="2859820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s12_6_26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9" name="s12_6_27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0" name="s12_6_28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s12_6_29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32" name="s12_6_30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33" name="s12_6_31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4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5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6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7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38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39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7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7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7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7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7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700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3032275" y="3979405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V="1">
            <a:off x="3123715" y="2966173"/>
            <a:ext cx="1452894" cy="1104672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4485169" y="2874733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H="1">
            <a:off x="4229439" y="2966173"/>
            <a:ext cx="347170" cy="140207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4137999" y="427681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 flipH="1" flipV="1">
            <a:off x="3322795" y="3741475"/>
            <a:ext cx="906644" cy="62677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3231355" y="365003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!!e_4"/>
          <p:cNvCxnSpPr/>
          <p:nvPr/>
        </p:nvCxnSpPr>
        <p:spPr>
          <a:xfrm>
            <a:off x="3322795" y="3741475"/>
            <a:ext cx="135298" cy="50672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3366653" y="4156760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!!e_5"/>
          <p:cNvCxnSpPr/>
          <p:nvPr/>
        </p:nvCxnSpPr>
        <p:spPr>
          <a:xfrm flipH="1" flipV="1">
            <a:off x="3415287" y="3111280"/>
            <a:ext cx="42806" cy="113692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3323847" y="3019840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!!e_6"/>
          <p:cNvCxnSpPr/>
          <p:nvPr/>
        </p:nvCxnSpPr>
        <p:spPr>
          <a:xfrm flipH="1">
            <a:off x="2500956" y="3111280"/>
            <a:ext cx="914331" cy="39504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2409516" y="3414885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!!pulso"/>
          <p:cNvSpPr/>
          <p:nvPr/>
        </p:nvSpPr>
        <p:spPr>
          <a:xfrm>
            <a:off x="2249496" y="3254865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s12_7_28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1" name="s12_7_29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2" name="s12_7_30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s12_7_31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34" name="s12_7_32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35" name="s12_7_33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6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7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8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9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0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1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2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8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8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8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8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8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700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3032275" y="3979405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V="1">
            <a:off x="3123715" y="2966173"/>
            <a:ext cx="1452894" cy="1104672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4485169" y="2874733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H="1">
            <a:off x="4229439" y="2966173"/>
            <a:ext cx="347170" cy="140207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4137999" y="427681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 flipH="1" flipV="1">
            <a:off x="3322795" y="3741475"/>
            <a:ext cx="906644" cy="62677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3231355" y="365003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!!e_4"/>
          <p:cNvCxnSpPr/>
          <p:nvPr/>
        </p:nvCxnSpPr>
        <p:spPr>
          <a:xfrm>
            <a:off x="3322795" y="3741475"/>
            <a:ext cx="135298" cy="50672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3366653" y="4156760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!!e_5"/>
          <p:cNvCxnSpPr/>
          <p:nvPr/>
        </p:nvCxnSpPr>
        <p:spPr>
          <a:xfrm flipH="1" flipV="1">
            <a:off x="3415287" y="3111280"/>
            <a:ext cx="42806" cy="113692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3323847" y="3019840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!!e_6"/>
          <p:cNvCxnSpPr/>
          <p:nvPr/>
        </p:nvCxnSpPr>
        <p:spPr>
          <a:xfrm flipH="1">
            <a:off x="2500956" y="3111280"/>
            <a:ext cx="914331" cy="39504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2409516" y="3414885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9" name="!!e_7"/>
          <p:cNvCxnSpPr/>
          <p:nvPr/>
        </p:nvCxnSpPr>
        <p:spPr>
          <a:xfrm>
            <a:off x="2500956" y="3506325"/>
            <a:ext cx="992426" cy="33491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3401942" y="3749801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!!pulso"/>
          <p:cNvSpPr/>
          <p:nvPr/>
        </p:nvSpPr>
        <p:spPr>
          <a:xfrm>
            <a:off x="3241922" y="3589781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s12_8_30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3" name="s12_8_31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4" name="s12_8_32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s12_8_33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36" name="s12_8_34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37" name="s12_8_35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8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9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0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1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2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3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4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45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9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9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9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9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9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700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3032275" y="3979405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V="1">
            <a:off x="3123715" y="2966173"/>
            <a:ext cx="1452894" cy="1104672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4485169" y="2874733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H="1">
            <a:off x="4229439" y="2966173"/>
            <a:ext cx="347170" cy="140207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4137999" y="427681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 flipH="1" flipV="1">
            <a:off x="3322795" y="3741475"/>
            <a:ext cx="906644" cy="62677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3231355" y="365003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!!e_4"/>
          <p:cNvCxnSpPr/>
          <p:nvPr/>
        </p:nvCxnSpPr>
        <p:spPr>
          <a:xfrm>
            <a:off x="3322795" y="3741475"/>
            <a:ext cx="135298" cy="50672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3366653" y="4156760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!!e_5"/>
          <p:cNvCxnSpPr/>
          <p:nvPr/>
        </p:nvCxnSpPr>
        <p:spPr>
          <a:xfrm flipH="1" flipV="1">
            <a:off x="3415287" y="3111280"/>
            <a:ext cx="42806" cy="113692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3323847" y="3019840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!!e_6"/>
          <p:cNvCxnSpPr/>
          <p:nvPr/>
        </p:nvCxnSpPr>
        <p:spPr>
          <a:xfrm flipH="1">
            <a:off x="2500956" y="3111280"/>
            <a:ext cx="914331" cy="39504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2409516" y="3414885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9" name="!!e_7"/>
          <p:cNvCxnSpPr/>
          <p:nvPr/>
        </p:nvCxnSpPr>
        <p:spPr>
          <a:xfrm>
            <a:off x="2500956" y="3506325"/>
            <a:ext cx="992426" cy="33491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3401942" y="3749801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1" name="!!e_8"/>
          <p:cNvCxnSpPr/>
          <p:nvPr/>
        </p:nvCxnSpPr>
        <p:spPr>
          <a:xfrm flipH="1" flipV="1">
            <a:off x="2452158" y="3068098"/>
            <a:ext cx="1041224" cy="773143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360718" y="297665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!!pulso"/>
          <p:cNvSpPr/>
          <p:nvPr/>
        </p:nvSpPr>
        <p:spPr>
          <a:xfrm>
            <a:off x="2200698" y="2816638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s12_9_32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5" name="s12_9_33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6" name="s12_9_34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s12_9_35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38" name="s12_9_36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39" name="s12_9_37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0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1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2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3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4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5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6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47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48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10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0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0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0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10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700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3032275" y="3979405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V="1">
            <a:off x="3123715" y="2966173"/>
            <a:ext cx="1452894" cy="1104672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4485169" y="2874733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H="1">
            <a:off x="4229439" y="2966173"/>
            <a:ext cx="347170" cy="140207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4137999" y="427681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 flipH="1" flipV="1">
            <a:off x="3322795" y="3741475"/>
            <a:ext cx="906644" cy="62677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3231355" y="365003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!!e_4"/>
          <p:cNvCxnSpPr/>
          <p:nvPr/>
        </p:nvCxnSpPr>
        <p:spPr>
          <a:xfrm>
            <a:off x="3322795" y="3741475"/>
            <a:ext cx="135298" cy="50672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3366653" y="4156760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!!e_5"/>
          <p:cNvCxnSpPr/>
          <p:nvPr/>
        </p:nvCxnSpPr>
        <p:spPr>
          <a:xfrm flipH="1" flipV="1">
            <a:off x="3415287" y="3111280"/>
            <a:ext cx="42806" cy="113692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3323847" y="3019840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!!e_6"/>
          <p:cNvCxnSpPr/>
          <p:nvPr/>
        </p:nvCxnSpPr>
        <p:spPr>
          <a:xfrm flipH="1">
            <a:off x="2500956" y="3111280"/>
            <a:ext cx="914331" cy="39504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2409516" y="3414885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9" name="!!e_7"/>
          <p:cNvCxnSpPr/>
          <p:nvPr/>
        </p:nvCxnSpPr>
        <p:spPr>
          <a:xfrm>
            <a:off x="2500956" y="3506325"/>
            <a:ext cx="992426" cy="33491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3401942" y="3749801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1" name="!!e_8"/>
          <p:cNvCxnSpPr/>
          <p:nvPr/>
        </p:nvCxnSpPr>
        <p:spPr>
          <a:xfrm flipH="1" flipV="1">
            <a:off x="2452158" y="3068098"/>
            <a:ext cx="1041224" cy="773143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360718" y="297665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3" name="!!e_9"/>
          <p:cNvCxnSpPr/>
          <p:nvPr/>
        </p:nvCxnSpPr>
        <p:spPr>
          <a:xfrm>
            <a:off x="2452158" y="3068098"/>
            <a:ext cx="403729" cy="79372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!!n_9"/>
          <p:cNvSpPr/>
          <p:nvPr/>
        </p:nvSpPr>
        <p:spPr>
          <a:xfrm>
            <a:off x="2764447" y="37703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!!pulso"/>
          <p:cNvSpPr/>
          <p:nvPr/>
        </p:nvSpPr>
        <p:spPr>
          <a:xfrm>
            <a:off x="2604427" y="3610358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s12_10_34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7" name="s12_10_35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8" name="s12_10_36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s12_10_37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40" name="s12_10_38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41" name="s12_10_39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2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3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4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5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6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7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8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49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50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  <p:sp>
        <p:nvSpPr>
          <p:cNvPr id="51" name="!!li_9"/>
          <p:cNvSpPr txBox="1"/>
          <p:nvPr/>
        </p:nvSpPr>
        <p:spPr>
          <a:xfrm>
            <a:off x="8677656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10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view_incerteza_anuncio.py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11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1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1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1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11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700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3032275" y="3979405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V="1">
            <a:off x="3123715" y="2966173"/>
            <a:ext cx="1452894" cy="1104672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4485169" y="2874733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H="1">
            <a:off x="4229439" y="2966173"/>
            <a:ext cx="347170" cy="140207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4137999" y="427681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 flipH="1" flipV="1">
            <a:off x="3322795" y="3741475"/>
            <a:ext cx="906644" cy="62677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3231355" y="365003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!!e_4"/>
          <p:cNvCxnSpPr/>
          <p:nvPr/>
        </p:nvCxnSpPr>
        <p:spPr>
          <a:xfrm>
            <a:off x="3322795" y="3741475"/>
            <a:ext cx="135298" cy="50672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3366653" y="4156760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!!e_5"/>
          <p:cNvCxnSpPr/>
          <p:nvPr/>
        </p:nvCxnSpPr>
        <p:spPr>
          <a:xfrm flipH="1" flipV="1">
            <a:off x="3415287" y="3111280"/>
            <a:ext cx="42806" cy="113692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3323847" y="3019840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!!e_6"/>
          <p:cNvCxnSpPr/>
          <p:nvPr/>
        </p:nvCxnSpPr>
        <p:spPr>
          <a:xfrm flipH="1">
            <a:off x="2500956" y="3111280"/>
            <a:ext cx="914331" cy="39504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2409516" y="3414885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9" name="!!e_7"/>
          <p:cNvCxnSpPr/>
          <p:nvPr/>
        </p:nvCxnSpPr>
        <p:spPr>
          <a:xfrm>
            <a:off x="2500956" y="3506325"/>
            <a:ext cx="992426" cy="33491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3401942" y="3749801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1" name="!!e_8"/>
          <p:cNvCxnSpPr/>
          <p:nvPr/>
        </p:nvCxnSpPr>
        <p:spPr>
          <a:xfrm flipH="1" flipV="1">
            <a:off x="2452158" y="3068098"/>
            <a:ext cx="1041224" cy="773143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360718" y="297665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3" name="!!e_9"/>
          <p:cNvCxnSpPr/>
          <p:nvPr/>
        </p:nvCxnSpPr>
        <p:spPr>
          <a:xfrm>
            <a:off x="2452158" y="3068098"/>
            <a:ext cx="403729" cy="79372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!!n_9"/>
          <p:cNvSpPr/>
          <p:nvPr/>
        </p:nvSpPr>
        <p:spPr>
          <a:xfrm>
            <a:off x="2764447" y="37703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5" name="!!e_10"/>
          <p:cNvCxnSpPr/>
          <p:nvPr/>
        </p:nvCxnSpPr>
        <p:spPr>
          <a:xfrm>
            <a:off x="2855887" y="3861818"/>
            <a:ext cx="267397" cy="159199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!!n_10"/>
          <p:cNvSpPr/>
          <p:nvPr/>
        </p:nvSpPr>
        <p:spPr>
          <a:xfrm>
            <a:off x="3031844" y="5362376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!!pulso"/>
          <p:cNvSpPr/>
          <p:nvPr/>
        </p:nvSpPr>
        <p:spPr>
          <a:xfrm>
            <a:off x="2871824" y="5202356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s12_11_36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9" name="s12_11_37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40" name="s12_11_38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s12_11_39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42" name="s12_11_40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43" name="s12_11_41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4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5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6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7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8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9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50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51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52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  <p:sp>
        <p:nvSpPr>
          <p:cNvPr id="53" name="!!li_9"/>
          <p:cNvSpPr txBox="1"/>
          <p:nvPr/>
        </p:nvSpPr>
        <p:spPr>
          <a:xfrm>
            <a:off x="8677656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10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view_incerteza_anuncio.py</a:t>
            </a:r>
          </a:p>
        </p:txBody>
      </p:sp>
      <p:sp>
        <p:nvSpPr>
          <p:cNvPr id="54" name="!!li_10"/>
          <p:cNvSpPr txBox="1"/>
          <p:nvPr/>
        </p:nvSpPr>
        <p:spPr>
          <a:xfrm>
            <a:off x="8677656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11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tatica_sleeves.py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12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2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2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2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12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700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3032275" y="3979405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V="1">
            <a:off x="3123715" y="2966173"/>
            <a:ext cx="1452894" cy="1104672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4485169" y="2874733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H="1">
            <a:off x="4229439" y="2966173"/>
            <a:ext cx="347170" cy="140207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4137999" y="427681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 flipH="1" flipV="1">
            <a:off x="3322795" y="3741475"/>
            <a:ext cx="906644" cy="62677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3231355" y="365003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!!e_4"/>
          <p:cNvCxnSpPr/>
          <p:nvPr/>
        </p:nvCxnSpPr>
        <p:spPr>
          <a:xfrm>
            <a:off x="3322795" y="3741475"/>
            <a:ext cx="135298" cy="50672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3366653" y="4156760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!!e_5"/>
          <p:cNvCxnSpPr/>
          <p:nvPr/>
        </p:nvCxnSpPr>
        <p:spPr>
          <a:xfrm flipH="1" flipV="1">
            <a:off x="3415287" y="3111280"/>
            <a:ext cx="42806" cy="113692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3323847" y="3019840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!!e_6"/>
          <p:cNvCxnSpPr/>
          <p:nvPr/>
        </p:nvCxnSpPr>
        <p:spPr>
          <a:xfrm flipH="1">
            <a:off x="2500956" y="3111280"/>
            <a:ext cx="914331" cy="39504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2409516" y="3414885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9" name="!!e_7"/>
          <p:cNvCxnSpPr/>
          <p:nvPr/>
        </p:nvCxnSpPr>
        <p:spPr>
          <a:xfrm>
            <a:off x="2500956" y="3506325"/>
            <a:ext cx="992426" cy="33491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3401942" y="3749801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1" name="!!e_8"/>
          <p:cNvCxnSpPr/>
          <p:nvPr/>
        </p:nvCxnSpPr>
        <p:spPr>
          <a:xfrm flipH="1" flipV="1">
            <a:off x="2452158" y="3068098"/>
            <a:ext cx="1041224" cy="773143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360718" y="297665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3" name="!!e_9"/>
          <p:cNvCxnSpPr/>
          <p:nvPr/>
        </p:nvCxnSpPr>
        <p:spPr>
          <a:xfrm>
            <a:off x="2452158" y="3068098"/>
            <a:ext cx="403729" cy="79372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!!n_9"/>
          <p:cNvSpPr/>
          <p:nvPr/>
        </p:nvSpPr>
        <p:spPr>
          <a:xfrm>
            <a:off x="2764447" y="37703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5" name="!!e_10"/>
          <p:cNvCxnSpPr/>
          <p:nvPr/>
        </p:nvCxnSpPr>
        <p:spPr>
          <a:xfrm>
            <a:off x="2855887" y="3861818"/>
            <a:ext cx="267397" cy="159199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!!n_10"/>
          <p:cNvSpPr/>
          <p:nvPr/>
        </p:nvSpPr>
        <p:spPr>
          <a:xfrm>
            <a:off x="3031844" y="5362376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s12_12_35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8" name="s12_12_36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9" name="s12_12_37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s12_12_38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41" name="s12_12_39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42" name="s12_12_40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3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4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5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6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7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8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9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50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51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  <p:sp>
        <p:nvSpPr>
          <p:cNvPr id="52" name="!!li_9"/>
          <p:cNvSpPr txBox="1"/>
          <p:nvPr/>
        </p:nvSpPr>
        <p:spPr>
          <a:xfrm>
            <a:off x="8677656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10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view_incerteza_anuncio.py</a:t>
            </a:r>
          </a:p>
        </p:txBody>
      </p:sp>
      <p:sp>
        <p:nvSpPr>
          <p:cNvPr id="53" name="!!li_10"/>
          <p:cNvSpPr txBox="1"/>
          <p:nvPr/>
        </p:nvSpPr>
        <p:spPr>
          <a:xfrm>
            <a:off x="8677656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11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tatica_sleeves.py</a:t>
            </a:r>
          </a:p>
        </p:txBody>
      </p:sp>
      <p:sp>
        <p:nvSpPr>
          <p:cNvPr id="54" name="s12_12_52"/>
          <p:cNvSpPr txBox="1"/>
          <p:nvPr/>
        </p:nvSpPr>
        <p:spPr>
          <a:xfrm>
            <a:off x="5897880" y="6144768"/>
            <a:ext cx="55595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5F7FB"/>
                </a:solidFill>
                <a:latin typeface="Consolas"/>
              </a:rPr>
              <a:t>23 comandos · 11 arquivos · </a:t>
            </a:r>
            <a:r>
              <a:rPr sz="900" b="1" i="0">
                <a:solidFill>
                  <a:srgbClr val="FFB531"/>
                </a:solidFill>
                <a:latin typeface="Consolas"/>
              </a:rPr>
              <a:t>contrato  →  análise  →  código  →  dado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550">
        <p159:morph xmlns:p159="http://schemas.microsoft.com/office/powerpoint/2015/09/main" option="byObject"/>
      </p:transition>
    </mc:Choice>
    <mc:Fallback>
      <p:transition spd="fast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13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3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IA em números</a:t>
            </a:r>
          </a:p>
        </p:txBody>
      </p:sp>
      <p:sp>
        <p:nvSpPr>
          <p:cNvPr id="7" name="s13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13</a:t>
            </a:r>
          </a:p>
        </p:txBody>
      </p:sp>
      <p:cxnSp>
        <p:nvCxnSpPr>
          <p:cNvPr id="8" name="s13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3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Medimos o uso de IA como medimos a estratégia: pelo registro.</a:t>
            </a:r>
          </a:p>
        </p:txBody>
      </p:sp>
      <p:cxnSp>
        <p:nvCxnSpPr>
          <p:cNvPr id="10" name="s13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13_11"/>
          <p:cNvSpPr/>
          <p:nvPr/>
        </p:nvSpPr>
        <p:spPr>
          <a:xfrm>
            <a:off x="731520" y="1554480"/>
            <a:ext cx="1245870" cy="896112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s13_12"/>
          <p:cNvSpPr txBox="1"/>
          <p:nvPr/>
        </p:nvSpPr>
        <p:spPr>
          <a:xfrm>
            <a:off x="877824" y="1609344"/>
            <a:ext cx="9715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FFB531"/>
                </a:solidFill>
                <a:latin typeface="Bahnschrift SemiBold Condensed"/>
              </a:rPr>
              <a:t>91</a:t>
            </a:r>
          </a:p>
        </p:txBody>
      </p:sp>
      <p:sp>
        <p:nvSpPr>
          <p:cNvPr id="15" name="s13_13"/>
          <p:cNvSpPr txBox="1"/>
          <p:nvPr/>
        </p:nvSpPr>
        <p:spPr>
          <a:xfrm>
            <a:off x="877824" y="2048256"/>
            <a:ext cx="97155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 spc="40">
                <a:solidFill>
                  <a:srgbClr val="F5F7FB"/>
                </a:solidFill>
                <a:latin typeface="Consolas"/>
              </a:rPr>
              <a:t>SESSÕES DE IA</a:t>
            </a:r>
          </a:p>
        </p:txBody>
      </p:sp>
      <p:sp>
        <p:nvSpPr>
          <p:cNvPr id="16" name="s13_14"/>
          <p:cNvSpPr txBox="1"/>
          <p:nvPr/>
        </p:nvSpPr>
        <p:spPr>
          <a:xfrm>
            <a:off x="877824" y="2212848"/>
            <a:ext cx="97155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395B5"/>
                </a:solidFill>
                <a:latin typeface="Bahnschrift SemiLight"/>
              </a:rPr>
              <a:t>Felipe 55 · Lia 18 · Paulo 18</a:t>
            </a:r>
          </a:p>
        </p:txBody>
      </p:sp>
      <p:sp>
        <p:nvSpPr>
          <p:cNvPr id="17" name="s13_15"/>
          <p:cNvSpPr/>
          <p:nvPr/>
        </p:nvSpPr>
        <p:spPr>
          <a:xfrm>
            <a:off x="2068830" y="1554480"/>
            <a:ext cx="1245870" cy="896112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s13_16"/>
          <p:cNvSpPr txBox="1"/>
          <p:nvPr/>
        </p:nvSpPr>
        <p:spPr>
          <a:xfrm>
            <a:off x="2215134" y="1609344"/>
            <a:ext cx="9715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FFB531"/>
                </a:solidFill>
                <a:latin typeface="Bahnschrift SemiBold Condensed"/>
              </a:rPr>
              <a:t>232k</a:t>
            </a:r>
          </a:p>
        </p:txBody>
      </p:sp>
      <p:sp>
        <p:nvSpPr>
          <p:cNvPr id="19" name="s13_17"/>
          <p:cNvSpPr txBox="1"/>
          <p:nvPr/>
        </p:nvSpPr>
        <p:spPr>
          <a:xfrm>
            <a:off x="2215134" y="2048256"/>
            <a:ext cx="97155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 spc="40">
                <a:solidFill>
                  <a:srgbClr val="F5F7FB"/>
                </a:solidFill>
                <a:latin typeface="Consolas"/>
              </a:rPr>
              <a:t>TOKENS POR SESSÃO</a:t>
            </a:r>
          </a:p>
        </p:txBody>
      </p:sp>
      <p:sp>
        <p:nvSpPr>
          <p:cNvPr id="20" name="s13_18"/>
          <p:cNvSpPr txBox="1"/>
          <p:nvPr/>
        </p:nvSpPr>
        <p:spPr>
          <a:xfrm>
            <a:off x="2215134" y="2212848"/>
            <a:ext cx="97155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395B5"/>
                </a:solidFill>
                <a:latin typeface="Bahnschrift SemiLight"/>
              </a:rPr>
              <a:t>média · 19,7M no total</a:t>
            </a:r>
          </a:p>
        </p:txBody>
      </p:sp>
      <p:sp>
        <p:nvSpPr>
          <p:cNvPr id="21" name="s13_19"/>
          <p:cNvSpPr/>
          <p:nvPr/>
        </p:nvSpPr>
        <p:spPr>
          <a:xfrm>
            <a:off x="3406140" y="1554480"/>
            <a:ext cx="1245870" cy="896112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s13_20"/>
          <p:cNvSpPr txBox="1"/>
          <p:nvPr/>
        </p:nvSpPr>
        <p:spPr>
          <a:xfrm>
            <a:off x="3552444" y="1609344"/>
            <a:ext cx="9715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FFB531"/>
                </a:solidFill>
                <a:latin typeface="Bahnschrift SemiBold Condensed"/>
              </a:rPr>
              <a:t>81</a:t>
            </a:r>
          </a:p>
        </p:txBody>
      </p:sp>
      <p:sp>
        <p:nvSpPr>
          <p:cNvPr id="23" name="s13_21"/>
          <p:cNvSpPr txBox="1"/>
          <p:nvPr/>
        </p:nvSpPr>
        <p:spPr>
          <a:xfrm>
            <a:off x="3552444" y="2048256"/>
            <a:ext cx="97155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 spc="40">
                <a:solidFill>
                  <a:srgbClr val="F5F7FB"/>
                </a:solidFill>
                <a:latin typeface="Consolas"/>
              </a:rPr>
              <a:t>DECISÕES REGISTRADAS</a:t>
            </a:r>
          </a:p>
        </p:txBody>
      </p:sp>
      <p:sp>
        <p:nvSpPr>
          <p:cNvPr id="24" name="s13_22"/>
          <p:cNvSpPr txBox="1"/>
          <p:nvPr/>
        </p:nvSpPr>
        <p:spPr>
          <a:xfrm>
            <a:off x="3552444" y="2212848"/>
            <a:ext cx="97155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395B5"/>
                </a:solidFill>
                <a:latin typeface="Bahnschrift SemiLight"/>
              </a:rPr>
              <a:t>escaladas ao humano</a:t>
            </a:r>
          </a:p>
        </p:txBody>
      </p:sp>
      <p:sp>
        <p:nvSpPr>
          <p:cNvPr id="25" name="s13_23"/>
          <p:cNvSpPr/>
          <p:nvPr/>
        </p:nvSpPr>
        <p:spPr>
          <a:xfrm>
            <a:off x="4743450" y="1554480"/>
            <a:ext cx="1245870" cy="896112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s13_24"/>
          <p:cNvSpPr txBox="1"/>
          <p:nvPr/>
        </p:nvSpPr>
        <p:spPr>
          <a:xfrm>
            <a:off x="4889754" y="1609344"/>
            <a:ext cx="9715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FFB531"/>
                </a:solidFill>
                <a:latin typeface="Bahnschrift SemiBold Condensed"/>
              </a:rPr>
              <a:t>37%</a:t>
            </a:r>
          </a:p>
        </p:txBody>
      </p:sp>
      <p:sp>
        <p:nvSpPr>
          <p:cNvPr id="27" name="s13_25"/>
          <p:cNvSpPr txBox="1"/>
          <p:nvPr/>
        </p:nvSpPr>
        <p:spPr>
          <a:xfrm>
            <a:off x="4889754" y="2048256"/>
            <a:ext cx="97155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 spc="40">
                <a:solidFill>
                  <a:srgbClr val="F5F7FB"/>
                </a:solidFill>
                <a:latin typeface="Consolas"/>
              </a:rPr>
              <a:t>TAXA DE RECORREÇÃO</a:t>
            </a:r>
          </a:p>
        </p:txBody>
      </p:sp>
      <p:sp>
        <p:nvSpPr>
          <p:cNvPr id="28" name="s13_26"/>
          <p:cNvSpPr txBox="1"/>
          <p:nvPr/>
        </p:nvSpPr>
        <p:spPr>
          <a:xfrm>
            <a:off x="4889754" y="2212848"/>
            <a:ext cx="97155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395B5"/>
                </a:solidFill>
                <a:latin typeface="Bahnschrift SemiLight"/>
              </a:rPr>
              <a:t>pediram 2ª rodada</a:t>
            </a:r>
          </a:p>
        </p:txBody>
      </p:sp>
      <p:sp>
        <p:nvSpPr>
          <p:cNvPr id="29" name="s13_27"/>
          <p:cNvSpPr txBox="1"/>
          <p:nvPr/>
        </p:nvSpPr>
        <p:spPr>
          <a:xfrm>
            <a:off x="731520" y="2633472"/>
            <a:ext cx="5257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ONDE FOI O ESFORÇO</a:t>
            </a:r>
          </a:p>
        </p:txBody>
      </p:sp>
      <p:sp>
        <p:nvSpPr>
          <p:cNvPr id="30" name="s13_28"/>
          <p:cNvSpPr txBox="1"/>
          <p:nvPr/>
        </p:nvSpPr>
        <p:spPr>
          <a:xfrm>
            <a:off x="731520" y="28803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por sessão</a:t>
            </a:r>
          </a:p>
        </p:txBody>
      </p:sp>
      <p:sp>
        <p:nvSpPr>
          <p:cNvPr id="31" name="s13_29"/>
          <p:cNvSpPr/>
          <p:nvPr/>
        </p:nvSpPr>
        <p:spPr>
          <a:xfrm>
            <a:off x="1600200" y="2880360"/>
            <a:ext cx="1350498" cy="219456"/>
          </a:xfrm>
          <a:prstGeom prst="rect">
            <a:avLst/>
          </a:prstGeom>
          <a:solidFill>
            <a:srgbClr val="FFB531"/>
          </a:solidFill>
          <a:ln w="9525">
            <a:solidFill>
              <a:srgbClr val="0A13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s13_30"/>
          <p:cNvSpPr txBox="1"/>
          <p:nvPr/>
        </p:nvSpPr>
        <p:spPr>
          <a:xfrm>
            <a:off x="1600200" y="2880360"/>
            <a:ext cx="1350498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A1325"/>
                </a:solidFill>
                <a:latin typeface="Consolas"/>
              </a:rPr>
              <a:t>31%</a:t>
            </a:r>
          </a:p>
        </p:txBody>
      </p:sp>
      <p:sp>
        <p:nvSpPr>
          <p:cNvPr id="33" name="s13_31"/>
          <p:cNvSpPr/>
          <p:nvPr/>
        </p:nvSpPr>
        <p:spPr>
          <a:xfrm>
            <a:off x="2950698" y="2880360"/>
            <a:ext cx="2363372" cy="219456"/>
          </a:xfrm>
          <a:prstGeom prst="rect">
            <a:avLst/>
          </a:prstGeom>
          <a:solidFill>
            <a:srgbClr val="4F8EF7"/>
          </a:solidFill>
          <a:ln w="9525">
            <a:solidFill>
              <a:srgbClr val="0A13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s13_32"/>
          <p:cNvSpPr txBox="1"/>
          <p:nvPr/>
        </p:nvSpPr>
        <p:spPr>
          <a:xfrm>
            <a:off x="2950698" y="2880360"/>
            <a:ext cx="2363372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A1325"/>
                </a:solidFill>
                <a:latin typeface="Consolas"/>
              </a:rPr>
              <a:t>54%</a:t>
            </a:r>
          </a:p>
        </p:txBody>
      </p:sp>
      <p:sp>
        <p:nvSpPr>
          <p:cNvPr id="35" name="s13_33"/>
          <p:cNvSpPr/>
          <p:nvPr/>
        </p:nvSpPr>
        <p:spPr>
          <a:xfrm>
            <a:off x="5314070" y="2880360"/>
            <a:ext cx="675249" cy="219456"/>
          </a:xfrm>
          <a:prstGeom prst="rect">
            <a:avLst/>
          </a:prstGeom>
          <a:solidFill>
            <a:srgbClr val="2FD3B0"/>
          </a:solidFill>
          <a:ln w="9525">
            <a:solidFill>
              <a:srgbClr val="0A13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s13_34"/>
          <p:cNvSpPr txBox="1"/>
          <p:nvPr/>
        </p:nvSpPr>
        <p:spPr>
          <a:xfrm>
            <a:off x="5314070" y="2880360"/>
            <a:ext cx="675249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A1325"/>
                </a:solidFill>
                <a:latin typeface="Consolas"/>
              </a:rPr>
              <a:t>15%</a:t>
            </a:r>
          </a:p>
        </p:txBody>
      </p:sp>
      <p:sp>
        <p:nvSpPr>
          <p:cNvPr id="37" name="s13_35"/>
          <p:cNvSpPr txBox="1"/>
          <p:nvPr/>
        </p:nvSpPr>
        <p:spPr>
          <a:xfrm>
            <a:off x="731520" y="3209544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por token</a:t>
            </a:r>
          </a:p>
        </p:txBody>
      </p:sp>
      <p:sp>
        <p:nvSpPr>
          <p:cNvPr id="38" name="s13_36"/>
          <p:cNvSpPr/>
          <p:nvPr/>
        </p:nvSpPr>
        <p:spPr>
          <a:xfrm>
            <a:off x="1600200" y="3209544"/>
            <a:ext cx="1083937" cy="219456"/>
          </a:xfrm>
          <a:prstGeom prst="rect">
            <a:avLst/>
          </a:prstGeom>
          <a:solidFill>
            <a:srgbClr val="FFB531"/>
          </a:solidFill>
          <a:ln w="9525">
            <a:solidFill>
              <a:srgbClr val="0A13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s13_37"/>
          <p:cNvSpPr txBox="1"/>
          <p:nvPr/>
        </p:nvSpPr>
        <p:spPr>
          <a:xfrm>
            <a:off x="1600200" y="3209544"/>
            <a:ext cx="1083937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A1325"/>
                </a:solidFill>
                <a:latin typeface="Consolas"/>
              </a:rPr>
              <a:t>25%</a:t>
            </a:r>
          </a:p>
        </p:txBody>
      </p:sp>
      <p:sp>
        <p:nvSpPr>
          <p:cNvPr id="40" name="s13_38"/>
          <p:cNvSpPr/>
          <p:nvPr/>
        </p:nvSpPr>
        <p:spPr>
          <a:xfrm>
            <a:off x="2684137" y="3209544"/>
            <a:ext cx="3128987" cy="219456"/>
          </a:xfrm>
          <a:prstGeom prst="rect">
            <a:avLst/>
          </a:prstGeom>
          <a:solidFill>
            <a:srgbClr val="4F8EF7"/>
          </a:solidFill>
          <a:ln w="9525">
            <a:solidFill>
              <a:srgbClr val="0A13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s13_39"/>
          <p:cNvSpPr txBox="1"/>
          <p:nvPr/>
        </p:nvSpPr>
        <p:spPr>
          <a:xfrm>
            <a:off x="2684137" y="3209544"/>
            <a:ext cx="3128987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A1325"/>
                </a:solidFill>
                <a:latin typeface="Consolas"/>
              </a:rPr>
              <a:t>71%</a:t>
            </a:r>
          </a:p>
        </p:txBody>
      </p:sp>
      <p:sp>
        <p:nvSpPr>
          <p:cNvPr id="42" name="s13_40"/>
          <p:cNvSpPr/>
          <p:nvPr/>
        </p:nvSpPr>
        <p:spPr>
          <a:xfrm>
            <a:off x="5813124" y="3209544"/>
            <a:ext cx="176195" cy="219456"/>
          </a:xfrm>
          <a:prstGeom prst="rect">
            <a:avLst/>
          </a:prstGeom>
          <a:solidFill>
            <a:srgbClr val="2FD3B0"/>
          </a:solidFill>
          <a:ln w="9525">
            <a:solidFill>
              <a:srgbClr val="0A13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s13_41"/>
          <p:cNvSpPr/>
          <p:nvPr/>
        </p:nvSpPr>
        <p:spPr>
          <a:xfrm>
            <a:off x="1604772" y="3607308"/>
            <a:ext cx="100584" cy="100584"/>
          </a:xfrm>
          <a:prstGeom prst="ellipse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s13_42"/>
          <p:cNvSpPr txBox="1"/>
          <p:nvPr/>
        </p:nvSpPr>
        <p:spPr>
          <a:xfrm>
            <a:off x="1773936" y="3566160"/>
            <a:ext cx="219456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pesquisa e decisão</a:t>
            </a:r>
          </a:p>
        </p:txBody>
      </p:sp>
      <p:sp>
        <p:nvSpPr>
          <p:cNvPr id="45" name="s13_43"/>
          <p:cNvSpPr/>
          <p:nvPr/>
        </p:nvSpPr>
        <p:spPr>
          <a:xfrm>
            <a:off x="2963570" y="3607308"/>
            <a:ext cx="100584" cy="100584"/>
          </a:xfrm>
          <a:prstGeom prst="ellipse">
            <a:avLst/>
          </a:prstGeom>
          <a:solidFill>
            <a:srgbClr val="4F8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s13_44"/>
          <p:cNvSpPr txBox="1"/>
          <p:nvPr/>
        </p:nvSpPr>
        <p:spPr>
          <a:xfrm>
            <a:off x="3132734" y="3566160"/>
            <a:ext cx="219456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análise e medição</a:t>
            </a:r>
          </a:p>
        </p:txBody>
      </p:sp>
      <p:sp>
        <p:nvSpPr>
          <p:cNvPr id="47" name="s13_45"/>
          <p:cNvSpPr/>
          <p:nvPr/>
        </p:nvSpPr>
        <p:spPr>
          <a:xfrm>
            <a:off x="4265676" y="3607308"/>
            <a:ext cx="100584" cy="100584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s13_46"/>
          <p:cNvSpPr txBox="1"/>
          <p:nvPr/>
        </p:nvSpPr>
        <p:spPr>
          <a:xfrm>
            <a:off x="4434840" y="3566160"/>
            <a:ext cx="219456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código</a:t>
            </a:r>
          </a:p>
        </p:txBody>
      </p:sp>
      <p:sp>
        <p:nvSpPr>
          <p:cNvPr id="49" name="s13_47"/>
          <p:cNvSpPr txBox="1"/>
          <p:nvPr/>
        </p:nvSpPr>
        <p:spPr>
          <a:xfrm>
            <a:off x="731520" y="3913632"/>
            <a:ext cx="5257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145 ERROS DA IA  ·  QUEM PEGOU</a:t>
            </a:r>
          </a:p>
        </p:txBody>
      </p:sp>
      <p:sp>
        <p:nvSpPr>
          <p:cNvPr id="50" name="s13_48"/>
          <p:cNvSpPr/>
          <p:nvPr/>
        </p:nvSpPr>
        <p:spPr>
          <a:xfrm>
            <a:off x="731520" y="4160520"/>
            <a:ext cx="1813034" cy="237744"/>
          </a:xfrm>
          <a:prstGeom prst="rect">
            <a:avLst/>
          </a:prstGeom>
          <a:solidFill>
            <a:srgbClr val="2FD3B0"/>
          </a:solidFill>
          <a:ln w="9525">
            <a:solidFill>
              <a:srgbClr val="0A13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s13_49"/>
          <p:cNvSpPr txBox="1"/>
          <p:nvPr/>
        </p:nvSpPr>
        <p:spPr>
          <a:xfrm>
            <a:off x="731520" y="4160520"/>
            <a:ext cx="1813034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A1325"/>
                </a:solidFill>
                <a:latin typeface="Consolas"/>
              </a:rPr>
              <a:t>50</a:t>
            </a:r>
          </a:p>
        </p:txBody>
      </p:sp>
      <p:sp>
        <p:nvSpPr>
          <p:cNvPr id="52" name="s13_50"/>
          <p:cNvSpPr/>
          <p:nvPr/>
        </p:nvSpPr>
        <p:spPr>
          <a:xfrm>
            <a:off x="2544554" y="4160520"/>
            <a:ext cx="1667991" cy="237744"/>
          </a:xfrm>
          <a:prstGeom prst="rect">
            <a:avLst/>
          </a:prstGeom>
          <a:solidFill>
            <a:srgbClr val="4F8EF7"/>
          </a:solidFill>
          <a:ln w="9525">
            <a:solidFill>
              <a:srgbClr val="0A13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s13_51"/>
          <p:cNvSpPr txBox="1"/>
          <p:nvPr/>
        </p:nvSpPr>
        <p:spPr>
          <a:xfrm>
            <a:off x="2544554" y="4160520"/>
            <a:ext cx="1667991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A1325"/>
                </a:solidFill>
                <a:latin typeface="Consolas"/>
              </a:rPr>
              <a:t>46</a:t>
            </a:r>
          </a:p>
        </p:txBody>
      </p:sp>
      <p:sp>
        <p:nvSpPr>
          <p:cNvPr id="54" name="s13_52"/>
          <p:cNvSpPr/>
          <p:nvPr/>
        </p:nvSpPr>
        <p:spPr>
          <a:xfrm>
            <a:off x="4212546" y="4160520"/>
            <a:ext cx="1160342" cy="237744"/>
          </a:xfrm>
          <a:prstGeom prst="rect">
            <a:avLst/>
          </a:prstGeom>
          <a:solidFill>
            <a:srgbClr val="FFB531"/>
          </a:solidFill>
          <a:ln w="9525">
            <a:solidFill>
              <a:srgbClr val="0A13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s13_53"/>
          <p:cNvSpPr txBox="1"/>
          <p:nvPr/>
        </p:nvSpPr>
        <p:spPr>
          <a:xfrm>
            <a:off x="4212546" y="4160520"/>
            <a:ext cx="1160342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A1325"/>
                </a:solidFill>
                <a:latin typeface="Consolas"/>
              </a:rPr>
              <a:t>32</a:t>
            </a:r>
          </a:p>
        </p:txBody>
      </p:sp>
      <p:sp>
        <p:nvSpPr>
          <p:cNvPr id="56" name="s13_54"/>
          <p:cNvSpPr/>
          <p:nvPr/>
        </p:nvSpPr>
        <p:spPr>
          <a:xfrm>
            <a:off x="5372888" y="4160520"/>
            <a:ext cx="616431" cy="237744"/>
          </a:xfrm>
          <a:prstGeom prst="rect">
            <a:avLst/>
          </a:prstGeom>
          <a:solidFill>
            <a:srgbClr val="C2544D"/>
          </a:solidFill>
          <a:ln w="9525">
            <a:solidFill>
              <a:srgbClr val="0A13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s13_55"/>
          <p:cNvSpPr txBox="1"/>
          <p:nvPr/>
        </p:nvSpPr>
        <p:spPr>
          <a:xfrm>
            <a:off x="5372888" y="4160520"/>
            <a:ext cx="616431" cy="23774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A1325"/>
                </a:solidFill>
                <a:latin typeface="Consolas"/>
              </a:rPr>
              <a:t>17</a:t>
            </a:r>
          </a:p>
        </p:txBody>
      </p:sp>
      <p:sp>
        <p:nvSpPr>
          <p:cNvPr id="58" name="s13_56"/>
          <p:cNvSpPr/>
          <p:nvPr/>
        </p:nvSpPr>
        <p:spPr>
          <a:xfrm>
            <a:off x="736092" y="4503420"/>
            <a:ext cx="100584" cy="100584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s13_57"/>
          <p:cNvSpPr txBox="1"/>
          <p:nvPr/>
        </p:nvSpPr>
        <p:spPr>
          <a:xfrm>
            <a:off x="905256" y="4462272"/>
            <a:ext cx="219456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execução / teste</a:t>
            </a:r>
          </a:p>
        </p:txBody>
      </p:sp>
      <p:sp>
        <p:nvSpPr>
          <p:cNvPr id="60" name="s13_58"/>
          <p:cNvSpPr/>
          <p:nvPr/>
        </p:nvSpPr>
        <p:spPr>
          <a:xfrm>
            <a:off x="1981504" y="4503420"/>
            <a:ext cx="100584" cy="100584"/>
          </a:xfrm>
          <a:prstGeom prst="ellipse">
            <a:avLst/>
          </a:prstGeom>
          <a:solidFill>
            <a:srgbClr val="4F8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s13_59"/>
          <p:cNvSpPr txBox="1"/>
          <p:nvPr/>
        </p:nvSpPr>
        <p:spPr>
          <a:xfrm>
            <a:off x="2150668" y="4462272"/>
            <a:ext cx="219456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auto-correção na sessão</a:t>
            </a:r>
          </a:p>
        </p:txBody>
      </p:sp>
      <p:sp>
        <p:nvSpPr>
          <p:cNvPr id="62" name="s13_60"/>
          <p:cNvSpPr/>
          <p:nvPr/>
        </p:nvSpPr>
        <p:spPr>
          <a:xfrm>
            <a:off x="3623767" y="4503420"/>
            <a:ext cx="100584" cy="100584"/>
          </a:xfrm>
          <a:prstGeom prst="ellipse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s13_61"/>
          <p:cNvSpPr txBox="1"/>
          <p:nvPr/>
        </p:nvSpPr>
        <p:spPr>
          <a:xfrm>
            <a:off x="3792931" y="4462272"/>
            <a:ext cx="219456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conferência humana</a:t>
            </a:r>
          </a:p>
        </p:txBody>
      </p:sp>
      <p:sp>
        <p:nvSpPr>
          <p:cNvPr id="64" name="s13_62"/>
          <p:cNvSpPr/>
          <p:nvPr/>
        </p:nvSpPr>
        <p:spPr>
          <a:xfrm>
            <a:off x="4982565" y="4503420"/>
            <a:ext cx="100584" cy="100584"/>
          </a:xfrm>
          <a:prstGeom prst="ellipse">
            <a:avLst/>
          </a:prstGeom>
          <a:solidFill>
            <a:srgbClr val="C254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s13_63"/>
          <p:cNvSpPr txBox="1"/>
          <p:nvPr/>
        </p:nvSpPr>
        <p:spPr>
          <a:xfrm>
            <a:off x="5151729" y="4462272"/>
            <a:ext cx="219456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só pego depois</a:t>
            </a:r>
          </a:p>
        </p:txBody>
      </p:sp>
      <p:sp>
        <p:nvSpPr>
          <p:cNvPr id="66" name="s13_64"/>
          <p:cNvSpPr txBox="1"/>
          <p:nvPr/>
        </p:nvSpPr>
        <p:spPr>
          <a:xfrm>
            <a:off x="731520" y="4690872"/>
            <a:ext cx="5257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5F7FB"/>
                </a:solidFill>
                <a:latin typeface="Bahnschrift SemiBold"/>
              </a:rPr>
              <a:t>88% pegos na própria sessão. </a:t>
            </a:r>
            <a:r>
              <a:rPr sz="850" b="0" i="0">
                <a:solidFill>
                  <a:srgbClr val="8395B5"/>
                </a:solidFill>
                <a:latin typeface="Bahnschrift SemiLight"/>
              </a:rPr>
              <a:t>72 código quebrado  ·  25 alucinação numérica  ·  13 generalização além do teste  ·  13 texto impreciso ou contraditório  ·  12 premissa herdada  ·  10 escopo ou condução errada</a:t>
            </a:r>
          </a:p>
        </p:txBody>
      </p:sp>
      <p:sp>
        <p:nvSpPr>
          <p:cNvPr id="67" name="s13_65"/>
          <p:cNvSpPr txBox="1"/>
          <p:nvPr/>
        </p:nvSpPr>
        <p:spPr>
          <a:xfrm>
            <a:off x="731520" y="5138928"/>
            <a:ext cx="5257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USOS PRÁTICOS  ·  37 TESTES  ·  39 ANÁLISES EM .MD</a:t>
            </a:r>
          </a:p>
        </p:txBody>
      </p:sp>
      <p:sp>
        <p:nvSpPr>
          <p:cNvPr id="68" name="s13_66"/>
          <p:cNvSpPr txBox="1"/>
          <p:nvPr/>
        </p:nvSpPr>
        <p:spPr>
          <a:xfrm>
            <a:off x="731520" y="5394960"/>
            <a:ext cx="253746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F8EF7"/>
                </a:solidFill>
                <a:latin typeface="Consolas"/>
              </a:rPr>
              <a:t>surpresa_fomc.py</a:t>
            </a:r>
            <a:r>
              <a:rPr sz="850" b="0" i="0">
                <a:solidFill>
                  <a:srgbClr val="BAC6DA"/>
                </a:solidFill>
                <a:latin typeface="Bahnschrift SemiLight"/>
              </a:rPr>
              <a:t>  β por event-study, 36 reuniões</a:t>
            </a:r>
          </a:p>
        </p:txBody>
      </p:sp>
      <p:sp>
        <p:nvSpPr>
          <p:cNvPr id="69" name="s13_67"/>
          <p:cNvSpPr txBox="1"/>
          <p:nvPr/>
        </p:nvSpPr>
        <p:spPr>
          <a:xfrm>
            <a:off x="731520" y="5641848"/>
            <a:ext cx="253746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F8EF7"/>
                </a:solidFill>
                <a:latin typeface="Consolas"/>
              </a:rPr>
              <a:t>9 × gate_*.py</a:t>
            </a:r>
            <a:r>
              <a:rPr sz="850" b="0" i="0">
                <a:solidFill>
                  <a:srgbClr val="BAC6DA"/>
                </a:solidFill>
                <a:latin typeface="Bahnschrift SemiLight"/>
              </a:rPr>
              <a:t>  um teste por candidata tática</a:t>
            </a:r>
          </a:p>
        </p:txBody>
      </p:sp>
      <p:sp>
        <p:nvSpPr>
          <p:cNvPr id="70" name="s13_68"/>
          <p:cNvSpPr txBox="1"/>
          <p:nvPr/>
        </p:nvSpPr>
        <p:spPr>
          <a:xfrm>
            <a:off x="731520" y="5888736"/>
            <a:ext cx="253746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F8EF7"/>
                </a:solidFill>
                <a:latin typeface="Consolas"/>
              </a:rPr>
              <a:t>curva_c.py</a:t>
            </a:r>
            <a:r>
              <a:rPr sz="850" b="0" i="0">
                <a:solidFill>
                  <a:srgbClr val="BAC6DA"/>
                </a:solidFill>
                <a:latin typeface="Bahnschrift SemiLight"/>
              </a:rPr>
              <a:t>  varredura da régua do Ω</a:t>
            </a:r>
          </a:p>
        </p:txBody>
      </p:sp>
      <p:sp>
        <p:nvSpPr>
          <p:cNvPr id="71" name="s13_69"/>
          <p:cNvSpPr txBox="1"/>
          <p:nvPr/>
        </p:nvSpPr>
        <p:spPr>
          <a:xfrm>
            <a:off x="731520" y="6135624"/>
            <a:ext cx="253746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F8EF7"/>
                </a:solidFill>
                <a:latin typeface="Consolas"/>
              </a:rPr>
              <a:t>backtest_v1.py</a:t>
            </a:r>
            <a:r>
              <a:rPr sz="850" b="0" i="0">
                <a:solidFill>
                  <a:srgbClr val="BAC6DA"/>
                </a:solidFill>
                <a:latin typeface="Bahnschrift SemiLight"/>
              </a:rPr>
              <a:t>  8 tetos × 374 pregões</a:t>
            </a:r>
          </a:p>
        </p:txBody>
      </p:sp>
      <p:sp>
        <p:nvSpPr>
          <p:cNvPr id="72" name="s13_70"/>
          <p:cNvSpPr txBox="1"/>
          <p:nvPr/>
        </p:nvSpPr>
        <p:spPr>
          <a:xfrm>
            <a:off x="3406139" y="5394960"/>
            <a:ext cx="253746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F8EF7"/>
                </a:solidFill>
                <a:latin typeface="Consolas"/>
              </a:rPr>
              <a:t>download_polymarket_fed.py</a:t>
            </a:r>
            <a:r>
              <a:rPr sz="850" b="0" i="0">
                <a:solidFill>
                  <a:srgbClr val="BAC6DA"/>
                </a:solidFill>
                <a:latin typeface="Bahnschrift SemiLight"/>
              </a:rPr>
              <a:t>  Gamma + CLOB API</a:t>
            </a:r>
          </a:p>
        </p:txBody>
      </p:sp>
      <p:sp>
        <p:nvSpPr>
          <p:cNvPr id="73" name="s13_71"/>
          <p:cNvSpPr txBox="1"/>
          <p:nvPr/>
        </p:nvSpPr>
        <p:spPr>
          <a:xfrm>
            <a:off x="3406139" y="5641848"/>
            <a:ext cx="253746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F8EF7"/>
                </a:solidFill>
                <a:latin typeface="Consolas"/>
              </a:rPr>
              <a:t>graficos_p5.py</a:t>
            </a:r>
            <a:r>
              <a:rPr sz="850" b="0" i="0">
                <a:solidFill>
                  <a:srgbClr val="BAC6DA"/>
                </a:solidFill>
                <a:latin typeface="Bahnschrift SemiLight"/>
              </a:rPr>
              <a:t>  3 LOGs → estes números</a:t>
            </a:r>
          </a:p>
        </p:txBody>
      </p:sp>
      <p:sp>
        <p:nvSpPr>
          <p:cNvPr id="74" name="s13_72"/>
          <p:cNvSpPr txBox="1"/>
          <p:nvPr/>
        </p:nvSpPr>
        <p:spPr>
          <a:xfrm>
            <a:off x="3406139" y="5888736"/>
            <a:ext cx="253746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F8EF7"/>
                </a:solidFill>
                <a:latin typeface="Consolas"/>
              </a:rPr>
              <a:t>grafo_repo.py</a:t>
            </a:r>
            <a:r>
              <a:rPr sz="850" b="0" i="0">
                <a:solidFill>
                  <a:srgbClr val="BAC6DA"/>
                </a:solidFill>
                <a:latin typeface="Bahnschrift SemiLight"/>
              </a:rPr>
              <a:t>  o second brain, medido</a:t>
            </a:r>
          </a:p>
        </p:txBody>
      </p:sp>
      <p:sp>
        <p:nvSpPr>
          <p:cNvPr id="75" name="s13_73"/>
          <p:cNvSpPr txBox="1"/>
          <p:nvPr/>
        </p:nvSpPr>
        <p:spPr>
          <a:xfrm>
            <a:off x="3406139" y="6135624"/>
            <a:ext cx="253746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F8EF7"/>
                </a:solidFill>
                <a:latin typeface="Consolas"/>
              </a:rPr>
              <a:t>slides_*_pptx.py</a:t>
            </a:r>
            <a:r>
              <a:rPr sz="850" b="0" i="0">
                <a:solidFill>
                  <a:srgbClr val="BAC6DA"/>
                </a:solidFill>
                <a:latin typeface="Bahnschrift SemiLight"/>
              </a:rPr>
              <a:t>  este deck, Morph incluso</a:t>
            </a:r>
          </a:p>
        </p:txBody>
      </p:sp>
      <p:sp>
        <p:nvSpPr>
          <p:cNvPr id="76" name="s13_74"/>
          <p:cNvSpPr txBox="1"/>
          <p:nvPr/>
        </p:nvSpPr>
        <p:spPr>
          <a:xfrm>
            <a:off x="6327648" y="1554480"/>
            <a:ext cx="512978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PESQUISA  ·  O MÉTODO, TODA VEZ</a:t>
            </a:r>
          </a:p>
        </p:txBody>
      </p:sp>
      <p:sp>
        <p:nvSpPr>
          <p:cNvPr id="77" name="s13_75"/>
          <p:cNvSpPr txBox="1"/>
          <p:nvPr/>
        </p:nvSpPr>
        <p:spPr>
          <a:xfrm>
            <a:off x="6327648" y="1801368"/>
            <a:ext cx="5129783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F5F7FB"/>
                </a:solidFill>
                <a:latin typeface="Bahnschrift SemiBold"/>
              </a:rPr>
              <a:t>1 · Hipótese escrita antes. </a:t>
            </a:r>
            <a:r>
              <a:rPr sz="1050" b="0" i="0">
                <a:solidFill>
                  <a:srgbClr val="BAC6DA"/>
                </a:solidFill>
                <a:latin typeface="Bahnschrift SemiLight"/>
              </a:rPr>
              <a:t>Entra em Decisoes_pendentes.md com o teste que a derruba e a régua de corte — antes de olhar o dado.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F5F7FB"/>
                </a:solidFill>
                <a:latin typeface="Bahnschrift SemiBold"/>
              </a:rPr>
              <a:t>2 · Um script por hipótese. </a:t>
            </a:r>
            <a:r>
              <a:rPr sz="1050" b="0" i="0">
                <a:solidFill>
                  <a:srgbClr val="BAC6DA"/>
                </a:solidFill>
                <a:latin typeface="Bahnschrift SemiLight"/>
              </a:rPr>
              <a:t>gate_*.py e premissa_*.py medem no dado; a saída é um .md com os números e o carimbo “mede; não decide”.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F5F7FB"/>
                </a:solidFill>
                <a:latin typeface="Bahnschrift SemiBold"/>
              </a:rPr>
              <a:t>3 · Régua declarada, não ajustada. </a:t>
            </a:r>
            <a:r>
              <a:rPr sz="1050" b="0" i="0">
                <a:solidFill>
                  <a:srgbClr val="BAC6DA"/>
                </a:solidFill>
                <a:latin typeface="Bahnschrift SemiLight"/>
              </a:rPr>
              <a:t>|t| ≥ 2, sinal coerente com a literatura, janela expansiva sem lookahead. Passa no dado, não no retorno.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F5F7FB"/>
                </a:solidFill>
                <a:latin typeface="Bahnschrift SemiBold"/>
              </a:rPr>
              <a:t>4 · Humano fecha; o que caiu fica. </a:t>
            </a:r>
            <a:r>
              <a:rPr sz="1050" b="0" i="0">
                <a:solidFill>
                  <a:srgbClr val="BAC6DA"/>
                </a:solidFill>
                <a:latin typeface="Bahnschrift SemiLight"/>
              </a:rPr>
              <a:t>A IA nunca fecha decisão. Cada reprovação continua no repositório, com número — e a banca pode conferir.</a:t>
            </a:r>
          </a:p>
        </p:txBody>
      </p:sp>
      <p:sp>
        <p:nvSpPr>
          <p:cNvPr id="78" name="s13_76"/>
          <p:cNvSpPr/>
          <p:nvPr/>
        </p:nvSpPr>
        <p:spPr>
          <a:xfrm>
            <a:off x="6327648" y="3858768"/>
            <a:ext cx="5129783" cy="137160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s13_77"/>
          <p:cNvSpPr txBox="1"/>
          <p:nvPr/>
        </p:nvSpPr>
        <p:spPr>
          <a:xfrm>
            <a:off x="6547104" y="4005072"/>
            <a:ext cx="476402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UMA QUE CAIU  ·  MOMENTUM DO SINAL</a:t>
            </a:r>
          </a:p>
        </p:txBody>
      </p:sp>
      <p:sp>
        <p:nvSpPr>
          <p:cNvPr id="80" name="s13_78"/>
          <p:cNvSpPr txBox="1"/>
          <p:nvPr/>
        </p:nvSpPr>
        <p:spPr>
          <a:xfrm>
            <a:off x="6547104" y="4242816"/>
            <a:ext cx="469087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5F7FB"/>
                </a:solidFill>
                <a:latin typeface="Bahnschrift SemiBold"/>
              </a:rPr>
              <a:t>Tese: </a:t>
            </a:r>
            <a:r>
              <a:rPr sz="950" b="0" i="0">
                <a:solidFill>
                  <a:srgbClr val="BAC6DA"/>
                </a:solidFill>
                <a:latin typeface="Bahnschrift SemiLight"/>
              </a:rPr>
              <a:t>se a probabilidade subiu hoje, continua subindo amanhã — daria uma sleeve de tendência. Teste: variance ratio dos incrementos, VR = 1 é passeio aleatório.</a:t>
            </a:r>
          </a:p>
        </p:txBody>
      </p:sp>
      <p:sp>
        <p:nvSpPr>
          <p:cNvPr id="81" name="s13_79"/>
          <p:cNvSpPr txBox="1"/>
          <p:nvPr/>
        </p:nvSpPr>
        <p:spPr>
          <a:xfrm>
            <a:off x="6547104" y="4645152"/>
            <a:ext cx="7818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395B5"/>
                </a:solidFill>
                <a:latin typeface="Consolas"/>
              </a:rPr>
              <a:t>k=1</a:t>
            </a:r>
          </a:p>
        </p:txBody>
      </p:sp>
      <p:sp>
        <p:nvSpPr>
          <p:cNvPr id="82" name="s13_80"/>
          <p:cNvSpPr txBox="1"/>
          <p:nvPr/>
        </p:nvSpPr>
        <p:spPr>
          <a:xfrm>
            <a:off x="6547104" y="4791456"/>
            <a:ext cx="78181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B531"/>
                </a:solidFill>
                <a:latin typeface="Bahnschrift SemiBold Condensed"/>
              </a:rPr>
              <a:t>1,00</a:t>
            </a:r>
          </a:p>
        </p:txBody>
      </p:sp>
      <p:sp>
        <p:nvSpPr>
          <p:cNvPr id="83" name="s13_81"/>
          <p:cNvSpPr txBox="1"/>
          <p:nvPr/>
        </p:nvSpPr>
        <p:spPr>
          <a:xfrm>
            <a:off x="7328916" y="4645152"/>
            <a:ext cx="7818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395B5"/>
                </a:solidFill>
                <a:latin typeface="Consolas"/>
              </a:rPr>
              <a:t>k=2</a:t>
            </a:r>
          </a:p>
        </p:txBody>
      </p:sp>
      <p:sp>
        <p:nvSpPr>
          <p:cNvPr id="84" name="s13_82"/>
          <p:cNvSpPr txBox="1"/>
          <p:nvPr/>
        </p:nvSpPr>
        <p:spPr>
          <a:xfrm>
            <a:off x="7328916" y="4791456"/>
            <a:ext cx="78181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B531"/>
                </a:solidFill>
                <a:latin typeface="Bahnschrift SemiBold Condensed"/>
              </a:rPr>
              <a:t>1,05</a:t>
            </a:r>
          </a:p>
        </p:txBody>
      </p:sp>
      <p:sp>
        <p:nvSpPr>
          <p:cNvPr id="85" name="s13_83"/>
          <p:cNvSpPr txBox="1"/>
          <p:nvPr/>
        </p:nvSpPr>
        <p:spPr>
          <a:xfrm>
            <a:off x="8110727" y="4645152"/>
            <a:ext cx="7818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395B5"/>
                </a:solidFill>
                <a:latin typeface="Consolas"/>
              </a:rPr>
              <a:t>k=3</a:t>
            </a:r>
          </a:p>
        </p:txBody>
      </p:sp>
      <p:sp>
        <p:nvSpPr>
          <p:cNvPr id="86" name="s13_84"/>
          <p:cNvSpPr txBox="1"/>
          <p:nvPr/>
        </p:nvSpPr>
        <p:spPr>
          <a:xfrm>
            <a:off x="8110727" y="4791456"/>
            <a:ext cx="78181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B531"/>
                </a:solidFill>
                <a:latin typeface="Bahnschrift SemiBold Condensed"/>
              </a:rPr>
              <a:t>1,12</a:t>
            </a:r>
          </a:p>
        </p:txBody>
      </p:sp>
      <p:sp>
        <p:nvSpPr>
          <p:cNvPr id="87" name="s13_85"/>
          <p:cNvSpPr txBox="1"/>
          <p:nvPr/>
        </p:nvSpPr>
        <p:spPr>
          <a:xfrm>
            <a:off x="8892540" y="4645152"/>
            <a:ext cx="7818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395B5"/>
                </a:solidFill>
                <a:latin typeface="Consolas"/>
              </a:rPr>
              <a:t>k=5</a:t>
            </a:r>
          </a:p>
        </p:txBody>
      </p:sp>
      <p:sp>
        <p:nvSpPr>
          <p:cNvPr id="88" name="s13_86"/>
          <p:cNvSpPr txBox="1"/>
          <p:nvPr/>
        </p:nvSpPr>
        <p:spPr>
          <a:xfrm>
            <a:off x="8892540" y="4791456"/>
            <a:ext cx="78181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B531"/>
                </a:solidFill>
                <a:latin typeface="Bahnschrift SemiBold Condensed"/>
              </a:rPr>
              <a:t>1,11</a:t>
            </a:r>
          </a:p>
        </p:txBody>
      </p:sp>
      <p:sp>
        <p:nvSpPr>
          <p:cNvPr id="89" name="s13_87"/>
          <p:cNvSpPr txBox="1"/>
          <p:nvPr/>
        </p:nvSpPr>
        <p:spPr>
          <a:xfrm>
            <a:off x="9674352" y="4645152"/>
            <a:ext cx="7818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395B5"/>
                </a:solidFill>
                <a:latin typeface="Consolas"/>
              </a:rPr>
              <a:t>k=10</a:t>
            </a:r>
          </a:p>
        </p:txBody>
      </p:sp>
      <p:sp>
        <p:nvSpPr>
          <p:cNvPr id="90" name="s13_88"/>
          <p:cNvSpPr txBox="1"/>
          <p:nvPr/>
        </p:nvSpPr>
        <p:spPr>
          <a:xfrm>
            <a:off x="9674352" y="4791456"/>
            <a:ext cx="78181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B531"/>
                </a:solidFill>
                <a:latin typeface="Bahnschrift SemiBold Condensed"/>
              </a:rPr>
              <a:t>1,18</a:t>
            </a:r>
          </a:p>
        </p:txBody>
      </p:sp>
      <p:sp>
        <p:nvSpPr>
          <p:cNvPr id="91" name="s13_89"/>
          <p:cNvSpPr txBox="1"/>
          <p:nvPr/>
        </p:nvSpPr>
        <p:spPr>
          <a:xfrm>
            <a:off x="10456163" y="4645152"/>
            <a:ext cx="7818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395B5"/>
                </a:solidFill>
                <a:latin typeface="Consolas"/>
              </a:rPr>
              <a:t>k=20</a:t>
            </a:r>
          </a:p>
        </p:txBody>
      </p:sp>
      <p:sp>
        <p:nvSpPr>
          <p:cNvPr id="92" name="s13_90"/>
          <p:cNvSpPr txBox="1"/>
          <p:nvPr/>
        </p:nvSpPr>
        <p:spPr>
          <a:xfrm>
            <a:off x="10456163" y="4791456"/>
            <a:ext cx="78181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B531"/>
                </a:solidFill>
                <a:latin typeface="Bahnschrift SemiBold Condensed"/>
              </a:rPr>
              <a:t>0,97</a:t>
            </a:r>
          </a:p>
        </p:txBody>
      </p:sp>
      <p:sp>
        <p:nvSpPr>
          <p:cNvPr id="93" name="s13_91"/>
          <p:cNvSpPr txBox="1"/>
          <p:nvPr/>
        </p:nvSpPr>
        <p:spPr>
          <a:xfrm>
            <a:off x="6547104" y="5029200"/>
            <a:ext cx="4690871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colado em 1 e nenhum |t| ≥ 2 nos seis horizontes: a sleeve não entrou (Premissa_tendencia.md).</a:t>
            </a:r>
          </a:p>
        </p:txBody>
      </p:sp>
      <p:sp>
        <p:nvSpPr>
          <p:cNvPr id="94" name="s13_92"/>
          <p:cNvSpPr txBox="1"/>
          <p:nvPr/>
        </p:nvSpPr>
        <p:spPr>
          <a:xfrm>
            <a:off x="6327648" y="5413248"/>
            <a:ext cx="512978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A PENEIRA  ·  31 HIPÓTESES MEDIDAS, 7 ENTRARAM</a:t>
            </a:r>
          </a:p>
        </p:txBody>
      </p:sp>
      <p:sp>
        <p:nvSpPr>
          <p:cNvPr id="95" name="s13_93"/>
          <p:cNvSpPr txBox="1"/>
          <p:nvPr/>
        </p:nvSpPr>
        <p:spPr>
          <a:xfrm>
            <a:off x="6327648" y="5650992"/>
            <a:ext cx="1600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13 ideias de sinal</a:t>
            </a:r>
          </a:p>
        </p:txBody>
      </p:sp>
      <p:sp>
        <p:nvSpPr>
          <p:cNvPr id="96" name="s13_94"/>
          <p:cNvSpPr/>
          <p:nvPr/>
        </p:nvSpPr>
        <p:spPr>
          <a:xfrm>
            <a:off x="7978140" y="570128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s13_95"/>
          <p:cNvSpPr/>
          <p:nvPr/>
        </p:nvSpPr>
        <p:spPr>
          <a:xfrm>
            <a:off x="8161019" y="570128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s13_96"/>
          <p:cNvSpPr/>
          <p:nvPr/>
        </p:nvSpPr>
        <p:spPr>
          <a:xfrm>
            <a:off x="8343900" y="570128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s13_97"/>
          <p:cNvSpPr/>
          <p:nvPr/>
        </p:nvSpPr>
        <p:spPr>
          <a:xfrm>
            <a:off x="8526780" y="570128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s13_98"/>
          <p:cNvSpPr/>
          <p:nvPr/>
        </p:nvSpPr>
        <p:spPr>
          <a:xfrm>
            <a:off x="8709660" y="570128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s13_99"/>
          <p:cNvSpPr/>
          <p:nvPr/>
        </p:nvSpPr>
        <p:spPr>
          <a:xfrm>
            <a:off x="8892540" y="570128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s13_100"/>
          <p:cNvSpPr/>
          <p:nvPr/>
        </p:nvSpPr>
        <p:spPr>
          <a:xfrm>
            <a:off x="9061703" y="5687568"/>
            <a:ext cx="109728" cy="109728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5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s13_101"/>
          <p:cNvSpPr/>
          <p:nvPr/>
        </p:nvSpPr>
        <p:spPr>
          <a:xfrm>
            <a:off x="9258300" y="570128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s13_102"/>
          <p:cNvSpPr/>
          <p:nvPr/>
        </p:nvSpPr>
        <p:spPr>
          <a:xfrm>
            <a:off x="9441180" y="570128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s13_103"/>
          <p:cNvSpPr/>
          <p:nvPr/>
        </p:nvSpPr>
        <p:spPr>
          <a:xfrm>
            <a:off x="9624060" y="570128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s13_104"/>
          <p:cNvSpPr/>
          <p:nvPr/>
        </p:nvSpPr>
        <p:spPr>
          <a:xfrm>
            <a:off x="9806940" y="570128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s13_105"/>
          <p:cNvSpPr/>
          <p:nvPr/>
        </p:nvSpPr>
        <p:spPr>
          <a:xfrm>
            <a:off x="9989819" y="570128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s13_106"/>
          <p:cNvSpPr/>
          <p:nvPr/>
        </p:nvSpPr>
        <p:spPr>
          <a:xfrm>
            <a:off x="10172700" y="570128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s13_107"/>
          <p:cNvSpPr txBox="1"/>
          <p:nvPr/>
        </p:nvSpPr>
        <p:spPr>
          <a:xfrm>
            <a:off x="10488167" y="5650992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FB531"/>
                </a:solidFill>
                <a:latin typeface="Consolas"/>
              </a:rPr>
              <a:t>1 de 13</a:t>
            </a:r>
          </a:p>
        </p:txBody>
      </p:sp>
      <p:sp>
        <p:nvSpPr>
          <p:cNvPr id="110" name="s13_108"/>
          <p:cNvSpPr txBox="1"/>
          <p:nvPr/>
        </p:nvSpPr>
        <p:spPr>
          <a:xfrm>
            <a:off x="6327648" y="5852160"/>
            <a:ext cx="1600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4 critérios do Ω</a:t>
            </a:r>
          </a:p>
        </p:txBody>
      </p:sp>
      <p:sp>
        <p:nvSpPr>
          <p:cNvPr id="111" name="s13_109"/>
          <p:cNvSpPr/>
          <p:nvPr/>
        </p:nvSpPr>
        <p:spPr>
          <a:xfrm>
            <a:off x="7978140" y="5902452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s13_110"/>
          <p:cNvSpPr/>
          <p:nvPr/>
        </p:nvSpPr>
        <p:spPr>
          <a:xfrm>
            <a:off x="8147303" y="5888736"/>
            <a:ext cx="109728" cy="109728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5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s13_111"/>
          <p:cNvSpPr/>
          <p:nvPr/>
        </p:nvSpPr>
        <p:spPr>
          <a:xfrm>
            <a:off x="8330183" y="5888736"/>
            <a:ext cx="109728" cy="109728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5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s13_112"/>
          <p:cNvSpPr/>
          <p:nvPr/>
        </p:nvSpPr>
        <p:spPr>
          <a:xfrm>
            <a:off x="8526780" y="5902452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s13_113"/>
          <p:cNvSpPr txBox="1"/>
          <p:nvPr/>
        </p:nvSpPr>
        <p:spPr>
          <a:xfrm>
            <a:off x="10488167" y="585216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FB531"/>
                </a:solidFill>
                <a:latin typeface="Consolas"/>
              </a:rPr>
              <a:t>2 de 4</a:t>
            </a:r>
          </a:p>
        </p:txBody>
      </p:sp>
      <p:sp>
        <p:nvSpPr>
          <p:cNvPr id="116" name="s13_114"/>
          <p:cNvSpPr txBox="1"/>
          <p:nvPr/>
        </p:nvSpPr>
        <p:spPr>
          <a:xfrm>
            <a:off x="6327648" y="6053328"/>
            <a:ext cx="1600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6 janelas</a:t>
            </a:r>
          </a:p>
        </p:txBody>
      </p:sp>
      <p:sp>
        <p:nvSpPr>
          <p:cNvPr id="117" name="s13_115"/>
          <p:cNvSpPr/>
          <p:nvPr/>
        </p:nvSpPr>
        <p:spPr>
          <a:xfrm>
            <a:off x="7978140" y="6103620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s13_116"/>
          <p:cNvSpPr/>
          <p:nvPr/>
        </p:nvSpPr>
        <p:spPr>
          <a:xfrm>
            <a:off x="8147303" y="6089904"/>
            <a:ext cx="109728" cy="109728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5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s13_117"/>
          <p:cNvSpPr/>
          <p:nvPr/>
        </p:nvSpPr>
        <p:spPr>
          <a:xfrm>
            <a:off x="8330183" y="6089904"/>
            <a:ext cx="109728" cy="109728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5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s13_118"/>
          <p:cNvSpPr/>
          <p:nvPr/>
        </p:nvSpPr>
        <p:spPr>
          <a:xfrm>
            <a:off x="8513063" y="6089904"/>
            <a:ext cx="109728" cy="109728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5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s13_119"/>
          <p:cNvSpPr/>
          <p:nvPr/>
        </p:nvSpPr>
        <p:spPr>
          <a:xfrm>
            <a:off x="8709660" y="6103620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s13_120"/>
          <p:cNvSpPr/>
          <p:nvPr/>
        </p:nvSpPr>
        <p:spPr>
          <a:xfrm>
            <a:off x="8892540" y="6103620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s13_121"/>
          <p:cNvSpPr txBox="1"/>
          <p:nvPr/>
        </p:nvSpPr>
        <p:spPr>
          <a:xfrm>
            <a:off x="10488167" y="6053328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FB531"/>
                </a:solidFill>
                <a:latin typeface="Consolas"/>
              </a:rPr>
              <a:t>3 de 6</a:t>
            </a:r>
          </a:p>
        </p:txBody>
      </p:sp>
      <p:sp>
        <p:nvSpPr>
          <p:cNvPr id="124" name="s13_122"/>
          <p:cNvSpPr txBox="1"/>
          <p:nvPr/>
        </p:nvSpPr>
        <p:spPr>
          <a:xfrm>
            <a:off x="6327648" y="6254496"/>
            <a:ext cx="1600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8 tetos de risco</a:t>
            </a:r>
          </a:p>
        </p:txBody>
      </p:sp>
      <p:sp>
        <p:nvSpPr>
          <p:cNvPr id="125" name="s13_123"/>
          <p:cNvSpPr/>
          <p:nvPr/>
        </p:nvSpPr>
        <p:spPr>
          <a:xfrm>
            <a:off x="7978140" y="6304788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s13_124"/>
          <p:cNvSpPr/>
          <p:nvPr/>
        </p:nvSpPr>
        <p:spPr>
          <a:xfrm>
            <a:off x="8161019" y="6304788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s13_125"/>
          <p:cNvSpPr/>
          <p:nvPr/>
        </p:nvSpPr>
        <p:spPr>
          <a:xfrm>
            <a:off x="8343900" y="6304788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s13_126"/>
          <p:cNvSpPr/>
          <p:nvPr/>
        </p:nvSpPr>
        <p:spPr>
          <a:xfrm>
            <a:off x="8513063" y="6291072"/>
            <a:ext cx="109728" cy="109728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5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s13_127"/>
          <p:cNvSpPr/>
          <p:nvPr/>
        </p:nvSpPr>
        <p:spPr>
          <a:xfrm>
            <a:off x="8709660" y="6304788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s13_128"/>
          <p:cNvSpPr/>
          <p:nvPr/>
        </p:nvSpPr>
        <p:spPr>
          <a:xfrm>
            <a:off x="8892540" y="6304788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s13_129"/>
          <p:cNvSpPr/>
          <p:nvPr/>
        </p:nvSpPr>
        <p:spPr>
          <a:xfrm>
            <a:off x="9075419" y="6304788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s13_130"/>
          <p:cNvSpPr/>
          <p:nvPr/>
        </p:nvSpPr>
        <p:spPr>
          <a:xfrm>
            <a:off x="9258300" y="6304788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s13_131"/>
          <p:cNvSpPr txBox="1"/>
          <p:nvPr/>
        </p:nvSpPr>
        <p:spPr>
          <a:xfrm>
            <a:off x="10488167" y="6254496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FB531"/>
                </a:solidFill>
                <a:latin typeface="Consolas"/>
              </a:rPr>
              <a:t>1 de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