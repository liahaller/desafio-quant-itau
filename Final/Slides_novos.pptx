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2026-01-27: E_poly = -0.2 bps · juros (DTB3 − DFF) = -5.0 bps · surpresa bruta +4.8 · líquida -0.2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2025-09-16: E_poly = -26.9 bps · juros (DTB3 − DFF) = -42.0 bps · surpresa bruta +15.1 · líquida +9.1 bps · 1 pregão até a reunião.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Sequência Morph com avanço automático: um clique no slide de repouso toca o caminho inteiro. O caminho é o real, medido no transcript da sessão (trace_sessao.py), não desenhado.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03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Como funciona o Polymarket</a:t>
            </a:r>
          </a:p>
        </p:txBody>
      </p:sp>
      <p:sp>
        <p:nvSpPr>
          <p:cNvPr id="7" name="s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03</a:t>
            </a:r>
          </a:p>
        </p:txBody>
      </p:sp>
      <p:cxnSp>
        <p:nvCxnSpPr>
          <p:cNvPr id="8" name="s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contrato paga US$ 1 se o evento acontece. O preço é a probabilidade.</a:t>
            </a:r>
          </a:p>
        </p:txBody>
      </p:sp>
      <p:cxnSp>
        <p:nvCxnSpPr>
          <p:cNvPr id="10" name="s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s3_11"/>
          <p:cNvSpPr/>
          <p:nvPr/>
        </p:nvSpPr>
        <p:spPr>
          <a:xfrm>
            <a:off x="731520" y="1600200"/>
            <a:ext cx="4160520" cy="297180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3_12"/>
          <p:cNvSpPr txBox="1"/>
          <p:nvPr/>
        </p:nvSpPr>
        <p:spPr>
          <a:xfrm>
            <a:off x="987552" y="1801368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MERCADO REAL  ·  POLYMARKET</a:t>
            </a:r>
          </a:p>
        </p:txBody>
      </p:sp>
      <p:sp>
        <p:nvSpPr>
          <p:cNvPr id="15" name="s3_13"/>
          <p:cNvSpPr txBox="1"/>
          <p:nvPr/>
        </p:nvSpPr>
        <p:spPr>
          <a:xfrm>
            <a:off x="987552" y="20574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5F7FB"/>
                </a:solidFill>
                <a:latin typeface="Bahnschrift SemiBold"/>
              </a:rPr>
              <a:t>Fed decision in September 2025?</a:t>
            </a:r>
          </a:p>
        </p:txBody>
      </p:sp>
      <p:cxnSp>
        <p:nvCxnSpPr>
          <p:cNvPr id="16" name="s3_14"/>
          <p:cNvCxnSpPr/>
          <p:nvPr/>
        </p:nvCxnSpPr>
        <p:spPr>
          <a:xfrm>
            <a:off x="987552" y="2496312"/>
            <a:ext cx="3648455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s3_15"/>
          <p:cNvSpPr txBox="1"/>
          <p:nvPr/>
        </p:nvSpPr>
        <p:spPr>
          <a:xfrm>
            <a:off x="987552" y="2606040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Light"/>
              </a:rPr>
              <a:t>corte de 25 bps</a:t>
            </a:r>
          </a:p>
        </p:txBody>
      </p:sp>
      <p:sp>
        <p:nvSpPr>
          <p:cNvPr id="18" name="s3_16"/>
          <p:cNvSpPr txBox="1"/>
          <p:nvPr/>
        </p:nvSpPr>
        <p:spPr>
          <a:xfrm>
            <a:off x="3931920" y="2606040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B531"/>
                </a:solidFill>
                <a:latin typeface="Consolas"/>
              </a:rPr>
              <a:t>90¢</a:t>
            </a:r>
          </a:p>
        </p:txBody>
      </p:sp>
      <p:sp>
        <p:nvSpPr>
          <p:cNvPr id="19" name="s3_17"/>
          <p:cNvSpPr/>
          <p:nvPr/>
        </p:nvSpPr>
        <p:spPr>
          <a:xfrm>
            <a:off x="987552" y="2880360"/>
            <a:ext cx="3301852" cy="45720"/>
          </a:xfrm>
          <a:prstGeom prst="rect">
            <a:avLst/>
          </a:prstGeom>
          <a:solidFill>
            <a:srgbClr val="FFB531"/>
          </a:solidFill>
          <a:ln>
            <a:noFill/>
          </a:ln>
          <a:effectLst>
            <a:glow rad="40000">
              <a:srgbClr val="FFB531">
                <a:alpha val="35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3_18"/>
          <p:cNvSpPr txBox="1"/>
          <p:nvPr/>
        </p:nvSpPr>
        <p:spPr>
          <a:xfrm>
            <a:off x="987552" y="3026664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corte de 50+ bps</a:t>
            </a:r>
          </a:p>
        </p:txBody>
      </p:sp>
      <p:sp>
        <p:nvSpPr>
          <p:cNvPr id="21" name="s3_19"/>
          <p:cNvSpPr txBox="1"/>
          <p:nvPr/>
        </p:nvSpPr>
        <p:spPr>
          <a:xfrm>
            <a:off x="3931920" y="3026664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7¢</a:t>
            </a:r>
          </a:p>
        </p:txBody>
      </p:sp>
      <p:sp>
        <p:nvSpPr>
          <p:cNvPr id="22" name="s3_20"/>
          <p:cNvSpPr/>
          <p:nvPr/>
        </p:nvSpPr>
        <p:spPr>
          <a:xfrm>
            <a:off x="987552" y="3300984"/>
            <a:ext cx="25356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3_21"/>
          <p:cNvSpPr txBox="1"/>
          <p:nvPr/>
        </p:nvSpPr>
        <p:spPr>
          <a:xfrm>
            <a:off x="987552" y="3447288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sem mudança</a:t>
            </a:r>
          </a:p>
        </p:txBody>
      </p:sp>
      <p:sp>
        <p:nvSpPr>
          <p:cNvPr id="24" name="s3_22"/>
          <p:cNvSpPr txBox="1"/>
          <p:nvPr/>
        </p:nvSpPr>
        <p:spPr>
          <a:xfrm>
            <a:off x="3931920" y="3447288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2¢</a:t>
            </a:r>
          </a:p>
        </p:txBody>
      </p:sp>
      <p:sp>
        <p:nvSpPr>
          <p:cNvPr id="25" name="s3_23"/>
          <p:cNvSpPr/>
          <p:nvPr/>
        </p:nvSpPr>
        <p:spPr>
          <a:xfrm>
            <a:off x="987552" y="3721608"/>
            <a:ext cx="89387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s3_24"/>
          <p:cNvSpPr txBox="1"/>
          <p:nvPr/>
        </p:nvSpPr>
        <p:spPr>
          <a:xfrm>
            <a:off x="987552" y="3867912"/>
            <a:ext cx="201168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BAC6DA"/>
                </a:solidFill>
                <a:latin typeface="Bahnschrift SemiLight"/>
              </a:rPr>
              <a:t>alta de 25+ bps</a:t>
            </a:r>
          </a:p>
        </p:txBody>
      </p:sp>
      <p:sp>
        <p:nvSpPr>
          <p:cNvPr id="27" name="s3_25"/>
          <p:cNvSpPr txBox="1"/>
          <p:nvPr/>
        </p:nvSpPr>
        <p:spPr>
          <a:xfrm>
            <a:off x="3931920" y="3867912"/>
            <a:ext cx="70408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8395B5"/>
                </a:solidFill>
                <a:latin typeface="Consolas"/>
              </a:rPr>
              <a:t>0¢</a:t>
            </a:r>
          </a:p>
        </p:txBody>
      </p:sp>
      <p:sp>
        <p:nvSpPr>
          <p:cNvPr id="28" name="s3_26"/>
          <p:cNvSpPr/>
          <p:nvPr/>
        </p:nvSpPr>
        <p:spPr>
          <a:xfrm>
            <a:off x="987552" y="4142232"/>
            <a:ext cx="27432" cy="45720"/>
          </a:xfrm>
          <a:prstGeom prst="rect">
            <a:avLst/>
          </a:prstGeom>
          <a:solidFill>
            <a:srgbClr val="839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3_27"/>
          <p:cNvSpPr txBox="1"/>
          <p:nvPr/>
        </p:nvSpPr>
        <p:spPr>
          <a:xfrm>
            <a:off x="987552" y="4187952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US$ 221 mi negociados  ·  leitura de 16/09/2025, véspera</a:t>
            </a:r>
          </a:p>
        </p:txBody>
      </p:sp>
      <p:sp>
        <p:nvSpPr>
          <p:cNvPr id="30" name="s3_28"/>
          <p:cNvSpPr txBox="1"/>
          <p:nvPr/>
        </p:nvSpPr>
        <p:spPr>
          <a:xfrm>
            <a:off x="5257800" y="1600200"/>
            <a:ext cx="5943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A PROBABILIDADE ANDA ATÉ VIRAR 0 OU 100</a:t>
            </a:r>
          </a:p>
        </p:txBody>
      </p:sp>
      <p:pic>
        <p:nvPicPr>
          <p:cNvPr id="31" name="s3_29" descr="s3_fed_set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10512"/>
            <a:ext cx="6382512" cy="3236845"/>
          </a:xfrm>
          <a:prstGeom prst="rect">
            <a:avLst/>
          </a:prstGeom>
        </p:spPr>
      </p:pic>
      <p:sp>
        <p:nvSpPr>
          <p:cNvPr id="32" name="s3_30"/>
          <p:cNvSpPr/>
          <p:nvPr/>
        </p:nvSpPr>
        <p:spPr>
          <a:xfrm>
            <a:off x="73152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3_31"/>
          <p:cNvSpPr txBox="1"/>
          <p:nvPr/>
        </p:nvSpPr>
        <p:spPr>
          <a:xfrm>
            <a:off x="960120" y="502920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90,1%</a:t>
            </a:r>
          </a:p>
        </p:txBody>
      </p:sp>
      <p:sp>
        <p:nvSpPr>
          <p:cNvPr id="34" name="s3_32"/>
          <p:cNvSpPr txBox="1"/>
          <p:nvPr/>
        </p:nvSpPr>
        <p:spPr>
          <a:xfrm>
            <a:off x="960120" y="569671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de acerto a 1 mês da resolução</a:t>
            </a:r>
          </a:p>
        </p:txBody>
      </p:sp>
      <p:sp>
        <p:nvSpPr>
          <p:cNvPr id="35" name="s3_33"/>
          <p:cNvSpPr/>
          <p:nvPr/>
        </p:nvSpPr>
        <p:spPr>
          <a:xfrm>
            <a:off x="3429000" y="4828032"/>
            <a:ext cx="2487168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3_34"/>
          <p:cNvSpPr txBox="1"/>
          <p:nvPr/>
        </p:nvSpPr>
        <p:spPr>
          <a:xfrm>
            <a:off x="3657600" y="5029200"/>
            <a:ext cx="210312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B531"/>
                </a:solidFill>
                <a:latin typeface="Bahnschrift SemiBold Condensed"/>
              </a:rPr>
              <a:t>US$ 26,2 bi</a:t>
            </a:r>
          </a:p>
        </p:txBody>
      </p:sp>
      <p:sp>
        <p:nvSpPr>
          <p:cNvPr id="37" name="s3_35"/>
          <p:cNvSpPr txBox="1"/>
          <p:nvPr/>
        </p:nvSpPr>
        <p:spPr>
          <a:xfrm>
            <a:off x="3657600" y="5696712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BAC6DA"/>
                </a:solidFill>
                <a:latin typeface="Bahnschrift"/>
              </a:rPr>
              <a:t>negociados no 1º tri de 2026</a:t>
            </a:r>
          </a:p>
        </p:txBody>
      </p:sp>
      <p:sp>
        <p:nvSpPr>
          <p:cNvPr id="38" name="s3_36"/>
          <p:cNvSpPr/>
          <p:nvPr/>
        </p:nvSpPr>
        <p:spPr>
          <a:xfrm>
            <a:off x="6126480" y="4828032"/>
            <a:ext cx="5330951" cy="146304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3_37"/>
          <p:cNvSpPr txBox="1"/>
          <p:nvPr/>
        </p:nvSpPr>
        <p:spPr>
          <a:xfrm>
            <a:off x="6382512" y="5029200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O KAIROS LÊ</a:t>
            </a:r>
          </a:p>
        </p:txBody>
      </p:sp>
      <p:sp>
        <p:nvSpPr>
          <p:cNvPr id="40" name="s3_38"/>
          <p:cNvSpPr txBox="1"/>
          <p:nvPr/>
        </p:nvSpPr>
        <p:spPr>
          <a:xfrm>
            <a:off x="6382512" y="5303520"/>
            <a:ext cx="481888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O preço de cada desfecho, duas vezes por dia.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Sempre a leitura anterior à abertura da bolsa — nunca a do dia.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Quem errar perde dinheiro de verdade.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É o que faz do preço uma opinião com custo, não uma pesquisa.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4a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a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a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a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Na maioria dos dias, Polymarket e mercado esperam a mesma coisa.</a:t>
            </a:r>
          </a:p>
        </p:txBody>
      </p:sp>
      <p:cxnSp>
        <p:nvCxnSpPr>
          <p:cNvPr id="10" name="s4a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4a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27/01/2026</a:t>
            </a:r>
          </a:p>
        </p:txBody>
      </p:sp>
      <p:sp>
        <p:nvSpPr>
          <p:cNvPr id="15" name="s4a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0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Polymarket e juros precificam a mesma decisão — o Kairós não tem opinião e carrega a carteira do mercado.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>
            <a:off x="9149913" y="2487168"/>
            <a:ext cx="11616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9179210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mk_XLK"/>
          <p:cNvSpPr/>
          <p:nvPr/>
        </p:nvSpPr>
        <p:spPr>
          <a:xfrm>
            <a:off x="9090477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val_XLK"/>
          <p:cNvSpPr txBox="1"/>
          <p:nvPr/>
        </p:nvSpPr>
        <p:spPr>
          <a:xfrm>
            <a:off x="9421526" y="236829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+ 0,08%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>
            <a:off x="9108785" y="2871216"/>
            <a:ext cx="9351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9115433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mk_SPY"/>
          <p:cNvSpPr/>
          <p:nvPr/>
        </p:nvSpPr>
        <p:spPr>
          <a:xfrm>
            <a:off x="9049349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val_SPY"/>
          <p:cNvSpPr txBox="1"/>
          <p:nvPr/>
        </p:nvSpPr>
        <p:spPr>
          <a:xfrm>
            <a:off x="9357749" y="275234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>
            <a:off x="9087962" y="3255264"/>
            <a:ext cx="97005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9098099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mk_XLF"/>
          <p:cNvSpPr/>
          <p:nvPr/>
        </p:nvSpPr>
        <p:spPr>
          <a:xfrm>
            <a:off x="9028526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val_XLF"/>
          <p:cNvSpPr txBox="1"/>
          <p:nvPr/>
        </p:nvSpPr>
        <p:spPr>
          <a:xfrm>
            <a:off x="9340415" y="313639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+ 0,06%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>
            <a:off x="9077378" y="3639312"/>
            <a:ext cx="5173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9042246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mk_XLE"/>
          <p:cNvSpPr/>
          <p:nvPr/>
        </p:nvSpPr>
        <p:spPr>
          <a:xfrm>
            <a:off x="9017942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val_XLE"/>
          <p:cNvSpPr txBox="1"/>
          <p:nvPr/>
        </p:nvSpPr>
        <p:spPr>
          <a:xfrm>
            <a:off x="9284562" y="35204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>
            <a:off x="9055277" y="4023360"/>
            <a:ext cx="61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9029793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mk_XLV"/>
          <p:cNvSpPr/>
          <p:nvPr/>
        </p:nvSpPr>
        <p:spPr>
          <a:xfrm>
            <a:off x="8995841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val_XLV"/>
          <p:cNvSpPr txBox="1"/>
          <p:nvPr/>
        </p:nvSpPr>
        <p:spPr>
          <a:xfrm>
            <a:off x="9272109" y="390448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>
            <a:off x="9031137" y="4407408"/>
            <a:ext cx="71251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9015520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mk_XLP"/>
          <p:cNvSpPr/>
          <p:nvPr/>
        </p:nvSpPr>
        <p:spPr>
          <a:xfrm>
            <a:off x="8971701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val_XLP"/>
          <p:cNvSpPr txBox="1"/>
          <p:nvPr/>
        </p:nvSpPr>
        <p:spPr>
          <a:xfrm>
            <a:off x="9257836" y="428853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+ 0,03%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>
            <a:off x="9010412" y="4791456"/>
            <a:ext cx="2513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948678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mk_TIP"/>
          <p:cNvSpPr/>
          <p:nvPr/>
        </p:nvSpPr>
        <p:spPr>
          <a:xfrm>
            <a:off x="8950976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val_TIP"/>
          <p:cNvSpPr txBox="1"/>
          <p:nvPr/>
        </p:nvSpPr>
        <p:spPr>
          <a:xfrm>
            <a:off x="9190994" y="46725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 flipH="1">
            <a:off x="9035140" y="5175504"/>
            <a:ext cx="937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8948272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mk_XLU"/>
          <p:cNvSpPr/>
          <p:nvPr/>
        </p:nvSpPr>
        <p:spPr>
          <a:xfrm>
            <a:off x="8985078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val_XLU"/>
          <p:cNvSpPr txBox="1"/>
          <p:nvPr/>
        </p:nvSpPr>
        <p:spPr>
          <a:xfrm>
            <a:off x="9190588" y="505663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+ 0,01%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3598" y="5559552"/>
            <a:ext cx="617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8932908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mk_TLT"/>
          <p:cNvSpPr/>
          <p:nvPr/>
        </p:nvSpPr>
        <p:spPr>
          <a:xfrm>
            <a:off x="8954162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val_TLT"/>
          <p:cNvSpPr txBox="1"/>
          <p:nvPr/>
        </p:nvSpPr>
        <p:spPr>
          <a:xfrm>
            <a:off x="9175224" y="544068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+ 0,00%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04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4b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O mesmo dia, duas previsões</a:t>
            </a:r>
          </a:p>
        </p:txBody>
      </p:sp>
      <p:sp>
        <p:nvSpPr>
          <p:cNvPr id="7" name="s4b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04</a:t>
            </a:r>
          </a:p>
        </p:txBody>
      </p:sp>
      <p:cxnSp>
        <p:nvCxnSpPr>
          <p:cNvPr id="8" name="s4b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4b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Em alguns, divergem — e é aí que o Kairós age.</a:t>
            </a:r>
          </a:p>
        </p:txBody>
      </p:sp>
      <p:cxnSp>
        <p:nvCxnSpPr>
          <p:cNvPr id="10" name="s4b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sp>
        <p:nvSpPr>
          <p:cNvPr id="13" name="!!faixa"/>
          <p:cNvSpPr/>
          <p:nvPr/>
        </p:nvSpPr>
        <p:spPr>
          <a:xfrm>
            <a:off x="731520" y="1572768"/>
            <a:ext cx="10725911" cy="65836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4b_12"/>
          <p:cNvSpPr txBox="1"/>
          <p:nvPr/>
        </p:nvSpPr>
        <p:spPr>
          <a:xfrm>
            <a:off x="987552" y="170078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VÉSPERA DO FED</a:t>
            </a:r>
            <a:r>
              <a:rPr sz="900" b="0" i="0" spc="60">
                <a:solidFill>
                  <a:srgbClr val="8395B5"/>
                </a:solidFill>
                <a:latin typeface="Consolas"/>
              </a:rPr>
              <a:t>   16/09/2025</a:t>
            </a:r>
          </a:p>
        </p:txBody>
      </p:sp>
      <p:sp>
        <p:nvSpPr>
          <p:cNvPr id="15" name="s4b_13"/>
          <p:cNvSpPr txBox="1"/>
          <p:nvPr/>
        </p:nvSpPr>
        <p:spPr>
          <a:xfrm>
            <a:off x="3749039" y="1636776"/>
            <a:ext cx="7434071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F5F7FB"/>
                </a:solidFill>
                <a:latin typeface="Bahnschrift SemiBold"/>
              </a:rPr>
              <a:t>Surpresa de +9 bps.  </a:t>
            </a:r>
            <a:r>
              <a:rPr sz="1150" b="0" i="0">
                <a:solidFill>
                  <a:srgbClr val="BAC6DA"/>
                </a:solidFill>
                <a:latin typeface="Bahnschrift SemiLight"/>
              </a:rPr>
              <a:t>O Polymarket vê menos corte do que os juros embutem: dinheiro em risco discorda do preço. A conta vira retorno esperado por ETF.</a:t>
            </a:r>
          </a:p>
        </p:txBody>
      </p:sp>
      <p:cxnSp>
        <p:nvCxnSpPr>
          <p:cNvPr id="16" name="!!grade_-1.5"/>
          <p:cNvCxnSpPr/>
          <p:nvPr/>
        </p:nvCxnSpPr>
        <p:spPr>
          <a:xfrm>
            <a:off x="42062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!!tick_-1.5"/>
          <p:cNvSpPr txBox="1"/>
          <p:nvPr/>
        </p:nvSpPr>
        <p:spPr>
          <a:xfrm>
            <a:off x="37490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-1,5%</a:t>
            </a:r>
          </a:p>
        </p:txBody>
      </p:sp>
      <p:cxnSp>
        <p:nvCxnSpPr>
          <p:cNvPr id="18" name="!!grade_-1.0"/>
          <p:cNvCxnSpPr/>
          <p:nvPr/>
        </p:nvCxnSpPr>
        <p:spPr>
          <a:xfrm>
            <a:off x="58064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!!tick_-1.0"/>
          <p:cNvSpPr txBox="1"/>
          <p:nvPr/>
        </p:nvSpPr>
        <p:spPr>
          <a:xfrm>
            <a:off x="53492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-1,0%</a:t>
            </a:r>
          </a:p>
        </p:txBody>
      </p:sp>
      <p:cxnSp>
        <p:nvCxnSpPr>
          <p:cNvPr id="20" name="!!grade_-0.5"/>
          <p:cNvCxnSpPr/>
          <p:nvPr/>
        </p:nvCxnSpPr>
        <p:spPr>
          <a:xfrm>
            <a:off x="7406640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!!tick_-0.5"/>
          <p:cNvSpPr txBox="1"/>
          <p:nvPr/>
        </p:nvSpPr>
        <p:spPr>
          <a:xfrm>
            <a:off x="6949440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-0,5%</a:t>
            </a:r>
          </a:p>
        </p:txBody>
      </p:sp>
      <p:cxnSp>
        <p:nvCxnSpPr>
          <p:cNvPr id="22" name="!!grade_0.0"/>
          <p:cNvCxnSpPr/>
          <p:nvPr/>
        </p:nvCxnSpPr>
        <p:spPr>
          <a:xfrm>
            <a:off x="9006839" y="2231136"/>
            <a:ext cx="0" cy="3584448"/>
          </a:xfrm>
          <a:prstGeom prst="line">
            <a:avLst/>
          </a:prstGeom>
          <a:ln w="1587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!!tick_0.0"/>
          <p:cNvSpPr txBox="1"/>
          <p:nvPr/>
        </p:nvSpPr>
        <p:spPr>
          <a:xfrm>
            <a:off x="85496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0,0%</a:t>
            </a:r>
          </a:p>
        </p:txBody>
      </p:sp>
      <p:cxnSp>
        <p:nvCxnSpPr>
          <p:cNvPr id="24" name="!!grade_0.5"/>
          <p:cNvCxnSpPr/>
          <p:nvPr/>
        </p:nvCxnSpPr>
        <p:spPr>
          <a:xfrm>
            <a:off x="10607039" y="2231136"/>
            <a:ext cx="0" cy="3584448"/>
          </a:xfrm>
          <a:prstGeom prst="line">
            <a:avLst/>
          </a:prstGeom>
          <a:ln w="7620">
            <a:solidFill>
              <a:srgbClr val="2A3F63">
                <a:alpha val="4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!!tick_0.5"/>
          <p:cNvSpPr txBox="1"/>
          <p:nvPr/>
        </p:nvSpPr>
        <p:spPr>
          <a:xfrm>
            <a:off x="10149839" y="5852160"/>
            <a:ext cx="9144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8395B5"/>
                </a:solidFill>
                <a:latin typeface="Consolas"/>
              </a:rPr>
              <a:t>+0,5%</a:t>
            </a:r>
          </a:p>
        </p:txBody>
      </p:sp>
      <p:sp>
        <p:nvSpPr>
          <p:cNvPr id="26" name="!!eixo_rot"/>
          <p:cNvSpPr txBox="1"/>
          <p:nvPr/>
        </p:nvSpPr>
        <p:spPr>
          <a:xfrm>
            <a:off x="731520" y="5852160"/>
            <a:ext cx="2331720" cy="182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spc="60">
                <a:solidFill>
                  <a:srgbClr val="8395B5"/>
                </a:solidFill>
                <a:latin typeface="Consolas"/>
              </a:rPr>
              <a:t>retorno esperado no dia do anúncio  →</a:t>
            </a:r>
          </a:p>
        </p:txBody>
      </p:sp>
      <p:sp>
        <p:nvSpPr>
          <p:cNvPr id="27" name="!!etf_XLK"/>
          <p:cNvSpPr txBox="1"/>
          <p:nvPr/>
        </p:nvSpPr>
        <p:spPr>
          <a:xfrm>
            <a:off x="731520" y="235000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XLK</a:t>
            </a:r>
          </a:p>
        </p:txBody>
      </p:sp>
      <p:sp>
        <p:nvSpPr>
          <p:cNvPr id="28" name="!!setor_XLK"/>
          <p:cNvSpPr txBox="1"/>
          <p:nvPr/>
        </p:nvSpPr>
        <p:spPr>
          <a:xfrm>
            <a:off x="1389888" y="235000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tecnologia</a:t>
            </a:r>
          </a:p>
        </p:txBody>
      </p:sp>
      <p:cxnSp>
        <p:nvCxnSpPr>
          <p:cNvPr id="29" name="!!trilho_XLK"/>
          <p:cNvCxnSpPr/>
          <p:nvPr/>
        </p:nvCxnSpPr>
        <p:spPr>
          <a:xfrm>
            <a:off x="3246120" y="248716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!!lig_XLK"/>
          <p:cNvCxnSpPr/>
          <p:nvPr/>
        </p:nvCxnSpPr>
        <p:spPr>
          <a:xfrm flipH="1">
            <a:off x="4126496" y="2487168"/>
            <a:ext cx="5021063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!!pm_XLK"/>
          <p:cNvSpPr/>
          <p:nvPr/>
        </p:nvSpPr>
        <p:spPr>
          <a:xfrm>
            <a:off x="4039628" y="240030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!!mk_XLK"/>
          <p:cNvSpPr/>
          <p:nvPr/>
        </p:nvSpPr>
        <p:spPr>
          <a:xfrm>
            <a:off x="9088123" y="242773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val_XLK"/>
          <p:cNvSpPr txBox="1"/>
          <p:nvPr/>
        </p:nvSpPr>
        <p:spPr>
          <a:xfrm>
            <a:off x="3257816" y="236829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− 1,52%</a:t>
            </a:r>
          </a:p>
        </p:txBody>
      </p:sp>
      <p:sp>
        <p:nvSpPr>
          <p:cNvPr id="34" name="!!etf_SPY"/>
          <p:cNvSpPr txBox="1"/>
          <p:nvPr/>
        </p:nvSpPr>
        <p:spPr>
          <a:xfrm>
            <a:off x="731520" y="273405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SPY</a:t>
            </a:r>
          </a:p>
        </p:txBody>
      </p:sp>
      <p:sp>
        <p:nvSpPr>
          <p:cNvPr id="35" name="!!setor_SPY"/>
          <p:cNvSpPr txBox="1"/>
          <p:nvPr/>
        </p:nvSpPr>
        <p:spPr>
          <a:xfrm>
            <a:off x="1389888" y="273405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S&amp;P 500</a:t>
            </a:r>
          </a:p>
        </p:txBody>
      </p:sp>
      <p:cxnSp>
        <p:nvCxnSpPr>
          <p:cNvPr id="36" name="!!trilho_SPY"/>
          <p:cNvCxnSpPr/>
          <p:nvPr/>
        </p:nvCxnSpPr>
        <p:spPr>
          <a:xfrm>
            <a:off x="3246120" y="287121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!!lig_SPY"/>
          <p:cNvCxnSpPr/>
          <p:nvPr/>
        </p:nvCxnSpPr>
        <p:spPr>
          <a:xfrm flipH="1">
            <a:off x="5358875" y="2871216"/>
            <a:ext cx="37505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!!pm_SPY"/>
          <p:cNvSpPr/>
          <p:nvPr/>
        </p:nvSpPr>
        <p:spPr>
          <a:xfrm>
            <a:off x="5272007" y="278434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!!mk_SPY"/>
          <p:cNvSpPr/>
          <p:nvPr/>
        </p:nvSpPr>
        <p:spPr>
          <a:xfrm>
            <a:off x="9049977" y="281178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!!val_SPY"/>
          <p:cNvSpPr txBox="1"/>
          <p:nvPr/>
        </p:nvSpPr>
        <p:spPr>
          <a:xfrm>
            <a:off x="4490195" y="275234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− 1,14%</a:t>
            </a:r>
          </a:p>
        </p:txBody>
      </p:sp>
      <p:sp>
        <p:nvSpPr>
          <p:cNvPr id="41" name="!!etf_XLF"/>
          <p:cNvSpPr txBox="1"/>
          <p:nvPr/>
        </p:nvSpPr>
        <p:spPr>
          <a:xfrm>
            <a:off x="731520" y="311810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XLF</a:t>
            </a:r>
          </a:p>
        </p:txBody>
      </p:sp>
      <p:sp>
        <p:nvSpPr>
          <p:cNvPr id="42" name="!!setor_XLF"/>
          <p:cNvSpPr txBox="1"/>
          <p:nvPr/>
        </p:nvSpPr>
        <p:spPr>
          <a:xfrm>
            <a:off x="1389888" y="311810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financeiro</a:t>
            </a:r>
          </a:p>
        </p:txBody>
      </p:sp>
      <p:cxnSp>
        <p:nvCxnSpPr>
          <p:cNvPr id="43" name="!!trilho_XLF"/>
          <p:cNvCxnSpPr/>
          <p:nvPr/>
        </p:nvCxnSpPr>
        <p:spPr>
          <a:xfrm>
            <a:off x="3246120" y="325526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!!lig_XLF"/>
          <p:cNvCxnSpPr/>
          <p:nvPr/>
        </p:nvCxnSpPr>
        <p:spPr>
          <a:xfrm flipH="1">
            <a:off x="6216124" y="3255264"/>
            <a:ext cx="287438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!!pm_XLF"/>
          <p:cNvSpPr/>
          <p:nvPr/>
        </p:nvSpPr>
        <p:spPr>
          <a:xfrm>
            <a:off x="6129256" y="316839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!!mk_XLF"/>
          <p:cNvSpPr/>
          <p:nvPr/>
        </p:nvSpPr>
        <p:spPr>
          <a:xfrm>
            <a:off x="9031072" y="319582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!!val_XLF"/>
          <p:cNvSpPr txBox="1"/>
          <p:nvPr/>
        </p:nvSpPr>
        <p:spPr>
          <a:xfrm>
            <a:off x="5347444" y="313639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− 0,87%</a:t>
            </a:r>
          </a:p>
        </p:txBody>
      </p:sp>
      <p:sp>
        <p:nvSpPr>
          <p:cNvPr id="48" name="!!etf_XLE"/>
          <p:cNvSpPr txBox="1"/>
          <p:nvPr/>
        </p:nvSpPr>
        <p:spPr>
          <a:xfrm>
            <a:off x="731520" y="350215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XLE</a:t>
            </a:r>
          </a:p>
        </p:txBody>
      </p:sp>
      <p:sp>
        <p:nvSpPr>
          <p:cNvPr id="49" name="!!setor_XLE"/>
          <p:cNvSpPr txBox="1"/>
          <p:nvPr/>
        </p:nvSpPr>
        <p:spPr>
          <a:xfrm>
            <a:off x="1389888" y="350215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energia</a:t>
            </a:r>
          </a:p>
        </p:txBody>
      </p:sp>
      <p:cxnSp>
        <p:nvCxnSpPr>
          <p:cNvPr id="50" name="!!trilho_XLE"/>
          <p:cNvCxnSpPr/>
          <p:nvPr/>
        </p:nvCxnSpPr>
        <p:spPr>
          <a:xfrm>
            <a:off x="3246120" y="363931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!!lig_XLE"/>
          <p:cNvCxnSpPr/>
          <p:nvPr/>
        </p:nvCxnSpPr>
        <p:spPr>
          <a:xfrm flipH="1">
            <a:off x="6631476" y="3639312"/>
            <a:ext cx="244733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!!pm_XLE"/>
          <p:cNvSpPr/>
          <p:nvPr/>
        </p:nvSpPr>
        <p:spPr>
          <a:xfrm>
            <a:off x="6544608" y="355244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!!mk_XLE"/>
          <p:cNvSpPr/>
          <p:nvPr/>
        </p:nvSpPr>
        <p:spPr>
          <a:xfrm>
            <a:off x="9019378" y="357987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!!val_XLE"/>
          <p:cNvSpPr txBox="1"/>
          <p:nvPr/>
        </p:nvSpPr>
        <p:spPr>
          <a:xfrm>
            <a:off x="5762796" y="352044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− 0,74%</a:t>
            </a:r>
          </a:p>
        </p:txBody>
      </p:sp>
      <p:sp>
        <p:nvSpPr>
          <p:cNvPr id="55" name="!!etf_XLV"/>
          <p:cNvSpPr txBox="1"/>
          <p:nvPr/>
        </p:nvSpPr>
        <p:spPr>
          <a:xfrm>
            <a:off x="731520" y="3886200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XLV</a:t>
            </a:r>
          </a:p>
        </p:txBody>
      </p:sp>
      <p:sp>
        <p:nvSpPr>
          <p:cNvPr id="56" name="!!setor_XLV"/>
          <p:cNvSpPr txBox="1"/>
          <p:nvPr/>
        </p:nvSpPr>
        <p:spPr>
          <a:xfrm>
            <a:off x="1389888" y="3886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saúde</a:t>
            </a:r>
          </a:p>
        </p:txBody>
      </p:sp>
      <p:cxnSp>
        <p:nvCxnSpPr>
          <p:cNvPr id="57" name="!!trilho_XLV"/>
          <p:cNvCxnSpPr/>
          <p:nvPr/>
        </p:nvCxnSpPr>
        <p:spPr>
          <a:xfrm>
            <a:off x="3246120" y="4023360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!!lig_XLV"/>
          <p:cNvCxnSpPr/>
          <p:nvPr/>
        </p:nvCxnSpPr>
        <p:spPr>
          <a:xfrm flipH="1">
            <a:off x="7357519" y="4023360"/>
            <a:ext cx="170007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!!pm_XLV"/>
          <p:cNvSpPr/>
          <p:nvPr/>
        </p:nvSpPr>
        <p:spPr>
          <a:xfrm>
            <a:off x="7270651" y="3936492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!!mk_XLV"/>
          <p:cNvSpPr/>
          <p:nvPr/>
        </p:nvSpPr>
        <p:spPr>
          <a:xfrm>
            <a:off x="8998159" y="3963924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!!val_XLV"/>
          <p:cNvSpPr txBox="1"/>
          <p:nvPr/>
        </p:nvSpPr>
        <p:spPr>
          <a:xfrm>
            <a:off x="6488839" y="3904488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− 0,52%</a:t>
            </a:r>
          </a:p>
        </p:txBody>
      </p:sp>
      <p:sp>
        <p:nvSpPr>
          <p:cNvPr id="62" name="!!etf_XLP"/>
          <p:cNvSpPr txBox="1"/>
          <p:nvPr/>
        </p:nvSpPr>
        <p:spPr>
          <a:xfrm>
            <a:off x="731520" y="4270248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XLP</a:t>
            </a:r>
          </a:p>
        </p:txBody>
      </p:sp>
      <p:sp>
        <p:nvSpPr>
          <p:cNvPr id="63" name="!!setor_XLP"/>
          <p:cNvSpPr txBox="1"/>
          <p:nvPr/>
        </p:nvSpPr>
        <p:spPr>
          <a:xfrm>
            <a:off x="1389888" y="4270248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consumo básico</a:t>
            </a:r>
          </a:p>
        </p:txBody>
      </p:sp>
      <p:cxnSp>
        <p:nvCxnSpPr>
          <p:cNvPr id="64" name="!!trilho_XLP"/>
          <p:cNvCxnSpPr/>
          <p:nvPr/>
        </p:nvCxnSpPr>
        <p:spPr>
          <a:xfrm>
            <a:off x="3246120" y="4407408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!!lig_XLP"/>
          <p:cNvCxnSpPr/>
          <p:nvPr/>
        </p:nvCxnSpPr>
        <p:spPr>
          <a:xfrm flipH="1">
            <a:off x="7369482" y="4407408"/>
            <a:ext cx="1667704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!!pm_XLP"/>
          <p:cNvSpPr/>
          <p:nvPr/>
        </p:nvSpPr>
        <p:spPr>
          <a:xfrm>
            <a:off x="7282614" y="4320540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7" name="!!mk_XLP"/>
          <p:cNvSpPr/>
          <p:nvPr/>
        </p:nvSpPr>
        <p:spPr>
          <a:xfrm>
            <a:off x="8977750" y="4347972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8" name="!!val_XLP"/>
          <p:cNvSpPr txBox="1"/>
          <p:nvPr/>
        </p:nvSpPr>
        <p:spPr>
          <a:xfrm>
            <a:off x="6500802" y="4288536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− 0,51%</a:t>
            </a:r>
          </a:p>
        </p:txBody>
      </p:sp>
      <p:sp>
        <p:nvSpPr>
          <p:cNvPr id="69" name="!!etf_TIP"/>
          <p:cNvSpPr txBox="1"/>
          <p:nvPr/>
        </p:nvSpPr>
        <p:spPr>
          <a:xfrm>
            <a:off x="731520" y="4654296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TIP</a:t>
            </a:r>
          </a:p>
        </p:txBody>
      </p:sp>
      <p:sp>
        <p:nvSpPr>
          <p:cNvPr id="70" name="!!setor_TIP"/>
          <p:cNvSpPr txBox="1"/>
          <p:nvPr/>
        </p:nvSpPr>
        <p:spPr>
          <a:xfrm>
            <a:off x="1389888" y="4654296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· inflação</a:t>
            </a:r>
          </a:p>
        </p:txBody>
      </p:sp>
      <p:cxnSp>
        <p:nvCxnSpPr>
          <p:cNvPr id="71" name="!!trilho_TIP"/>
          <p:cNvCxnSpPr/>
          <p:nvPr/>
        </p:nvCxnSpPr>
        <p:spPr>
          <a:xfrm>
            <a:off x="3246120" y="4791456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!!lig_TIP"/>
          <p:cNvCxnSpPr/>
          <p:nvPr/>
        </p:nvCxnSpPr>
        <p:spPr>
          <a:xfrm flipH="1">
            <a:off x="8379781" y="4791456"/>
            <a:ext cx="632287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!!pm_TIP"/>
          <p:cNvSpPr/>
          <p:nvPr/>
        </p:nvSpPr>
        <p:spPr>
          <a:xfrm>
            <a:off x="8292913" y="4704588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4" name="!!mk_TIP"/>
          <p:cNvSpPr/>
          <p:nvPr/>
        </p:nvSpPr>
        <p:spPr>
          <a:xfrm>
            <a:off x="8952632" y="4732020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5" name="!!val_TIP"/>
          <p:cNvSpPr txBox="1"/>
          <p:nvPr/>
        </p:nvSpPr>
        <p:spPr>
          <a:xfrm>
            <a:off x="7511101" y="4672584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− 0,20%</a:t>
            </a:r>
          </a:p>
        </p:txBody>
      </p:sp>
      <p:sp>
        <p:nvSpPr>
          <p:cNvPr id="76" name="!!etf_XLU"/>
          <p:cNvSpPr txBox="1"/>
          <p:nvPr/>
        </p:nvSpPr>
        <p:spPr>
          <a:xfrm>
            <a:off x="731520" y="5038344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XLU</a:t>
            </a:r>
          </a:p>
        </p:txBody>
      </p:sp>
      <p:sp>
        <p:nvSpPr>
          <p:cNvPr id="77" name="!!setor_XLU"/>
          <p:cNvSpPr txBox="1"/>
          <p:nvPr/>
        </p:nvSpPr>
        <p:spPr>
          <a:xfrm>
            <a:off x="1389888" y="503834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utilities</a:t>
            </a:r>
          </a:p>
        </p:txBody>
      </p:sp>
      <p:cxnSp>
        <p:nvCxnSpPr>
          <p:cNvPr id="78" name="!!trilho_XLU"/>
          <p:cNvCxnSpPr/>
          <p:nvPr/>
        </p:nvCxnSpPr>
        <p:spPr>
          <a:xfrm>
            <a:off x="3246120" y="5175504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!!lig_XLU"/>
          <p:cNvCxnSpPr/>
          <p:nvPr/>
        </p:nvCxnSpPr>
        <p:spPr>
          <a:xfrm>
            <a:off x="9048468" y="5175504"/>
            <a:ext cx="435828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!!pm_XLU"/>
          <p:cNvSpPr/>
          <p:nvPr/>
        </p:nvSpPr>
        <p:spPr>
          <a:xfrm>
            <a:off x="9397428" y="5088636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1" name="!!mk_XLU"/>
          <p:cNvSpPr/>
          <p:nvPr/>
        </p:nvSpPr>
        <p:spPr>
          <a:xfrm>
            <a:off x="8989032" y="5116068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2" name="!!val_XLU"/>
          <p:cNvSpPr txBox="1"/>
          <p:nvPr/>
        </p:nvSpPr>
        <p:spPr>
          <a:xfrm>
            <a:off x="9639744" y="5056632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+ 0,15%</a:t>
            </a:r>
          </a:p>
        </p:txBody>
      </p:sp>
      <p:sp>
        <p:nvSpPr>
          <p:cNvPr id="83" name="!!etf_TLT"/>
          <p:cNvSpPr txBox="1"/>
          <p:nvPr/>
        </p:nvSpPr>
        <p:spPr>
          <a:xfrm>
            <a:off x="731520" y="5422392"/>
            <a:ext cx="640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5F7FB"/>
                </a:solidFill>
                <a:latin typeface="Consolas"/>
              </a:rPr>
              <a:t>TLT</a:t>
            </a:r>
          </a:p>
        </p:txBody>
      </p:sp>
      <p:sp>
        <p:nvSpPr>
          <p:cNvPr id="84" name="!!setor_TLT"/>
          <p:cNvSpPr txBox="1"/>
          <p:nvPr/>
        </p:nvSpPr>
        <p:spPr>
          <a:xfrm>
            <a:off x="1389888" y="5422392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8395B5"/>
                </a:solidFill>
                <a:latin typeface="Bahnschrift SemiLight"/>
              </a:rPr>
              <a:t>Treasury 20+</a:t>
            </a:r>
          </a:p>
        </p:txBody>
      </p:sp>
      <p:cxnSp>
        <p:nvCxnSpPr>
          <p:cNvPr id="85" name="!!trilho_TLT"/>
          <p:cNvCxnSpPr/>
          <p:nvPr/>
        </p:nvCxnSpPr>
        <p:spPr>
          <a:xfrm>
            <a:off x="3246120" y="5559552"/>
            <a:ext cx="7680960" cy="0"/>
          </a:xfrm>
          <a:prstGeom prst="line">
            <a:avLst/>
          </a:prstGeom>
          <a:ln w="6350">
            <a:solidFill>
              <a:srgbClr val="2A3F63">
                <a:alpha val="3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!!lig_TLT"/>
          <p:cNvCxnSpPr/>
          <p:nvPr/>
        </p:nvCxnSpPr>
        <p:spPr>
          <a:xfrm>
            <a:off x="9019047" y="5559552"/>
            <a:ext cx="486856" cy="0"/>
          </a:xfrm>
          <a:prstGeom prst="line">
            <a:avLst/>
          </a:prstGeom>
          <a:ln w="25400">
            <a:solidFill>
              <a:srgbClr val="FFB531">
                <a:alpha val="55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7" name="!!pm_TLT"/>
          <p:cNvSpPr/>
          <p:nvPr/>
        </p:nvSpPr>
        <p:spPr>
          <a:xfrm>
            <a:off x="9419035" y="5472684"/>
            <a:ext cx="173736" cy="173736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70000">
              <a:srgbClr val="FFB531">
                <a:alpha val="4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8" name="!!mk_TLT"/>
          <p:cNvSpPr/>
          <p:nvPr/>
        </p:nvSpPr>
        <p:spPr>
          <a:xfrm>
            <a:off x="8959611" y="5500116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50000">
              <a:srgbClr val="4F8EF7">
                <a:alpha val="3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9" name="!!val_TLT"/>
          <p:cNvSpPr txBox="1"/>
          <p:nvPr/>
        </p:nvSpPr>
        <p:spPr>
          <a:xfrm>
            <a:off x="9661351" y="5440680"/>
            <a:ext cx="7315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531"/>
                </a:solidFill>
                <a:latin typeface="Consolas"/>
              </a:rPr>
              <a:t>+ 0,16%</a:t>
            </a:r>
          </a:p>
        </p:txBody>
      </p:sp>
      <p:sp>
        <p:nvSpPr>
          <p:cNvPr id="90" name="!!leg_mk"/>
          <p:cNvSpPr/>
          <p:nvPr/>
        </p:nvSpPr>
        <p:spPr>
          <a:xfrm>
            <a:off x="3259836" y="6121907"/>
            <a:ext cx="118872" cy="118872"/>
          </a:xfrm>
          <a:prstGeom prst="ellipse">
            <a:avLst/>
          </a:prstGeom>
          <a:solidFill>
            <a:srgbClr val="4F8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1" name="!!leg_mk_t"/>
          <p:cNvSpPr txBox="1"/>
          <p:nvPr/>
        </p:nvSpPr>
        <p:spPr>
          <a:xfrm>
            <a:off x="3465576" y="608990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MERCADO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o equilíbrio π — o prêmio normal do dia</a:t>
            </a:r>
          </a:p>
        </p:txBody>
      </p:sp>
      <p:sp>
        <p:nvSpPr>
          <p:cNvPr id="92" name="!!leg_pm"/>
          <p:cNvSpPr/>
          <p:nvPr/>
        </p:nvSpPr>
        <p:spPr>
          <a:xfrm>
            <a:off x="6880859" y="6112764"/>
            <a:ext cx="137160" cy="137160"/>
          </a:xfrm>
          <a:prstGeom prst="ellipse">
            <a:avLst/>
          </a:prstGeom>
          <a:solidFill>
            <a:srgbClr val="FFB5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3" name="!!leg_pm_t"/>
          <p:cNvSpPr txBox="1"/>
          <p:nvPr/>
        </p:nvSpPr>
        <p:spPr>
          <a:xfrm>
            <a:off x="7114032" y="6089904"/>
            <a:ext cx="420624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100">
                <a:solidFill>
                  <a:srgbClr val="F5F7FB"/>
                </a:solidFill>
                <a:latin typeface="Consolas"/>
              </a:rPr>
              <a:t>POLYMARKET</a:t>
            </a:r>
            <a:r>
              <a:rPr sz="900" b="0" i="0">
                <a:solidFill>
                  <a:srgbClr val="8395B5"/>
                </a:solidFill>
                <a:latin typeface="Bahnschrift SemiLight"/>
              </a:rPr>
              <a:t>  π + β × surpresa — β medido em reuniões passadas</a:t>
            </a:r>
          </a:p>
        </p:txBody>
      </p:sp>
      <p:sp>
        <p:nvSpPr>
          <p:cNvPr id="94" name="!!nota"/>
          <p:cNvSpPr txBox="1"/>
          <p:nvPr/>
        </p:nvSpPr>
        <p:spPr>
          <a:xfrm>
            <a:off x="731520" y="6336792"/>
            <a:ext cx="1072591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surpresa = o corte que o Polymarket precifica − o que o T-bill de 3 meses embute, líquida do viés do instrumento  ·  apêndices A5 e A6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900">
        <p159:morph xmlns:p159="http://schemas.microsoft.com/office/powerpoint/2015/09/main" option="byObject"/>
      </p:transition>
    </mc:Choice>
    <mc:Fallback>
      <p:transition spd="fast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s12_0_1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7" name="s12_0_1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18" name="s12_0_1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12_0_1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0" name="s12_0_1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1" name="s12_0_1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2" name="s12_0_20"/>
          <p:cNvSpPr txBox="1"/>
          <p:nvPr/>
        </p:nvSpPr>
        <p:spPr>
          <a:xfrm>
            <a:off x="5897880" y="4809744"/>
            <a:ext cx="55595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1">
                <a:solidFill>
                  <a:srgbClr val="58698A"/>
                </a:solidFill>
                <a:latin typeface="Consolas"/>
              </a:rPr>
              <a:t>clique para ver o caminho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!!pulso"/>
          <p:cNvSpPr/>
          <p:nvPr/>
        </p:nvSpPr>
        <p:spPr>
          <a:xfrm>
            <a:off x="2786391" y="38643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s12_1_1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19" name="s12_1_1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0" name="s12_1_1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12_1_1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2" name="s12_1_2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3" name="s12_1_2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!!pulso"/>
          <p:cNvSpPr/>
          <p:nvPr/>
        </p:nvSpPr>
        <p:spPr>
          <a:xfrm>
            <a:off x="1674799" y="4579595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s12_2_1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1" name="s12_2_1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2" name="s12_2_2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12_2_2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4" name="s12_2_2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5" name="s12_2_2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3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3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3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3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3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!!pulso"/>
          <p:cNvSpPr/>
          <p:nvPr/>
        </p:nvSpPr>
        <p:spPr>
          <a:xfrm>
            <a:off x="1692542" y="352782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s12_3_2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3" name="s12_3_2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4" name="s12_3_2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12_3_2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6" name="s12_3_2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7" name="s12_3_2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2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2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4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4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4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4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4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>
            <a:off x="1944002" y="3779288"/>
            <a:ext cx="865626" cy="22441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718188" y="391226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!!pulso"/>
          <p:cNvSpPr/>
          <p:nvPr/>
        </p:nvSpPr>
        <p:spPr>
          <a:xfrm>
            <a:off x="2558168" y="3752246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s12_4_2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5" name="s12_4_2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6" name="s12_4_2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12_4_2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28" name="s12_4_2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29" name="s12_4_2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5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5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5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5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5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>
            <a:off x="1944002" y="3779288"/>
            <a:ext cx="865626" cy="22441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718188" y="391226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809628" y="4003706"/>
            <a:ext cx="481523" cy="29540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199711" y="4207669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!!pulso"/>
          <p:cNvSpPr/>
          <p:nvPr/>
        </p:nvSpPr>
        <p:spPr>
          <a:xfrm>
            <a:off x="3039691" y="4047649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s12_5_2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7" name="s12_5_2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28" name="s12_5_2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12_5_2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0" name="s12_5_2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1" name="s12_5_2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6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6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6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6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6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>
            <a:off x="1944002" y="3779288"/>
            <a:ext cx="865626" cy="22441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718188" y="391226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809628" y="4003706"/>
            <a:ext cx="481523" cy="29540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199711" y="4207669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291151" y="3923102"/>
            <a:ext cx="559467" cy="37600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59178" y="383166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!!pulso"/>
          <p:cNvSpPr/>
          <p:nvPr/>
        </p:nvSpPr>
        <p:spPr>
          <a:xfrm>
            <a:off x="3599158" y="367164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s12_6_2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29" name="s12_6_2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0" name="s12_6_2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12_6_2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2" name="s12_6_3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3" name="s12_6_3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3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3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7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7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7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7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7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>
            <a:off x="1944002" y="3779288"/>
            <a:ext cx="865626" cy="22441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718188" y="391226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809628" y="4003706"/>
            <a:ext cx="481523" cy="29540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199711" y="4207669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291151" y="3923102"/>
            <a:ext cx="559467" cy="37600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59178" y="383166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 flipV="1">
            <a:off x="3399735" y="3579698"/>
            <a:ext cx="450883" cy="34340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08295" y="34882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!!pulso"/>
          <p:cNvSpPr/>
          <p:nvPr/>
        </p:nvSpPr>
        <p:spPr>
          <a:xfrm>
            <a:off x="3148275" y="3328238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s12_7_28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1" name="s12_7_29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2" name="s12_7_30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12_7_31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4" name="s12_7_32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5" name="s12_7_33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6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7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38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39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0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1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2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8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8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8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8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8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>
            <a:off x="1944002" y="3779288"/>
            <a:ext cx="865626" cy="22441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718188" y="391226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809628" y="4003706"/>
            <a:ext cx="481523" cy="29540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199711" y="4207669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291151" y="3923102"/>
            <a:ext cx="559467" cy="37600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59178" y="383166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 flipV="1">
            <a:off x="3399735" y="3579698"/>
            <a:ext cx="450883" cy="34340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08295" y="34882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3116127" y="3579698"/>
            <a:ext cx="283608" cy="68110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024687" y="4169359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!!pulso"/>
          <p:cNvSpPr/>
          <p:nvPr/>
        </p:nvSpPr>
        <p:spPr>
          <a:xfrm>
            <a:off x="2864667" y="4009339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s12_8_30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3" name="s12_8_31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4" name="s12_8_32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12_8_33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6" name="s12_8_34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7" name="s12_8_35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38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39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0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1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2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3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4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5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9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9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9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9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9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>
            <a:off x="1944002" y="3779288"/>
            <a:ext cx="865626" cy="22441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718188" y="391226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809628" y="4003706"/>
            <a:ext cx="481523" cy="29540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199711" y="4207669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291151" y="3923102"/>
            <a:ext cx="559467" cy="37600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59178" y="383166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 flipV="1">
            <a:off x="3399735" y="3579698"/>
            <a:ext cx="450883" cy="34340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08295" y="34882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3116127" y="3579698"/>
            <a:ext cx="283608" cy="68110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024687" y="4169359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688795" y="3030284"/>
            <a:ext cx="427332" cy="123051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97355" y="2938844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!!pulso"/>
          <p:cNvSpPr/>
          <p:nvPr/>
        </p:nvSpPr>
        <p:spPr>
          <a:xfrm>
            <a:off x="2437335" y="2778824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s12_9_32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5" name="s12_9_33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6" name="s12_9_34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12_9_35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38" name="s12_9_36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39" name="s12_9_37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0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1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2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3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4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5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6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7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48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0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0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0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0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0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>
            <a:off x="1944002" y="3779288"/>
            <a:ext cx="865626" cy="22441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718188" y="391226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809628" y="4003706"/>
            <a:ext cx="481523" cy="29540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199711" y="4207669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291151" y="3923102"/>
            <a:ext cx="559467" cy="37600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59178" y="383166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 flipV="1">
            <a:off x="3399735" y="3579698"/>
            <a:ext cx="450883" cy="34340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08295" y="34882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3116127" y="3579698"/>
            <a:ext cx="283608" cy="68110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024687" y="4169359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688795" y="3030284"/>
            <a:ext cx="427332" cy="123051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97355" y="2938844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688795" y="3030284"/>
            <a:ext cx="987339" cy="48931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3584694" y="3428163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!!pulso"/>
          <p:cNvSpPr/>
          <p:nvPr/>
        </p:nvSpPr>
        <p:spPr>
          <a:xfrm>
            <a:off x="3424674" y="3268143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s12_10_34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7" name="s12_10_35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8" name="s12_10_36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12_10_37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0" name="s12_10_38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1" name="s12_10_39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2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3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4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5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6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7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8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49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0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1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1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1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1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1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1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>
            <a:off x="1944002" y="3779288"/>
            <a:ext cx="865626" cy="22441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718188" y="391226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809628" y="4003706"/>
            <a:ext cx="481523" cy="29540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199711" y="4207669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291151" y="3923102"/>
            <a:ext cx="559467" cy="37600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59178" y="383166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 flipV="1">
            <a:off x="3399735" y="3579698"/>
            <a:ext cx="450883" cy="34340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08295" y="34882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3116127" y="3579698"/>
            <a:ext cx="283608" cy="68110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024687" y="4169359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688795" y="3030284"/>
            <a:ext cx="427332" cy="123051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97355" y="2938844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688795" y="3030284"/>
            <a:ext cx="987339" cy="48931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3584694" y="3428163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!!e_10"/>
          <p:cNvCxnSpPr/>
          <p:nvPr/>
        </p:nvCxnSpPr>
        <p:spPr>
          <a:xfrm flipH="1">
            <a:off x="2583343" y="3519603"/>
            <a:ext cx="1092791" cy="181720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2491903" y="524537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!!pulso"/>
          <p:cNvSpPr/>
          <p:nvPr/>
        </p:nvSpPr>
        <p:spPr>
          <a:xfrm>
            <a:off x="2331883" y="5085352"/>
            <a:ext cx="502920" cy="502920"/>
          </a:xfrm>
          <a:prstGeom prst="ellipse">
            <a:avLst/>
          </a:prstGeom>
          <a:solidFill>
            <a:srgbClr val="FFB531">
              <a:alpha val="40000"/>
            </a:srgbClr>
          </a:solidFill>
          <a:ln>
            <a:noFill/>
          </a:ln>
          <a:effectLst>
            <a:softEdge rad="15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s12_11_36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9" name="s12_11_37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40" name="s12_11_38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12_11_39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2" name="s12_11_40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3" name="s12_11_41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4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5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6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7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8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9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50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1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2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3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4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advTm="320" p14:dur="550">
        <p159:morph xmlns:p159="http://schemas.microsoft.com/office/powerpoint/2015/09/main" option="byObject"/>
      </p:transition>
    </mc:Choice>
    <mc:Fallback>
      <p:transition spd="fast" advTm="32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10203A"/>
            </a:gs>
            <a:gs pos="55000">
              <a:srgbClr val="0A1325"/>
            </a:gs>
            <a:gs pos="100000">
              <a:srgbClr val="04070E"/>
            </a:gs>
          </a:gsLst>
          <a:path path="circle">
            <a:fillToRect l="38000" r="62000" b="10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!!glow_tl"/>
          <p:cNvSpPr/>
          <p:nvPr/>
        </p:nvSpPr>
        <p:spPr>
          <a:xfrm>
            <a:off x="-2600000" y="-22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4F8EF7">
                  <a:alpha val="10000"/>
                </a:srgbClr>
              </a:gs>
              <a:gs pos="45000">
                <a:srgbClr val="4F8EF7">
                  <a:alpha val="4000"/>
                </a:srgbClr>
              </a:gs>
              <a:gs pos="80000">
                <a:srgbClr val="4F8EF7">
                  <a:alpha val="1000"/>
                </a:srgbClr>
              </a:gs>
              <a:gs pos="100000">
                <a:srgbClr val="4F8EF7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!!glow_br"/>
          <p:cNvSpPr/>
          <p:nvPr/>
        </p:nvSpPr>
        <p:spPr>
          <a:xfrm>
            <a:off x="8200000" y="4600000"/>
            <a:ext cx="7000000" cy="5200000"/>
          </a:xfrm>
          <a:prstGeom prst="ellipse">
            <a:avLst/>
          </a:prstGeom>
          <a:gradFill rotWithShape="1">
            <a:gsLst>
              <a:gs pos="0">
                <a:srgbClr val="FFB531">
                  <a:alpha val="7000"/>
                </a:srgbClr>
              </a:gs>
              <a:gs pos="45000">
                <a:srgbClr val="FFB531">
                  <a:alpha val="2800"/>
                </a:srgbClr>
              </a:gs>
              <a:gs pos="80000">
                <a:srgbClr val="FFB531">
                  <a:alpha val="1000"/>
                </a:srgbClr>
              </a:gs>
              <a:gs pos="100000">
                <a:srgbClr val="FFB531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!!ghost"/>
          <p:cNvSpPr txBox="1"/>
          <p:nvPr/>
        </p:nvSpPr>
        <p:spPr>
          <a:xfrm>
            <a:off x="6900062" y="-230428"/>
            <a:ext cx="4949647" cy="19997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0" b="0" i="0">
                <a:solidFill>
                  <a:srgbClr val="101A2E"/>
                </a:solidFill>
                <a:latin typeface="Bahnschrift SemiBold Condensed"/>
              </a:rPr>
              <a:t>12</a:t>
            </a:r>
          </a:p>
        </p:txBody>
      </p:sp>
      <p:sp>
        <p:nvSpPr>
          <p:cNvPr id="5" name="!!tick"/>
          <p:cNvSpPr/>
          <p:nvPr/>
        </p:nvSpPr>
        <p:spPr>
          <a:xfrm>
            <a:off x="603504" y="446024"/>
            <a:ext cx="45720" cy="164592"/>
          </a:xfrm>
          <a:prstGeom prst="rect">
            <a:avLst/>
          </a:prstGeom>
          <a:solidFill>
            <a:srgbClr val="FFB5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s12_12_4"/>
          <p:cNvSpPr txBox="1"/>
          <p:nvPr/>
        </p:nvSpPr>
        <p:spPr>
          <a:xfrm>
            <a:off x="731520" y="427024"/>
            <a:ext cx="7315200" cy="2029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 spc="300">
                <a:solidFill>
                  <a:srgbClr val="FFB531"/>
                </a:solidFill>
                <a:latin typeface="Consolas"/>
              </a:rPr>
              <a:t>KAIROS</a:t>
            </a:r>
            <a:r>
              <a:rPr sz="1100" b="0" i="0" spc="72">
                <a:solidFill>
                  <a:srgbClr val="8395B5"/>
                </a:solidFill>
                <a:latin typeface="Consolas"/>
              </a:rPr>
              <a:t>   Setup de IA</a:t>
            </a:r>
          </a:p>
        </p:txBody>
      </p:sp>
      <p:sp>
        <p:nvSpPr>
          <p:cNvPr id="7" name="s12_12_5"/>
          <p:cNvSpPr txBox="1"/>
          <p:nvPr/>
        </p:nvSpPr>
        <p:spPr>
          <a:xfrm>
            <a:off x="0" y="467258"/>
            <a:ext cx="11457432" cy="152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 spc="45">
                <a:solidFill>
                  <a:srgbClr val="8395B5"/>
                </a:solidFill>
                <a:latin typeface="Consolas"/>
              </a:rPr>
              <a:t>12</a:t>
            </a:r>
          </a:p>
        </p:txBody>
      </p:sp>
      <p:cxnSp>
        <p:nvCxnSpPr>
          <p:cNvPr id="8" name="s12_12_6"/>
          <p:cNvCxnSpPr/>
          <p:nvPr/>
        </p:nvCxnSpPr>
        <p:spPr>
          <a:xfrm>
            <a:off x="731520" y="705002"/>
            <a:ext cx="10725912" cy="0"/>
          </a:xfrm>
          <a:prstGeom prst="line">
            <a:avLst/>
          </a:prstGeom>
          <a:ln w="12700">
            <a:gradFill rotWithShape="1">
              <a:gsLst>
                <a:gs pos="0">
                  <a:srgbClr val="FFB531"/>
                </a:gs>
                <a:gs pos="30000">
                  <a:srgbClr val="2A3F63"/>
                </a:gs>
                <a:gs pos="100000">
                  <a:srgbClr val="2A3F63">
                    <a:alpha val="30000"/>
                  </a:srgbClr>
                </a:gs>
              </a:gsLst>
              <a:lin ang="0" scaled="0"/>
            </a:gra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12_12_7"/>
          <p:cNvSpPr txBox="1"/>
          <p:nvPr/>
        </p:nvSpPr>
        <p:spPr>
          <a:xfrm>
            <a:off x="731520" y="850392"/>
            <a:ext cx="10725911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F5F7FB"/>
                </a:solidFill>
                <a:latin typeface="Bahnschrift SemiBold"/>
              </a:rPr>
              <a:t>Um prompt não lê o repositório inteiro: acende um caminho.</a:t>
            </a:r>
          </a:p>
        </p:txBody>
      </p:sp>
      <p:cxnSp>
        <p:nvCxnSpPr>
          <p:cNvPr id="10" name="s12_12_8"/>
          <p:cNvCxnSpPr/>
          <p:nvPr/>
        </p:nvCxnSpPr>
        <p:spPr>
          <a:xfrm>
            <a:off x="731520" y="6553504"/>
            <a:ext cx="10725912" cy="0"/>
          </a:xfrm>
          <a:prstGeom prst="line">
            <a:avLst/>
          </a:prstGeom>
          <a:ln w="9525">
            <a:solidFill>
              <a:srgbClr val="2A3F6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!!foot_l"/>
          <p:cNvSpPr txBox="1"/>
          <p:nvPr/>
        </p:nvSpPr>
        <p:spPr>
          <a:xfrm>
            <a:off x="731520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ITAÚ QUANT AI CHALLENGE  ·  FINAL 2026</a:t>
            </a:r>
          </a:p>
        </p:txBody>
      </p:sp>
      <p:sp>
        <p:nvSpPr>
          <p:cNvPr id="12" name="!!foot_r"/>
          <p:cNvSpPr txBox="1"/>
          <p:nvPr/>
        </p:nvSpPr>
        <p:spPr>
          <a:xfrm>
            <a:off x="5457139" y="6653174"/>
            <a:ext cx="5998464" cy="1600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00" b="0" i="0" spc="120">
                <a:solidFill>
                  <a:srgbClr val="58698A"/>
                </a:solidFill>
                <a:latin typeface="Consolas"/>
              </a:rPr>
              <a:t>BLACK-LITTERMAN  ×  POLYMARKET</a:t>
            </a:r>
          </a:p>
        </p:txBody>
      </p:sp>
      <p:pic>
        <p:nvPicPr>
          <p:cNvPr id="13" name="!!grafo" descr="s12_gra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17320"/>
            <a:ext cx="4983480" cy="4983480"/>
          </a:xfrm>
          <a:prstGeom prst="rect">
            <a:avLst/>
          </a:prstGeom>
        </p:spPr>
      </p:pic>
      <p:sp>
        <p:nvSpPr>
          <p:cNvPr id="14" name="!!veu"/>
          <p:cNvSpPr/>
          <p:nvPr/>
        </p:nvSpPr>
        <p:spPr>
          <a:xfrm>
            <a:off x="566928" y="1417320"/>
            <a:ext cx="4983480" cy="4983480"/>
          </a:xfrm>
          <a:prstGeom prst="rect">
            <a:avLst/>
          </a:prstGeom>
          <a:solidFill>
            <a:srgbClr val="04070E">
              <a:alpha val="42000"/>
            </a:srgbClr>
          </a:solidFill>
          <a:ln>
            <a:noFill/>
          </a:ln>
          <a:effectLst>
            <a:softEdge rad="700000"/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!!grafo_leg"/>
          <p:cNvSpPr txBox="1"/>
          <p:nvPr/>
        </p:nvSpPr>
        <p:spPr>
          <a:xfrm>
            <a:off x="658368" y="6382512"/>
            <a:ext cx="4983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58698A"/>
                </a:solidFill>
                <a:latin typeface="Consolas"/>
              </a:rPr>
              <a:t>205 arquivos  ·  690 ligações  ·  medido no branch por grafo_repo.py</a:t>
            </a:r>
          </a:p>
        </p:txBody>
      </p:sp>
      <p:sp>
        <p:nvSpPr>
          <p:cNvPr id="16" name="!!n_0"/>
          <p:cNvSpPr/>
          <p:nvPr/>
        </p:nvSpPr>
        <p:spPr>
          <a:xfrm>
            <a:off x="2946411" y="4024372"/>
            <a:ext cx="182880" cy="182880"/>
          </a:xfrm>
          <a:prstGeom prst="ellipse">
            <a:avLst/>
          </a:prstGeom>
          <a:solidFill>
            <a:srgbClr val="FFB531"/>
          </a:solidFill>
          <a:ln>
            <a:noFill/>
          </a:ln>
          <a:effectLst>
            <a:glow rad="100000">
              <a:srgbClr val="FFB531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7" name="!!e_1"/>
          <p:cNvCxnSpPr/>
          <p:nvPr/>
        </p:nvCxnSpPr>
        <p:spPr>
          <a:xfrm flipH="1">
            <a:off x="1926259" y="4115812"/>
            <a:ext cx="1111592" cy="71524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n_1"/>
          <p:cNvSpPr/>
          <p:nvPr/>
        </p:nvSpPr>
        <p:spPr>
          <a:xfrm>
            <a:off x="1834819" y="4739615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9" name="!!e_2"/>
          <p:cNvCxnSpPr/>
          <p:nvPr/>
        </p:nvCxnSpPr>
        <p:spPr>
          <a:xfrm flipV="1">
            <a:off x="1926259" y="3779288"/>
            <a:ext cx="17743" cy="105176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!!n_2"/>
          <p:cNvSpPr/>
          <p:nvPr/>
        </p:nvSpPr>
        <p:spPr>
          <a:xfrm>
            <a:off x="1852562" y="3687848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1" name="!!e_3"/>
          <p:cNvCxnSpPr/>
          <p:nvPr/>
        </p:nvCxnSpPr>
        <p:spPr>
          <a:xfrm>
            <a:off x="1944002" y="3779288"/>
            <a:ext cx="865626" cy="224418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!!n_3"/>
          <p:cNvSpPr/>
          <p:nvPr/>
        </p:nvSpPr>
        <p:spPr>
          <a:xfrm>
            <a:off x="2718188" y="3912266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3" name="!!e_4"/>
          <p:cNvCxnSpPr/>
          <p:nvPr/>
        </p:nvCxnSpPr>
        <p:spPr>
          <a:xfrm>
            <a:off x="2809628" y="4003706"/>
            <a:ext cx="481523" cy="295403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!!n_4"/>
          <p:cNvSpPr/>
          <p:nvPr/>
        </p:nvSpPr>
        <p:spPr>
          <a:xfrm>
            <a:off x="3199711" y="4207669"/>
            <a:ext cx="182880" cy="182880"/>
          </a:xfrm>
          <a:prstGeom prst="ellipse">
            <a:avLst/>
          </a:prstGeom>
          <a:solidFill>
            <a:srgbClr val="2FD3B0"/>
          </a:solidFill>
          <a:ln>
            <a:noFill/>
          </a:ln>
          <a:effectLst>
            <a:glow rad="100000">
              <a:srgbClr val="2FD3B0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5" name="!!e_5"/>
          <p:cNvCxnSpPr/>
          <p:nvPr/>
        </p:nvCxnSpPr>
        <p:spPr>
          <a:xfrm flipV="1">
            <a:off x="3291151" y="3923102"/>
            <a:ext cx="559467" cy="376007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!!n_5"/>
          <p:cNvSpPr/>
          <p:nvPr/>
        </p:nvSpPr>
        <p:spPr>
          <a:xfrm>
            <a:off x="3759178" y="383166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7" name="!!e_6"/>
          <p:cNvCxnSpPr/>
          <p:nvPr/>
        </p:nvCxnSpPr>
        <p:spPr>
          <a:xfrm flipH="1" flipV="1">
            <a:off x="3399735" y="3579698"/>
            <a:ext cx="450883" cy="343404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!!n_6"/>
          <p:cNvSpPr/>
          <p:nvPr/>
        </p:nvSpPr>
        <p:spPr>
          <a:xfrm>
            <a:off x="3308295" y="3488258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29" name="!!e_7"/>
          <p:cNvCxnSpPr/>
          <p:nvPr/>
        </p:nvCxnSpPr>
        <p:spPr>
          <a:xfrm flipH="1">
            <a:off x="3116127" y="3579698"/>
            <a:ext cx="283608" cy="681101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!!n_7"/>
          <p:cNvSpPr/>
          <p:nvPr/>
        </p:nvSpPr>
        <p:spPr>
          <a:xfrm>
            <a:off x="3024687" y="4169359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1" name="!!e_8"/>
          <p:cNvCxnSpPr/>
          <p:nvPr/>
        </p:nvCxnSpPr>
        <p:spPr>
          <a:xfrm flipH="1" flipV="1">
            <a:off x="2688795" y="3030284"/>
            <a:ext cx="427332" cy="1230515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!!n_8"/>
          <p:cNvSpPr/>
          <p:nvPr/>
        </p:nvSpPr>
        <p:spPr>
          <a:xfrm>
            <a:off x="2597355" y="2938844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3" name="!!e_9"/>
          <p:cNvCxnSpPr/>
          <p:nvPr/>
        </p:nvCxnSpPr>
        <p:spPr>
          <a:xfrm>
            <a:off x="2688795" y="3030284"/>
            <a:ext cx="987339" cy="48931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!!n_9"/>
          <p:cNvSpPr/>
          <p:nvPr/>
        </p:nvSpPr>
        <p:spPr>
          <a:xfrm>
            <a:off x="3584694" y="3428163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35" name="!!e_10"/>
          <p:cNvCxnSpPr/>
          <p:nvPr/>
        </p:nvCxnSpPr>
        <p:spPr>
          <a:xfrm flipH="1">
            <a:off x="2583343" y="3519603"/>
            <a:ext cx="1092791" cy="1817209"/>
          </a:xfrm>
          <a:prstGeom prst="line">
            <a:avLst/>
          </a:prstGeom>
          <a:ln w="19050">
            <a:solidFill>
              <a:srgbClr val="FFB531">
                <a:alpha val="70000"/>
              </a:srgb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!!n_10"/>
          <p:cNvSpPr/>
          <p:nvPr/>
        </p:nvSpPr>
        <p:spPr>
          <a:xfrm>
            <a:off x="2491903" y="5245372"/>
            <a:ext cx="182880" cy="182880"/>
          </a:xfrm>
          <a:prstGeom prst="ellipse">
            <a:avLst/>
          </a:prstGeom>
          <a:solidFill>
            <a:srgbClr val="4F8EF7"/>
          </a:solidFill>
          <a:ln>
            <a:noFill/>
          </a:ln>
          <a:effectLst>
            <a:glow rad="100000">
              <a:srgbClr val="4F8EF7">
                <a:alpha val="60000"/>
              </a:srgbClr>
            </a:glo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12_12_35"/>
          <p:cNvSpPr txBox="1"/>
          <p:nvPr/>
        </p:nvSpPr>
        <p:spPr>
          <a:xfrm>
            <a:off x="5897880" y="1572768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SETUP</a:t>
            </a:r>
          </a:p>
        </p:txBody>
      </p:sp>
      <p:sp>
        <p:nvSpPr>
          <p:cNvPr id="38" name="s12_12_36"/>
          <p:cNvSpPr txBox="1"/>
          <p:nvPr/>
        </p:nvSpPr>
        <p:spPr>
          <a:xfrm>
            <a:off x="5897880" y="1828800"/>
            <a:ext cx="5559551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CLAUDE.md.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Regras e papéis, lidos no começo de toda sessão.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Ritual de fim.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Toda sessão fecha escrevendo no LOG e nas decisões pendentes.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F5F7FB"/>
                </a:solidFill>
                <a:latin typeface="Bahnschrift SemiBold"/>
              </a:rPr>
              <a:t>Pesquisa vira arquivo. </a:t>
            </a:r>
            <a:r>
              <a:rPr sz="1100" b="0" i="0">
                <a:solidFill>
                  <a:srgbClr val="BAC6DA"/>
                </a:solidFill>
                <a:latin typeface="Bahnschrift SemiLight"/>
              </a:rPr>
              <a:t>E cita os arquivos que usou — foi isso que virou o grafo.</a:t>
            </a:r>
          </a:p>
        </p:txBody>
      </p:sp>
      <p:sp>
        <p:nvSpPr>
          <p:cNvPr id="39" name="s12_12_37"/>
          <p:cNvSpPr/>
          <p:nvPr/>
        </p:nvSpPr>
        <p:spPr>
          <a:xfrm>
            <a:off x="5897880" y="3063240"/>
            <a:ext cx="5559551" cy="1298448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182946"/>
              </a:gs>
              <a:gs pos="100000">
                <a:srgbClr val="0F182B"/>
              </a:gs>
            </a:gsLst>
            <a:lin ang="5400000" scaled="0"/>
          </a:gradFill>
          <a:ln w="9525">
            <a:gradFill rotWithShape="1">
              <a:gsLst>
                <a:gs pos="0">
                  <a:srgbClr val="35507A"/>
                </a:gs>
                <a:gs pos="100000">
                  <a:srgbClr val="22345A"/>
                </a:gs>
              </a:gsLst>
              <a:lin ang="5400000" scaled="0"/>
            </a:gra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s12_12_38"/>
          <p:cNvSpPr txBox="1"/>
          <p:nvPr/>
        </p:nvSpPr>
        <p:spPr>
          <a:xfrm>
            <a:off x="6135624" y="3246120"/>
            <a:ext cx="51023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PROMPT REAL  ·  SESSÃO 9ed8510d  ·  08/09/2026</a:t>
            </a:r>
          </a:p>
        </p:txBody>
      </p:sp>
      <p:sp>
        <p:nvSpPr>
          <p:cNvPr id="41" name="s12_12_39"/>
          <p:cNvSpPr txBox="1"/>
          <p:nvPr/>
        </p:nvSpPr>
        <p:spPr>
          <a:xfrm>
            <a:off x="6135624" y="3493008"/>
            <a:ext cx="5102351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1">
                <a:solidFill>
                  <a:srgbClr val="BAC6DA"/>
                </a:solidFill>
                <a:latin typeface="Georgia"/>
              </a:rPr>
              <a:t>“Estou preparando minha fala para o slide de retorno e preciso trazer uma explicação o porque o nosso Beta foi tão alto. analise a estratégia e explique porque ficamos tão expostos quando queriamos montar uma carteira neutra. …”</a:t>
            </a:r>
          </a:p>
        </p:txBody>
      </p:sp>
      <p:sp>
        <p:nvSpPr>
          <p:cNvPr id="42" name="s12_12_40"/>
          <p:cNvSpPr txBox="1"/>
          <p:nvPr/>
        </p:nvSpPr>
        <p:spPr>
          <a:xfrm>
            <a:off x="5897880" y="4553712"/>
            <a:ext cx="555955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180">
                <a:solidFill>
                  <a:srgbClr val="FFB531"/>
                </a:solidFill>
                <a:latin typeface="Consolas"/>
              </a:rPr>
              <a:t>O QUE ACENDEU, NA ORDEM</a:t>
            </a:r>
          </a:p>
        </p:txBody>
      </p:sp>
      <p:sp>
        <p:nvSpPr>
          <p:cNvPr id="43" name="!!li_0"/>
          <p:cNvSpPr txBox="1"/>
          <p:nvPr/>
        </p:nvSpPr>
        <p:spPr>
          <a:xfrm>
            <a:off x="5897880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01  </a:t>
            </a:r>
            <a:r>
              <a:rPr sz="900" b="0" i="0">
                <a:solidFill>
                  <a:srgbClr val="FFB531"/>
                </a:solidFill>
                <a:latin typeface="Consolas"/>
              </a:rPr>
              <a:t>Decisoes_pendentes.md</a:t>
            </a:r>
          </a:p>
        </p:txBody>
      </p:sp>
      <p:sp>
        <p:nvSpPr>
          <p:cNvPr id="44" name="!!li_1"/>
          <p:cNvSpPr txBox="1"/>
          <p:nvPr/>
        </p:nvSpPr>
        <p:spPr>
          <a:xfrm>
            <a:off x="5897880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02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Metricas_p4.md</a:t>
            </a:r>
          </a:p>
        </p:txBody>
      </p:sp>
      <p:sp>
        <p:nvSpPr>
          <p:cNvPr id="45" name="!!li_2"/>
          <p:cNvSpPr txBox="1"/>
          <p:nvPr/>
        </p:nvSpPr>
        <p:spPr>
          <a:xfrm>
            <a:off x="5897880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03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Metricas_p5.md</a:t>
            </a:r>
          </a:p>
        </p:txBody>
      </p:sp>
      <p:sp>
        <p:nvSpPr>
          <p:cNvPr id="46" name="!!li_3"/>
          <p:cNvSpPr txBox="1"/>
          <p:nvPr/>
        </p:nvSpPr>
        <p:spPr>
          <a:xfrm>
            <a:off x="5897880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04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Backtest_v1.md</a:t>
            </a:r>
          </a:p>
        </p:txBody>
      </p:sp>
      <p:sp>
        <p:nvSpPr>
          <p:cNvPr id="47" name="!!li_4"/>
          <p:cNvSpPr txBox="1"/>
          <p:nvPr/>
        </p:nvSpPr>
        <p:spPr>
          <a:xfrm>
            <a:off x="5897880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05  </a:t>
            </a:r>
            <a:r>
              <a:rPr sz="900" b="0" i="0">
                <a:solidFill>
                  <a:srgbClr val="2FD3B0"/>
                </a:solidFill>
                <a:latin typeface="Consolas"/>
              </a:rPr>
              <a:t>Ortogonalidade.md</a:t>
            </a:r>
          </a:p>
        </p:txBody>
      </p:sp>
      <p:sp>
        <p:nvSpPr>
          <p:cNvPr id="48" name="!!li_5"/>
          <p:cNvSpPr txBox="1"/>
          <p:nvPr/>
        </p:nvSpPr>
        <p:spPr>
          <a:xfrm>
            <a:off x="5897880" y="588416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06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bl_optimizer.py</a:t>
            </a:r>
          </a:p>
        </p:txBody>
      </p:sp>
      <p:sp>
        <p:nvSpPr>
          <p:cNvPr id="49" name="!!li_6"/>
          <p:cNvSpPr txBox="1"/>
          <p:nvPr/>
        </p:nvSpPr>
        <p:spPr>
          <a:xfrm>
            <a:off x="8677656" y="4809744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07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views_common.py</a:t>
            </a:r>
          </a:p>
        </p:txBody>
      </p:sp>
      <p:sp>
        <p:nvSpPr>
          <p:cNvPr id="50" name="!!li_7"/>
          <p:cNvSpPr txBox="1"/>
          <p:nvPr/>
        </p:nvSpPr>
        <p:spPr>
          <a:xfrm>
            <a:off x="8677656" y="5024628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08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backtest_v1.py</a:t>
            </a:r>
          </a:p>
        </p:txBody>
      </p:sp>
      <p:sp>
        <p:nvSpPr>
          <p:cNvPr id="51" name="!!li_8"/>
          <p:cNvSpPr txBox="1"/>
          <p:nvPr/>
        </p:nvSpPr>
        <p:spPr>
          <a:xfrm>
            <a:off x="8677656" y="5239512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09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view_B_trajetoria_propria.py</a:t>
            </a:r>
          </a:p>
        </p:txBody>
      </p:sp>
      <p:sp>
        <p:nvSpPr>
          <p:cNvPr id="52" name="!!li_9"/>
          <p:cNvSpPr txBox="1"/>
          <p:nvPr/>
        </p:nvSpPr>
        <p:spPr>
          <a:xfrm>
            <a:off x="8677656" y="5454396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10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view_incerteza_anuncio.py</a:t>
            </a:r>
          </a:p>
        </p:txBody>
      </p:sp>
      <p:sp>
        <p:nvSpPr>
          <p:cNvPr id="53" name="!!li_10"/>
          <p:cNvSpPr txBox="1"/>
          <p:nvPr/>
        </p:nvSpPr>
        <p:spPr>
          <a:xfrm>
            <a:off x="8677656" y="5669279"/>
            <a:ext cx="2688335" cy="20116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58698A"/>
                </a:solidFill>
                <a:latin typeface="Consolas"/>
              </a:rPr>
              <a:t>11  </a:t>
            </a:r>
            <a:r>
              <a:rPr sz="900" b="0" i="0">
                <a:solidFill>
                  <a:srgbClr val="4F8EF7"/>
                </a:solidFill>
                <a:latin typeface="Consolas"/>
              </a:rPr>
              <a:t>tatica_sleeves.py</a:t>
            </a:r>
          </a:p>
        </p:txBody>
      </p:sp>
      <p:sp>
        <p:nvSpPr>
          <p:cNvPr id="54" name="s12_12_52"/>
          <p:cNvSpPr txBox="1"/>
          <p:nvPr/>
        </p:nvSpPr>
        <p:spPr>
          <a:xfrm>
            <a:off x="5897880" y="6144768"/>
            <a:ext cx="5559551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5F7FB"/>
                </a:solidFill>
                <a:latin typeface="Consolas"/>
              </a:rPr>
              <a:t>23 comandos · 11 arquivos · </a:t>
            </a:r>
            <a:r>
              <a:rPr sz="900" b="1" i="0">
                <a:solidFill>
                  <a:srgbClr val="FFB531"/>
                </a:solidFill>
                <a:latin typeface="Consolas"/>
              </a:rPr>
              <a:t>contrato  →  análise  →  código  →  dado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550">
        <p159:morph xmlns:p159="http://schemas.microsoft.com/office/powerpoint/2015/09/main" option="byObject"/>
      </p:transition>
    </mc:Choice>
    <mc:Fallback>
      <p:transition spd="fast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