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84" r:id="rId33"/>
    <p:sldId id="285" r:id="rId34"/>
    <p:sldId id="287" r:id="rId3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6" r:id="rId35"/>
    <p:sldId id="283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0" autoAdjust="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5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9.xml"/><Relationship Id="rId18" Type="http://schemas.openxmlformats.org/officeDocument/2006/relationships/slide" Target="slides/slide20.xml"/><Relationship Id="rId19" Type="http://schemas.openxmlformats.org/officeDocument/2006/relationships/slide" Target="slides/slide21.xml"/><Relationship Id="rId20" Type="http://schemas.openxmlformats.org/officeDocument/2006/relationships/slide" Target="slides/slide22.xml"/><Relationship Id="rId21" Type="http://schemas.openxmlformats.org/officeDocument/2006/relationships/slide" Target="slides/slide23.xml"/><Relationship Id="rId22" Type="http://schemas.openxmlformats.org/officeDocument/2006/relationships/slide" Target="slides/slide24.xml"/><Relationship Id="rId23" Type="http://schemas.openxmlformats.org/officeDocument/2006/relationships/slide" Target="slides/slide25.xml"/><Relationship Id="rId24" Type="http://schemas.openxmlformats.org/officeDocument/2006/relationships/slide" Target="slides/slide26.xml"/><Relationship Id="rId25" Type="http://schemas.openxmlformats.org/officeDocument/2006/relationships/slide" Target="slides/slide27.xml"/><Relationship Id="rId26" Type="http://schemas.openxmlformats.org/officeDocument/2006/relationships/slide" Target="slides/slide28.xml"/><Relationship Id="rId27" Type="http://schemas.openxmlformats.org/officeDocument/2006/relationships/slide" Target="slides/slide30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16.xml"/><Relationship Id="rId34" Type="http://schemas.openxmlformats.org/officeDocument/2006/relationships/slide" Target="slides/slide17.xml"/><Relationship Id="rId35" Type="http://schemas.openxmlformats.org/officeDocument/2006/relationships/slide" Target="slides/slide29.xml"/><Relationship Id="rId36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A33C7A-AC3C-4559-8D6A-EE8E5DF7326C}" type="datetimeFigureOut">
              <a:rPr lang="pt-BR" smtClean="0"/>
              <a:t>18/09/2026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C60552-2E90-46EF-9EBD-6D930DD610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4394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Sequência Morph com avanço automático: um clique no slide de repouso toca o caminho inteiro. O caminho é o real, medido no transcript da sessão (trace_sessao.py), não desenhado.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Gráficos da página 5 do relatório (Uteis/graficos/p5_*.png, graficos_p5.py; corte de 15/08, 91 sessões dos três LOGs). Erros: 145, 88 % pegos na própria sessão. Esforço: 31/54/15 % das sessões e 25/71/4 % dos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Fonte: scripts/estudo_polymarket.py → Uteis/analises/Metricas_estudo.md; guia de leitura em Final/estudo/Guia_slide16.md. Amostra = todo o dado macro do repo (FOMC 76 faixas/18 reuniões, CPI 74 faixas/12 meses), sem exclusão. Brier 0,043 [0,022; 0,067]; calibração b = 1,04 (p = 0,15); FF = proxy DTB3−DFF corrigido do viés (cru: 8,9 bps), DM p = 0,002; 17/17 no desfecho modal. Terceira informação, se pedirem: o movimento do preço não é sinal (VR(5) = 0,78 &lt; 1, Δp com t ≈ 0) — por isso usamos o nível, não o Δp. Detalhe nos apêndices A1–A3.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Tabela: Uteis/dados/estudo/brier_horizonte.csv (IC por bootstrap de evento). BSS = 1 − Brier/Brier da uniforme (1/K por faixa): 0,73 pooled na véspera; FOMC 0,96, CPI 0,42. A 60 dias o FOMC ainda tem BSS 0,67.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Tabelas: Uteis/dados/estudo/fomc_vs_ff.csv, encompassing.csv, leadlag_*.csv. DM com correção HLN; n = 17-18 reuniões por horizonte. A 60 dias a vantagem some (p = 0,76). Granger com Newey-West: t = 1,8 (poly → FF) e 1,9 (FF → poly).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Tabelas: Uteis/dados/estudo/event_study.csv e martingale.csv. FOMC n = 17; a surpresa-FF corrigida explica mais (R² médio 0,19 vs 0,08) porque carrega o caminho de 3 meses, não porque o Polymarket erre. CPI: R² ≈ 0 para as duas. VR(5) por família: FOMC 0,78, CPI 0,72, payrolls 0,43 — nenhuma &gt;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Exposição à queda. Nos dois tombos a carteira caiu junto e, em abril/2025, mais fundo que o índice: −19,6% contra −18,8%. O ganho vem da subida, não da defesa.</a:t>
            </a:r>
          </a:p>
          <a:p>
            <a:r>
              <a:t>Uma janela, um regime. 374 pregões de alta do S&amp;P, sem correção para as ~200 comparações da busca tática. O teste em regime de queda é o que falta.</a:t>
            </a:r>
          </a:p>
          <a:p>
            <a:r>
              <a:t>Teto de risco: somar é dividir. A camada tática faz +42,6 pp sozinha e −2,94 pp dentro da carteira. Sob teto fixo, entrar não acrescenta — reparte o mesmo orçamento.</a:t>
            </a:r>
          </a:p>
          <a:p>
            <a:r>
              <a:t>Giramos os quatro botões da estratégia — risco, confiança, gatilho e correção das probabilidades — e a vantagem sobre o SPY não vira negativa em nenhuma posição: +0,5 a +15,8 pp. Não é um parâmetro bem escolhido.</a:t>
            </a:r>
          </a:p>
          <a:p>
            <a:r>
              <a:t>O tile novo (sorte ou habilidade?): bootstrap estacionário (Politis-Romano, blocos de 10 pregões, B = 2 000) sobre a série diária. IC95 do excesso [−12,9; 20,6] pp, P(&gt; 0) = 64%; Sharpe 1,18 com IC95 [−0,23; 3,04]; alpha t = 0,6 (Newey-West) contra a régua de 3 de Harvey-Liu; PSR = 93%; track record mínimo a 95 % = 457 pregões, faltam 83. Leitura: o número é positivo em toda leitura, mas 18 meses não separam habilidade de sorte — o que sustenta a estratégia é o mecanismo medido fora do resultado (slides 8, 9 e 16). Detalhe no apêndice A9 e em Uteis/analises/Analise_backtest.md.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(~60 s): três números para ler a estratégia. (1) 457: o track record mínimo para dizer com 95 % que o Sharpe é positivo — temos 374. O excesso é positivo em toda leitura (P = 64%), mas não é prova; o próximo semestre é o teste fora da amostra, e vai ser pré-registrado. (2) +6,2 bps por dia de queda do SPY, −3,9 nos de alta: o ganho vem de perder menos quando o mercado cai — tilt defensivo sobre beta 0,95. Não é proteção de cauda: no tombo de abril/2025 caímos mais fundo (−19,6 % × −18,8 %) e na 2ª metade, só de alta, ficamos atrás (−0,6 pp). (3) 3 de 7 no protocolo de Arnott, Harvey e Markowitz: fechados motivação econômica, dados/amostra e cultura de pesquisa; parciais testes múltiplos (~200 comparações da tática sem correção; DSR reportado no A9), dinâmica (parâmetros fixos, mas excesso só na 1ª metade) e complexidade (Ω diagonal não vê correlação entre views); aberto validação fora da amostra.</a:t>
            </a:r>
          </a:p>
          <a:p>
            <a:r>
              <a:t>Se perguntarem 'por que mostrar os fracos?': porque o protocolo pede e porque um slide só de fortes em 18 meses de dado é o que a literatura chama de storytelling. Scorecard completo em Final/analise/Pesquisa_avaliacao_estrategia.md §2.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Definições: PSR = P(Sharpe verdadeiro &gt; 0) dado T, assimetria e curtose (Bailey-LdP 2012). MinTRL = T necessário para PSR = 95 %. DSR = PSR contra o Sharpe esperado do máximo de N tentativas de ruído (Bailey-LdP 2014); N vem do registro do projeto (configurações gravadas, hipóteses do LOG, células da D27). HHI = concentração de Herfindahl dos dias positivos/negativos (0 = uniforme). TuW = maior sequência de pregões abaixo do pico. Bootstrap: Politis-Romano, bloco médio 10, B = 2 000, semente 20260918. Alpha com Newey-West 5 lags.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Transição (~10 s): 'Voltamos à hipótese do começo. Mercados de previsão antecipam o mercado financeiro — esse era o sinal. A pergunta agora é se ele se confirmou no dado.' Avança para o slide do estudo (calibração e decisão do Fed).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2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03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3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Como funciona o Polymarket</a:t>
            </a:r>
          </a:p>
        </p:txBody>
      </p:sp>
      <p:sp>
        <p:nvSpPr>
          <p:cNvPr id="7" name="s3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03</a:t>
            </a:r>
          </a:p>
        </p:txBody>
      </p:sp>
      <p:cxnSp>
        <p:nvCxnSpPr>
          <p:cNvPr id="8" name="s3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3_7"/>
          <p:cNvSpPr txBox="1"/>
          <p:nvPr/>
        </p:nvSpPr>
        <p:spPr>
          <a:xfrm>
            <a:off x="731520" y="850392"/>
            <a:ext cx="107259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5F7FB"/>
                </a:solidFill>
                <a:latin typeface="Bahnschrift SemiBold"/>
              </a:rPr>
              <a:t>Um contrato paga US$ 1 se o evento acontece. O preço é a probabilidade.</a:t>
            </a:r>
          </a:p>
        </p:txBody>
      </p:sp>
      <p:cxnSp>
        <p:nvCxnSpPr>
          <p:cNvPr id="10" name="s3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13" name="s3_11"/>
          <p:cNvSpPr/>
          <p:nvPr/>
        </p:nvSpPr>
        <p:spPr>
          <a:xfrm>
            <a:off x="731520" y="1600200"/>
            <a:ext cx="4160520" cy="297180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s3_12"/>
          <p:cNvSpPr txBox="1"/>
          <p:nvPr/>
        </p:nvSpPr>
        <p:spPr>
          <a:xfrm>
            <a:off x="987552" y="1801368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MERCADO REAL  ·  POLYMARKET</a:t>
            </a:r>
          </a:p>
        </p:txBody>
      </p:sp>
      <p:sp>
        <p:nvSpPr>
          <p:cNvPr id="15" name="s3_13"/>
          <p:cNvSpPr txBox="1"/>
          <p:nvPr/>
        </p:nvSpPr>
        <p:spPr>
          <a:xfrm>
            <a:off x="987552" y="20574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F5F7FB"/>
                </a:solidFill>
                <a:latin typeface="Bahnschrift SemiBold"/>
              </a:rPr>
              <a:t>Fed decision in September 2025?</a:t>
            </a:r>
          </a:p>
        </p:txBody>
      </p:sp>
      <p:cxnSp>
        <p:nvCxnSpPr>
          <p:cNvPr id="16" name="s3_14"/>
          <p:cNvCxnSpPr/>
          <p:nvPr/>
        </p:nvCxnSpPr>
        <p:spPr>
          <a:xfrm>
            <a:off x="987552" y="2496312"/>
            <a:ext cx="3648455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3_15"/>
          <p:cNvSpPr txBox="1"/>
          <p:nvPr/>
        </p:nvSpPr>
        <p:spPr>
          <a:xfrm>
            <a:off x="987552" y="2606040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7FB"/>
                </a:solidFill>
                <a:latin typeface="Bahnschrift SemiLight"/>
              </a:rPr>
              <a:t>corte de 25 bps</a:t>
            </a:r>
          </a:p>
        </p:txBody>
      </p:sp>
      <p:sp>
        <p:nvSpPr>
          <p:cNvPr id="18" name="s3_16"/>
          <p:cNvSpPr txBox="1"/>
          <p:nvPr/>
        </p:nvSpPr>
        <p:spPr>
          <a:xfrm>
            <a:off x="3931920" y="2606040"/>
            <a:ext cx="7040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B531"/>
                </a:solidFill>
                <a:latin typeface="Consolas"/>
              </a:rPr>
              <a:t>90¢</a:t>
            </a:r>
          </a:p>
        </p:txBody>
      </p:sp>
      <p:sp>
        <p:nvSpPr>
          <p:cNvPr id="19" name="s3_17"/>
          <p:cNvSpPr/>
          <p:nvPr/>
        </p:nvSpPr>
        <p:spPr>
          <a:xfrm>
            <a:off x="987552" y="2880360"/>
            <a:ext cx="3301852" cy="45720"/>
          </a:xfrm>
          <a:prstGeom prst="rect">
            <a:avLst/>
          </a:prstGeom>
          <a:solidFill>
            <a:srgbClr val="FFB531"/>
          </a:solidFill>
          <a:ln>
            <a:noFill/>
          </a:ln>
          <a:effectLst>
            <a:glow rad="40000">
              <a:srgbClr val="FFB531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s3_18"/>
          <p:cNvSpPr txBox="1"/>
          <p:nvPr/>
        </p:nvSpPr>
        <p:spPr>
          <a:xfrm>
            <a:off x="987552" y="3026664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AC6DA"/>
                </a:solidFill>
                <a:latin typeface="Bahnschrift SemiLight"/>
              </a:rPr>
              <a:t>corte de 50+ bps</a:t>
            </a:r>
          </a:p>
        </p:txBody>
      </p:sp>
      <p:sp>
        <p:nvSpPr>
          <p:cNvPr id="21" name="s3_19"/>
          <p:cNvSpPr txBox="1"/>
          <p:nvPr/>
        </p:nvSpPr>
        <p:spPr>
          <a:xfrm>
            <a:off x="3931920" y="3026664"/>
            <a:ext cx="7040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395B5"/>
                </a:solidFill>
                <a:latin typeface="Consolas"/>
              </a:rPr>
              <a:t>7¢</a:t>
            </a:r>
          </a:p>
        </p:txBody>
      </p:sp>
      <p:sp>
        <p:nvSpPr>
          <p:cNvPr id="22" name="s3_20"/>
          <p:cNvSpPr/>
          <p:nvPr/>
        </p:nvSpPr>
        <p:spPr>
          <a:xfrm>
            <a:off x="987552" y="3300984"/>
            <a:ext cx="253567" cy="45720"/>
          </a:xfrm>
          <a:prstGeom prst="rect">
            <a:avLst/>
          </a:prstGeom>
          <a:solidFill>
            <a:srgbClr val="839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s3_21"/>
          <p:cNvSpPr txBox="1"/>
          <p:nvPr/>
        </p:nvSpPr>
        <p:spPr>
          <a:xfrm>
            <a:off x="987552" y="3447288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AC6DA"/>
                </a:solidFill>
                <a:latin typeface="Bahnschrift SemiLight"/>
              </a:rPr>
              <a:t>sem mudança</a:t>
            </a:r>
          </a:p>
        </p:txBody>
      </p:sp>
      <p:sp>
        <p:nvSpPr>
          <p:cNvPr id="24" name="s3_22"/>
          <p:cNvSpPr txBox="1"/>
          <p:nvPr/>
        </p:nvSpPr>
        <p:spPr>
          <a:xfrm>
            <a:off x="3931920" y="3447288"/>
            <a:ext cx="7040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395B5"/>
                </a:solidFill>
                <a:latin typeface="Consolas"/>
              </a:rPr>
              <a:t>2¢</a:t>
            </a:r>
          </a:p>
        </p:txBody>
      </p:sp>
      <p:sp>
        <p:nvSpPr>
          <p:cNvPr id="25" name="s3_23"/>
          <p:cNvSpPr/>
          <p:nvPr/>
        </p:nvSpPr>
        <p:spPr>
          <a:xfrm>
            <a:off x="987552" y="3721608"/>
            <a:ext cx="89387" cy="45720"/>
          </a:xfrm>
          <a:prstGeom prst="rect">
            <a:avLst/>
          </a:prstGeom>
          <a:solidFill>
            <a:srgbClr val="839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s3_24"/>
          <p:cNvSpPr txBox="1"/>
          <p:nvPr/>
        </p:nvSpPr>
        <p:spPr>
          <a:xfrm>
            <a:off x="987552" y="3867912"/>
            <a:ext cx="2011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AC6DA"/>
                </a:solidFill>
                <a:latin typeface="Bahnschrift SemiLight"/>
              </a:rPr>
              <a:t>alta de 25+ bps</a:t>
            </a:r>
          </a:p>
        </p:txBody>
      </p:sp>
      <p:sp>
        <p:nvSpPr>
          <p:cNvPr id="27" name="s3_25"/>
          <p:cNvSpPr txBox="1"/>
          <p:nvPr/>
        </p:nvSpPr>
        <p:spPr>
          <a:xfrm>
            <a:off x="3931920" y="3867912"/>
            <a:ext cx="70408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395B5"/>
                </a:solidFill>
                <a:latin typeface="Consolas"/>
              </a:rPr>
              <a:t>0¢</a:t>
            </a:r>
          </a:p>
        </p:txBody>
      </p:sp>
      <p:sp>
        <p:nvSpPr>
          <p:cNvPr id="28" name="s3_26"/>
          <p:cNvSpPr/>
          <p:nvPr/>
        </p:nvSpPr>
        <p:spPr>
          <a:xfrm>
            <a:off x="987552" y="4142232"/>
            <a:ext cx="27432" cy="45720"/>
          </a:xfrm>
          <a:prstGeom prst="rect">
            <a:avLst/>
          </a:prstGeom>
          <a:solidFill>
            <a:srgbClr val="839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s3_27"/>
          <p:cNvSpPr txBox="1"/>
          <p:nvPr/>
        </p:nvSpPr>
        <p:spPr>
          <a:xfrm>
            <a:off x="987552" y="4187952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395B5"/>
                </a:solidFill>
                <a:latin typeface="Consolas"/>
              </a:rPr>
              <a:t>US$ 221 mi negociados  ·  leitura de 16/09/2025, véspera</a:t>
            </a:r>
          </a:p>
        </p:txBody>
      </p:sp>
      <p:sp>
        <p:nvSpPr>
          <p:cNvPr id="30" name="s3_28"/>
          <p:cNvSpPr txBox="1"/>
          <p:nvPr/>
        </p:nvSpPr>
        <p:spPr>
          <a:xfrm>
            <a:off x="5251760" y="1508760"/>
            <a:ext cx="5943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A PROBABILIDADE ANDA ATÉ VIRAR 0 OU 100</a:t>
            </a:r>
          </a:p>
        </p:txBody>
      </p:sp>
      <p:pic>
        <p:nvPicPr>
          <p:cNvPr id="31" name="s3_29" descr="s3_fed_set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304" y="1540829"/>
            <a:ext cx="6382512" cy="3236845"/>
          </a:xfrm>
          <a:prstGeom prst="rect">
            <a:avLst/>
          </a:prstGeom>
        </p:spPr>
      </p:pic>
      <p:sp>
        <p:nvSpPr>
          <p:cNvPr id="32" name="s3_30"/>
          <p:cNvSpPr/>
          <p:nvPr/>
        </p:nvSpPr>
        <p:spPr>
          <a:xfrm>
            <a:off x="731520" y="4828032"/>
            <a:ext cx="2487168" cy="146304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s3_31"/>
          <p:cNvSpPr txBox="1"/>
          <p:nvPr/>
        </p:nvSpPr>
        <p:spPr>
          <a:xfrm>
            <a:off x="960120" y="5029200"/>
            <a:ext cx="2103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B531"/>
                </a:solidFill>
                <a:latin typeface="Bahnschrift SemiBold Condensed"/>
              </a:rPr>
              <a:t>90,1%</a:t>
            </a:r>
          </a:p>
        </p:txBody>
      </p:sp>
      <p:sp>
        <p:nvSpPr>
          <p:cNvPr id="34" name="s3_32"/>
          <p:cNvSpPr txBox="1"/>
          <p:nvPr/>
        </p:nvSpPr>
        <p:spPr>
          <a:xfrm>
            <a:off x="960120" y="5696712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AC6DA"/>
                </a:solidFill>
                <a:latin typeface="Bahnschrift"/>
              </a:rPr>
              <a:t>de acerto a 1 mês da resolução</a:t>
            </a:r>
          </a:p>
        </p:txBody>
      </p:sp>
      <p:sp>
        <p:nvSpPr>
          <p:cNvPr id="35" name="s3_33"/>
          <p:cNvSpPr/>
          <p:nvPr/>
        </p:nvSpPr>
        <p:spPr>
          <a:xfrm>
            <a:off x="3429000" y="4828032"/>
            <a:ext cx="2487168" cy="146304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s3_34"/>
          <p:cNvSpPr txBox="1"/>
          <p:nvPr/>
        </p:nvSpPr>
        <p:spPr>
          <a:xfrm>
            <a:off x="3657600" y="5029200"/>
            <a:ext cx="21031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B531"/>
                </a:solidFill>
                <a:latin typeface="Bahnschrift SemiBold Condensed"/>
              </a:rPr>
              <a:t>US$ 26,2 bi</a:t>
            </a:r>
          </a:p>
        </p:txBody>
      </p:sp>
      <p:sp>
        <p:nvSpPr>
          <p:cNvPr id="37" name="s3_35"/>
          <p:cNvSpPr txBox="1"/>
          <p:nvPr/>
        </p:nvSpPr>
        <p:spPr>
          <a:xfrm>
            <a:off x="3657600" y="5696712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AC6DA"/>
                </a:solidFill>
                <a:latin typeface="Bahnschrift"/>
              </a:rPr>
              <a:t>negociados no 1º tri de 2026</a:t>
            </a:r>
          </a:p>
        </p:txBody>
      </p:sp>
      <p:sp>
        <p:nvSpPr>
          <p:cNvPr id="38" name="s3_36"/>
          <p:cNvSpPr/>
          <p:nvPr/>
        </p:nvSpPr>
        <p:spPr>
          <a:xfrm>
            <a:off x="6126480" y="4828032"/>
            <a:ext cx="5330951" cy="146304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s3_37"/>
          <p:cNvSpPr txBox="1"/>
          <p:nvPr/>
        </p:nvSpPr>
        <p:spPr>
          <a:xfrm>
            <a:off x="6382512" y="502920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 dirty="0">
                <a:solidFill>
                  <a:srgbClr val="FFB531"/>
                </a:solidFill>
                <a:latin typeface="Consolas"/>
              </a:rPr>
              <a:t>O QUE O KAIROS LÊ</a:t>
            </a:r>
          </a:p>
        </p:txBody>
      </p:sp>
      <p:sp>
        <p:nvSpPr>
          <p:cNvPr id="40" name="s3_38"/>
          <p:cNvSpPr txBox="1"/>
          <p:nvPr/>
        </p:nvSpPr>
        <p:spPr>
          <a:xfrm>
            <a:off x="6382512" y="5303520"/>
            <a:ext cx="4818888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5F7FB"/>
                </a:solidFill>
                <a:latin typeface="Bahnschrift SemiBold"/>
              </a:rPr>
              <a:t>O preço de cada desfecho, duas vezes por dia. </a:t>
            </a:r>
            <a:r>
              <a:rPr sz="1150" b="0" i="0">
                <a:solidFill>
                  <a:srgbClr val="BAC6DA"/>
                </a:solidFill>
                <a:latin typeface="Bahnschrift SemiLight"/>
              </a:rPr>
              <a:t>Sempre a leitura anterior à abertura da bolsa — nunca a do dia.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5F7FB"/>
                </a:solidFill>
                <a:latin typeface="Bahnschrift SemiBold"/>
              </a:rPr>
              <a:t>Quem errar perde dinheiro de verdade. </a:t>
            </a:r>
            <a:r>
              <a:rPr sz="1150" b="0" i="0">
                <a:solidFill>
                  <a:srgbClr val="BAC6DA"/>
                </a:solidFill>
                <a:latin typeface="Bahnschrift SemiLight"/>
              </a:rPr>
              <a:t>É o que faz do preço uma opinião com custo, não uma pesquisa.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12_0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Setup de IA</a:t>
            </a:r>
          </a:p>
        </p:txBody>
      </p:sp>
      <p:sp>
        <p:nvSpPr>
          <p:cNvPr id="7" name="s12_0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12</a:t>
            </a:r>
          </a:p>
        </p:txBody>
      </p:sp>
      <p:cxnSp>
        <p:nvCxnSpPr>
          <p:cNvPr id="8" name="s12_0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0_7"/>
          <p:cNvSpPr txBox="1"/>
          <p:nvPr/>
        </p:nvSpPr>
        <p:spPr>
          <a:xfrm>
            <a:off x="731520" y="850392"/>
            <a:ext cx="1072591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dirty="0">
                <a:solidFill>
                  <a:srgbClr val="F5F7FB"/>
                </a:solidFill>
                <a:latin typeface="Bahnschrift SemiBold"/>
              </a:rPr>
              <a:t>O segundo cérebro</a:t>
            </a:r>
            <a:endParaRPr sz="2000" b="0" i="0" dirty="0">
              <a:solidFill>
                <a:srgbClr val="F5F7FB"/>
              </a:solidFill>
              <a:latin typeface="Bahnschrift SemiBold"/>
            </a:endParaRPr>
          </a:p>
        </p:txBody>
      </p:sp>
      <p:cxnSp>
        <p:nvCxnSpPr>
          <p:cNvPr id="10" name="s12_0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98A"/>
                </a:solidFill>
                <a:latin typeface="Consolas"/>
              </a:rPr>
              <a:t>209 arquivos  ·  719 ligações  ·  medido no branch por grafo_repo.py</a:t>
            </a:r>
          </a:p>
        </p:txBody>
      </p:sp>
      <p:sp>
        <p:nvSpPr>
          <p:cNvPr id="16" name="s12_0_14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80" dirty="0">
                <a:solidFill>
                  <a:srgbClr val="FFB531"/>
                </a:solidFill>
                <a:latin typeface="Consolas"/>
              </a:rPr>
              <a:t>O SETUP</a:t>
            </a:r>
          </a:p>
        </p:txBody>
      </p:sp>
      <p:sp>
        <p:nvSpPr>
          <p:cNvPr id="17" name="s12_0_15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CLAUDE.md.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Regras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papéis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, lidos no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começo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de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toda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sessão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Ritual de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fim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Toda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sessão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fecha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escrevendo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no LOG 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nas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decisões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pendentes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Pesquisa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vira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arquivo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cita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os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arquivos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que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usou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foi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isso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que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virou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o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grafo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  <a:endParaRPr lang="pt-BR" sz="1250" b="0" i="0" dirty="0">
              <a:solidFill>
                <a:srgbClr val="BAC6DA"/>
              </a:solidFill>
              <a:latin typeface="Bahnschrift SemiLight"/>
            </a:endParaRP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pt-BR" sz="1100" b="1" spc="180" dirty="0">
                <a:solidFill>
                  <a:srgbClr val="FFB531"/>
                </a:solidFill>
                <a:latin typeface="Consolas"/>
              </a:rPr>
              <a:t>Exemplo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endParaRPr sz="1250" b="0" i="0" dirty="0">
              <a:solidFill>
                <a:srgbClr val="BAC6DA"/>
              </a:solidFill>
              <a:latin typeface="Bahnschrift SemiLight"/>
            </a:endParaRPr>
          </a:p>
        </p:txBody>
      </p:sp>
      <p:sp>
        <p:nvSpPr>
          <p:cNvPr id="18" name="s12_0_16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s12_0_17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 dirty="0">
                <a:solidFill>
                  <a:srgbClr val="FFB531"/>
                </a:solidFill>
                <a:latin typeface="Consolas"/>
              </a:rPr>
              <a:t>PROMPT</a:t>
            </a:r>
            <a:r>
              <a:rPr lang="pt-BR" sz="900" b="1" i="0" spc="180" dirty="0">
                <a:solidFill>
                  <a:srgbClr val="FFB531"/>
                </a:solidFill>
                <a:latin typeface="Consolas"/>
              </a:rPr>
              <a:t> EXEMPLO</a:t>
            </a:r>
            <a:endParaRPr sz="900" b="1" i="0" spc="180" dirty="0">
              <a:solidFill>
                <a:srgbClr val="FFB531"/>
              </a:solidFill>
              <a:latin typeface="Consolas"/>
            </a:endParaRPr>
          </a:p>
        </p:txBody>
      </p:sp>
      <p:sp>
        <p:nvSpPr>
          <p:cNvPr id="20" name="s12_0_18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</a:pPr>
            <a:r>
              <a:rPr lang="pt-BR" sz="1250" i="1" dirty="0">
                <a:solidFill>
                  <a:srgbClr val="BAC6DA"/>
                </a:solidFill>
                <a:latin typeface="Georgia"/>
              </a:rPr>
              <a:t>“Preciso montar um draft inicial das minhas falas da final. Vou começar pela explicação da aplicação do Black </a:t>
            </a:r>
            <a:r>
              <a:rPr lang="pt-BR" sz="1250" i="1" dirty="0" err="1">
                <a:solidFill>
                  <a:srgbClr val="BAC6DA"/>
                </a:solidFill>
                <a:latin typeface="Georgia"/>
              </a:rPr>
              <a:t>Littermann</a:t>
            </a:r>
            <a:r>
              <a:rPr lang="pt-BR" sz="1250" i="1" dirty="0">
                <a:solidFill>
                  <a:srgbClr val="BAC6DA"/>
                </a:solidFill>
                <a:latin typeface="Georgia"/>
              </a:rPr>
              <a:t> na estratégia. Leia o repositório e o código para montar uma explicação para eu me embasar</a:t>
            </a:r>
          </a:p>
        </p:txBody>
      </p:sp>
      <p:sp>
        <p:nvSpPr>
          <p:cNvPr id="21" name="s12_0_19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QUE ACENDEU, NA ORDEM</a:t>
            </a:r>
          </a:p>
        </p:txBody>
      </p:sp>
      <p:sp>
        <p:nvSpPr>
          <p:cNvPr id="22" name="s12_0_20"/>
          <p:cNvSpPr txBox="1"/>
          <p:nvPr/>
        </p:nvSpPr>
        <p:spPr>
          <a:xfrm>
            <a:off x="5897880" y="4809744"/>
            <a:ext cx="555955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8698A"/>
                </a:solidFill>
                <a:latin typeface="Consolas"/>
              </a:rPr>
              <a:t>clique para ver o caminho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12_1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Setup de IA</a:t>
            </a:r>
          </a:p>
        </p:txBody>
      </p:sp>
      <p:sp>
        <p:nvSpPr>
          <p:cNvPr id="7" name="s12_1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12</a:t>
            </a:r>
          </a:p>
        </p:txBody>
      </p:sp>
      <p:cxnSp>
        <p:nvCxnSpPr>
          <p:cNvPr id="8" name="s12_1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1_7"/>
          <p:cNvSpPr txBox="1"/>
          <p:nvPr/>
        </p:nvSpPr>
        <p:spPr>
          <a:xfrm>
            <a:off x="731520" y="850392"/>
            <a:ext cx="1072591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dirty="0">
                <a:solidFill>
                  <a:srgbClr val="F5F7FB"/>
                </a:solidFill>
                <a:latin typeface="Bahnschrift SemiBold"/>
              </a:rPr>
              <a:t>O segundo cérebro</a:t>
            </a:r>
            <a:endParaRPr sz="2000" b="0" i="0" dirty="0">
              <a:solidFill>
                <a:srgbClr val="F5F7FB"/>
              </a:solidFill>
              <a:latin typeface="Bahnschrift SemiBold"/>
            </a:endParaRPr>
          </a:p>
        </p:txBody>
      </p:sp>
      <p:cxnSp>
        <p:nvCxnSpPr>
          <p:cNvPr id="10" name="s12_1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98A"/>
                </a:solidFill>
                <a:latin typeface="Consola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!!pulso"/>
          <p:cNvSpPr/>
          <p:nvPr/>
        </p:nvSpPr>
        <p:spPr>
          <a:xfrm>
            <a:off x="2530300" y="3728807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s12_1_16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80" dirty="0">
                <a:solidFill>
                  <a:srgbClr val="FFB531"/>
                </a:solidFill>
                <a:latin typeface="Consolas"/>
              </a:rPr>
              <a:t>O SETUP</a:t>
            </a:r>
          </a:p>
        </p:txBody>
      </p:sp>
      <p:sp>
        <p:nvSpPr>
          <p:cNvPr id="19" name="s12_1_17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CLAUDE.md.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Regras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papéis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, lidos no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começo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de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toda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sessão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Ritual de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fim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Toda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sessão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fecha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escrevendo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no LOG 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nas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decisões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pendentes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Pesquisa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vira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arquivo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cita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os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arquivos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que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usou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foi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isso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que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virou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o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grafo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  <a:endParaRPr lang="pt-BR" sz="1250" b="0" i="0" dirty="0">
              <a:solidFill>
                <a:srgbClr val="BAC6DA"/>
              </a:solidFill>
              <a:latin typeface="Bahnschrift SemiLight"/>
            </a:endParaRP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pt-BR" sz="1100" b="1" spc="180" dirty="0">
                <a:solidFill>
                  <a:srgbClr val="FFB531"/>
                </a:solidFill>
                <a:latin typeface="Consolas"/>
              </a:rPr>
              <a:t>Exemplo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endParaRPr sz="1250" b="0" i="0" dirty="0">
              <a:solidFill>
                <a:srgbClr val="BAC6DA"/>
              </a:solidFill>
              <a:latin typeface="Bahnschrift SemiLight"/>
            </a:endParaRPr>
          </a:p>
        </p:txBody>
      </p:sp>
      <p:sp>
        <p:nvSpPr>
          <p:cNvPr id="20" name="s12_1_18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s12_1_19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 dirty="0">
                <a:solidFill>
                  <a:srgbClr val="FFB531"/>
                </a:solidFill>
                <a:latin typeface="Consolas"/>
              </a:rPr>
              <a:t>PROMPT</a:t>
            </a:r>
            <a:r>
              <a:rPr lang="pt-BR" sz="900" b="1" i="0" spc="180" dirty="0">
                <a:solidFill>
                  <a:srgbClr val="FFB531"/>
                </a:solidFill>
                <a:latin typeface="Consolas"/>
              </a:rPr>
              <a:t> EXEMPLO</a:t>
            </a:r>
            <a:endParaRPr sz="900" b="1" i="0" spc="180" dirty="0">
              <a:solidFill>
                <a:srgbClr val="FFB531"/>
              </a:solidFill>
              <a:latin typeface="Consolas"/>
            </a:endParaRPr>
          </a:p>
        </p:txBody>
      </p:sp>
      <p:sp>
        <p:nvSpPr>
          <p:cNvPr id="22" name="s12_1_20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</a:pPr>
            <a:r>
              <a:rPr lang="pt-BR" sz="1250" i="1" dirty="0">
                <a:solidFill>
                  <a:srgbClr val="BAC6DA"/>
                </a:solidFill>
                <a:latin typeface="Georgia"/>
              </a:rPr>
              <a:t>“Preciso montar um draft inicial das minhas falas da final. Vou começar pela explicação da aplicação do Black </a:t>
            </a:r>
            <a:r>
              <a:rPr lang="pt-BR" sz="1250" i="1" dirty="0" err="1">
                <a:solidFill>
                  <a:srgbClr val="BAC6DA"/>
                </a:solidFill>
                <a:latin typeface="Georgia"/>
              </a:rPr>
              <a:t>Littermann</a:t>
            </a:r>
            <a:r>
              <a:rPr lang="pt-BR" sz="1250" i="1" dirty="0">
                <a:solidFill>
                  <a:srgbClr val="BAC6DA"/>
                </a:solidFill>
                <a:latin typeface="Georgia"/>
              </a:rPr>
              <a:t> na estratégia. Leia o repositório e o código para montar uma explicação para eu me embasar</a:t>
            </a:r>
          </a:p>
        </p:txBody>
      </p:sp>
      <p:sp>
        <p:nvSpPr>
          <p:cNvPr id="23" name="s12_1_21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QUE ACENDEU, NA ORDEM</a:t>
            </a:r>
          </a:p>
        </p:txBody>
      </p:sp>
      <p:sp>
        <p:nvSpPr>
          <p:cNvPr id="24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01  </a:t>
            </a:r>
            <a:r>
              <a:rPr sz="900" b="0" i="0">
                <a:solidFill>
                  <a:srgbClr val="FFB531"/>
                </a:solidFill>
                <a:latin typeface="Consolas"/>
              </a:rPr>
              <a:t>Decisoes_pendentes.md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 advTm="320">
        <p159:morph xmlns:p159="http://schemas.microsoft.com/office/powerpoint/2015/09/main" option="byObject"/>
      </p:transition>
    </mc:Choice>
    <mc:Fallback xmlns="">
      <p:transition spd="fast" advTm="32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12_2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Setup de IA</a:t>
            </a:r>
          </a:p>
        </p:txBody>
      </p:sp>
      <p:sp>
        <p:nvSpPr>
          <p:cNvPr id="7" name="s12_2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12</a:t>
            </a:r>
          </a:p>
        </p:txBody>
      </p:sp>
      <p:cxnSp>
        <p:nvCxnSpPr>
          <p:cNvPr id="8" name="s12_2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2_7"/>
          <p:cNvSpPr txBox="1"/>
          <p:nvPr/>
        </p:nvSpPr>
        <p:spPr>
          <a:xfrm>
            <a:off x="731520" y="850392"/>
            <a:ext cx="1072591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dirty="0">
                <a:solidFill>
                  <a:srgbClr val="F5F7FB"/>
                </a:solidFill>
                <a:latin typeface="Bahnschrift SemiBold"/>
              </a:rPr>
              <a:t>O segundo cérebro</a:t>
            </a:r>
            <a:endParaRPr sz="2000" b="0" i="0" dirty="0">
              <a:solidFill>
                <a:srgbClr val="F5F7FB"/>
              </a:solidFill>
              <a:latin typeface="Bahnschrift SemiBold"/>
            </a:endParaRPr>
          </a:p>
        </p:txBody>
      </p:sp>
      <p:cxnSp>
        <p:nvCxnSpPr>
          <p:cNvPr id="10" name="s12_2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98A"/>
                </a:solidFill>
                <a:latin typeface="Consola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!!pulso"/>
          <p:cNvSpPr/>
          <p:nvPr/>
        </p:nvSpPr>
        <p:spPr>
          <a:xfrm>
            <a:off x="1449603" y="2626447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s12_2_18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80" dirty="0">
                <a:solidFill>
                  <a:srgbClr val="FFB531"/>
                </a:solidFill>
                <a:latin typeface="Consolas"/>
              </a:rPr>
              <a:t>O SETUP</a:t>
            </a:r>
          </a:p>
        </p:txBody>
      </p:sp>
      <p:sp>
        <p:nvSpPr>
          <p:cNvPr id="21" name="s12_2_19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CLAUDE.md.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Regras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papéis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, lidos no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começo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de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toda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sessão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Ritual de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fim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Toda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sessão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fecha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escrevendo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no LOG 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nas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decisões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pendentes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Pesquisa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vira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arquivo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cita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os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arquivos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que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usou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foi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isso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que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virou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o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grafo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  <a:endParaRPr lang="pt-BR" sz="1250" b="0" i="0" dirty="0">
              <a:solidFill>
                <a:srgbClr val="BAC6DA"/>
              </a:solidFill>
              <a:latin typeface="Bahnschrift SemiLight"/>
            </a:endParaRP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pt-BR" sz="1100" b="1" spc="180" dirty="0">
                <a:solidFill>
                  <a:srgbClr val="FFB531"/>
                </a:solidFill>
                <a:latin typeface="Consolas"/>
              </a:rPr>
              <a:t>Exemplo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endParaRPr sz="1250" b="0" i="0" dirty="0">
              <a:solidFill>
                <a:srgbClr val="BAC6DA"/>
              </a:solidFill>
              <a:latin typeface="Bahnschrift SemiLight"/>
            </a:endParaRPr>
          </a:p>
        </p:txBody>
      </p:sp>
      <p:sp>
        <p:nvSpPr>
          <p:cNvPr id="22" name="s12_2_20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s12_2_21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 dirty="0">
                <a:solidFill>
                  <a:srgbClr val="FFB531"/>
                </a:solidFill>
                <a:latin typeface="Consolas"/>
              </a:rPr>
              <a:t>PROMPT</a:t>
            </a:r>
            <a:r>
              <a:rPr lang="pt-BR" sz="900" b="1" i="0" spc="180" dirty="0">
                <a:solidFill>
                  <a:srgbClr val="FFB531"/>
                </a:solidFill>
                <a:latin typeface="Consolas"/>
              </a:rPr>
              <a:t> EXEMPLO</a:t>
            </a:r>
            <a:endParaRPr sz="900" b="1" i="0" spc="180" dirty="0">
              <a:solidFill>
                <a:srgbClr val="FFB531"/>
              </a:solidFill>
              <a:latin typeface="Consolas"/>
            </a:endParaRPr>
          </a:p>
        </p:txBody>
      </p:sp>
      <p:sp>
        <p:nvSpPr>
          <p:cNvPr id="24" name="s12_2_22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</a:pPr>
            <a:r>
              <a:rPr lang="pt-BR" sz="1250" i="1" dirty="0">
                <a:solidFill>
                  <a:srgbClr val="BAC6DA"/>
                </a:solidFill>
                <a:latin typeface="Georgia"/>
              </a:rPr>
              <a:t>“Preciso montar um draft inicial das minhas falas da final. Vou começar pela explicação da aplicação do Black </a:t>
            </a:r>
            <a:r>
              <a:rPr lang="pt-BR" sz="1250" i="1" dirty="0" err="1">
                <a:solidFill>
                  <a:srgbClr val="BAC6DA"/>
                </a:solidFill>
                <a:latin typeface="Georgia"/>
              </a:rPr>
              <a:t>Littermann</a:t>
            </a:r>
            <a:r>
              <a:rPr lang="pt-BR" sz="1250" i="1" dirty="0">
                <a:solidFill>
                  <a:srgbClr val="BAC6DA"/>
                </a:solidFill>
                <a:latin typeface="Georgia"/>
              </a:rPr>
              <a:t> na estratégia. Leia o repositório e o código para montar uma explicação para eu me embasar</a:t>
            </a:r>
          </a:p>
        </p:txBody>
      </p:sp>
      <p:sp>
        <p:nvSpPr>
          <p:cNvPr id="25" name="s12_2_23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QUE ACENDEU, NA ORDEM</a:t>
            </a:r>
          </a:p>
        </p:txBody>
      </p:sp>
      <p:sp>
        <p:nvSpPr>
          <p:cNvPr id="26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01  </a:t>
            </a:r>
            <a:r>
              <a:rPr sz="900" b="0" i="0">
                <a:solidFill>
                  <a:srgbClr val="FFB531"/>
                </a:solidFill>
                <a:latin typeface="Consolas"/>
              </a:rPr>
              <a:t>Decisoes_pendentes.md</a:t>
            </a:r>
          </a:p>
        </p:txBody>
      </p:sp>
      <p:sp>
        <p:nvSpPr>
          <p:cNvPr id="27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02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Metricas_p4.md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 advTm="320">
        <p159:morph xmlns:p159="http://schemas.microsoft.com/office/powerpoint/2015/09/main" option="byObject"/>
      </p:transition>
    </mc:Choice>
    <mc:Fallback xmlns="">
      <p:transition spd="fast" advTm="32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12_3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Setup de IA</a:t>
            </a:r>
          </a:p>
        </p:txBody>
      </p:sp>
      <p:sp>
        <p:nvSpPr>
          <p:cNvPr id="7" name="s12_3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12</a:t>
            </a:r>
          </a:p>
        </p:txBody>
      </p:sp>
      <p:cxnSp>
        <p:nvCxnSpPr>
          <p:cNvPr id="8" name="s12_3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3_7"/>
          <p:cNvSpPr txBox="1"/>
          <p:nvPr/>
        </p:nvSpPr>
        <p:spPr>
          <a:xfrm>
            <a:off x="731520" y="850392"/>
            <a:ext cx="1072591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dirty="0">
                <a:solidFill>
                  <a:srgbClr val="F5F7FB"/>
                </a:solidFill>
                <a:latin typeface="Bahnschrift SemiBold"/>
              </a:rPr>
              <a:t>O segundo cérebro</a:t>
            </a:r>
            <a:endParaRPr sz="2000" b="0" i="0" dirty="0">
              <a:solidFill>
                <a:srgbClr val="F5F7FB"/>
              </a:solidFill>
              <a:latin typeface="Bahnschrift SemiBold"/>
            </a:endParaRPr>
          </a:p>
        </p:txBody>
      </p:sp>
      <p:cxnSp>
        <p:nvCxnSpPr>
          <p:cNvPr id="10" name="s12_3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98A"/>
                </a:solidFill>
                <a:latin typeface="Consola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!!pulso"/>
          <p:cNvSpPr/>
          <p:nvPr/>
        </p:nvSpPr>
        <p:spPr>
          <a:xfrm>
            <a:off x="1382760" y="3616475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s12_3_20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80" dirty="0">
                <a:solidFill>
                  <a:srgbClr val="FFB531"/>
                </a:solidFill>
                <a:latin typeface="Consolas"/>
              </a:rPr>
              <a:t>O SETUP</a:t>
            </a:r>
          </a:p>
        </p:txBody>
      </p:sp>
      <p:sp>
        <p:nvSpPr>
          <p:cNvPr id="23" name="s12_3_21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CLAUDE.md.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Regras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papéis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, lidos no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começo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de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toda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sessão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Ritual de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fim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Toda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sessão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fecha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escrevendo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no LOG 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nas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decisões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pendentes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Pesquisa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vira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arquivo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cita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os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arquivos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que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usou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foi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isso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que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virou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o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grafo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  <a:endParaRPr lang="pt-BR" sz="1250" b="0" i="0" dirty="0">
              <a:solidFill>
                <a:srgbClr val="BAC6DA"/>
              </a:solidFill>
              <a:latin typeface="Bahnschrift SemiLight"/>
            </a:endParaRP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pt-BR" sz="1100" b="1" spc="180" dirty="0">
                <a:solidFill>
                  <a:srgbClr val="FFB531"/>
                </a:solidFill>
                <a:latin typeface="Consolas"/>
              </a:rPr>
              <a:t>Exemplo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endParaRPr sz="1250" b="0" i="0" dirty="0">
              <a:solidFill>
                <a:srgbClr val="BAC6DA"/>
              </a:solidFill>
              <a:latin typeface="Bahnschrift SemiLight"/>
            </a:endParaRPr>
          </a:p>
        </p:txBody>
      </p:sp>
      <p:sp>
        <p:nvSpPr>
          <p:cNvPr id="24" name="s12_3_22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s12_3_23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 dirty="0">
                <a:solidFill>
                  <a:srgbClr val="FFB531"/>
                </a:solidFill>
                <a:latin typeface="Consolas"/>
              </a:rPr>
              <a:t>PROMPT</a:t>
            </a:r>
            <a:r>
              <a:rPr lang="pt-BR" sz="900" b="1" i="0" spc="180" dirty="0">
                <a:solidFill>
                  <a:srgbClr val="FFB531"/>
                </a:solidFill>
                <a:latin typeface="Consolas"/>
              </a:rPr>
              <a:t> EXEMPLO</a:t>
            </a:r>
            <a:endParaRPr sz="900" b="1" i="0" spc="180" dirty="0">
              <a:solidFill>
                <a:srgbClr val="FFB531"/>
              </a:solidFill>
              <a:latin typeface="Consolas"/>
            </a:endParaRPr>
          </a:p>
        </p:txBody>
      </p:sp>
      <p:sp>
        <p:nvSpPr>
          <p:cNvPr id="26" name="s12_3_24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</a:pPr>
            <a:r>
              <a:rPr lang="pt-BR" sz="1250" i="1" dirty="0">
                <a:solidFill>
                  <a:srgbClr val="BAC6DA"/>
                </a:solidFill>
                <a:latin typeface="Georgia"/>
              </a:rPr>
              <a:t>“Preciso montar um draft inicial das minhas falas da final. Vou começar pela explicação da aplicação do Black </a:t>
            </a:r>
            <a:r>
              <a:rPr lang="pt-BR" sz="1250" i="1" dirty="0" err="1">
                <a:solidFill>
                  <a:srgbClr val="BAC6DA"/>
                </a:solidFill>
                <a:latin typeface="Georgia"/>
              </a:rPr>
              <a:t>Littermann</a:t>
            </a:r>
            <a:r>
              <a:rPr lang="pt-BR" sz="1250" i="1" dirty="0">
                <a:solidFill>
                  <a:srgbClr val="BAC6DA"/>
                </a:solidFill>
                <a:latin typeface="Georgia"/>
              </a:rPr>
              <a:t> na estratégia. Leia o repositório e o código para montar uma explicação para eu me embasar</a:t>
            </a:r>
          </a:p>
        </p:txBody>
      </p:sp>
      <p:sp>
        <p:nvSpPr>
          <p:cNvPr id="27" name="s12_3_25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QUE ACENDEU, NA ORDEM</a:t>
            </a:r>
          </a:p>
        </p:txBody>
      </p:sp>
      <p:sp>
        <p:nvSpPr>
          <p:cNvPr id="28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01  </a:t>
            </a:r>
            <a:r>
              <a:rPr sz="900" b="0" i="0">
                <a:solidFill>
                  <a:srgbClr val="FFB531"/>
                </a:solidFill>
                <a:latin typeface="Consolas"/>
              </a:rPr>
              <a:t>Decisoes_pendentes.md</a:t>
            </a:r>
          </a:p>
        </p:txBody>
      </p:sp>
      <p:sp>
        <p:nvSpPr>
          <p:cNvPr id="29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02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Metricas_p4.md</a:t>
            </a:r>
          </a:p>
        </p:txBody>
      </p:sp>
      <p:sp>
        <p:nvSpPr>
          <p:cNvPr id="30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03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Metricas_p5.md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 advTm="320">
        <p159:morph xmlns:p159="http://schemas.microsoft.com/office/powerpoint/2015/09/main" option="byObject"/>
      </p:transition>
    </mc:Choice>
    <mc:Fallback xmlns="">
      <p:transition spd="fast" advTm="32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12_4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Setup de IA</a:t>
            </a:r>
          </a:p>
        </p:txBody>
      </p:sp>
      <p:sp>
        <p:nvSpPr>
          <p:cNvPr id="7" name="s12_4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12</a:t>
            </a:r>
          </a:p>
        </p:txBody>
      </p:sp>
      <p:cxnSp>
        <p:nvCxnSpPr>
          <p:cNvPr id="8" name="s12_4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4_7"/>
          <p:cNvSpPr txBox="1"/>
          <p:nvPr/>
        </p:nvSpPr>
        <p:spPr>
          <a:xfrm>
            <a:off x="731520" y="850392"/>
            <a:ext cx="1072591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dirty="0">
                <a:solidFill>
                  <a:srgbClr val="F5F7FB"/>
                </a:solidFill>
                <a:latin typeface="Bahnschrift SemiBold"/>
              </a:rPr>
              <a:t>O segundo cérebro</a:t>
            </a:r>
            <a:endParaRPr sz="2000" b="0" i="0" dirty="0">
              <a:solidFill>
                <a:srgbClr val="F5F7FB"/>
              </a:solidFill>
              <a:latin typeface="Bahnschrift SemiBold"/>
            </a:endParaRPr>
          </a:p>
        </p:txBody>
      </p:sp>
      <p:cxnSp>
        <p:nvCxnSpPr>
          <p:cNvPr id="10" name="s12_4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98A"/>
                </a:solidFill>
                <a:latin typeface="Consola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!!pulso"/>
          <p:cNvSpPr/>
          <p:nvPr/>
        </p:nvSpPr>
        <p:spPr>
          <a:xfrm>
            <a:off x="2146815" y="3319776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s12_4_22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80" dirty="0">
                <a:solidFill>
                  <a:srgbClr val="FFB531"/>
                </a:solidFill>
                <a:latin typeface="Consolas"/>
              </a:rPr>
              <a:t>O SETUP</a:t>
            </a:r>
          </a:p>
        </p:txBody>
      </p:sp>
      <p:sp>
        <p:nvSpPr>
          <p:cNvPr id="25" name="s12_4_23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CLAUDE.md.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Regras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papéis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, lidos no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começo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de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toda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sessão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Ritual de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fim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Toda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sessão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fecha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escrevendo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no LOG 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nas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decisões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pendentes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Pesquisa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vira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arquivo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cita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os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arquivos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que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usou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foi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isso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que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virou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o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grafo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  <a:endParaRPr lang="pt-BR" sz="1250" b="0" i="0" dirty="0">
              <a:solidFill>
                <a:srgbClr val="BAC6DA"/>
              </a:solidFill>
              <a:latin typeface="Bahnschrift SemiLight"/>
            </a:endParaRP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pt-BR" sz="1100" b="1" spc="180" dirty="0">
                <a:solidFill>
                  <a:srgbClr val="FFB531"/>
                </a:solidFill>
                <a:latin typeface="Consolas"/>
              </a:rPr>
              <a:t>Exemplo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endParaRPr sz="1250" b="0" i="0" dirty="0">
              <a:solidFill>
                <a:srgbClr val="BAC6DA"/>
              </a:solidFill>
              <a:latin typeface="Bahnschrift SemiLight"/>
            </a:endParaRPr>
          </a:p>
        </p:txBody>
      </p:sp>
      <p:sp>
        <p:nvSpPr>
          <p:cNvPr id="26" name="s12_4_24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s12_4_25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 dirty="0">
                <a:solidFill>
                  <a:srgbClr val="FFB531"/>
                </a:solidFill>
                <a:latin typeface="Consolas"/>
              </a:rPr>
              <a:t>PROMPT</a:t>
            </a:r>
            <a:r>
              <a:rPr lang="pt-BR" sz="900" b="1" i="0" spc="180" dirty="0">
                <a:solidFill>
                  <a:srgbClr val="FFB531"/>
                </a:solidFill>
                <a:latin typeface="Consolas"/>
              </a:rPr>
              <a:t> EXEMPLO</a:t>
            </a:r>
            <a:endParaRPr sz="900" b="1" i="0" spc="180" dirty="0">
              <a:solidFill>
                <a:srgbClr val="FFB531"/>
              </a:solidFill>
              <a:latin typeface="Consolas"/>
            </a:endParaRPr>
          </a:p>
        </p:txBody>
      </p:sp>
      <p:sp>
        <p:nvSpPr>
          <p:cNvPr id="28" name="s12_4_26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</a:pPr>
            <a:r>
              <a:rPr lang="pt-BR" sz="1250" i="1" dirty="0">
                <a:solidFill>
                  <a:srgbClr val="BAC6DA"/>
                </a:solidFill>
                <a:latin typeface="Georgia"/>
              </a:rPr>
              <a:t>“Preciso montar um draft inicial das minhas falas da final. Vou começar pela explicação da aplicação do Black </a:t>
            </a:r>
            <a:r>
              <a:rPr lang="pt-BR" sz="1250" i="1" dirty="0" err="1">
                <a:solidFill>
                  <a:srgbClr val="BAC6DA"/>
                </a:solidFill>
                <a:latin typeface="Georgia"/>
              </a:rPr>
              <a:t>Littermann</a:t>
            </a:r>
            <a:r>
              <a:rPr lang="pt-BR" sz="1250" i="1" dirty="0">
                <a:solidFill>
                  <a:srgbClr val="BAC6DA"/>
                </a:solidFill>
                <a:latin typeface="Georgia"/>
              </a:rPr>
              <a:t> na estratégia. Leia o repositório e o código para montar uma explicação para eu me embasar</a:t>
            </a:r>
          </a:p>
        </p:txBody>
      </p:sp>
      <p:sp>
        <p:nvSpPr>
          <p:cNvPr id="29" name="s12_4_27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QUE ACENDEU, NA ORDEM</a:t>
            </a:r>
          </a:p>
        </p:txBody>
      </p:sp>
      <p:sp>
        <p:nvSpPr>
          <p:cNvPr id="30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01  </a:t>
            </a:r>
            <a:r>
              <a:rPr sz="900" b="0" i="0">
                <a:solidFill>
                  <a:srgbClr val="FFB531"/>
                </a:solidFill>
                <a:latin typeface="Consolas"/>
              </a:rPr>
              <a:t>Decisoes_pendentes.md</a:t>
            </a:r>
          </a:p>
        </p:txBody>
      </p:sp>
      <p:sp>
        <p:nvSpPr>
          <p:cNvPr id="31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02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Metricas_p4.md</a:t>
            </a:r>
          </a:p>
        </p:txBody>
      </p:sp>
      <p:sp>
        <p:nvSpPr>
          <p:cNvPr id="32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03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Metricas_p5.md</a:t>
            </a:r>
          </a:p>
        </p:txBody>
      </p:sp>
      <p:sp>
        <p:nvSpPr>
          <p:cNvPr id="33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04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Backtest_v1.md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 advTm="320">
        <p159:morph xmlns:p159="http://schemas.microsoft.com/office/powerpoint/2015/09/main" option="byObject"/>
      </p:transition>
    </mc:Choice>
    <mc:Fallback xmlns="">
      <p:transition spd="fast" advTm="32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12_5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Setup de IA</a:t>
            </a:r>
          </a:p>
        </p:txBody>
      </p:sp>
      <p:sp>
        <p:nvSpPr>
          <p:cNvPr id="7" name="s12_5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12</a:t>
            </a:r>
          </a:p>
        </p:txBody>
      </p:sp>
      <p:cxnSp>
        <p:nvCxnSpPr>
          <p:cNvPr id="8" name="s12_5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5_7"/>
          <p:cNvSpPr txBox="1"/>
          <p:nvPr/>
        </p:nvSpPr>
        <p:spPr>
          <a:xfrm>
            <a:off x="731520" y="850392"/>
            <a:ext cx="1072591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dirty="0">
                <a:solidFill>
                  <a:srgbClr val="F5F7FB"/>
                </a:solidFill>
                <a:latin typeface="Bahnschrift SemiBold"/>
              </a:rPr>
              <a:t>O segundo cérebro</a:t>
            </a:r>
            <a:endParaRPr sz="2000" b="0" i="0" dirty="0">
              <a:solidFill>
                <a:srgbClr val="F5F7FB"/>
              </a:solidFill>
              <a:latin typeface="Bahnschrift SemiBold"/>
            </a:endParaRPr>
          </a:p>
        </p:txBody>
      </p:sp>
      <p:cxnSp>
        <p:nvCxnSpPr>
          <p:cNvPr id="10" name="s12_5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98A"/>
                </a:solidFill>
                <a:latin typeface="Consola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!!pulso"/>
          <p:cNvSpPr/>
          <p:nvPr/>
        </p:nvSpPr>
        <p:spPr>
          <a:xfrm>
            <a:off x="2211553" y="3958052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s12_5_24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80" dirty="0">
                <a:solidFill>
                  <a:srgbClr val="FFB531"/>
                </a:solidFill>
                <a:latin typeface="Consolas"/>
              </a:rPr>
              <a:t>O SETUP</a:t>
            </a:r>
          </a:p>
        </p:txBody>
      </p:sp>
      <p:sp>
        <p:nvSpPr>
          <p:cNvPr id="27" name="s12_5_25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CLAUDE.md.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Regras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papéis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, lidos no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começo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de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toda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sessão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Ritual de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fim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Toda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sessão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fecha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escrevendo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no LOG 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nas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decisões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pendentes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Pesquisa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vira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arquivo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cita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os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arquivos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que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usou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foi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isso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que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virou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o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grafo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  <a:endParaRPr lang="pt-BR" sz="1250" b="0" i="0" dirty="0">
              <a:solidFill>
                <a:srgbClr val="BAC6DA"/>
              </a:solidFill>
              <a:latin typeface="Bahnschrift SemiLight"/>
            </a:endParaRP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pt-BR" sz="1100" b="1" spc="180" dirty="0">
                <a:solidFill>
                  <a:srgbClr val="FFB531"/>
                </a:solidFill>
                <a:latin typeface="Consolas"/>
              </a:rPr>
              <a:t>Exemplo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endParaRPr sz="1250" b="0" i="0" dirty="0">
              <a:solidFill>
                <a:srgbClr val="BAC6DA"/>
              </a:solidFill>
              <a:latin typeface="Bahnschrift SemiLight"/>
            </a:endParaRPr>
          </a:p>
        </p:txBody>
      </p:sp>
      <p:sp>
        <p:nvSpPr>
          <p:cNvPr id="28" name="s12_5_26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s12_5_27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 dirty="0">
                <a:solidFill>
                  <a:srgbClr val="FFB531"/>
                </a:solidFill>
                <a:latin typeface="Consolas"/>
              </a:rPr>
              <a:t>PROMPT</a:t>
            </a:r>
            <a:r>
              <a:rPr lang="pt-BR" sz="900" b="1" i="0" spc="180" dirty="0">
                <a:solidFill>
                  <a:srgbClr val="FFB531"/>
                </a:solidFill>
                <a:latin typeface="Consolas"/>
              </a:rPr>
              <a:t> EXEMPLO</a:t>
            </a:r>
            <a:endParaRPr sz="900" b="1" i="0" spc="180" dirty="0">
              <a:solidFill>
                <a:srgbClr val="FFB531"/>
              </a:solidFill>
              <a:latin typeface="Consolas"/>
            </a:endParaRPr>
          </a:p>
        </p:txBody>
      </p:sp>
      <p:sp>
        <p:nvSpPr>
          <p:cNvPr id="30" name="s12_5_28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</a:pPr>
            <a:r>
              <a:rPr lang="pt-BR" sz="1250" i="1" dirty="0">
                <a:solidFill>
                  <a:srgbClr val="BAC6DA"/>
                </a:solidFill>
                <a:latin typeface="Georgia"/>
              </a:rPr>
              <a:t>“Preciso montar um draft inicial das minhas falas da final. Vou começar pela explicação da aplicação do Black </a:t>
            </a:r>
            <a:r>
              <a:rPr lang="pt-BR" sz="1250" i="1" dirty="0" err="1">
                <a:solidFill>
                  <a:srgbClr val="BAC6DA"/>
                </a:solidFill>
                <a:latin typeface="Georgia"/>
              </a:rPr>
              <a:t>Littermann</a:t>
            </a:r>
            <a:r>
              <a:rPr lang="pt-BR" sz="1250" i="1" dirty="0">
                <a:solidFill>
                  <a:srgbClr val="BAC6DA"/>
                </a:solidFill>
                <a:latin typeface="Georgia"/>
              </a:rPr>
              <a:t> na estratégia. Leia o repositório e o código para montar uma explicação para eu me embasar</a:t>
            </a:r>
          </a:p>
        </p:txBody>
      </p:sp>
      <p:sp>
        <p:nvSpPr>
          <p:cNvPr id="31" name="s12_5_29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QUE ACENDEU, NA ORDEM</a:t>
            </a:r>
          </a:p>
        </p:txBody>
      </p:sp>
      <p:sp>
        <p:nvSpPr>
          <p:cNvPr id="32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01  </a:t>
            </a:r>
            <a:r>
              <a:rPr sz="900" b="0" i="0">
                <a:solidFill>
                  <a:srgbClr val="FFB531"/>
                </a:solidFill>
                <a:latin typeface="Consolas"/>
              </a:rPr>
              <a:t>Decisoes_pendentes.md</a:t>
            </a:r>
          </a:p>
        </p:txBody>
      </p:sp>
      <p:sp>
        <p:nvSpPr>
          <p:cNvPr id="33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02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Metricas_p4.md</a:t>
            </a:r>
          </a:p>
        </p:txBody>
      </p:sp>
      <p:sp>
        <p:nvSpPr>
          <p:cNvPr id="34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03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Metricas_p5.md</a:t>
            </a:r>
          </a:p>
        </p:txBody>
      </p:sp>
      <p:sp>
        <p:nvSpPr>
          <p:cNvPr id="35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04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Backtest_v1.md</a:t>
            </a:r>
          </a:p>
        </p:txBody>
      </p:sp>
      <p:sp>
        <p:nvSpPr>
          <p:cNvPr id="36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05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Ortogonalidade.md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 advTm="320">
        <p159:morph xmlns:p159="http://schemas.microsoft.com/office/powerpoint/2015/09/main" option="byObject"/>
      </p:transition>
    </mc:Choice>
    <mc:Fallback xmlns="">
      <p:transition spd="fast" advTm="32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12_6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Setup de IA</a:t>
            </a:r>
          </a:p>
        </p:txBody>
      </p:sp>
      <p:sp>
        <p:nvSpPr>
          <p:cNvPr id="7" name="s12_6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12</a:t>
            </a:r>
          </a:p>
        </p:txBody>
      </p:sp>
      <p:cxnSp>
        <p:nvCxnSpPr>
          <p:cNvPr id="8" name="s12_6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6_7"/>
          <p:cNvSpPr txBox="1"/>
          <p:nvPr/>
        </p:nvSpPr>
        <p:spPr>
          <a:xfrm>
            <a:off x="731520" y="850392"/>
            <a:ext cx="1072591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dirty="0">
                <a:solidFill>
                  <a:srgbClr val="F5F7FB"/>
                </a:solidFill>
                <a:latin typeface="Bahnschrift SemiBold"/>
              </a:rPr>
              <a:t>O segundo cérebro</a:t>
            </a:r>
            <a:endParaRPr sz="2000" b="0" i="0" dirty="0">
              <a:solidFill>
                <a:srgbClr val="F5F7FB"/>
              </a:solidFill>
              <a:latin typeface="Bahnschrift SemiBold"/>
            </a:endParaRPr>
          </a:p>
        </p:txBody>
      </p:sp>
      <p:cxnSp>
        <p:nvCxnSpPr>
          <p:cNvPr id="10" name="s12_6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98A"/>
                </a:solidFill>
                <a:latin typeface="Consola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5" name="!!e_5"/>
          <p:cNvCxnSpPr/>
          <p:nvPr/>
        </p:nvCxnSpPr>
        <p:spPr>
          <a:xfrm flipH="1" flipV="1">
            <a:off x="1998661" y="3397918"/>
            <a:ext cx="464352" cy="811594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!!n_5"/>
          <p:cNvSpPr/>
          <p:nvPr/>
        </p:nvSpPr>
        <p:spPr>
          <a:xfrm>
            <a:off x="1907221" y="330647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!!pulso"/>
          <p:cNvSpPr/>
          <p:nvPr/>
        </p:nvSpPr>
        <p:spPr>
          <a:xfrm>
            <a:off x="1747201" y="3146458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s12_6_26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80" dirty="0">
                <a:solidFill>
                  <a:srgbClr val="FFB531"/>
                </a:solidFill>
                <a:latin typeface="Consolas"/>
              </a:rPr>
              <a:t>O SETUP</a:t>
            </a:r>
          </a:p>
        </p:txBody>
      </p:sp>
      <p:sp>
        <p:nvSpPr>
          <p:cNvPr id="29" name="s12_6_27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CLAUDE.md.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Regras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papéis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, lidos no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começo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de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toda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sessão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Ritual de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fim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Toda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sessão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fecha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escrevendo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no LOG 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nas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decisões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pendentes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Pesquisa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vira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arquivo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cita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os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arquivos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que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usou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foi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isso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que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virou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o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grafo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  <a:endParaRPr lang="pt-BR" sz="1250" b="0" i="0" dirty="0">
              <a:solidFill>
                <a:srgbClr val="BAC6DA"/>
              </a:solidFill>
              <a:latin typeface="Bahnschrift SemiLight"/>
            </a:endParaRP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pt-BR" sz="1100" b="1" spc="180" dirty="0">
                <a:solidFill>
                  <a:srgbClr val="FFB531"/>
                </a:solidFill>
                <a:latin typeface="Consolas"/>
              </a:rPr>
              <a:t>Exemplo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endParaRPr sz="1250" b="0" i="0" dirty="0">
              <a:solidFill>
                <a:srgbClr val="BAC6DA"/>
              </a:solidFill>
              <a:latin typeface="Bahnschrift SemiLight"/>
            </a:endParaRPr>
          </a:p>
        </p:txBody>
      </p:sp>
      <p:sp>
        <p:nvSpPr>
          <p:cNvPr id="30" name="s12_6_28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s12_6_29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 dirty="0">
                <a:solidFill>
                  <a:srgbClr val="FFB531"/>
                </a:solidFill>
                <a:latin typeface="Consolas"/>
              </a:rPr>
              <a:t>PROMPT</a:t>
            </a:r>
            <a:r>
              <a:rPr lang="pt-BR" sz="900" b="1" i="0" spc="180" dirty="0">
                <a:solidFill>
                  <a:srgbClr val="FFB531"/>
                </a:solidFill>
                <a:latin typeface="Consolas"/>
              </a:rPr>
              <a:t> EXEMPLO</a:t>
            </a:r>
            <a:endParaRPr sz="900" b="1" i="0" spc="180" dirty="0">
              <a:solidFill>
                <a:srgbClr val="FFB531"/>
              </a:solidFill>
              <a:latin typeface="Consolas"/>
            </a:endParaRPr>
          </a:p>
        </p:txBody>
      </p:sp>
      <p:sp>
        <p:nvSpPr>
          <p:cNvPr id="32" name="s12_6_30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</a:pPr>
            <a:r>
              <a:rPr lang="pt-BR" sz="1250" i="1" dirty="0">
                <a:solidFill>
                  <a:srgbClr val="BAC6DA"/>
                </a:solidFill>
                <a:latin typeface="Georgia"/>
              </a:rPr>
              <a:t>“Preciso montar um draft inicial das minhas falas da final. Vou começar pela explicação da aplicação do Black </a:t>
            </a:r>
            <a:r>
              <a:rPr lang="pt-BR" sz="1250" i="1" dirty="0" err="1">
                <a:solidFill>
                  <a:srgbClr val="BAC6DA"/>
                </a:solidFill>
                <a:latin typeface="Georgia"/>
              </a:rPr>
              <a:t>Littermann</a:t>
            </a:r>
            <a:r>
              <a:rPr lang="pt-BR" sz="1250" i="1" dirty="0">
                <a:solidFill>
                  <a:srgbClr val="BAC6DA"/>
                </a:solidFill>
                <a:latin typeface="Georgia"/>
              </a:rPr>
              <a:t> na estratégia. Leia o repositório e o código para montar uma explicação para eu me embasar</a:t>
            </a:r>
          </a:p>
        </p:txBody>
      </p:sp>
      <p:sp>
        <p:nvSpPr>
          <p:cNvPr id="33" name="s12_6_31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QUE ACENDEU, NA ORDEM</a:t>
            </a:r>
          </a:p>
        </p:txBody>
      </p:sp>
      <p:sp>
        <p:nvSpPr>
          <p:cNvPr id="34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01  </a:t>
            </a:r>
            <a:r>
              <a:rPr sz="900" b="0" i="0">
                <a:solidFill>
                  <a:srgbClr val="FFB531"/>
                </a:solidFill>
                <a:latin typeface="Consolas"/>
              </a:rPr>
              <a:t>Decisoes_pendentes.md</a:t>
            </a:r>
          </a:p>
        </p:txBody>
      </p:sp>
      <p:sp>
        <p:nvSpPr>
          <p:cNvPr id="35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02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Metricas_p4.md</a:t>
            </a:r>
          </a:p>
        </p:txBody>
      </p:sp>
      <p:sp>
        <p:nvSpPr>
          <p:cNvPr id="36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03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Metricas_p5.md</a:t>
            </a:r>
          </a:p>
        </p:txBody>
      </p:sp>
      <p:sp>
        <p:nvSpPr>
          <p:cNvPr id="37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04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Backtest_v1.md</a:t>
            </a:r>
          </a:p>
        </p:txBody>
      </p:sp>
      <p:sp>
        <p:nvSpPr>
          <p:cNvPr id="38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05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Ortogonalidade.md</a:t>
            </a:r>
          </a:p>
        </p:txBody>
      </p:sp>
      <p:sp>
        <p:nvSpPr>
          <p:cNvPr id="39" name="!!li_5"/>
          <p:cNvSpPr txBox="1"/>
          <p:nvPr/>
        </p:nvSpPr>
        <p:spPr>
          <a:xfrm>
            <a:off x="5897880" y="588416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06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bl_optimizer.py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 advTm="320">
        <p159:morph xmlns:p159="http://schemas.microsoft.com/office/powerpoint/2015/09/main" option="byObject"/>
      </p:transition>
    </mc:Choice>
    <mc:Fallback xmlns="">
      <p:transition spd="fast" advTm="32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12_7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Setup de IA</a:t>
            </a:r>
          </a:p>
        </p:txBody>
      </p:sp>
      <p:sp>
        <p:nvSpPr>
          <p:cNvPr id="7" name="s12_7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12</a:t>
            </a:r>
          </a:p>
        </p:txBody>
      </p:sp>
      <p:cxnSp>
        <p:nvCxnSpPr>
          <p:cNvPr id="8" name="s12_7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7_7"/>
          <p:cNvSpPr txBox="1"/>
          <p:nvPr/>
        </p:nvSpPr>
        <p:spPr>
          <a:xfrm>
            <a:off x="731520" y="850392"/>
            <a:ext cx="1072591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dirty="0">
                <a:solidFill>
                  <a:srgbClr val="F5F7FB"/>
                </a:solidFill>
                <a:latin typeface="Bahnschrift SemiBold"/>
              </a:rPr>
              <a:t>O segundo cérebro</a:t>
            </a:r>
            <a:endParaRPr sz="2000" b="0" i="0" dirty="0">
              <a:solidFill>
                <a:srgbClr val="F5F7FB"/>
              </a:solidFill>
              <a:latin typeface="Bahnschrift SemiBold"/>
            </a:endParaRPr>
          </a:p>
        </p:txBody>
      </p:sp>
      <p:cxnSp>
        <p:nvCxnSpPr>
          <p:cNvPr id="10" name="s12_7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98A"/>
                </a:solidFill>
                <a:latin typeface="Consola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5" name="!!e_5"/>
          <p:cNvCxnSpPr/>
          <p:nvPr/>
        </p:nvCxnSpPr>
        <p:spPr>
          <a:xfrm flipH="1" flipV="1">
            <a:off x="1998661" y="3397918"/>
            <a:ext cx="464352" cy="811594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!!n_5"/>
          <p:cNvSpPr/>
          <p:nvPr/>
        </p:nvSpPr>
        <p:spPr>
          <a:xfrm>
            <a:off x="1907221" y="330647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7" name="!!e_6"/>
          <p:cNvCxnSpPr/>
          <p:nvPr/>
        </p:nvCxnSpPr>
        <p:spPr>
          <a:xfrm>
            <a:off x="1998661" y="3397918"/>
            <a:ext cx="1489538" cy="9489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!!n_6"/>
          <p:cNvSpPr/>
          <p:nvPr/>
        </p:nvSpPr>
        <p:spPr>
          <a:xfrm>
            <a:off x="3396759" y="340136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!!pulso"/>
          <p:cNvSpPr/>
          <p:nvPr/>
        </p:nvSpPr>
        <p:spPr>
          <a:xfrm>
            <a:off x="3236739" y="3241348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s12_7_28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80" dirty="0">
                <a:solidFill>
                  <a:srgbClr val="FFB531"/>
                </a:solidFill>
                <a:latin typeface="Consolas"/>
              </a:rPr>
              <a:t>O SETUP</a:t>
            </a:r>
          </a:p>
        </p:txBody>
      </p:sp>
      <p:sp>
        <p:nvSpPr>
          <p:cNvPr id="31" name="s12_7_29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CLAUDE.md.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Regras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papéis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, lidos no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começo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de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toda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sessão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Ritual de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fim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Toda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sessão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fecha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escrevendo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no LOG 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nas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decisões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pendentes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Pesquisa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vira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arquivo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cita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os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arquivos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que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usou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foi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isso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que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virou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o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grafo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  <a:endParaRPr lang="pt-BR" sz="1250" b="0" i="0" dirty="0">
              <a:solidFill>
                <a:srgbClr val="BAC6DA"/>
              </a:solidFill>
              <a:latin typeface="Bahnschrift SemiLight"/>
            </a:endParaRP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pt-BR" sz="1100" b="1" spc="180" dirty="0">
                <a:solidFill>
                  <a:srgbClr val="FFB531"/>
                </a:solidFill>
                <a:latin typeface="Consolas"/>
              </a:rPr>
              <a:t>Exemplo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endParaRPr sz="1250" b="0" i="0" dirty="0">
              <a:solidFill>
                <a:srgbClr val="BAC6DA"/>
              </a:solidFill>
              <a:latin typeface="Bahnschrift SemiLight"/>
            </a:endParaRPr>
          </a:p>
        </p:txBody>
      </p:sp>
      <p:sp>
        <p:nvSpPr>
          <p:cNvPr id="32" name="s12_7_30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s12_7_31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 dirty="0">
                <a:solidFill>
                  <a:srgbClr val="FFB531"/>
                </a:solidFill>
                <a:latin typeface="Consolas"/>
              </a:rPr>
              <a:t>PROMPT</a:t>
            </a:r>
            <a:r>
              <a:rPr lang="pt-BR" sz="900" b="1" i="0" spc="180" dirty="0">
                <a:solidFill>
                  <a:srgbClr val="FFB531"/>
                </a:solidFill>
                <a:latin typeface="Consolas"/>
              </a:rPr>
              <a:t> EXEMPLO</a:t>
            </a:r>
            <a:endParaRPr sz="900" b="1" i="0" spc="180" dirty="0">
              <a:solidFill>
                <a:srgbClr val="FFB531"/>
              </a:solidFill>
              <a:latin typeface="Consolas"/>
            </a:endParaRPr>
          </a:p>
        </p:txBody>
      </p:sp>
      <p:sp>
        <p:nvSpPr>
          <p:cNvPr id="34" name="s12_7_32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</a:pPr>
            <a:r>
              <a:rPr lang="pt-BR" sz="1250" i="1" dirty="0">
                <a:solidFill>
                  <a:srgbClr val="BAC6DA"/>
                </a:solidFill>
                <a:latin typeface="Georgia"/>
              </a:rPr>
              <a:t>“Preciso montar um draft inicial das minhas falas da final. Vou começar pela explicação da aplicação do Black </a:t>
            </a:r>
            <a:r>
              <a:rPr lang="pt-BR" sz="1250" i="1" dirty="0" err="1">
                <a:solidFill>
                  <a:srgbClr val="BAC6DA"/>
                </a:solidFill>
                <a:latin typeface="Georgia"/>
              </a:rPr>
              <a:t>Littermann</a:t>
            </a:r>
            <a:r>
              <a:rPr lang="pt-BR" sz="1250" i="1" dirty="0">
                <a:solidFill>
                  <a:srgbClr val="BAC6DA"/>
                </a:solidFill>
                <a:latin typeface="Georgia"/>
              </a:rPr>
              <a:t> na estratégia. Leia o repositório e o código para montar uma explicação para eu me embasar</a:t>
            </a:r>
          </a:p>
        </p:txBody>
      </p:sp>
      <p:sp>
        <p:nvSpPr>
          <p:cNvPr id="35" name="s12_7_33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QUE ACENDEU, NA ORDEM</a:t>
            </a:r>
          </a:p>
        </p:txBody>
      </p:sp>
      <p:sp>
        <p:nvSpPr>
          <p:cNvPr id="36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01  </a:t>
            </a:r>
            <a:r>
              <a:rPr sz="900" b="0" i="0">
                <a:solidFill>
                  <a:srgbClr val="FFB531"/>
                </a:solidFill>
                <a:latin typeface="Consolas"/>
              </a:rPr>
              <a:t>Decisoes_pendentes.md</a:t>
            </a:r>
          </a:p>
        </p:txBody>
      </p:sp>
      <p:sp>
        <p:nvSpPr>
          <p:cNvPr id="37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02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Metricas_p4.md</a:t>
            </a:r>
          </a:p>
        </p:txBody>
      </p:sp>
      <p:sp>
        <p:nvSpPr>
          <p:cNvPr id="38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03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Metricas_p5.md</a:t>
            </a:r>
          </a:p>
        </p:txBody>
      </p:sp>
      <p:sp>
        <p:nvSpPr>
          <p:cNvPr id="39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04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Backtest_v1.md</a:t>
            </a:r>
          </a:p>
        </p:txBody>
      </p:sp>
      <p:sp>
        <p:nvSpPr>
          <p:cNvPr id="40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05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Ortogonalidade.md</a:t>
            </a:r>
          </a:p>
        </p:txBody>
      </p:sp>
      <p:sp>
        <p:nvSpPr>
          <p:cNvPr id="41" name="!!li_5"/>
          <p:cNvSpPr txBox="1"/>
          <p:nvPr/>
        </p:nvSpPr>
        <p:spPr>
          <a:xfrm>
            <a:off x="5897880" y="588416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06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bl_optimizer.py</a:t>
            </a:r>
          </a:p>
        </p:txBody>
      </p:sp>
      <p:sp>
        <p:nvSpPr>
          <p:cNvPr id="42" name="!!li_6"/>
          <p:cNvSpPr txBox="1"/>
          <p:nvPr/>
        </p:nvSpPr>
        <p:spPr>
          <a:xfrm>
            <a:off x="8677656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07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views_common.py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 advTm="320">
        <p159:morph xmlns:p159="http://schemas.microsoft.com/office/powerpoint/2015/09/main" option="byObject"/>
      </p:transition>
    </mc:Choice>
    <mc:Fallback xmlns="">
      <p:transition spd="fast" advTm="32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12_8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Setup de IA</a:t>
            </a:r>
          </a:p>
        </p:txBody>
      </p:sp>
      <p:sp>
        <p:nvSpPr>
          <p:cNvPr id="7" name="s12_8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12</a:t>
            </a:r>
          </a:p>
        </p:txBody>
      </p:sp>
      <p:cxnSp>
        <p:nvCxnSpPr>
          <p:cNvPr id="8" name="s12_8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8_7"/>
          <p:cNvSpPr txBox="1"/>
          <p:nvPr/>
        </p:nvSpPr>
        <p:spPr>
          <a:xfrm>
            <a:off x="731520" y="850392"/>
            <a:ext cx="1072591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dirty="0">
                <a:solidFill>
                  <a:srgbClr val="F5F7FB"/>
                </a:solidFill>
                <a:latin typeface="Bahnschrift SemiBold"/>
              </a:rPr>
              <a:t>O segundo cérebro</a:t>
            </a:r>
            <a:endParaRPr sz="2000" b="0" i="0" dirty="0">
              <a:solidFill>
                <a:srgbClr val="F5F7FB"/>
              </a:solidFill>
              <a:latin typeface="Bahnschrift SemiBold"/>
            </a:endParaRPr>
          </a:p>
        </p:txBody>
      </p:sp>
      <p:cxnSp>
        <p:nvCxnSpPr>
          <p:cNvPr id="10" name="s12_8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98A"/>
                </a:solidFill>
                <a:latin typeface="Consola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5" name="!!e_5"/>
          <p:cNvCxnSpPr/>
          <p:nvPr/>
        </p:nvCxnSpPr>
        <p:spPr>
          <a:xfrm flipH="1" flipV="1">
            <a:off x="1998661" y="3397918"/>
            <a:ext cx="464352" cy="811594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!!n_5"/>
          <p:cNvSpPr/>
          <p:nvPr/>
        </p:nvSpPr>
        <p:spPr>
          <a:xfrm>
            <a:off x="1907221" y="330647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7" name="!!e_6"/>
          <p:cNvCxnSpPr/>
          <p:nvPr/>
        </p:nvCxnSpPr>
        <p:spPr>
          <a:xfrm>
            <a:off x="1998661" y="3397918"/>
            <a:ext cx="1489538" cy="9489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!!n_6"/>
          <p:cNvSpPr/>
          <p:nvPr/>
        </p:nvSpPr>
        <p:spPr>
          <a:xfrm>
            <a:off x="3396759" y="340136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9" name="!!e_7"/>
          <p:cNvCxnSpPr/>
          <p:nvPr/>
        </p:nvCxnSpPr>
        <p:spPr>
          <a:xfrm flipH="1">
            <a:off x="2315891" y="3492808"/>
            <a:ext cx="1172308" cy="33770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!!n_7"/>
          <p:cNvSpPr/>
          <p:nvPr/>
        </p:nvSpPr>
        <p:spPr>
          <a:xfrm>
            <a:off x="2224451" y="3739076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!!pulso"/>
          <p:cNvSpPr/>
          <p:nvPr/>
        </p:nvSpPr>
        <p:spPr>
          <a:xfrm>
            <a:off x="2064431" y="3579056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s12_8_30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80" dirty="0">
                <a:solidFill>
                  <a:srgbClr val="FFB531"/>
                </a:solidFill>
                <a:latin typeface="Consolas"/>
              </a:rPr>
              <a:t>O SETUP</a:t>
            </a:r>
          </a:p>
        </p:txBody>
      </p:sp>
      <p:sp>
        <p:nvSpPr>
          <p:cNvPr id="33" name="s12_8_31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CLAUDE.md.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Regras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papéis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, lidos no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começo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de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toda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sessão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Ritual de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fim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Toda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sessão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fecha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escrevendo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no LOG 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nas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decisões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pendentes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Pesquisa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vira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arquivo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cita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os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arquivos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que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usou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foi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isso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que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virou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o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grafo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  <a:endParaRPr lang="pt-BR" sz="1250" b="0" i="0" dirty="0">
              <a:solidFill>
                <a:srgbClr val="BAC6DA"/>
              </a:solidFill>
              <a:latin typeface="Bahnschrift SemiLight"/>
            </a:endParaRP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pt-BR" sz="1100" b="1" spc="180" dirty="0">
                <a:solidFill>
                  <a:srgbClr val="FFB531"/>
                </a:solidFill>
                <a:latin typeface="Consolas"/>
              </a:rPr>
              <a:t>Exemplo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endParaRPr sz="1250" b="0" i="0" dirty="0">
              <a:solidFill>
                <a:srgbClr val="BAC6DA"/>
              </a:solidFill>
              <a:latin typeface="Bahnschrift SemiLight"/>
            </a:endParaRPr>
          </a:p>
        </p:txBody>
      </p:sp>
      <p:sp>
        <p:nvSpPr>
          <p:cNvPr id="34" name="s12_8_32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s12_8_33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 dirty="0">
                <a:solidFill>
                  <a:srgbClr val="FFB531"/>
                </a:solidFill>
                <a:latin typeface="Consolas"/>
              </a:rPr>
              <a:t>PROMPT</a:t>
            </a:r>
            <a:r>
              <a:rPr lang="pt-BR" sz="900" b="1" i="0" spc="180" dirty="0">
                <a:solidFill>
                  <a:srgbClr val="FFB531"/>
                </a:solidFill>
                <a:latin typeface="Consolas"/>
              </a:rPr>
              <a:t> EXEMPLO</a:t>
            </a:r>
            <a:endParaRPr sz="900" b="1" i="0" spc="180" dirty="0">
              <a:solidFill>
                <a:srgbClr val="FFB531"/>
              </a:solidFill>
              <a:latin typeface="Consolas"/>
            </a:endParaRPr>
          </a:p>
        </p:txBody>
      </p:sp>
      <p:sp>
        <p:nvSpPr>
          <p:cNvPr id="36" name="s12_8_34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</a:pPr>
            <a:r>
              <a:rPr lang="pt-BR" sz="1250" i="1" dirty="0">
                <a:solidFill>
                  <a:srgbClr val="BAC6DA"/>
                </a:solidFill>
                <a:latin typeface="Georgia"/>
              </a:rPr>
              <a:t>“Preciso montar um draft inicial das minhas falas da final. Vou começar pela explicação da aplicação do Black </a:t>
            </a:r>
            <a:r>
              <a:rPr lang="pt-BR" sz="1250" i="1" dirty="0" err="1">
                <a:solidFill>
                  <a:srgbClr val="BAC6DA"/>
                </a:solidFill>
                <a:latin typeface="Georgia"/>
              </a:rPr>
              <a:t>Littermann</a:t>
            </a:r>
            <a:r>
              <a:rPr lang="pt-BR" sz="1250" i="1" dirty="0">
                <a:solidFill>
                  <a:srgbClr val="BAC6DA"/>
                </a:solidFill>
                <a:latin typeface="Georgia"/>
              </a:rPr>
              <a:t> na estratégia. Leia o repositório e o código para montar uma explicação para eu me embasar</a:t>
            </a:r>
          </a:p>
        </p:txBody>
      </p:sp>
      <p:sp>
        <p:nvSpPr>
          <p:cNvPr id="37" name="s12_8_35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QUE ACENDEU, NA ORDEM</a:t>
            </a:r>
          </a:p>
        </p:txBody>
      </p:sp>
      <p:sp>
        <p:nvSpPr>
          <p:cNvPr id="38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01  </a:t>
            </a:r>
            <a:r>
              <a:rPr sz="900" b="0" i="0">
                <a:solidFill>
                  <a:srgbClr val="FFB531"/>
                </a:solidFill>
                <a:latin typeface="Consolas"/>
              </a:rPr>
              <a:t>Decisoes_pendentes.md</a:t>
            </a:r>
          </a:p>
        </p:txBody>
      </p:sp>
      <p:sp>
        <p:nvSpPr>
          <p:cNvPr id="39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02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Metricas_p4.md</a:t>
            </a:r>
          </a:p>
        </p:txBody>
      </p:sp>
      <p:sp>
        <p:nvSpPr>
          <p:cNvPr id="40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03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Metricas_p5.md</a:t>
            </a:r>
          </a:p>
        </p:txBody>
      </p:sp>
      <p:sp>
        <p:nvSpPr>
          <p:cNvPr id="41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04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Backtest_v1.md</a:t>
            </a:r>
          </a:p>
        </p:txBody>
      </p:sp>
      <p:sp>
        <p:nvSpPr>
          <p:cNvPr id="42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05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Ortogonalidade.md</a:t>
            </a:r>
          </a:p>
        </p:txBody>
      </p:sp>
      <p:sp>
        <p:nvSpPr>
          <p:cNvPr id="43" name="!!li_5"/>
          <p:cNvSpPr txBox="1"/>
          <p:nvPr/>
        </p:nvSpPr>
        <p:spPr>
          <a:xfrm>
            <a:off x="5897880" y="588416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06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bl_optimizer.py</a:t>
            </a:r>
          </a:p>
        </p:txBody>
      </p:sp>
      <p:sp>
        <p:nvSpPr>
          <p:cNvPr id="44" name="!!li_6"/>
          <p:cNvSpPr txBox="1"/>
          <p:nvPr/>
        </p:nvSpPr>
        <p:spPr>
          <a:xfrm>
            <a:off x="8677656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07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views_common.py</a:t>
            </a:r>
          </a:p>
        </p:txBody>
      </p:sp>
      <p:sp>
        <p:nvSpPr>
          <p:cNvPr id="45" name="!!li_7"/>
          <p:cNvSpPr txBox="1"/>
          <p:nvPr/>
        </p:nvSpPr>
        <p:spPr>
          <a:xfrm>
            <a:off x="8677656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08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backtest_v1.py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 advTm="320">
        <p159:morph xmlns:p159="http://schemas.microsoft.com/office/powerpoint/2015/09/main" option="byObject"/>
      </p:transition>
    </mc:Choice>
    <mc:Fallback xmlns="">
      <p:transition spd="fast" advTm="32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12_9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Setup de IA</a:t>
            </a:r>
          </a:p>
        </p:txBody>
      </p:sp>
      <p:sp>
        <p:nvSpPr>
          <p:cNvPr id="7" name="s12_9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12</a:t>
            </a:r>
          </a:p>
        </p:txBody>
      </p:sp>
      <p:cxnSp>
        <p:nvCxnSpPr>
          <p:cNvPr id="8" name="s12_9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9_7"/>
          <p:cNvSpPr txBox="1"/>
          <p:nvPr/>
        </p:nvSpPr>
        <p:spPr>
          <a:xfrm>
            <a:off x="731520" y="850392"/>
            <a:ext cx="1072591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dirty="0">
                <a:solidFill>
                  <a:srgbClr val="F5F7FB"/>
                </a:solidFill>
                <a:latin typeface="Bahnschrift SemiBold"/>
              </a:rPr>
              <a:t>O segundo cérebro</a:t>
            </a:r>
            <a:endParaRPr sz="2000" b="0" i="0" dirty="0">
              <a:solidFill>
                <a:srgbClr val="F5F7FB"/>
              </a:solidFill>
              <a:latin typeface="Bahnschrift SemiBold"/>
            </a:endParaRPr>
          </a:p>
        </p:txBody>
      </p:sp>
      <p:cxnSp>
        <p:nvCxnSpPr>
          <p:cNvPr id="10" name="s12_9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98A"/>
                </a:solidFill>
                <a:latin typeface="Consola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5" name="!!e_5"/>
          <p:cNvCxnSpPr/>
          <p:nvPr/>
        </p:nvCxnSpPr>
        <p:spPr>
          <a:xfrm flipH="1" flipV="1">
            <a:off x="1998661" y="3397918"/>
            <a:ext cx="464352" cy="811594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!!n_5"/>
          <p:cNvSpPr/>
          <p:nvPr/>
        </p:nvSpPr>
        <p:spPr>
          <a:xfrm>
            <a:off x="1907221" y="330647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7" name="!!e_6"/>
          <p:cNvCxnSpPr/>
          <p:nvPr/>
        </p:nvCxnSpPr>
        <p:spPr>
          <a:xfrm>
            <a:off x="1998661" y="3397918"/>
            <a:ext cx="1489538" cy="9489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!!n_6"/>
          <p:cNvSpPr/>
          <p:nvPr/>
        </p:nvSpPr>
        <p:spPr>
          <a:xfrm>
            <a:off x="3396759" y="340136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9" name="!!e_7"/>
          <p:cNvCxnSpPr/>
          <p:nvPr/>
        </p:nvCxnSpPr>
        <p:spPr>
          <a:xfrm flipH="1">
            <a:off x="2315891" y="3492808"/>
            <a:ext cx="1172308" cy="33770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!!n_7"/>
          <p:cNvSpPr/>
          <p:nvPr/>
        </p:nvSpPr>
        <p:spPr>
          <a:xfrm>
            <a:off x="2224451" y="3739076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1" name="!!e_8"/>
          <p:cNvCxnSpPr/>
          <p:nvPr/>
        </p:nvCxnSpPr>
        <p:spPr>
          <a:xfrm flipV="1">
            <a:off x="2315891" y="2848077"/>
            <a:ext cx="337499" cy="98243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!!n_8"/>
          <p:cNvSpPr/>
          <p:nvPr/>
        </p:nvSpPr>
        <p:spPr>
          <a:xfrm>
            <a:off x="2561950" y="2756637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!!pulso"/>
          <p:cNvSpPr/>
          <p:nvPr/>
        </p:nvSpPr>
        <p:spPr>
          <a:xfrm>
            <a:off x="2401930" y="2596617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s12_9_32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80" dirty="0">
                <a:solidFill>
                  <a:srgbClr val="FFB531"/>
                </a:solidFill>
                <a:latin typeface="Consolas"/>
              </a:rPr>
              <a:t>O SETUP</a:t>
            </a:r>
          </a:p>
        </p:txBody>
      </p:sp>
      <p:sp>
        <p:nvSpPr>
          <p:cNvPr id="35" name="s12_9_33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CLAUDE.md.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Regras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papéis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, lidos no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começo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de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toda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sessão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Ritual de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fim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Toda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sessão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fecha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escrevendo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no LOG 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nas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decisões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pendentes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Pesquisa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vira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arquivo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cita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os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arquivos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que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usou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foi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isso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que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virou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o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grafo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  <a:endParaRPr lang="pt-BR" sz="1250" b="0" i="0" dirty="0">
              <a:solidFill>
                <a:srgbClr val="BAC6DA"/>
              </a:solidFill>
              <a:latin typeface="Bahnschrift SemiLight"/>
            </a:endParaRP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pt-BR" sz="1100" b="1" spc="180" dirty="0">
                <a:solidFill>
                  <a:srgbClr val="FFB531"/>
                </a:solidFill>
                <a:latin typeface="Consolas"/>
              </a:rPr>
              <a:t>Exemplo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endParaRPr sz="1250" b="0" i="0" dirty="0">
              <a:solidFill>
                <a:srgbClr val="BAC6DA"/>
              </a:solidFill>
              <a:latin typeface="Bahnschrift SemiLight"/>
            </a:endParaRPr>
          </a:p>
        </p:txBody>
      </p:sp>
      <p:sp>
        <p:nvSpPr>
          <p:cNvPr id="36" name="s12_9_34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s12_9_35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 dirty="0">
                <a:solidFill>
                  <a:srgbClr val="FFB531"/>
                </a:solidFill>
                <a:latin typeface="Consolas"/>
              </a:rPr>
              <a:t>PROMPT</a:t>
            </a:r>
            <a:r>
              <a:rPr lang="pt-BR" sz="900" b="1" i="0" spc="180" dirty="0">
                <a:solidFill>
                  <a:srgbClr val="FFB531"/>
                </a:solidFill>
                <a:latin typeface="Consolas"/>
              </a:rPr>
              <a:t> EXEMPLO</a:t>
            </a:r>
            <a:endParaRPr sz="900" b="1" i="0" spc="180" dirty="0">
              <a:solidFill>
                <a:srgbClr val="FFB531"/>
              </a:solidFill>
              <a:latin typeface="Consolas"/>
            </a:endParaRPr>
          </a:p>
        </p:txBody>
      </p:sp>
      <p:sp>
        <p:nvSpPr>
          <p:cNvPr id="38" name="s12_9_36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</a:pPr>
            <a:r>
              <a:rPr lang="pt-BR" sz="1250" i="1" dirty="0">
                <a:solidFill>
                  <a:srgbClr val="BAC6DA"/>
                </a:solidFill>
                <a:latin typeface="Georgia"/>
              </a:rPr>
              <a:t>“Preciso montar um draft inicial das minhas falas da final. Vou começar pela explicação da aplicação do Black </a:t>
            </a:r>
            <a:r>
              <a:rPr lang="pt-BR" sz="1250" i="1" dirty="0" err="1">
                <a:solidFill>
                  <a:srgbClr val="BAC6DA"/>
                </a:solidFill>
                <a:latin typeface="Georgia"/>
              </a:rPr>
              <a:t>Littermann</a:t>
            </a:r>
            <a:r>
              <a:rPr lang="pt-BR" sz="1250" i="1" dirty="0">
                <a:solidFill>
                  <a:srgbClr val="BAC6DA"/>
                </a:solidFill>
                <a:latin typeface="Georgia"/>
              </a:rPr>
              <a:t> na estratégia. Leia o repositório e o código para montar uma explicação para eu me embasar</a:t>
            </a:r>
          </a:p>
        </p:txBody>
      </p:sp>
      <p:sp>
        <p:nvSpPr>
          <p:cNvPr id="39" name="s12_9_37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QUE ACENDEU, NA ORDEM</a:t>
            </a:r>
          </a:p>
        </p:txBody>
      </p:sp>
      <p:sp>
        <p:nvSpPr>
          <p:cNvPr id="40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01  </a:t>
            </a:r>
            <a:r>
              <a:rPr sz="900" b="0" i="0">
                <a:solidFill>
                  <a:srgbClr val="FFB531"/>
                </a:solidFill>
                <a:latin typeface="Consolas"/>
              </a:rPr>
              <a:t>Decisoes_pendentes.md</a:t>
            </a:r>
          </a:p>
        </p:txBody>
      </p:sp>
      <p:sp>
        <p:nvSpPr>
          <p:cNvPr id="41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02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Metricas_p4.md</a:t>
            </a:r>
          </a:p>
        </p:txBody>
      </p:sp>
      <p:sp>
        <p:nvSpPr>
          <p:cNvPr id="42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03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Metricas_p5.md</a:t>
            </a:r>
          </a:p>
        </p:txBody>
      </p:sp>
      <p:sp>
        <p:nvSpPr>
          <p:cNvPr id="43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04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Backtest_v1.md</a:t>
            </a:r>
          </a:p>
        </p:txBody>
      </p:sp>
      <p:sp>
        <p:nvSpPr>
          <p:cNvPr id="44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05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Ortogonalidade.md</a:t>
            </a:r>
          </a:p>
        </p:txBody>
      </p:sp>
      <p:sp>
        <p:nvSpPr>
          <p:cNvPr id="45" name="!!li_5"/>
          <p:cNvSpPr txBox="1"/>
          <p:nvPr/>
        </p:nvSpPr>
        <p:spPr>
          <a:xfrm>
            <a:off x="5897880" y="588416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06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bl_optimizer.py</a:t>
            </a:r>
          </a:p>
        </p:txBody>
      </p:sp>
      <p:sp>
        <p:nvSpPr>
          <p:cNvPr id="46" name="!!li_6"/>
          <p:cNvSpPr txBox="1"/>
          <p:nvPr/>
        </p:nvSpPr>
        <p:spPr>
          <a:xfrm>
            <a:off x="8677656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07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views_common.py</a:t>
            </a:r>
          </a:p>
        </p:txBody>
      </p:sp>
      <p:sp>
        <p:nvSpPr>
          <p:cNvPr id="47" name="!!li_7"/>
          <p:cNvSpPr txBox="1"/>
          <p:nvPr/>
        </p:nvSpPr>
        <p:spPr>
          <a:xfrm>
            <a:off x="8677656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08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backtest_v1.py</a:t>
            </a:r>
          </a:p>
        </p:txBody>
      </p:sp>
      <p:sp>
        <p:nvSpPr>
          <p:cNvPr id="48" name="!!li_8"/>
          <p:cNvSpPr txBox="1"/>
          <p:nvPr/>
        </p:nvSpPr>
        <p:spPr>
          <a:xfrm>
            <a:off x="8677656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09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view_B_trajetoria_propria.py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 advTm="320">
        <p159:morph xmlns:p159="http://schemas.microsoft.com/office/powerpoint/2015/09/main" option="byObject"/>
      </p:transition>
    </mc:Choice>
    <mc:Fallback xmlns="">
      <p:transition spd="fast" advTm="32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12_10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Setup de IA</a:t>
            </a:r>
          </a:p>
        </p:txBody>
      </p:sp>
      <p:sp>
        <p:nvSpPr>
          <p:cNvPr id="7" name="s12_10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12</a:t>
            </a:r>
          </a:p>
        </p:txBody>
      </p:sp>
      <p:cxnSp>
        <p:nvCxnSpPr>
          <p:cNvPr id="8" name="s12_10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10_7"/>
          <p:cNvSpPr txBox="1"/>
          <p:nvPr/>
        </p:nvSpPr>
        <p:spPr>
          <a:xfrm>
            <a:off x="731520" y="850392"/>
            <a:ext cx="1072591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dirty="0">
                <a:solidFill>
                  <a:srgbClr val="F5F7FB"/>
                </a:solidFill>
                <a:latin typeface="Bahnschrift SemiBold"/>
              </a:rPr>
              <a:t>O segundo cérebro</a:t>
            </a:r>
            <a:endParaRPr sz="2000" b="0" i="0" dirty="0">
              <a:solidFill>
                <a:srgbClr val="F5F7FB"/>
              </a:solidFill>
              <a:latin typeface="Bahnschrift SemiBold"/>
            </a:endParaRPr>
          </a:p>
        </p:txBody>
      </p:sp>
      <p:cxnSp>
        <p:nvCxnSpPr>
          <p:cNvPr id="10" name="s12_10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98A"/>
                </a:solidFill>
                <a:latin typeface="Consola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5" name="!!e_5"/>
          <p:cNvCxnSpPr/>
          <p:nvPr/>
        </p:nvCxnSpPr>
        <p:spPr>
          <a:xfrm flipH="1" flipV="1">
            <a:off x="1998661" y="3397918"/>
            <a:ext cx="464352" cy="811594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!!n_5"/>
          <p:cNvSpPr/>
          <p:nvPr/>
        </p:nvSpPr>
        <p:spPr>
          <a:xfrm>
            <a:off x="1907221" y="330647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7" name="!!e_6"/>
          <p:cNvCxnSpPr/>
          <p:nvPr/>
        </p:nvCxnSpPr>
        <p:spPr>
          <a:xfrm>
            <a:off x="1998661" y="3397918"/>
            <a:ext cx="1489538" cy="9489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!!n_6"/>
          <p:cNvSpPr/>
          <p:nvPr/>
        </p:nvSpPr>
        <p:spPr>
          <a:xfrm>
            <a:off x="3396759" y="340136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9" name="!!e_7"/>
          <p:cNvCxnSpPr/>
          <p:nvPr/>
        </p:nvCxnSpPr>
        <p:spPr>
          <a:xfrm flipH="1">
            <a:off x="2315891" y="3492808"/>
            <a:ext cx="1172308" cy="33770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!!n_7"/>
          <p:cNvSpPr/>
          <p:nvPr/>
        </p:nvSpPr>
        <p:spPr>
          <a:xfrm>
            <a:off x="2224451" y="3739076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1" name="!!e_8"/>
          <p:cNvCxnSpPr/>
          <p:nvPr/>
        </p:nvCxnSpPr>
        <p:spPr>
          <a:xfrm flipV="1">
            <a:off x="2315891" y="2848077"/>
            <a:ext cx="337499" cy="98243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!!n_8"/>
          <p:cNvSpPr/>
          <p:nvPr/>
        </p:nvSpPr>
        <p:spPr>
          <a:xfrm>
            <a:off x="2561950" y="2756637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3" name="!!e_9"/>
          <p:cNvCxnSpPr/>
          <p:nvPr/>
        </p:nvCxnSpPr>
        <p:spPr>
          <a:xfrm>
            <a:off x="2653390" y="2848077"/>
            <a:ext cx="290913" cy="839565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!!n_9"/>
          <p:cNvSpPr/>
          <p:nvPr/>
        </p:nvSpPr>
        <p:spPr>
          <a:xfrm>
            <a:off x="2852863" y="3596202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!!pulso"/>
          <p:cNvSpPr/>
          <p:nvPr/>
        </p:nvSpPr>
        <p:spPr>
          <a:xfrm>
            <a:off x="2692843" y="3436182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s12_10_34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80" dirty="0">
                <a:solidFill>
                  <a:srgbClr val="FFB531"/>
                </a:solidFill>
                <a:latin typeface="Consolas"/>
              </a:rPr>
              <a:t>O SETUP</a:t>
            </a:r>
          </a:p>
        </p:txBody>
      </p:sp>
      <p:sp>
        <p:nvSpPr>
          <p:cNvPr id="37" name="s12_10_35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CLAUDE.md.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Regras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papéis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, lidos no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começo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de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toda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sessão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Ritual de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fim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Toda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sessão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fecha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escrevendo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no LOG 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nas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decisões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pendentes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Pesquisa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vira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arquivo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cita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os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arquivos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que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usou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foi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isso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que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virou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o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grafo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  <a:endParaRPr lang="pt-BR" sz="1250" b="0" i="0" dirty="0">
              <a:solidFill>
                <a:srgbClr val="BAC6DA"/>
              </a:solidFill>
              <a:latin typeface="Bahnschrift SemiLight"/>
            </a:endParaRP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pt-BR" sz="1100" b="1" spc="180" dirty="0">
                <a:solidFill>
                  <a:srgbClr val="FFB531"/>
                </a:solidFill>
                <a:latin typeface="Consolas"/>
              </a:rPr>
              <a:t>Exemplo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endParaRPr sz="1250" b="0" i="0" dirty="0">
              <a:solidFill>
                <a:srgbClr val="BAC6DA"/>
              </a:solidFill>
              <a:latin typeface="Bahnschrift SemiLight"/>
            </a:endParaRPr>
          </a:p>
        </p:txBody>
      </p:sp>
      <p:sp>
        <p:nvSpPr>
          <p:cNvPr id="38" name="s12_10_36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s12_10_37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 dirty="0">
                <a:solidFill>
                  <a:srgbClr val="FFB531"/>
                </a:solidFill>
                <a:latin typeface="Consolas"/>
              </a:rPr>
              <a:t>PROMPT</a:t>
            </a:r>
            <a:r>
              <a:rPr lang="pt-BR" sz="900" b="1" i="0" spc="180" dirty="0">
                <a:solidFill>
                  <a:srgbClr val="FFB531"/>
                </a:solidFill>
                <a:latin typeface="Consolas"/>
              </a:rPr>
              <a:t> EXEMPLO</a:t>
            </a:r>
            <a:endParaRPr sz="900" b="1" i="0" spc="180" dirty="0">
              <a:solidFill>
                <a:srgbClr val="FFB531"/>
              </a:solidFill>
              <a:latin typeface="Consolas"/>
            </a:endParaRPr>
          </a:p>
        </p:txBody>
      </p:sp>
      <p:sp>
        <p:nvSpPr>
          <p:cNvPr id="40" name="s12_10_38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</a:pPr>
            <a:r>
              <a:rPr lang="pt-BR" sz="1250" i="1" dirty="0">
                <a:solidFill>
                  <a:srgbClr val="BAC6DA"/>
                </a:solidFill>
                <a:latin typeface="Georgia"/>
              </a:rPr>
              <a:t>“Preciso montar um draft inicial das minhas falas da final. Vou começar pela explicação da aplicação do Black </a:t>
            </a:r>
            <a:r>
              <a:rPr lang="pt-BR" sz="1250" i="1" dirty="0" err="1">
                <a:solidFill>
                  <a:srgbClr val="BAC6DA"/>
                </a:solidFill>
                <a:latin typeface="Georgia"/>
              </a:rPr>
              <a:t>Littermann</a:t>
            </a:r>
            <a:r>
              <a:rPr lang="pt-BR" sz="1250" i="1" dirty="0">
                <a:solidFill>
                  <a:srgbClr val="BAC6DA"/>
                </a:solidFill>
                <a:latin typeface="Georgia"/>
              </a:rPr>
              <a:t> na estratégia. Leia o repositório e o código para montar uma explicação para eu me embasar</a:t>
            </a:r>
          </a:p>
        </p:txBody>
      </p:sp>
      <p:sp>
        <p:nvSpPr>
          <p:cNvPr id="41" name="s12_10_39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QUE ACENDEU, NA ORDEM</a:t>
            </a:r>
          </a:p>
        </p:txBody>
      </p:sp>
      <p:sp>
        <p:nvSpPr>
          <p:cNvPr id="42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01  </a:t>
            </a:r>
            <a:r>
              <a:rPr sz="900" b="0" i="0">
                <a:solidFill>
                  <a:srgbClr val="FFB531"/>
                </a:solidFill>
                <a:latin typeface="Consolas"/>
              </a:rPr>
              <a:t>Decisoes_pendentes.md</a:t>
            </a:r>
          </a:p>
        </p:txBody>
      </p:sp>
      <p:sp>
        <p:nvSpPr>
          <p:cNvPr id="43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02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Metricas_p4.md</a:t>
            </a:r>
          </a:p>
        </p:txBody>
      </p:sp>
      <p:sp>
        <p:nvSpPr>
          <p:cNvPr id="44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03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Metricas_p5.md</a:t>
            </a:r>
          </a:p>
        </p:txBody>
      </p:sp>
      <p:sp>
        <p:nvSpPr>
          <p:cNvPr id="45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04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Backtest_v1.md</a:t>
            </a:r>
          </a:p>
        </p:txBody>
      </p:sp>
      <p:sp>
        <p:nvSpPr>
          <p:cNvPr id="46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05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Ortogonalidade.md</a:t>
            </a:r>
          </a:p>
        </p:txBody>
      </p:sp>
      <p:sp>
        <p:nvSpPr>
          <p:cNvPr id="47" name="!!li_5"/>
          <p:cNvSpPr txBox="1"/>
          <p:nvPr/>
        </p:nvSpPr>
        <p:spPr>
          <a:xfrm>
            <a:off x="5897880" y="588416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06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bl_optimizer.py</a:t>
            </a:r>
          </a:p>
        </p:txBody>
      </p:sp>
      <p:sp>
        <p:nvSpPr>
          <p:cNvPr id="48" name="!!li_6"/>
          <p:cNvSpPr txBox="1"/>
          <p:nvPr/>
        </p:nvSpPr>
        <p:spPr>
          <a:xfrm>
            <a:off x="8677656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07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views_common.py</a:t>
            </a:r>
          </a:p>
        </p:txBody>
      </p:sp>
      <p:sp>
        <p:nvSpPr>
          <p:cNvPr id="49" name="!!li_7"/>
          <p:cNvSpPr txBox="1"/>
          <p:nvPr/>
        </p:nvSpPr>
        <p:spPr>
          <a:xfrm>
            <a:off x="8677656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08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backtest_v1.py</a:t>
            </a:r>
          </a:p>
        </p:txBody>
      </p:sp>
      <p:sp>
        <p:nvSpPr>
          <p:cNvPr id="50" name="!!li_8"/>
          <p:cNvSpPr txBox="1"/>
          <p:nvPr/>
        </p:nvSpPr>
        <p:spPr>
          <a:xfrm>
            <a:off x="8677656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09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view_B_trajetoria_propria.py</a:t>
            </a:r>
          </a:p>
        </p:txBody>
      </p:sp>
      <p:sp>
        <p:nvSpPr>
          <p:cNvPr id="51" name="!!li_9"/>
          <p:cNvSpPr txBox="1"/>
          <p:nvPr/>
        </p:nvSpPr>
        <p:spPr>
          <a:xfrm>
            <a:off x="8677656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10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view_incerteza_anuncio.py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 advTm="320">
        <p159:morph xmlns:p159="http://schemas.microsoft.com/office/powerpoint/2015/09/main" option="byObject"/>
      </p:transition>
    </mc:Choice>
    <mc:Fallback xmlns="">
      <p:transition spd="fast" advTm="32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12_11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Setup de IA</a:t>
            </a:r>
          </a:p>
        </p:txBody>
      </p:sp>
      <p:sp>
        <p:nvSpPr>
          <p:cNvPr id="7" name="s12_11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12</a:t>
            </a:r>
          </a:p>
        </p:txBody>
      </p:sp>
      <p:cxnSp>
        <p:nvCxnSpPr>
          <p:cNvPr id="8" name="s12_11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11_7"/>
          <p:cNvSpPr txBox="1"/>
          <p:nvPr/>
        </p:nvSpPr>
        <p:spPr>
          <a:xfrm>
            <a:off x="731520" y="850392"/>
            <a:ext cx="1072591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dirty="0">
                <a:solidFill>
                  <a:srgbClr val="F5F7FB"/>
                </a:solidFill>
                <a:latin typeface="Bahnschrift SemiBold"/>
              </a:rPr>
              <a:t>O segundo cérebro</a:t>
            </a:r>
            <a:endParaRPr sz="2000" b="0" i="0" dirty="0">
              <a:solidFill>
                <a:srgbClr val="F5F7FB"/>
              </a:solidFill>
              <a:latin typeface="Bahnschrift SemiBold"/>
            </a:endParaRPr>
          </a:p>
        </p:txBody>
      </p:sp>
      <p:cxnSp>
        <p:nvCxnSpPr>
          <p:cNvPr id="10" name="s12_11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98A"/>
                </a:solidFill>
                <a:latin typeface="Consola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5" name="!!e_5"/>
          <p:cNvCxnSpPr/>
          <p:nvPr/>
        </p:nvCxnSpPr>
        <p:spPr>
          <a:xfrm flipH="1" flipV="1">
            <a:off x="1998661" y="3397918"/>
            <a:ext cx="464352" cy="811594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!!n_5"/>
          <p:cNvSpPr/>
          <p:nvPr/>
        </p:nvSpPr>
        <p:spPr>
          <a:xfrm>
            <a:off x="1907221" y="330647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7" name="!!e_6"/>
          <p:cNvCxnSpPr/>
          <p:nvPr/>
        </p:nvCxnSpPr>
        <p:spPr>
          <a:xfrm>
            <a:off x="1998661" y="3397918"/>
            <a:ext cx="1489538" cy="9489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!!n_6"/>
          <p:cNvSpPr/>
          <p:nvPr/>
        </p:nvSpPr>
        <p:spPr>
          <a:xfrm>
            <a:off x="3396759" y="340136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9" name="!!e_7"/>
          <p:cNvCxnSpPr/>
          <p:nvPr/>
        </p:nvCxnSpPr>
        <p:spPr>
          <a:xfrm flipH="1">
            <a:off x="2315891" y="3492808"/>
            <a:ext cx="1172308" cy="33770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!!n_7"/>
          <p:cNvSpPr/>
          <p:nvPr/>
        </p:nvSpPr>
        <p:spPr>
          <a:xfrm>
            <a:off x="2224451" y="3739076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1" name="!!e_8"/>
          <p:cNvCxnSpPr/>
          <p:nvPr/>
        </p:nvCxnSpPr>
        <p:spPr>
          <a:xfrm flipV="1">
            <a:off x="2315891" y="2848077"/>
            <a:ext cx="337499" cy="98243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!!n_8"/>
          <p:cNvSpPr/>
          <p:nvPr/>
        </p:nvSpPr>
        <p:spPr>
          <a:xfrm>
            <a:off x="2561950" y="2756637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3" name="!!e_9"/>
          <p:cNvCxnSpPr/>
          <p:nvPr/>
        </p:nvCxnSpPr>
        <p:spPr>
          <a:xfrm>
            <a:off x="2653390" y="2848077"/>
            <a:ext cx="290913" cy="839565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!!n_9"/>
          <p:cNvSpPr/>
          <p:nvPr/>
        </p:nvSpPr>
        <p:spPr>
          <a:xfrm>
            <a:off x="2852863" y="3596202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5" name="!!e_10"/>
          <p:cNvCxnSpPr/>
          <p:nvPr/>
        </p:nvCxnSpPr>
        <p:spPr>
          <a:xfrm>
            <a:off x="2944303" y="3687642"/>
            <a:ext cx="998310" cy="147994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!!n_10"/>
          <p:cNvSpPr/>
          <p:nvPr/>
        </p:nvSpPr>
        <p:spPr>
          <a:xfrm>
            <a:off x="3851173" y="507614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!!pulso"/>
          <p:cNvSpPr/>
          <p:nvPr/>
        </p:nvSpPr>
        <p:spPr>
          <a:xfrm>
            <a:off x="3691153" y="4916128"/>
            <a:ext cx="502920" cy="502920"/>
          </a:xfrm>
          <a:prstGeom prst="ellipse">
            <a:avLst/>
          </a:prstGeom>
          <a:solidFill>
            <a:srgbClr val="FFB531">
              <a:alpha val="40000"/>
            </a:srgbClr>
          </a:solidFill>
          <a:ln>
            <a:noFill/>
          </a:ln>
          <a:effectLst>
            <a:softEdge rad="15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s12_11_36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80" dirty="0">
                <a:solidFill>
                  <a:srgbClr val="FFB531"/>
                </a:solidFill>
                <a:latin typeface="Consolas"/>
              </a:rPr>
              <a:t>O SETUP</a:t>
            </a:r>
          </a:p>
        </p:txBody>
      </p:sp>
      <p:sp>
        <p:nvSpPr>
          <p:cNvPr id="39" name="s12_11_37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CLAUDE.md.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Regras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papéis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, lidos no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começo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de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toda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sessão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Ritual de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fim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Toda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sessão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fecha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escrevendo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no LOG 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nas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decisões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pendentes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Pesquisa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vira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arquivo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cita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os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arquivos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que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usou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foi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isso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que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virou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o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grafo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  <a:endParaRPr lang="pt-BR" sz="1250" b="0" i="0" dirty="0">
              <a:solidFill>
                <a:srgbClr val="BAC6DA"/>
              </a:solidFill>
              <a:latin typeface="Bahnschrift SemiLight"/>
            </a:endParaRP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pt-BR" sz="1100" b="1" spc="180" dirty="0">
                <a:solidFill>
                  <a:srgbClr val="FFB531"/>
                </a:solidFill>
                <a:latin typeface="Consolas"/>
              </a:rPr>
              <a:t>Exemplo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endParaRPr sz="1250" b="0" i="0" dirty="0">
              <a:solidFill>
                <a:srgbClr val="BAC6DA"/>
              </a:solidFill>
              <a:latin typeface="Bahnschrift SemiLight"/>
            </a:endParaRPr>
          </a:p>
        </p:txBody>
      </p:sp>
      <p:sp>
        <p:nvSpPr>
          <p:cNvPr id="40" name="s12_11_38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s12_11_39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 dirty="0">
                <a:solidFill>
                  <a:srgbClr val="FFB531"/>
                </a:solidFill>
                <a:latin typeface="Consolas"/>
              </a:rPr>
              <a:t>PROMPT</a:t>
            </a:r>
            <a:r>
              <a:rPr lang="pt-BR" sz="900" b="1" i="0" spc="180" dirty="0">
                <a:solidFill>
                  <a:srgbClr val="FFB531"/>
                </a:solidFill>
                <a:latin typeface="Consolas"/>
              </a:rPr>
              <a:t> EXEMPLO</a:t>
            </a:r>
            <a:endParaRPr sz="900" b="1" i="0" spc="180" dirty="0">
              <a:solidFill>
                <a:srgbClr val="FFB531"/>
              </a:solidFill>
              <a:latin typeface="Consolas"/>
            </a:endParaRPr>
          </a:p>
        </p:txBody>
      </p:sp>
      <p:sp>
        <p:nvSpPr>
          <p:cNvPr id="42" name="s12_11_40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</a:pPr>
            <a:r>
              <a:rPr lang="pt-BR" sz="1250" i="1" dirty="0">
                <a:solidFill>
                  <a:srgbClr val="BAC6DA"/>
                </a:solidFill>
                <a:latin typeface="Georgia"/>
              </a:rPr>
              <a:t>“Preciso montar um draft inicial das minhas falas da final. Vou começar pela explicação da aplicação do Black </a:t>
            </a:r>
            <a:r>
              <a:rPr lang="pt-BR" sz="1250" i="1" dirty="0" err="1">
                <a:solidFill>
                  <a:srgbClr val="BAC6DA"/>
                </a:solidFill>
                <a:latin typeface="Georgia"/>
              </a:rPr>
              <a:t>Littermann</a:t>
            </a:r>
            <a:r>
              <a:rPr lang="pt-BR" sz="1250" i="1" dirty="0">
                <a:solidFill>
                  <a:srgbClr val="BAC6DA"/>
                </a:solidFill>
                <a:latin typeface="Georgia"/>
              </a:rPr>
              <a:t> na estratégia. Leia o repositório e o código para montar uma explicação para eu me embasar</a:t>
            </a:r>
          </a:p>
        </p:txBody>
      </p:sp>
      <p:sp>
        <p:nvSpPr>
          <p:cNvPr id="43" name="s12_11_41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QUE ACENDEU, NA ORDEM</a:t>
            </a:r>
          </a:p>
        </p:txBody>
      </p:sp>
      <p:sp>
        <p:nvSpPr>
          <p:cNvPr id="44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01  </a:t>
            </a:r>
            <a:r>
              <a:rPr sz="900" b="0" i="0">
                <a:solidFill>
                  <a:srgbClr val="FFB531"/>
                </a:solidFill>
                <a:latin typeface="Consolas"/>
              </a:rPr>
              <a:t>Decisoes_pendentes.md</a:t>
            </a:r>
          </a:p>
        </p:txBody>
      </p:sp>
      <p:sp>
        <p:nvSpPr>
          <p:cNvPr id="45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02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Metricas_p4.md</a:t>
            </a:r>
          </a:p>
        </p:txBody>
      </p:sp>
      <p:sp>
        <p:nvSpPr>
          <p:cNvPr id="46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03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Metricas_p5.md</a:t>
            </a:r>
          </a:p>
        </p:txBody>
      </p:sp>
      <p:sp>
        <p:nvSpPr>
          <p:cNvPr id="47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04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Backtest_v1.md</a:t>
            </a:r>
          </a:p>
        </p:txBody>
      </p:sp>
      <p:sp>
        <p:nvSpPr>
          <p:cNvPr id="48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05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Ortogonalidade.md</a:t>
            </a:r>
          </a:p>
        </p:txBody>
      </p:sp>
      <p:sp>
        <p:nvSpPr>
          <p:cNvPr id="49" name="!!li_5"/>
          <p:cNvSpPr txBox="1"/>
          <p:nvPr/>
        </p:nvSpPr>
        <p:spPr>
          <a:xfrm>
            <a:off x="5897880" y="588416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06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bl_optimizer.py</a:t>
            </a:r>
          </a:p>
        </p:txBody>
      </p:sp>
      <p:sp>
        <p:nvSpPr>
          <p:cNvPr id="50" name="!!li_6"/>
          <p:cNvSpPr txBox="1"/>
          <p:nvPr/>
        </p:nvSpPr>
        <p:spPr>
          <a:xfrm>
            <a:off x="8677656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07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views_common.py</a:t>
            </a:r>
          </a:p>
        </p:txBody>
      </p:sp>
      <p:sp>
        <p:nvSpPr>
          <p:cNvPr id="51" name="!!li_7"/>
          <p:cNvSpPr txBox="1"/>
          <p:nvPr/>
        </p:nvSpPr>
        <p:spPr>
          <a:xfrm>
            <a:off x="8677656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08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backtest_v1.py</a:t>
            </a:r>
          </a:p>
        </p:txBody>
      </p:sp>
      <p:sp>
        <p:nvSpPr>
          <p:cNvPr id="52" name="!!li_8"/>
          <p:cNvSpPr txBox="1"/>
          <p:nvPr/>
        </p:nvSpPr>
        <p:spPr>
          <a:xfrm>
            <a:off x="8677656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09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view_B_trajetoria_propria.py</a:t>
            </a:r>
          </a:p>
        </p:txBody>
      </p:sp>
      <p:sp>
        <p:nvSpPr>
          <p:cNvPr id="53" name="!!li_9"/>
          <p:cNvSpPr txBox="1"/>
          <p:nvPr/>
        </p:nvSpPr>
        <p:spPr>
          <a:xfrm>
            <a:off x="8677656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10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view_incerteza_anuncio.py</a:t>
            </a:r>
          </a:p>
        </p:txBody>
      </p:sp>
      <p:sp>
        <p:nvSpPr>
          <p:cNvPr id="54" name="!!li_10"/>
          <p:cNvSpPr txBox="1"/>
          <p:nvPr/>
        </p:nvSpPr>
        <p:spPr>
          <a:xfrm>
            <a:off x="8677656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11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tatica_sleeves.py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 advTm="320">
        <p159:morph xmlns:p159="http://schemas.microsoft.com/office/powerpoint/2015/09/main" option="byObject"/>
      </p:transition>
    </mc:Choice>
    <mc:Fallback xmlns="">
      <p:transition spd="fast" advTm="32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12_12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Setup de IA</a:t>
            </a:r>
          </a:p>
        </p:txBody>
      </p:sp>
      <p:sp>
        <p:nvSpPr>
          <p:cNvPr id="7" name="s12_12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12</a:t>
            </a:r>
          </a:p>
        </p:txBody>
      </p:sp>
      <p:cxnSp>
        <p:nvCxnSpPr>
          <p:cNvPr id="8" name="s12_12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2_12_7"/>
          <p:cNvSpPr txBox="1"/>
          <p:nvPr/>
        </p:nvSpPr>
        <p:spPr>
          <a:xfrm>
            <a:off x="731520" y="850392"/>
            <a:ext cx="1072591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sz="2000" dirty="0">
                <a:solidFill>
                  <a:srgbClr val="F5F7FB"/>
                </a:solidFill>
                <a:latin typeface="Bahnschrift SemiBold"/>
              </a:rPr>
              <a:t>O segundo cérebro</a:t>
            </a:r>
            <a:endParaRPr sz="2000" b="0" i="0" dirty="0">
              <a:solidFill>
                <a:srgbClr val="F5F7FB"/>
              </a:solidFill>
              <a:latin typeface="Bahnschrift SemiBold"/>
            </a:endParaRPr>
          </a:p>
        </p:txBody>
      </p:sp>
      <p:cxnSp>
        <p:nvCxnSpPr>
          <p:cNvPr id="10" name="s12_12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pic>
        <p:nvPicPr>
          <p:cNvPr id="13" name="!!grafo" descr="s12_graf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17320"/>
            <a:ext cx="4983480" cy="4983480"/>
          </a:xfrm>
          <a:prstGeom prst="rect">
            <a:avLst/>
          </a:prstGeom>
        </p:spPr>
      </p:pic>
      <p:sp>
        <p:nvSpPr>
          <p:cNvPr id="14" name="!!veu"/>
          <p:cNvSpPr/>
          <p:nvPr/>
        </p:nvSpPr>
        <p:spPr>
          <a:xfrm>
            <a:off x="566928" y="1417320"/>
            <a:ext cx="4983480" cy="4983480"/>
          </a:xfrm>
          <a:prstGeom prst="rect">
            <a:avLst/>
          </a:prstGeom>
          <a:solidFill>
            <a:srgbClr val="04070E">
              <a:alpha val="42000"/>
            </a:srgbClr>
          </a:solidFill>
          <a:ln>
            <a:noFill/>
          </a:ln>
          <a:effectLst>
            <a:softEdge rad="7000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!!grafo_leg"/>
          <p:cNvSpPr txBox="1"/>
          <p:nvPr/>
        </p:nvSpPr>
        <p:spPr>
          <a:xfrm>
            <a:off x="658368" y="6382512"/>
            <a:ext cx="4983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8698A"/>
                </a:solidFill>
                <a:latin typeface="Consolas"/>
              </a:rPr>
              <a:t>209 arquivos  ·  719 ligações  ·  medido no branch por grafo_repo.py</a:t>
            </a:r>
          </a:p>
        </p:txBody>
      </p:sp>
      <p:sp>
        <p:nvSpPr>
          <p:cNvPr id="16" name="!!n_0"/>
          <p:cNvSpPr/>
          <p:nvPr/>
        </p:nvSpPr>
        <p:spPr>
          <a:xfrm>
            <a:off x="2690320" y="3888827"/>
            <a:ext cx="182880" cy="182880"/>
          </a:xfrm>
          <a:prstGeom prst="ellipse">
            <a:avLst/>
          </a:prstGeom>
          <a:solidFill>
            <a:srgbClr val="FFB531"/>
          </a:solidFill>
          <a:ln>
            <a:noFill/>
          </a:ln>
          <a:effectLst>
            <a:glow rad="100000">
              <a:srgbClr val="FFB531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7" name="!!e_1"/>
          <p:cNvCxnSpPr/>
          <p:nvPr/>
        </p:nvCxnSpPr>
        <p:spPr>
          <a:xfrm flipH="1" flipV="1">
            <a:off x="1701063" y="2877907"/>
            <a:ext cx="1080697" cy="110236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n_1"/>
          <p:cNvSpPr/>
          <p:nvPr/>
        </p:nvSpPr>
        <p:spPr>
          <a:xfrm>
            <a:off x="1609623" y="2786467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19" name="!!e_2"/>
          <p:cNvCxnSpPr/>
          <p:nvPr/>
        </p:nvCxnSpPr>
        <p:spPr>
          <a:xfrm flipH="1">
            <a:off x="1634220" y="2877907"/>
            <a:ext cx="66843" cy="99002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!!n_2"/>
          <p:cNvSpPr/>
          <p:nvPr/>
        </p:nvSpPr>
        <p:spPr>
          <a:xfrm>
            <a:off x="1542780" y="3776495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1" name="!!e_3"/>
          <p:cNvCxnSpPr/>
          <p:nvPr/>
        </p:nvCxnSpPr>
        <p:spPr>
          <a:xfrm flipV="1">
            <a:off x="1634220" y="3571236"/>
            <a:ext cx="764055" cy="29669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!!n_3"/>
          <p:cNvSpPr/>
          <p:nvPr/>
        </p:nvSpPr>
        <p:spPr>
          <a:xfrm>
            <a:off x="2306835" y="3479796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3" name="!!e_4"/>
          <p:cNvCxnSpPr/>
          <p:nvPr/>
        </p:nvCxnSpPr>
        <p:spPr>
          <a:xfrm>
            <a:off x="2398275" y="3571236"/>
            <a:ext cx="64738" cy="63827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!!n_4"/>
          <p:cNvSpPr/>
          <p:nvPr/>
        </p:nvSpPr>
        <p:spPr>
          <a:xfrm>
            <a:off x="2371573" y="4118072"/>
            <a:ext cx="182880" cy="182880"/>
          </a:xfrm>
          <a:prstGeom prst="ellipse">
            <a:avLst/>
          </a:prstGeom>
          <a:solidFill>
            <a:srgbClr val="2FD3B0"/>
          </a:solidFill>
          <a:ln>
            <a:noFill/>
          </a:ln>
          <a:effectLst>
            <a:glow rad="100000">
              <a:srgbClr val="2FD3B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5" name="!!e_5"/>
          <p:cNvCxnSpPr/>
          <p:nvPr/>
        </p:nvCxnSpPr>
        <p:spPr>
          <a:xfrm flipH="1" flipV="1">
            <a:off x="1998661" y="3397918"/>
            <a:ext cx="464352" cy="811594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!!n_5"/>
          <p:cNvSpPr/>
          <p:nvPr/>
        </p:nvSpPr>
        <p:spPr>
          <a:xfrm>
            <a:off x="1907221" y="330647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7" name="!!e_6"/>
          <p:cNvCxnSpPr/>
          <p:nvPr/>
        </p:nvCxnSpPr>
        <p:spPr>
          <a:xfrm>
            <a:off x="1998661" y="3397918"/>
            <a:ext cx="1489538" cy="94890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!!n_6"/>
          <p:cNvSpPr/>
          <p:nvPr/>
        </p:nvSpPr>
        <p:spPr>
          <a:xfrm>
            <a:off x="3396759" y="340136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9" name="!!e_7"/>
          <p:cNvCxnSpPr/>
          <p:nvPr/>
        </p:nvCxnSpPr>
        <p:spPr>
          <a:xfrm flipH="1">
            <a:off x="2315891" y="3492808"/>
            <a:ext cx="1172308" cy="337708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!!n_7"/>
          <p:cNvSpPr/>
          <p:nvPr/>
        </p:nvSpPr>
        <p:spPr>
          <a:xfrm>
            <a:off x="2224451" y="3739076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1" name="!!e_8"/>
          <p:cNvCxnSpPr/>
          <p:nvPr/>
        </p:nvCxnSpPr>
        <p:spPr>
          <a:xfrm flipV="1">
            <a:off x="2315891" y="2848077"/>
            <a:ext cx="337499" cy="982439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!!n_8"/>
          <p:cNvSpPr/>
          <p:nvPr/>
        </p:nvSpPr>
        <p:spPr>
          <a:xfrm>
            <a:off x="2561950" y="2756637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3" name="!!e_9"/>
          <p:cNvCxnSpPr/>
          <p:nvPr/>
        </p:nvCxnSpPr>
        <p:spPr>
          <a:xfrm>
            <a:off x="2653390" y="2848077"/>
            <a:ext cx="290913" cy="839565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!!n_9"/>
          <p:cNvSpPr/>
          <p:nvPr/>
        </p:nvSpPr>
        <p:spPr>
          <a:xfrm>
            <a:off x="2852863" y="3596202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35" name="!!e_10"/>
          <p:cNvCxnSpPr/>
          <p:nvPr/>
        </p:nvCxnSpPr>
        <p:spPr>
          <a:xfrm>
            <a:off x="2944303" y="3687642"/>
            <a:ext cx="998310" cy="1479946"/>
          </a:xfrm>
          <a:prstGeom prst="line">
            <a:avLst/>
          </a:prstGeom>
          <a:ln w="19050">
            <a:solidFill>
              <a:srgbClr val="FFB531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!!n_10"/>
          <p:cNvSpPr/>
          <p:nvPr/>
        </p:nvSpPr>
        <p:spPr>
          <a:xfrm>
            <a:off x="3851173" y="5076148"/>
            <a:ext cx="182880" cy="182880"/>
          </a:xfrm>
          <a:prstGeom prst="ellipse">
            <a:avLst/>
          </a:prstGeom>
          <a:solidFill>
            <a:srgbClr val="4F8EF7"/>
          </a:solidFill>
          <a:ln>
            <a:noFill/>
          </a:ln>
          <a:effectLst>
            <a:glow rad="100000">
              <a:srgbClr val="4F8EF7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s12_12_35"/>
          <p:cNvSpPr txBox="1"/>
          <p:nvPr/>
        </p:nvSpPr>
        <p:spPr>
          <a:xfrm>
            <a:off x="5897880" y="1572768"/>
            <a:ext cx="5559551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80" dirty="0">
                <a:solidFill>
                  <a:srgbClr val="FFB531"/>
                </a:solidFill>
                <a:latin typeface="Consolas"/>
              </a:rPr>
              <a:t>O SETUP</a:t>
            </a:r>
          </a:p>
        </p:txBody>
      </p:sp>
      <p:sp>
        <p:nvSpPr>
          <p:cNvPr id="38" name="s12_12_36"/>
          <p:cNvSpPr txBox="1"/>
          <p:nvPr/>
        </p:nvSpPr>
        <p:spPr>
          <a:xfrm>
            <a:off x="5897880" y="1828800"/>
            <a:ext cx="5559551" cy="14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CLAUDE.md.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Regras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papéis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, lidos no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começo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de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toda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sessão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Ritual de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fim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Toda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sessão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fecha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escrevendo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no LOG 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nas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decisões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pendentes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Pesquisa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vira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 </a:t>
            </a:r>
            <a:r>
              <a:rPr sz="1250" b="0" i="0" dirty="0" err="1">
                <a:solidFill>
                  <a:srgbClr val="F5F7FB"/>
                </a:solidFill>
                <a:latin typeface="Bahnschrift SemiBold"/>
              </a:rPr>
              <a:t>arquivo</a:t>
            </a:r>
            <a:r>
              <a:rPr sz="1250" b="0" i="0" dirty="0">
                <a:solidFill>
                  <a:srgbClr val="F5F7FB"/>
                </a:solidFill>
                <a:latin typeface="Bahnschrift SemiBold"/>
              </a:rPr>
              <a:t>. 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E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cita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os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arquivos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que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usou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foi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isso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que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virou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 o </a:t>
            </a:r>
            <a:r>
              <a:rPr sz="1250" b="0" i="0" dirty="0" err="1">
                <a:solidFill>
                  <a:srgbClr val="BAC6DA"/>
                </a:solidFill>
                <a:latin typeface="Bahnschrift SemiLight"/>
              </a:rPr>
              <a:t>grafo</a:t>
            </a:r>
            <a:r>
              <a:rPr sz="1250" b="0" i="0" dirty="0">
                <a:solidFill>
                  <a:srgbClr val="BAC6DA"/>
                </a:solidFill>
                <a:latin typeface="Bahnschrift SemiLight"/>
              </a:rPr>
              <a:t>.</a:t>
            </a:r>
            <a:endParaRPr lang="pt-BR" sz="1250" b="0" i="0" dirty="0">
              <a:solidFill>
                <a:srgbClr val="BAC6DA"/>
              </a:solidFill>
              <a:latin typeface="Bahnschrift SemiLight"/>
            </a:endParaRP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pt-BR" sz="1100" b="1" spc="180" dirty="0">
                <a:solidFill>
                  <a:srgbClr val="FFB531"/>
                </a:solidFill>
                <a:latin typeface="Consolas"/>
              </a:rPr>
              <a:t>Exemplo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endParaRPr sz="1250" b="0" i="0" dirty="0">
              <a:solidFill>
                <a:srgbClr val="BAC6DA"/>
              </a:solidFill>
              <a:latin typeface="Bahnschrift SemiLight"/>
            </a:endParaRPr>
          </a:p>
        </p:txBody>
      </p:sp>
      <p:sp>
        <p:nvSpPr>
          <p:cNvPr id="39" name="s12_12_37"/>
          <p:cNvSpPr/>
          <p:nvPr/>
        </p:nvSpPr>
        <p:spPr>
          <a:xfrm>
            <a:off x="5897880" y="3063240"/>
            <a:ext cx="5559551" cy="129844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s12_12_38"/>
          <p:cNvSpPr txBox="1"/>
          <p:nvPr/>
        </p:nvSpPr>
        <p:spPr>
          <a:xfrm>
            <a:off x="6051870" y="3196217"/>
            <a:ext cx="5102351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 dirty="0">
                <a:solidFill>
                  <a:srgbClr val="FFB531"/>
                </a:solidFill>
                <a:latin typeface="Consolas"/>
              </a:rPr>
              <a:t>PROMPT</a:t>
            </a:r>
            <a:r>
              <a:rPr lang="pt-BR" sz="900" b="1" i="0" spc="180" dirty="0">
                <a:solidFill>
                  <a:srgbClr val="FFB531"/>
                </a:solidFill>
                <a:latin typeface="Consolas"/>
              </a:rPr>
              <a:t> EXEMPLO</a:t>
            </a:r>
            <a:endParaRPr sz="900" b="1" i="0" spc="180" dirty="0">
              <a:solidFill>
                <a:srgbClr val="FFB531"/>
              </a:solidFill>
              <a:latin typeface="Consolas"/>
            </a:endParaRPr>
          </a:p>
        </p:txBody>
      </p:sp>
      <p:sp>
        <p:nvSpPr>
          <p:cNvPr id="41" name="s12_12_39"/>
          <p:cNvSpPr txBox="1"/>
          <p:nvPr/>
        </p:nvSpPr>
        <p:spPr>
          <a:xfrm>
            <a:off x="6135624" y="3422498"/>
            <a:ext cx="5102351" cy="845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ct val="112000"/>
              </a:lnSpc>
            </a:pPr>
            <a:r>
              <a:rPr lang="pt-BR" sz="1250" i="1" dirty="0">
                <a:solidFill>
                  <a:srgbClr val="BAC6DA"/>
                </a:solidFill>
                <a:latin typeface="Georgia"/>
              </a:rPr>
              <a:t>“Preciso montar um draft </a:t>
            </a:r>
            <a:r>
              <a:rPr lang="pt-BR" sz="1250" i="1" dirty="0" err="1">
                <a:solidFill>
                  <a:srgbClr val="BAC6DA"/>
                </a:solidFill>
                <a:latin typeface="Georgia"/>
              </a:rPr>
              <a:t>incial</a:t>
            </a:r>
            <a:r>
              <a:rPr lang="pt-BR" sz="1250" i="1" dirty="0">
                <a:solidFill>
                  <a:srgbClr val="BAC6DA"/>
                </a:solidFill>
                <a:latin typeface="Georgia"/>
              </a:rPr>
              <a:t> das minhas falas da final. Vou começar pela explicação da aplicação do Black </a:t>
            </a:r>
            <a:r>
              <a:rPr lang="pt-BR" sz="1250" i="1" dirty="0" err="1">
                <a:solidFill>
                  <a:srgbClr val="BAC6DA"/>
                </a:solidFill>
                <a:latin typeface="Georgia"/>
              </a:rPr>
              <a:t>Littermann</a:t>
            </a:r>
            <a:r>
              <a:rPr lang="pt-BR" sz="1250" i="1" dirty="0">
                <a:solidFill>
                  <a:srgbClr val="BAC6DA"/>
                </a:solidFill>
                <a:latin typeface="Georgia"/>
              </a:rPr>
              <a:t> na estratégia. Leia o repositório e o código para montar uma explicação para eu me embasar</a:t>
            </a:r>
          </a:p>
        </p:txBody>
      </p:sp>
      <p:sp>
        <p:nvSpPr>
          <p:cNvPr id="42" name="s12_12_40"/>
          <p:cNvSpPr txBox="1"/>
          <p:nvPr/>
        </p:nvSpPr>
        <p:spPr>
          <a:xfrm>
            <a:off x="5897880" y="4553712"/>
            <a:ext cx="55595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QUE ACENDEU, NA ORDEM</a:t>
            </a:r>
          </a:p>
        </p:txBody>
      </p:sp>
      <p:sp>
        <p:nvSpPr>
          <p:cNvPr id="43" name="!!li_0"/>
          <p:cNvSpPr txBox="1"/>
          <p:nvPr/>
        </p:nvSpPr>
        <p:spPr>
          <a:xfrm>
            <a:off x="5897880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01  </a:t>
            </a:r>
            <a:r>
              <a:rPr sz="900" b="0" i="0">
                <a:solidFill>
                  <a:srgbClr val="FFB531"/>
                </a:solidFill>
                <a:latin typeface="Consolas"/>
              </a:rPr>
              <a:t>Decisoes_pendentes.md</a:t>
            </a:r>
          </a:p>
        </p:txBody>
      </p:sp>
      <p:sp>
        <p:nvSpPr>
          <p:cNvPr id="44" name="!!li_1"/>
          <p:cNvSpPr txBox="1"/>
          <p:nvPr/>
        </p:nvSpPr>
        <p:spPr>
          <a:xfrm>
            <a:off x="5897880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02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Metricas_p4.md</a:t>
            </a:r>
          </a:p>
        </p:txBody>
      </p:sp>
      <p:sp>
        <p:nvSpPr>
          <p:cNvPr id="45" name="!!li_2"/>
          <p:cNvSpPr txBox="1"/>
          <p:nvPr/>
        </p:nvSpPr>
        <p:spPr>
          <a:xfrm>
            <a:off x="5897880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03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Metricas_p5.md</a:t>
            </a:r>
          </a:p>
        </p:txBody>
      </p:sp>
      <p:sp>
        <p:nvSpPr>
          <p:cNvPr id="46" name="!!li_3"/>
          <p:cNvSpPr txBox="1"/>
          <p:nvPr/>
        </p:nvSpPr>
        <p:spPr>
          <a:xfrm>
            <a:off x="5897880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04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Backtest_v1.md</a:t>
            </a:r>
          </a:p>
        </p:txBody>
      </p:sp>
      <p:sp>
        <p:nvSpPr>
          <p:cNvPr id="47" name="!!li_4"/>
          <p:cNvSpPr txBox="1"/>
          <p:nvPr/>
        </p:nvSpPr>
        <p:spPr>
          <a:xfrm>
            <a:off x="5897880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05  </a:t>
            </a:r>
            <a:r>
              <a:rPr sz="900" b="0" i="0">
                <a:solidFill>
                  <a:srgbClr val="2FD3B0"/>
                </a:solidFill>
                <a:latin typeface="Consolas"/>
              </a:rPr>
              <a:t>Ortogonalidade.md</a:t>
            </a:r>
          </a:p>
        </p:txBody>
      </p:sp>
      <p:sp>
        <p:nvSpPr>
          <p:cNvPr id="48" name="!!li_5"/>
          <p:cNvSpPr txBox="1"/>
          <p:nvPr/>
        </p:nvSpPr>
        <p:spPr>
          <a:xfrm>
            <a:off x="5897880" y="588416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06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bl_optimizer.py</a:t>
            </a:r>
          </a:p>
        </p:txBody>
      </p:sp>
      <p:sp>
        <p:nvSpPr>
          <p:cNvPr id="49" name="!!li_6"/>
          <p:cNvSpPr txBox="1"/>
          <p:nvPr/>
        </p:nvSpPr>
        <p:spPr>
          <a:xfrm>
            <a:off x="8677656" y="4809744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07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views_common.py</a:t>
            </a:r>
          </a:p>
        </p:txBody>
      </p:sp>
      <p:sp>
        <p:nvSpPr>
          <p:cNvPr id="50" name="!!li_7"/>
          <p:cNvSpPr txBox="1"/>
          <p:nvPr/>
        </p:nvSpPr>
        <p:spPr>
          <a:xfrm>
            <a:off x="8677656" y="5024628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08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backtest_v1.py</a:t>
            </a:r>
          </a:p>
        </p:txBody>
      </p:sp>
      <p:sp>
        <p:nvSpPr>
          <p:cNvPr id="51" name="!!li_8"/>
          <p:cNvSpPr txBox="1"/>
          <p:nvPr/>
        </p:nvSpPr>
        <p:spPr>
          <a:xfrm>
            <a:off x="8677656" y="5239512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09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view_B_trajetoria_propria.py</a:t>
            </a:r>
          </a:p>
        </p:txBody>
      </p:sp>
      <p:sp>
        <p:nvSpPr>
          <p:cNvPr id="52" name="!!li_9"/>
          <p:cNvSpPr txBox="1"/>
          <p:nvPr/>
        </p:nvSpPr>
        <p:spPr>
          <a:xfrm>
            <a:off x="8677656" y="5454396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10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view_incerteza_anuncio.py</a:t>
            </a:r>
          </a:p>
        </p:txBody>
      </p:sp>
      <p:sp>
        <p:nvSpPr>
          <p:cNvPr id="53" name="!!li_10"/>
          <p:cNvSpPr txBox="1"/>
          <p:nvPr/>
        </p:nvSpPr>
        <p:spPr>
          <a:xfrm>
            <a:off x="8677656" y="5669279"/>
            <a:ext cx="2688335" cy="2011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8698A"/>
                </a:solidFill>
                <a:latin typeface="Consolas"/>
              </a:rPr>
              <a:t>11  </a:t>
            </a:r>
            <a:r>
              <a:rPr sz="900" b="0" i="0">
                <a:solidFill>
                  <a:srgbClr val="4F8EF7"/>
                </a:solidFill>
                <a:latin typeface="Consolas"/>
              </a:rPr>
              <a:t>tatica_sleeves.py</a:t>
            </a:r>
          </a:p>
        </p:txBody>
      </p:sp>
      <p:sp>
        <p:nvSpPr>
          <p:cNvPr id="54" name="s12_12_52"/>
          <p:cNvSpPr txBox="1"/>
          <p:nvPr/>
        </p:nvSpPr>
        <p:spPr>
          <a:xfrm>
            <a:off x="5897880" y="6144768"/>
            <a:ext cx="555955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5F7FB"/>
                </a:solidFill>
                <a:latin typeface="Consolas"/>
              </a:rPr>
              <a:t>23 comandos · 11 arquivos · </a:t>
            </a:r>
            <a:r>
              <a:rPr sz="900" b="1" i="0">
                <a:solidFill>
                  <a:srgbClr val="FFB531"/>
                </a:solidFill>
                <a:latin typeface="Consolas"/>
              </a:rPr>
              <a:t>contrato  →  análise  →  código  →  dado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550">
        <p159:morph xmlns:p159="http://schemas.microsoft.com/office/powerpoint/2015/09/main" option="byObject"/>
      </p:transition>
    </mc:Choice>
    <mc:Fallback xmlns="">
      <p:transition spd="fast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13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13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IA em números</a:t>
            </a:r>
          </a:p>
        </p:txBody>
      </p:sp>
      <p:sp>
        <p:nvSpPr>
          <p:cNvPr id="7" name="s13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13</a:t>
            </a:r>
          </a:p>
        </p:txBody>
      </p:sp>
      <p:cxnSp>
        <p:nvCxnSpPr>
          <p:cNvPr id="8" name="s13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3_7"/>
          <p:cNvSpPr txBox="1"/>
          <p:nvPr/>
        </p:nvSpPr>
        <p:spPr>
          <a:xfrm>
            <a:off x="731520" y="850392"/>
            <a:ext cx="107259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5F7FB"/>
                </a:solidFill>
                <a:latin typeface="Bahnschrift SemiBold"/>
              </a:rPr>
              <a:t>Medimos o uso de IA como medimos a estratégia: pelo registro.</a:t>
            </a:r>
          </a:p>
        </p:txBody>
      </p:sp>
      <p:cxnSp>
        <p:nvCxnSpPr>
          <p:cNvPr id="10" name="s13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13" name="s13_11"/>
          <p:cNvSpPr txBox="1"/>
          <p:nvPr/>
        </p:nvSpPr>
        <p:spPr>
          <a:xfrm>
            <a:off x="731520" y="1874519"/>
            <a:ext cx="5669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145 ERROS DA IA  ·  QUEM PEGOU</a:t>
            </a:r>
          </a:p>
        </p:txBody>
      </p:sp>
      <p:pic>
        <p:nvPicPr>
          <p:cNvPr id="14" name="s13_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94560"/>
            <a:ext cx="5669280" cy="2720917"/>
          </a:xfrm>
          <a:prstGeom prst="rect">
            <a:avLst/>
          </a:prstGeom>
        </p:spPr>
      </p:pic>
      <p:sp>
        <p:nvSpPr>
          <p:cNvPr id="15" name="s13_13"/>
          <p:cNvSpPr txBox="1"/>
          <p:nvPr/>
        </p:nvSpPr>
        <p:spPr>
          <a:xfrm>
            <a:off x="6793992" y="1874519"/>
            <a:ext cx="4663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ONDE FOI O ESFORÇO</a:t>
            </a:r>
          </a:p>
        </p:txBody>
      </p:sp>
      <p:pic>
        <p:nvPicPr>
          <p:cNvPr id="16" name="s13_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2286000"/>
            <a:ext cx="4663440" cy="2546936"/>
          </a:xfrm>
          <a:prstGeom prst="rect">
            <a:avLst/>
          </a:prstGeom>
        </p:spPr>
      </p:pic>
      <p:sp>
        <p:nvSpPr>
          <p:cNvPr id="17" name="s13_15"/>
          <p:cNvSpPr/>
          <p:nvPr/>
        </p:nvSpPr>
        <p:spPr>
          <a:xfrm>
            <a:off x="731520" y="5440680"/>
            <a:ext cx="2599182" cy="786384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s13_16"/>
          <p:cNvSpPr txBox="1"/>
          <p:nvPr/>
        </p:nvSpPr>
        <p:spPr>
          <a:xfrm>
            <a:off x="932688" y="5477256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B531"/>
                </a:solidFill>
                <a:latin typeface="Bahnschrift SemiBold Condensed"/>
              </a:rPr>
              <a:t>91</a:t>
            </a:r>
          </a:p>
        </p:txBody>
      </p:sp>
      <p:sp>
        <p:nvSpPr>
          <p:cNvPr id="19" name="s13_17"/>
          <p:cNvSpPr txBox="1"/>
          <p:nvPr/>
        </p:nvSpPr>
        <p:spPr>
          <a:xfrm>
            <a:off x="1965960" y="5550408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60">
                <a:solidFill>
                  <a:srgbClr val="F5F7FB"/>
                </a:solidFill>
                <a:latin typeface="Consolas"/>
              </a:rPr>
              <a:t>SESSÕES DE IA</a:t>
            </a:r>
          </a:p>
        </p:txBody>
      </p:sp>
      <p:sp>
        <p:nvSpPr>
          <p:cNvPr id="20" name="s13_18"/>
          <p:cNvSpPr txBox="1"/>
          <p:nvPr/>
        </p:nvSpPr>
        <p:spPr>
          <a:xfrm>
            <a:off x="1965960" y="5806440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395B5"/>
                </a:solidFill>
                <a:latin typeface="Bahnschrift SemiLight"/>
              </a:rPr>
              <a:t>Felipe 55 · Lia 18 · Paulo 18</a:t>
            </a:r>
          </a:p>
        </p:txBody>
      </p:sp>
      <p:sp>
        <p:nvSpPr>
          <p:cNvPr id="21" name="s13_19"/>
          <p:cNvSpPr/>
          <p:nvPr/>
        </p:nvSpPr>
        <p:spPr>
          <a:xfrm>
            <a:off x="3440430" y="5440680"/>
            <a:ext cx="2599182" cy="786384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s13_20"/>
          <p:cNvSpPr txBox="1"/>
          <p:nvPr/>
        </p:nvSpPr>
        <p:spPr>
          <a:xfrm>
            <a:off x="3641598" y="5477256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B531"/>
                </a:solidFill>
                <a:latin typeface="Bahnschrift SemiBold Condensed"/>
              </a:rPr>
              <a:t>232k</a:t>
            </a:r>
          </a:p>
        </p:txBody>
      </p:sp>
      <p:sp>
        <p:nvSpPr>
          <p:cNvPr id="23" name="s13_21"/>
          <p:cNvSpPr txBox="1"/>
          <p:nvPr/>
        </p:nvSpPr>
        <p:spPr>
          <a:xfrm>
            <a:off x="4674870" y="5550408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60">
                <a:solidFill>
                  <a:srgbClr val="F5F7FB"/>
                </a:solidFill>
                <a:latin typeface="Consolas"/>
              </a:rPr>
              <a:t>TOKENS POR SESSÃO</a:t>
            </a:r>
          </a:p>
        </p:txBody>
      </p:sp>
      <p:sp>
        <p:nvSpPr>
          <p:cNvPr id="24" name="s13_22"/>
          <p:cNvSpPr txBox="1"/>
          <p:nvPr/>
        </p:nvSpPr>
        <p:spPr>
          <a:xfrm>
            <a:off x="4674870" y="5806440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395B5"/>
                </a:solidFill>
                <a:latin typeface="Bahnschrift SemiLight"/>
              </a:rPr>
              <a:t>média · 19,7M no total</a:t>
            </a:r>
          </a:p>
        </p:txBody>
      </p:sp>
      <p:sp>
        <p:nvSpPr>
          <p:cNvPr id="25" name="s13_23"/>
          <p:cNvSpPr/>
          <p:nvPr/>
        </p:nvSpPr>
        <p:spPr>
          <a:xfrm>
            <a:off x="6149340" y="5440680"/>
            <a:ext cx="2599182" cy="786384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s13_24"/>
          <p:cNvSpPr txBox="1"/>
          <p:nvPr/>
        </p:nvSpPr>
        <p:spPr>
          <a:xfrm>
            <a:off x="6350507" y="5477256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B531"/>
                </a:solidFill>
                <a:latin typeface="Bahnschrift SemiBold Condensed"/>
              </a:rPr>
              <a:t>81</a:t>
            </a:r>
          </a:p>
        </p:txBody>
      </p:sp>
      <p:sp>
        <p:nvSpPr>
          <p:cNvPr id="27" name="s13_25"/>
          <p:cNvSpPr txBox="1"/>
          <p:nvPr/>
        </p:nvSpPr>
        <p:spPr>
          <a:xfrm>
            <a:off x="7383779" y="5550408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60">
                <a:solidFill>
                  <a:srgbClr val="F5F7FB"/>
                </a:solidFill>
                <a:latin typeface="Consolas"/>
              </a:rPr>
              <a:t>DECISÕES REGISTRADAS</a:t>
            </a:r>
          </a:p>
        </p:txBody>
      </p:sp>
      <p:sp>
        <p:nvSpPr>
          <p:cNvPr id="28" name="s13_26"/>
          <p:cNvSpPr txBox="1"/>
          <p:nvPr/>
        </p:nvSpPr>
        <p:spPr>
          <a:xfrm>
            <a:off x="7383779" y="5806440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395B5"/>
                </a:solidFill>
                <a:latin typeface="Bahnschrift SemiLight"/>
              </a:rPr>
              <a:t>escaladas ao humano</a:t>
            </a:r>
          </a:p>
        </p:txBody>
      </p:sp>
      <p:sp>
        <p:nvSpPr>
          <p:cNvPr id="29" name="s13_27"/>
          <p:cNvSpPr/>
          <p:nvPr/>
        </p:nvSpPr>
        <p:spPr>
          <a:xfrm>
            <a:off x="8858250" y="5440680"/>
            <a:ext cx="2599182" cy="786384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s13_28"/>
          <p:cNvSpPr txBox="1"/>
          <p:nvPr/>
        </p:nvSpPr>
        <p:spPr>
          <a:xfrm>
            <a:off x="9059418" y="5477256"/>
            <a:ext cx="1371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B531"/>
                </a:solidFill>
                <a:latin typeface="Bahnschrift SemiBold Condensed"/>
              </a:rPr>
              <a:t>37%</a:t>
            </a:r>
          </a:p>
        </p:txBody>
      </p:sp>
      <p:sp>
        <p:nvSpPr>
          <p:cNvPr id="31" name="s13_29"/>
          <p:cNvSpPr txBox="1"/>
          <p:nvPr/>
        </p:nvSpPr>
        <p:spPr>
          <a:xfrm>
            <a:off x="10092690" y="5550408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60">
                <a:solidFill>
                  <a:srgbClr val="F5F7FB"/>
                </a:solidFill>
                <a:latin typeface="Consolas"/>
              </a:rPr>
              <a:t>TAXA DE RECORREÇÃO</a:t>
            </a:r>
          </a:p>
        </p:txBody>
      </p:sp>
      <p:sp>
        <p:nvSpPr>
          <p:cNvPr id="32" name="s13_30"/>
          <p:cNvSpPr txBox="1"/>
          <p:nvPr/>
        </p:nvSpPr>
        <p:spPr>
          <a:xfrm>
            <a:off x="10092690" y="5806440"/>
            <a:ext cx="1227581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395B5"/>
                </a:solidFill>
                <a:latin typeface="Bahnschrift SemiLight"/>
              </a:rPr>
              <a:t>pediram 2ª rodada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14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14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Backtest e resultados</a:t>
            </a:r>
          </a:p>
        </p:txBody>
      </p:sp>
      <p:sp>
        <p:nvSpPr>
          <p:cNvPr id="7" name="s14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14</a:t>
            </a:r>
          </a:p>
        </p:txBody>
      </p:sp>
      <p:cxnSp>
        <p:nvCxnSpPr>
          <p:cNvPr id="8" name="s14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4_7"/>
          <p:cNvSpPr txBox="1"/>
          <p:nvPr/>
        </p:nvSpPr>
        <p:spPr>
          <a:xfrm>
            <a:off x="731520" y="850392"/>
            <a:ext cx="1072591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5F7FB"/>
                </a:solidFill>
                <a:latin typeface="Bahnschrift SemiBold"/>
              </a:rPr>
              <a:t>3,0 pp sobre o SPY, ao mesmo risco</a:t>
            </a:r>
          </a:p>
        </p:txBody>
      </p:sp>
      <p:cxnSp>
        <p:nvCxnSpPr>
          <p:cNvPr id="10" name="s14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13" name="s14_11"/>
          <p:cNvSpPr txBox="1"/>
          <p:nvPr/>
        </p:nvSpPr>
        <p:spPr>
          <a:xfrm>
            <a:off x="731520" y="1298448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 PLACAR</a:t>
            </a:r>
          </a:p>
        </p:txBody>
      </p:sp>
      <p:sp>
        <p:nvSpPr>
          <p:cNvPr id="14" name="s14_12"/>
          <p:cNvSpPr/>
          <p:nvPr/>
        </p:nvSpPr>
        <p:spPr>
          <a:xfrm>
            <a:off x="731520" y="1508760"/>
            <a:ext cx="1353312" cy="859536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s14_13"/>
          <p:cNvSpPr txBox="1"/>
          <p:nvPr/>
        </p:nvSpPr>
        <p:spPr>
          <a:xfrm>
            <a:off x="859536" y="1627631"/>
            <a:ext cx="109728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20">
                <a:solidFill>
                  <a:srgbClr val="FFB531"/>
                </a:solidFill>
                <a:latin typeface="Consolas"/>
              </a:rPr>
              <a:t>RETORNO LÍQUIDO</a:t>
            </a:r>
          </a:p>
        </p:txBody>
      </p:sp>
      <p:sp>
        <p:nvSpPr>
          <p:cNvPr id="16" name="s14_14"/>
          <p:cNvSpPr txBox="1"/>
          <p:nvPr/>
        </p:nvSpPr>
        <p:spPr>
          <a:xfrm>
            <a:off x="859536" y="1792224"/>
            <a:ext cx="1097280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FFB531"/>
                </a:solidFill>
                <a:latin typeface="Bahnschrift SemiBold Condensed"/>
              </a:rPr>
              <a:t>+33,2%</a:t>
            </a:r>
          </a:p>
        </p:txBody>
      </p:sp>
      <p:sp>
        <p:nvSpPr>
          <p:cNvPr id="17" name="s14_15"/>
          <p:cNvSpPr txBox="1"/>
          <p:nvPr/>
        </p:nvSpPr>
        <p:spPr>
          <a:xfrm>
            <a:off x="859536" y="2148839"/>
            <a:ext cx="109728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395B5"/>
                </a:solidFill>
                <a:latin typeface="Bahnschrift"/>
              </a:rPr>
              <a:t>SPY +30,1%</a:t>
            </a:r>
          </a:p>
        </p:txBody>
      </p:sp>
      <p:sp>
        <p:nvSpPr>
          <p:cNvPr id="18" name="s14_16"/>
          <p:cNvSpPr/>
          <p:nvPr/>
        </p:nvSpPr>
        <p:spPr>
          <a:xfrm>
            <a:off x="2212848" y="1508760"/>
            <a:ext cx="1353312" cy="859536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s14_17"/>
          <p:cNvSpPr txBox="1"/>
          <p:nvPr/>
        </p:nvSpPr>
        <p:spPr>
          <a:xfrm>
            <a:off x="2340864" y="1627631"/>
            <a:ext cx="109728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20">
                <a:solidFill>
                  <a:srgbClr val="FFB531"/>
                </a:solidFill>
                <a:latin typeface="Consolas"/>
              </a:rPr>
              <a:t>SHARPE</a:t>
            </a:r>
          </a:p>
        </p:txBody>
      </p:sp>
      <p:sp>
        <p:nvSpPr>
          <p:cNvPr id="20" name="s14_18"/>
          <p:cNvSpPr txBox="1"/>
          <p:nvPr/>
        </p:nvSpPr>
        <p:spPr>
          <a:xfrm>
            <a:off x="2340864" y="1792224"/>
            <a:ext cx="1097280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FFB531"/>
                </a:solidFill>
                <a:latin typeface="Bahnschrift SemiBold Condensed"/>
              </a:rPr>
              <a:t>1,18</a:t>
            </a:r>
          </a:p>
        </p:txBody>
      </p:sp>
      <p:sp>
        <p:nvSpPr>
          <p:cNvPr id="21" name="s14_19"/>
          <p:cNvSpPr txBox="1"/>
          <p:nvPr/>
        </p:nvSpPr>
        <p:spPr>
          <a:xfrm>
            <a:off x="2340864" y="2148839"/>
            <a:ext cx="109728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395B5"/>
                </a:solidFill>
                <a:latin typeface="Bahnschrift"/>
              </a:rPr>
              <a:t>SPY 1,08</a:t>
            </a:r>
          </a:p>
        </p:txBody>
      </p:sp>
      <p:sp>
        <p:nvSpPr>
          <p:cNvPr id="22" name="s14_20"/>
          <p:cNvSpPr/>
          <p:nvPr/>
        </p:nvSpPr>
        <p:spPr>
          <a:xfrm>
            <a:off x="731520" y="2450591"/>
            <a:ext cx="1353312" cy="859536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s14_21"/>
          <p:cNvSpPr txBox="1"/>
          <p:nvPr/>
        </p:nvSpPr>
        <p:spPr>
          <a:xfrm>
            <a:off x="859536" y="2569463"/>
            <a:ext cx="109728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20">
                <a:solidFill>
                  <a:srgbClr val="FFB531"/>
                </a:solidFill>
                <a:latin typeface="Consolas"/>
              </a:rPr>
              <a:t>VOLATILIDADE</a:t>
            </a:r>
          </a:p>
        </p:txBody>
      </p:sp>
      <p:sp>
        <p:nvSpPr>
          <p:cNvPr id="24" name="s14_22"/>
          <p:cNvSpPr txBox="1"/>
          <p:nvPr/>
        </p:nvSpPr>
        <p:spPr>
          <a:xfrm>
            <a:off x="859536" y="2734056"/>
            <a:ext cx="1097280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FFB531"/>
                </a:solidFill>
                <a:latin typeface="Bahnschrift SemiBold Condensed"/>
              </a:rPr>
              <a:t>17,6%</a:t>
            </a:r>
          </a:p>
        </p:txBody>
      </p:sp>
      <p:sp>
        <p:nvSpPr>
          <p:cNvPr id="25" name="s14_23"/>
          <p:cNvSpPr txBox="1"/>
          <p:nvPr/>
        </p:nvSpPr>
        <p:spPr>
          <a:xfrm>
            <a:off x="859536" y="3090672"/>
            <a:ext cx="109728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395B5"/>
                </a:solidFill>
                <a:latin typeface="Bahnschrift"/>
              </a:rPr>
              <a:t>SPY 17,9%</a:t>
            </a:r>
          </a:p>
        </p:txBody>
      </p:sp>
      <p:sp>
        <p:nvSpPr>
          <p:cNvPr id="26" name="s14_24"/>
          <p:cNvSpPr/>
          <p:nvPr/>
        </p:nvSpPr>
        <p:spPr>
          <a:xfrm>
            <a:off x="2212848" y="2450591"/>
            <a:ext cx="1353312" cy="859536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s14_25"/>
          <p:cNvSpPr txBox="1"/>
          <p:nvPr/>
        </p:nvSpPr>
        <p:spPr>
          <a:xfrm>
            <a:off x="2340864" y="2569463"/>
            <a:ext cx="109728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20">
                <a:solidFill>
                  <a:srgbClr val="FFB531"/>
                </a:solidFill>
                <a:latin typeface="Consolas"/>
              </a:rPr>
              <a:t>MÁX. QUEDA</a:t>
            </a:r>
          </a:p>
        </p:txBody>
      </p:sp>
      <p:sp>
        <p:nvSpPr>
          <p:cNvPr id="28" name="s14_26"/>
          <p:cNvSpPr txBox="1"/>
          <p:nvPr/>
        </p:nvSpPr>
        <p:spPr>
          <a:xfrm>
            <a:off x="2340864" y="2734056"/>
            <a:ext cx="1097280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FFB531"/>
                </a:solidFill>
                <a:latin typeface="Bahnschrift SemiBold Condensed"/>
              </a:rPr>
              <a:t>–19,6%</a:t>
            </a:r>
          </a:p>
        </p:txBody>
      </p:sp>
      <p:sp>
        <p:nvSpPr>
          <p:cNvPr id="29" name="s14_27"/>
          <p:cNvSpPr txBox="1"/>
          <p:nvPr/>
        </p:nvSpPr>
        <p:spPr>
          <a:xfrm>
            <a:off x="2340864" y="3090672"/>
            <a:ext cx="1097280" cy="1554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395B5"/>
                </a:solidFill>
                <a:latin typeface="Bahnschrift"/>
              </a:rPr>
              <a:t>SPY –18,8%</a:t>
            </a:r>
          </a:p>
        </p:txBody>
      </p:sp>
      <p:sp>
        <p:nvSpPr>
          <p:cNvPr id="30" name="s14_28"/>
          <p:cNvSpPr/>
          <p:nvPr/>
        </p:nvSpPr>
        <p:spPr>
          <a:xfrm>
            <a:off x="731520" y="3392424"/>
            <a:ext cx="2834640" cy="859536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s14_29"/>
          <p:cNvSpPr txBox="1"/>
          <p:nvPr/>
        </p:nvSpPr>
        <p:spPr>
          <a:xfrm>
            <a:off x="859536" y="3511296"/>
            <a:ext cx="2578608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 spc="120">
                <a:solidFill>
                  <a:srgbClr val="2FD3B0"/>
                </a:solidFill>
                <a:latin typeface="Consolas"/>
              </a:rPr>
              <a:t>P(EXCESSO &gt; 0)  ·  SORTE OU HABILIDADE?</a:t>
            </a:r>
          </a:p>
        </p:txBody>
      </p:sp>
      <p:sp>
        <p:nvSpPr>
          <p:cNvPr id="32" name="s14_30"/>
          <p:cNvSpPr txBox="1"/>
          <p:nvPr/>
        </p:nvSpPr>
        <p:spPr>
          <a:xfrm>
            <a:off x="859536" y="3675887"/>
            <a:ext cx="1005840" cy="3566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2FD3B0"/>
                </a:solidFill>
                <a:latin typeface="Bahnschrift SemiBold Condensed"/>
              </a:rPr>
              <a:t>64%</a:t>
            </a:r>
          </a:p>
        </p:txBody>
      </p:sp>
      <p:sp>
        <p:nvSpPr>
          <p:cNvPr id="33" name="s14_31"/>
          <p:cNvSpPr txBox="1"/>
          <p:nvPr/>
        </p:nvSpPr>
        <p:spPr>
          <a:xfrm>
            <a:off x="1783080" y="3657600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5F7FB"/>
                </a:solidFill>
                <a:latin typeface="Bahnschrift"/>
              </a:rPr>
              <a:t>IC95 [−12,9; 20,6] pp · bootstrap</a:t>
            </a:r>
          </a:p>
        </p:txBody>
      </p:sp>
      <p:sp>
        <p:nvSpPr>
          <p:cNvPr id="34" name="s14_32"/>
          <p:cNvSpPr txBox="1"/>
          <p:nvPr/>
        </p:nvSpPr>
        <p:spPr>
          <a:xfrm>
            <a:off x="1783080" y="3840480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395B5"/>
                </a:solidFill>
                <a:latin typeface="Bahnschrift"/>
              </a:rPr>
              <a:t>faltam 83 pregões p/ 95 % (MinTRL)</a:t>
            </a:r>
          </a:p>
        </p:txBody>
      </p:sp>
      <p:sp>
        <p:nvSpPr>
          <p:cNvPr id="35" name="s14_33"/>
          <p:cNvSpPr txBox="1"/>
          <p:nvPr/>
        </p:nvSpPr>
        <p:spPr>
          <a:xfrm>
            <a:off x="859536" y="4032504"/>
            <a:ext cx="257860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1">
                <a:solidFill>
                  <a:srgbClr val="8395B5"/>
                </a:solidFill>
                <a:latin typeface="Bahnschrift"/>
              </a:rPr>
              <a:t>positivo em toda leitura; ainda não é prova</a:t>
            </a:r>
          </a:p>
        </p:txBody>
      </p:sp>
      <p:sp>
        <p:nvSpPr>
          <p:cNvPr id="36" name="s14_34"/>
          <p:cNvSpPr txBox="1"/>
          <p:nvPr/>
        </p:nvSpPr>
        <p:spPr>
          <a:xfrm>
            <a:off x="731520" y="4315968"/>
            <a:ext cx="283464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395B5"/>
                </a:solidFill>
                <a:latin typeface="Bahnschrift"/>
              </a:rPr>
              <a:t>placar completo no apêndice A8 · estatística no A9</a:t>
            </a:r>
          </a:p>
        </p:txBody>
      </p:sp>
      <p:sp>
        <p:nvSpPr>
          <p:cNvPr id="37" name="s14_35"/>
          <p:cNvSpPr txBox="1"/>
          <p:nvPr/>
        </p:nvSpPr>
        <p:spPr>
          <a:xfrm>
            <a:off x="731520" y="4526280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DE ONDE VEM O RESULTADO</a:t>
            </a:r>
          </a:p>
        </p:txBody>
      </p:sp>
      <p:pic>
        <p:nvPicPr>
          <p:cNvPr id="38" name="s14_36" descr="p4_composi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727448"/>
            <a:ext cx="2834640" cy="1445536"/>
          </a:xfrm>
          <a:prstGeom prst="rect">
            <a:avLst/>
          </a:prstGeom>
        </p:spPr>
      </p:pic>
      <p:sp>
        <p:nvSpPr>
          <p:cNvPr id="39" name="s14_37"/>
          <p:cNvSpPr txBox="1"/>
          <p:nvPr/>
        </p:nvSpPr>
        <p:spPr>
          <a:xfrm>
            <a:off x="731520" y="6199632"/>
            <a:ext cx="28346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8395B5"/>
                </a:solidFill>
                <a:latin typeface="Bahnschrift"/>
              </a:rPr>
              <a:t>Soma dos retornos diários, não capitalização — daí +30,9 pp aqui e +33,2% na curva. Sem juros: taxa livre zero para os dois.</a:t>
            </a:r>
          </a:p>
        </p:txBody>
      </p:sp>
      <p:cxnSp>
        <p:nvCxnSpPr>
          <p:cNvPr id="40" name="s14_38"/>
          <p:cNvCxnSpPr/>
          <p:nvPr/>
        </p:nvCxnSpPr>
        <p:spPr>
          <a:xfrm>
            <a:off x="3721608" y="1298448"/>
            <a:ext cx="0" cy="5056632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s14_39"/>
          <p:cNvSpPr txBox="1"/>
          <p:nvPr/>
        </p:nvSpPr>
        <p:spPr>
          <a:xfrm>
            <a:off x="3886200" y="129844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CURVA ACUMULADA E DRAWDOWN</a:t>
            </a:r>
          </a:p>
        </p:txBody>
      </p:sp>
      <p:sp>
        <p:nvSpPr>
          <p:cNvPr id="42" name="s14_40"/>
          <p:cNvSpPr txBox="1"/>
          <p:nvPr/>
        </p:nvSpPr>
        <p:spPr>
          <a:xfrm>
            <a:off x="7434071" y="1490472"/>
            <a:ext cx="402336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8395B5"/>
                </a:solidFill>
                <a:latin typeface="Consolas"/>
              </a:rPr>
              <a:t>374 pregões · 10/02/2025 a 06/08/2026 · líquido de custo</a:t>
            </a:r>
          </a:p>
        </p:txBody>
      </p:sp>
      <p:pic>
        <p:nvPicPr>
          <p:cNvPr id="43" name="s14_41" descr="p4_curv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664208"/>
            <a:ext cx="7571231" cy="468121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15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15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Análise crítica</a:t>
            </a:r>
          </a:p>
        </p:txBody>
      </p:sp>
      <p:sp>
        <p:nvSpPr>
          <p:cNvPr id="7" name="s15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15</a:t>
            </a:r>
          </a:p>
        </p:txBody>
      </p:sp>
      <p:cxnSp>
        <p:nvCxnSpPr>
          <p:cNvPr id="8" name="s15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5_7"/>
          <p:cNvSpPr txBox="1"/>
          <p:nvPr/>
        </p:nvSpPr>
        <p:spPr>
          <a:xfrm>
            <a:off x="731520" y="850392"/>
            <a:ext cx="1072591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5F7FB"/>
                </a:solidFill>
                <a:latin typeface="Bahnschrift SemiBold"/>
              </a:rPr>
              <a:t>Três números, uma leitura: positiva, defensiva — e ainda não provada</a:t>
            </a:r>
          </a:p>
        </p:txBody>
      </p:sp>
      <p:cxnSp>
        <p:nvCxnSpPr>
          <p:cNvPr id="10" name="s15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13" name="s15_11"/>
          <p:cNvSpPr/>
          <p:nvPr/>
        </p:nvSpPr>
        <p:spPr>
          <a:xfrm>
            <a:off x="731520" y="1481328"/>
            <a:ext cx="3392423" cy="356616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15_12"/>
          <p:cNvSpPr txBox="1"/>
          <p:nvPr/>
        </p:nvSpPr>
        <p:spPr>
          <a:xfrm>
            <a:off x="960120" y="1682496"/>
            <a:ext cx="293522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A PROVA EXIGE TEMPO</a:t>
            </a:r>
          </a:p>
        </p:txBody>
      </p:sp>
      <p:sp>
        <p:nvSpPr>
          <p:cNvPr id="15" name="s15_13"/>
          <p:cNvSpPr txBox="1"/>
          <p:nvPr/>
        </p:nvSpPr>
        <p:spPr>
          <a:xfrm>
            <a:off x="960120" y="1938528"/>
            <a:ext cx="2935223" cy="731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FFB531"/>
                </a:solidFill>
                <a:latin typeface="Bahnschrift SemiBold Condensed"/>
              </a:rPr>
              <a:t>457</a:t>
            </a:r>
          </a:p>
        </p:txBody>
      </p:sp>
      <p:sp>
        <p:nvSpPr>
          <p:cNvPr id="16" name="s15_14"/>
          <p:cNvSpPr txBox="1"/>
          <p:nvPr/>
        </p:nvSpPr>
        <p:spPr>
          <a:xfrm>
            <a:off x="960120" y="2706624"/>
            <a:ext cx="293522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30">
                <a:solidFill>
                  <a:srgbClr val="F5F7FB"/>
                </a:solidFill>
                <a:latin typeface="Consolas"/>
              </a:rPr>
              <a:t>PREGÕES DE TRACK RECORD MÍNIMO A 95 %  ·  TEMOS 374</a:t>
            </a:r>
          </a:p>
        </p:txBody>
      </p:sp>
      <p:sp>
        <p:nvSpPr>
          <p:cNvPr id="17" name="s15_15"/>
          <p:cNvSpPr txBox="1"/>
          <p:nvPr/>
        </p:nvSpPr>
        <p:spPr>
          <a:xfrm>
            <a:off x="960120" y="3145536"/>
            <a:ext cx="2935223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O excesso é positivo em toda leitura, mas ainda não é prova de habilidade. Faltam 83 pregões — o próximo semestre é o teste fora da amostra, pré-registrado antes de ser visto.</a:t>
            </a:r>
          </a:p>
        </p:txBody>
      </p:sp>
      <p:sp>
        <p:nvSpPr>
          <p:cNvPr id="18" name="s15_16"/>
          <p:cNvSpPr txBox="1"/>
          <p:nvPr/>
        </p:nvSpPr>
        <p:spPr>
          <a:xfrm>
            <a:off x="960120" y="4361688"/>
            <a:ext cx="293522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395B5"/>
                </a:solidFill>
                <a:latin typeface="Bahnschrift SemiLight"/>
              </a:rPr>
              <a:t>PSR 93% · IC95 do excesso [−12,9; 20,6] pp · alpha t = 0,6 contra a régua de 3 (Harvey–Liu)</a:t>
            </a:r>
          </a:p>
        </p:txBody>
      </p:sp>
      <p:sp>
        <p:nvSpPr>
          <p:cNvPr id="19" name="s15_17"/>
          <p:cNvSpPr/>
          <p:nvPr/>
        </p:nvSpPr>
        <p:spPr>
          <a:xfrm>
            <a:off x="4398264" y="1481328"/>
            <a:ext cx="3392423" cy="356616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15_18"/>
          <p:cNvSpPr txBox="1"/>
          <p:nvPr/>
        </p:nvSpPr>
        <p:spPr>
          <a:xfrm>
            <a:off x="4626864" y="1682496"/>
            <a:ext cx="293522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ONDE O GANHO MORA</a:t>
            </a:r>
          </a:p>
        </p:txBody>
      </p:sp>
      <p:sp>
        <p:nvSpPr>
          <p:cNvPr id="21" name="s15_19"/>
          <p:cNvSpPr txBox="1"/>
          <p:nvPr/>
        </p:nvSpPr>
        <p:spPr>
          <a:xfrm>
            <a:off x="4626864" y="1938528"/>
            <a:ext cx="2935223" cy="731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FFB531"/>
                </a:solidFill>
                <a:latin typeface="Bahnschrift SemiBold Condensed"/>
              </a:rPr>
              <a:t>+6,2 bps</a:t>
            </a:r>
          </a:p>
        </p:txBody>
      </p:sp>
      <p:sp>
        <p:nvSpPr>
          <p:cNvPr id="22" name="s15_20"/>
          <p:cNvSpPr txBox="1"/>
          <p:nvPr/>
        </p:nvSpPr>
        <p:spPr>
          <a:xfrm>
            <a:off x="4626864" y="2706624"/>
            <a:ext cx="293522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30">
                <a:solidFill>
                  <a:srgbClr val="F5F7FB"/>
                </a:solidFill>
                <a:latin typeface="Consolas"/>
              </a:rPr>
              <a:t>POR DIA DE QUEDA DO SPY  ·  –3,9 NOS DE ALTA</a:t>
            </a:r>
          </a:p>
        </p:txBody>
      </p:sp>
      <p:sp>
        <p:nvSpPr>
          <p:cNvPr id="23" name="s15_21"/>
          <p:cNvSpPr txBox="1"/>
          <p:nvPr/>
        </p:nvSpPr>
        <p:spPr>
          <a:xfrm>
            <a:off x="4626864" y="3145536"/>
            <a:ext cx="2935223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Perde menos quando o mercado cai, ganha menos quando sobe: é um tilt defensivo sobre beta 0,95, não proteção de cauda — no tombo de abril caiu mais fundo que o índice, e na 2ª metade, só de alta, ficou atrás.</a:t>
            </a:r>
          </a:p>
        </p:txBody>
      </p:sp>
      <p:sp>
        <p:nvSpPr>
          <p:cNvPr id="24" name="s15_22"/>
          <p:cNvSpPr txBox="1"/>
          <p:nvPr/>
        </p:nvSpPr>
        <p:spPr>
          <a:xfrm>
            <a:off x="4626864" y="4361688"/>
            <a:ext cx="293522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395B5"/>
                </a:solidFill>
                <a:latin typeface="Bahnschrift SemiLight"/>
              </a:rPr>
              <a:t>hit 52% nos dias de queda, 43% nos de alta · metades +3,3 / –0,6 pp · máx. queda –19,6 % × SPY –18,8 %</a:t>
            </a:r>
          </a:p>
        </p:txBody>
      </p:sp>
      <p:sp>
        <p:nvSpPr>
          <p:cNvPr id="25" name="s15_23"/>
          <p:cNvSpPr/>
          <p:nvPr/>
        </p:nvSpPr>
        <p:spPr>
          <a:xfrm>
            <a:off x="8065008" y="1481328"/>
            <a:ext cx="3392423" cy="3566160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15_24"/>
          <p:cNvSpPr txBox="1"/>
          <p:nvPr/>
        </p:nvSpPr>
        <p:spPr>
          <a:xfrm>
            <a:off x="8293608" y="1682496"/>
            <a:ext cx="293522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PELO PROTOCOLO DA LITERATURA</a:t>
            </a:r>
          </a:p>
        </p:txBody>
      </p:sp>
      <p:sp>
        <p:nvSpPr>
          <p:cNvPr id="27" name="s15_25"/>
          <p:cNvSpPr txBox="1"/>
          <p:nvPr/>
        </p:nvSpPr>
        <p:spPr>
          <a:xfrm>
            <a:off x="8293608" y="1938528"/>
            <a:ext cx="2935223" cy="731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0">
                <a:solidFill>
                  <a:srgbClr val="FFB531"/>
                </a:solidFill>
                <a:latin typeface="Bahnschrift SemiBold Condensed"/>
              </a:rPr>
              <a:t>3 de 7</a:t>
            </a:r>
          </a:p>
        </p:txBody>
      </p:sp>
      <p:sp>
        <p:nvSpPr>
          <p:cNvPr id="28" name="s15_26"/>
          <p:cNvSpPr txBox="1"/>
          <p:nvPr/>
        </p:nvSpPr>
        <p:spPr>
          <a:xfrm>
            <a:off x="8293608" y="2706624"/>
            <a:ext cx="2935223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30">
                <a:solidFill>
                  <a:srgbClr val="F5F7FB"/>
                </a:solidFill>
                <a:latin typeface="Consolas"/>
              </a:rPr>
              <a:t>PONTOS DE ARNOTT, HARVEY &amp; MARKOWITZ FECHADOS</a:t>
            </a:r>
          </a:p>
        </p:txBody>
      </p:sp>
      <p:sp>
        <p:nvSpPr>
          <p:cNvPr id="29" name="s15_27"/>
          <p:cNvSpPr txBox="1"/>
          <p:nvPr/>
        </p:nvSpPr>
        <p:spPr>
          <a:xfrm>
            <a:off x="8293608" y="3145536"/>
            <a:ext cx="2935223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5F7FB"/>
                </a:solidFill>
                <a:latin typeface="Bahnschrift SemiBold"/>
              </a:rPr>
              <a:t>Rigor onde depende de nós: hipótese antes do teste, dados sem look-ahead, admissão por mecanismo. Parcial onde o desenho limita: testes múltiplos, Ω diagonal. Aberto onde só o tempo resolve: validação fora da amostra.</a:t>
            </a:r>
          </a:p>
        </p:txBody>
      </p:sp>
      <p:sp>
        <p:nvSpPr>
          <p:cNvPr id="30" name="s15_28"/>
          <p:cNvSpPr txBox="1"/>
          <p:nvPr/>
        </p:nvSpPr>
        <p:spPr>
          <a:xfrm>
            <a:off x="8293608" y="4361688"/>
            <a:ext cx="293522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395B5"/>
                </a:solidFill>
                <a:latin typeface="Bahnschrift SemiLight"/>
              </a:rPr>
              <a:t>fechados: motivação · dados · cultura  —  parciais: testes múltiplos · dinâmica · complexidade  —  aberto: fora da amostra</a:t>
            </a:r>
          </a:p>
        </p:txBody>
      </p:sp>
      <p:sp>
        <p:nvSpPr>
          <p:cNvPr id="31" name="s15_29"/>
          <p:cNvSpPr txBox="1"/>
          <p:nvPr/>
        </p:nvSpPr>
        <p:spPr>
          <a:xfrm>
            <a:off x="731520" y="539496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2FD3B0"/>
                </a:solidFill>
                <a:latin typeface="Consolas"/>
              </a:rPr>
              <a:t>FARÍAMOS DIFERENTE</a:t>
            </a:r>
          </a:p>
        </p:txBody>
      </p:sp>
      <p:sp>
        <p:nvSpPr>
          <p:cNvPr id="32" name="s15_30"/>
          <p:cNvSpPr txBox="1"/>
          <p:nvPr/>
        </p:nvSpPr>
        <p:spPr>
          <a:xfrm>
            <a:off x="731520" y="5596128"/>
            <a:ext cx="10725911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AC6DA"/>
                </a:solidFill>
                <a:latin typeface="Bahnschrift SemiLight"/>
              </a:rPr>
              <a:t>Pré-registrar o próximo semestre como teste fora da amostra · corrigir a busca tática pelo nº de tentativas (DSR) · um Ω que enxergue a correlação entre views.</a:t>
            </a:r>
          </a:p>
        </p:txBody>
      </p:sp>
      <p:sp>
        <p:nvSpPr>
          <p:cNvPr id="33" name="s15_31"/>
          <p:cNvSpPr txBox="1"/>
          <p:nvPr/>
        </p:nvSpPr>
        <p:spPr>
          <a:xfrm>
            <a:off x="731520" y="6336792"/>
            <a:ext cx="1072591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395B5"/>
                </a:solidFill>
                <a:latin typeface="Consolas"/>
              </a:rPr>
              <a:t>Arnott, Harvey &amp; Markowitz (2019) · Bailey &amp; López de Prado (2012, 2014) · Harvey &amp; Liu (2015)  ·  Final/analise/Pesquisa_avaliacao_estrategia.md  ·  apêndice A9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/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Resposta da hipótese</a:t>
            </a:r>
          </a:p>
        </p:txBody>
      </p:sp>
      <p:sp>
        <p:nvSpPr>
          <p:cNvPr id="7" name="sT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/>
            </a:r>
          </a:p>
        </p:txBody>
      </p:sp>
      <p:cxnSp>
        <p:nvCxnSpPr>
          <p:cNvPr id="8" name="sT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T_7"/>
          <p:cNvSpPr txBox="1"/>
          <p:nvPr/>
        </p:nvSpPr>
        <p:spPr>
          <a:xfrm>
            <a:off x="731520" y="850392"/>
            <a:ext cx="1072591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5F7FB"/>
                </a:solidFill>
                <a:latin typeface="Bahnschrift SemiBold"/>
              </a:rPr>
              <a:t/>
            </a:r>
          </a:p>
        </p:txBody>
      </p:sp>
      <p:cxnSp>
        <p:nvCxnSpPr>
          <p:cNvPr id="10" name="sT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13" name="sT_11"/>
          <p:cNvSpPr txBox="1"/>
          <p:nvPr/>
        </p:nvSpPr>
        <p:spPr>
          <a:xfrm>
            <a:off x="731520" y="2057400"/>
            <a:ext cx="10725911" cy="822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 i="0">
                <a:solidFill>
                  <a:srgbClr val="F5F7FB"/>
                </a:solidFill>
                <a:latin typeface="Bahnschrift SemiBold Condensed"/>
              </a:rPr>
              <a:t>Resposta da hipótese</a:t>
            </a:r>
          </a:p>
        </p:txBody>
      </p:sp>
      <p:sp>
        <p:nvSpPr>
          <p:cNvPr id="14" name="sT_12"/>
          <p:cNvSpPr txBox="1"/>
          <p:nvPr/>
        </p:nvSpPr>
        <p:spPr>
          <a:xfrm>
            <a:off x="731520" y="315468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A HIPÓTESE, DO SLIDE 2</a:t>
            </a:r>
          </a:p>
        </p:txBody>
      </p:sp>
      <p:sp>
        <p:nvSpPr>
          <p:cNvPr id="15" name="sT_13"/>
          <p:cNvSpPr txBox="1"/>
          <p:nvPr/>
        </p:nvSpPr>
        <p:spPr>
          <a:xfrm>
            <a:off x="731520" y="3401568"/>
            <a:ext cx="935431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BAC6DA"/>
                </a:solidFill>
                <a:latin typeface="Bahnschrift SemiBold"/>
              </a:rPr>
              <a:t>“Mercados de previsão antecipam o mercado financeiro. </a:t>
            </a:r>
            <a:r>
              <a:rPr sz="2200" b="0" i="0">
                <a:solidFill>
                  <a:srgbClr val="FFB531"/>
                </a:solidFill>
                <a:latin typeface="Bahnschrift SemiBold"/>
              </a:rPr>
              <a:t>Esse é o nosso sinal.”</a:t>
            </a:r>
          </a:p>
        </p:txBody>
      </p:sp>
      <p:sp>
        <p:nvSpPr>
          <p:cNvPr id="16" name="sT_14"/>
          <p:cNvSpPr txBox="1"/>
          <p:nvPr/>
        </p:nvSpPr>
        <p:spPr>
          <a:xfrm>
            <a:off x="731520" y="4709160"/>
            <a:ext cx="10725911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8395B5"/>
                </a:solidFill>
                <a:latin typeface="Bahnschrift SemiLight"/>
              </a:rPr>
              <a:t>O que 150 contratos do Polymarket, 30 eventos e 1416 leituras dizem.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9" name="s16_16" descr="estudo_s0_calibraca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2852928"/>
            <a:ext cx="5134355" cy="2616594"/>
          </a:xfrm>
          <a:prstGeom prst="rect">
            <a:avLst/>
          </a:prstGeom>
        </p:spPr>
      </p:pic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16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16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O Polymarket como fonte de dados</a:t>
            </a:r>
          </a:p>
        </p:txBody>
      </p:sp>
      <p:sp>
        <p:nvSpPr>
          <p:cNvPr id="7" name="s16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16</a:t>
            </a:r>
          </a:p>
        </p:txBody>
      </p:sp>
      <p:cxnSp>
        <p:nvCxnSpPr>
          <p:cNvPr id="8" name="s16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16_7"/>
          <p:cNvSpPr txBox="1"/>
          <p:nvPr/>
        </p:nvSpPr>
        <p:spPr>
          <a:xfrm>
            <a:off x="731520" y="850392"/>
            <a:ext cx="107259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5F7FB"/>
                </a:solidFill>
                <a:latin typeface="Bahnschrift SemiBold"/>
              </a:rPr>
              <a:t>Calibrado e mais preciso que o mercado de juros.</a:t>
            </a:r>
          </a:p>
        </p:txBody>
      </p:sp>
      <p:cxnSp>
        <p:nvCxnSpPr>
          <p:cNvPr id="10" name="s16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13" name="s16_11"/>
          <p:cNvSpPr txBox="1"/>
          <p:nvPr/>
        </p:nvSpPr>
        <p:spPr>
          <a:xfrm>
            <a:off x="731520" y="1417320"/>
            <a:ext cx="51343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OBSERVAÇÃO 1  ·  CALIBRAÇÃO</a:t>
            </a:r>
          </a:p>
        </p:txBody>
      </p:sp>
      <p:sp>
        <p:nvSpPr>
          <p:cNvPr id="14" name="s16_12"/>
          <p:cNvSpPr txBox="1"/>
          <p:nvPr/>
        </p:nvSpPr>
        <p:spPr>
          <a:xfrm>
            <a:off x="731520" y="1645920"/>
            <a:ext cx="51343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5F7FB"/>
                </a:solidFill>
                <a:latin typeface="Bahnschrift SemiBold"/>
              </a:rPr>
              <a:t>Quando o Polymarket diz X %, acontece X % das vezes.</a:t>
            </a:r>
          </a:p>
        </p:txBody>
      </p:sp>
      <p:sp>
        <p:nvSpPr>
          <p:cNvPr id="15" name="s16_13"/>
          <p:cNvSpPr txBox="1"/>
          <p:nvPr/>
        </p:nvSpPr>
        <p:spPr>
          <a:xfrm>
            <a:off x="731520" y="2212848"/>
            <a:ext cx="1554480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FB531"/>
                </a:solidFill>
                <a:latin typeface="Bahnschrift SemiBold Condensed"/>
              </a:rPr>
              <a:t>0,043</a:t>
            </a:r>
          </a:p>
        </p:txBody>
      </p:sp>
      <p:sp>
        <p:nvSpPr>
          <p:cNvPr id="16" name="s16_14"/>
          <p:cNvSpPr txBox="1"/>
          <p:nvPr/>
        </p:nvSpPr>
        <p:spPr>
          <a:xfrm>
            <a:off x="1874519" y="2258568"/>
            <a:ext cx="3488435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40">
                <a:solidFill>
                  <a:srgbClr val="F5F7FB"/>
                </a:solidFill>
                <a:latin typeface="Consolas"/>
              </a:rPr>
              <a:t>BRIER NA VÉSPERA</a:t>
            </a:r>
          </a:p>
        </p:txBody>
      </p:sp>
      <p:sp>
        <p:nvSpPr>
          <p:cNvPr id="17" name="s16_15"/>
          <p:cNvSpPr txBox="1"/>
          <p:nvPr/>
        </p:nvSpPr>
        <p:spPr>
          <a:xfrm>
            <a:off x="1874519" y="2496312"/>
            <a:ext cx="3488435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395B5"/>
                </a:solidFill>
                <a:latin typeface="Bahnschrift SemiLight"/>
              </a:rPr>
              <a:t>IC95 [0,022; 0,067]</a:t>
            </a:r>
          </a:p>
        </p:txBody>
      </p:sp>
      <p:sp>
        <p:nvSpPr>
          <p:cNvPr id="19" name="s16_17"/>
          <p:cNvSpPr txBox="1"/>
          <p:nvPr/>
        </p:nvSpPr>
        <p:spPr>
          <a:xfrm>
            <a:off x="6323075" y="1417320"/>
            <a:ext cx="513435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OBSERVAÇÃO 2  ·  DECISÃO DO FED</a:t>
            </a:r>
          </a:p>
        </p:txBody>
      </p:sp>
      <p:sp>
        <p:nvSpPr>
          <p:cNvPr id="20" name="s16_18"/>
          <p:cNvSpPr txBox="1"/>
          <p:nvPr/>
        </p:nvSpPr>
        <p:spPr>
          <a:xfrm>
            <a:off x="6323075" y="1645920"/>
            <a:ext cx="513435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5F7FB"/>
                </a:solidFill>
                <a:latin typeface="Bahnschrift SemiBold"/>
              </a:rPr>
              <a:t>Na decisão do Fed, o Polymarket erra 0,9 bps; o mercado de juros, 4,8.</a:t>
            </a:r>
          </a:p>
        </p:txBody>
      </p:sp>
      <p:sp>
        <p:nvSpPr>
          <p:cNvPr id="21" name="s16_19"/>
          <p:cNvSpPr txBox="1"/>
          <p:nvPr/>
        </p:nvSpPr>
        <p:spPr>
          <a:xfrm>
            <a:off x="6323075" y="2212848"/>
            <a:ext cx="1554480" cy="56692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0" i="0">
                <a:solidFill>
                  <a:srgbClr val="FFB531"/>
                </a:solidFill>
                <a:latin typeface="Bahnschrift SemiBold Condensed"/>
              </a:rPr>
              <a:t>0,9 × 4,8</a:t>
            </a:r>
          </a:p>
        </p:txBody>
      </p:sp>
      <p:sp>
        <p:nvSpPr>
          <p:cNvPr id="22" name="s16_20"/>
          <p:cNvSpPr txBox="1"/>
          <p:nvPr/>
        </p:nvSpPr>
        <p:spPr>
          <a:xfrm>
            <a:off x="7923275" y="2258568"/>
            <a:ext cx="3488435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 spc="40">
                <a:solidFill>
                  <a:srgbClr val="F5F7FB"/>
                </a:solidFill>
                <a:latin typeface="Consolas"/>
              </a:rPr>
              <a:t>BPS DE ERRO NA VÉSPERA</a:t>
            </a:r>
          </a:p>
        </p:txBody>
      </p:sp>
      <p:sp>
        <p:nvSpPr>
          <p:cNvPr id="23" name="s16_21"/>
          <p:cNvSpPr txBox="1"/>
          <p:nvPr/>
        </p:nvSpPr>
        <p:spPr>
          <a:xfrm>
            <a:off x="7923275" y="2496312"/>
            <a:ext cx="3488435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395B5"/>
                </a:solidFill>
                <a:latin typeface="Bahnschrift SemiLight"/>
              </a:rPr>
              <a:t>Polymarket × futuro de FF</a:t>
            </a:r>
          </a:p>
        </p:txBody>
      </p:sp>
      <p:pic>
        <p:nvPicPr>
          <p:cNvPr id="24" name="s16_22" descr="estudo_s2_m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075" y="2852928"/>
            <a:ext cx="5134355" cy="2615335"/>
          </a:xfrm>
          <a:prstGeom prst="rect">
            <a:avLst/>
          </a:prstGeom>
        </p:spPr>
      </p:pic>
      <p:sp>
        <p:nvSpPr>
          <p:cNvPr id="25" name="s16_23"/>
          <p:cNvSpPr/>
          <p:nvPr/>
        </p:nvSpPr>
        <p:spPr>
          <a:xfrm>
            <a:off x="731520" y="5596128"/>
            <a:ext cx="10725911" cy="658368"/>
          </a:xfrm>
          <a:prstGeom prst="roundRect">
            <a:avLst>
              <a:gd name="adj" fmla="val 4000"/>
            </a:avLst>
          </a:prstGeom>
          <a:gradFill rotWithShape="1">
            <a:gsLst>
              <a:gs pos="0">
                <a:srgbClr val="182946"/>
              </a:gs>
              <a:gs pos="100000">
                <a:srgbClr val="0F182B"/>
              </a:gs>
            </a:gsLst>
            <a:lin ang="5400000" scaled="0"/>
          </a:gradFill>
          <a:ln w="9525">
            <a:gradFill rotWithShape="1">
              <a:gsLst>
                <a:gs pos="0">
                  <a:srgbClr val="35507A"/>
                </a:gs>
                <a:gs pos="100000">
                  <a:srgbClr val="22345A"/>
                </a:gs>
              </a:gsLst>
              <a:lin ang="5400000" scaled="0"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s16_24"/>
          <p:cNvSpPr txBox="1"/>
          <p:nvPr/>
        </p:nvSpPr>
        <p:spPr>
          <a:xfrm>
            <a:off x="960120" y="565099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2FD3B0"/>
                </a:solidFill>
                <a:latin typeface="Consolas"/>
              </a:rPr>
              <a:t>CONCLUSÃO</a:t>
            </a:r>
          </a:p>
        </p:txBody>
      </p:sp>
      <p:sp>
        <p:nvSpPr>
          <p:cNvPr id="27" name="s16_25"/>
          <p:cNvSpPr txBox="1"/>
          <p:nvPr/>
        </p:nvSpPr>
        <p:spPr>
          <a:xfrm>
            <a:off x="960120" y="5824728"/>
            <a:ext cx="10268711" cy="38404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5F7FB"/>
                </a:solidFill>
                <a:latin typeface="Bahnschrift SemiBold"/>
              </a:rPr>
              <a:t>É uma probabilidade confiável — e melhor que os juros no que os dois precificam. </a:t>
            </a:r>
            <a:r>
              <a:rPr sz="1300" b="0" i="0">
                <a:solidFill>
                  <a:srgbClr val="FFB531"/>
                </a:solidFill>
                <a:latin typeface="Bahnschrift SemiBold"/>
              </a:rPr>
              <a:t>Por isso ela é a opinião do Black-Litterman.</a:t>
            </a:r>
          </a:p>
        </p:txBody>
      </p:sp>
      <p:sp>
        <p:nvSpPr>
          <p:cNvPr id="28" name="s16_26"/>
          <p:cNvSpPr txBox="1"/>
          <p:nvPr/>
        </p:nvSpPr>
        <p:spPr>
          <a:xfrm>
            <a:off x="731520" y="6336792"/>
            <a:ext cx="10725911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395B5"/>
                </a:solidFill>
                <a:latin typeface="Consolas"/>
              </a:rPr>
              <a:t>150 contratos do Polymarket (Fed e CPI) · 30 eventos · 1416 leituras em 11 horizontes · resolução no FRED · apêndice A1–A3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A1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A1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Apêndice · acurácia por horizonte</a:t>
            </a:r>
          </a:p>
        </p:txBody>
      </p:sp>
      <p:sp>
        <p:nvSpPr>
          <p:cNvPr id="7" name="sA1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A1</a:t>
            </a:r>
          </a:p>
        </p:txBody>
      </p:sp>
      <p:cxnSp>
        <p:nvCxnSpPr>
          <p:cNvPr id="8" name="sA1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A1_7"/>
          <p:cNvSpPr txBox="1"/>
          <p:nvPr/>
        </p:nvSpPr>
        <p:spPr>
          <a:xfrm>
            <a:off x="731520" y="850392"/>
            <a:ext cx="107259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5F7FB"/>
                </a:solidFill>
                <a:latin typeface="Bahnschrift SemiBold"/>
              </a:rPr>
              <a:t>Quanto mais perto do evento, menor o erro — e na véspera está no nível do Kalshi.</a:t>
            </a:r>
          </a:p>
        </p:txBody>
      </p:sp>
      <p:cxnSp>
        <p:nvCxnSpPr>
          <p:cNvPr id="10" name="sA1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13" name="sA1_11"/>
          <p:cNvSpPr txBox="1"/>
          <p:nvPr/>
        </p:nvSpPr>
        <p:spPr>
          <a:xfrm>
            <a:off x="1705355" y="1417320"/>
            <a:ext cx="87782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BRIER POR DIAS ANTES DA RESOLUÇÃO  ·  SKILL SOBRE A PMF UNIFORME</a:t>
            </a:r>
          </a:p>
        </p:txBody>
      </p:sp>
      <p:pic>
        <p:nvPicPr>
          <p:cNvPr id="14" name="sA1_12" descr="estudo_2_br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355" y="1645920"/>
            <a:ext cx="8778240" cy="3666611"/>
          </a:xfrm>
          <a:prstGeom prst="rect">
            <a:avLst/>
          </a:prstGeom>
        </p:spPr>
      </p:pic>
      <p:sp>
        <p:nvSpPr>
          <p:cNvPr id="15" name="sA1_13"/>
          <p:cNvSpPr txBox="1"/>
          <p:nvPr/>
        </p:nvSpPr>
        <p:spPr>
          <a:xfrm>
            <a:off x="731520" y="5532120"/>
            <a:ext cx="10725911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AC6DA"/>
                </a:solidFill>
                <a:latin typeface="Bahnschrift SemiLight"/>
              </a:rPr>
              <a:t>FOMC: 0,035 a 20 dias → 0,007 na véspera. CPI: 0,092 → 0,078 (é o objeto difícil; ninguém sabe o CPI na véspera).</a:t>
            </a:r>
          </a:p>
        </p:txBody>
      </p:sp>
      <p:sp>
        <p:nvSpPr>
          <p:cNvPr id="16" name="sA1_14"/>
          <p:cNvSpPr txBox="1"/>
          <p:nvPr/>
        </p:nvSpPr>
        <p:spPr>
          <a:xfrm>
            <a:off x="731520" y="5824728"/>
            <a:ext cx="10725911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AC6DA"/>
                </a:solidFill>
                <a:latin typeface="Bahnschrift SemiLight"/>
              </a:rPr>
              <a:t>A linha branca (as duas famílias) para em 20 dias porque os mercados de CPI vivem ~30 dias; depois só sobra FOMC.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A2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A2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Apêndice · Polymarket × mercado de juros</a:t>
            </a:r>
          </a:p>
        </p:txBody>
      </p:sp>
      <p:sp>
        <p:nvSpPr>
          <p:cNvPr id="7" name="sA2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A2</a:t>
            </a:r>
          </a:p>
        </p:txBody>
      </p:sp>
      <p:cxnSp>
        <p:nvCxnSpPr>
          <p:cNvPr id="8" name="sA2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A2_7"/>
          <p:cNvSpPr txBox="1"/>
          <p:nvPr/>
        </p:nvSpPr>
        <p:spPr>
          <a:xfrm>
            <a:off x="731520" y="850392"/>
            <a:ext cx="107259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5F7FB"/>
                </a:solidFill>
                <a:latin typeface="Bahnschrift SemiBold"/>
              </a:rPr>
              <a:t>No FOMC, o Polymarket erra menos e o futuro de FF não acrescenta informação.</a:t>
            </a:r>
          </a:p>
        </p:txBody>
      </p:sp>
      <p:cxnSp>
        <p:nvCxnSpPr>
          <p:cNvPr id="10" name="sA2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13" name="sA2_11"/>
          <p:cNvSpPr txBox="1"/>
          <p:nvPr/>
        </p:nvSpPr>
        <p:spPr>
          <a:xfrm>
            <a:off x="731520" y="1417320"/>
            <a:ext cx="6583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ERRO DO Δ TAXA E ACERTO DO DESFECHO MODAL, POR HORIZONTE</a:t>
            </a:r>
          </a:p>
        </p:txBody>
      </p:sp>
      <p:pic>
        <p:nvPicPr>
          <p:cNvPr id="14" name="sA2_12" descr="estudo_3_fomc_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6583680" cy="2749958"/>
          </a:xfrm>
          <a:prstGeom prst="rect">
            <a:avLst/>
          </a:prstGeom>
        </p:spPr>
      </p:pic>
      <p:sp>
        <p:nvSpPr>
          <p:cNvPr id="15" name="sA2_13"/>
          <p:cNvSpPr txBox="1"/>
          <p:nvPr/>
        </p:nvSpPr>
        <p:spPr>
          <a:xfrm>
            <a:off x="7589520" y="1417320"/>
            <a:ext cx="386791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QUEM SE MOVE PRIMEIRO</a:t>
            </a:r>
          </a:p>
        </p:txBody>
      </p:sp>
      <p:pic>
        <p:nvPicPr>
          <p:cNvPr id="16" name="sA2_14" descr="estudo_4_leadl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645920"/>
            <a:ext cx="3867911" cy="2610490"/>
          </a:xfrm>
          <a:prstGeom prst="rect">
            <a:avLst/>
          </a:prstGeom>
        </p:spPr>
      </p:pic>
      <p:sp>
        <p:nvSpPr>
          <p:cNvPr id="17" name="sA2_15"/>
          <p:cNvSpPr txBox="1"/>
          <p:nvPr/>
        </p:nvSpPr>
        <p:spPr>
          <a:xfrm>
            <a:off x="731520" y="4892040"/>
            <a:ext cx="10725911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AC6DA"/>
                </a:solidFill>
                <a:latin typeface="Bahnschrift SemiLight"/>
              </a:rPr>
              <a:t>Encompassing na véspera:  Δreal = a + 1,14·E_poly -0,06·E_FF   (t = 19,0 e -1,1),</a:t>
            </a:r>
          </a:p>
        </p:txBody>
      </p:sp>
      <p:sp>
        <p:nvSpPr>
          <p:cNvPr id="18" name="sA2_16"/>
          <p:cNvSpPr txBox="1"/>
          <p:nvPr/>
        </p:nvSpPr>
        <p:spPr>
          <a:xfrm>
            <a:off x="731520" y="5184648"/>
            <a:ext cx="10725911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AC6DA"/>
                </a:solidFill>
                <a:latin typeface="Bahnschrift SemiLight"/>
              </a:rPr>
              <a:t>Proxy = DTB3 − DFF (sem o contrato ZQ, D12), corrigido do viés pela média expansiva dos erros passados (D12a).</a:t>
            </a:r>
          </a:p>
        </p:txBody>
      </p:sp>
      <p:sp>
        <p:nvSpPr>
          <p:cNvPr id="19" name="sA2_17"/>
          <p:cNvSpPr txBox="1"/>
          <p:nvPr/>
        </p:nvSpPr>
        <p:spPr>
          <a:xfrm>
            <a:off x="731520" y="5477255"/>
            <a:ext cx="10725911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AC6DA"/>
                </a:solidFill>
                <a:latin typeface="Bahnschrift SemiLight"/>
              </a:rPr>
              <a:t>Lead-lag: nos lags sem sobreposição de janela (k = +1, −2) a correlação é ≈ 0 — a informação chega aos dois no mesmo pregão.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A3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A3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Apêndice · onde está o valor</a:t>
            </a:r>
          </a:p>
        </p:txBody>
      </p:sp>
      <p:sp>
        <p:nvSpPr>
          <p:cNvPr id="7" name="sA3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A3</a:t>
            </a:r>
          </a:p>
        </p:txBody>
      </p:sp>
      <p:cxnSp>
        <p:nvCxnSpPr>
          <p:cNvPr id="8" name="sA3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A3_7"/>
          <p:cNvSpPr txBox="1"/>
          <p:nvPr/>
        </p:nvSpPr>
        <p:spPr>
          <a:xfrm>
            <a:off x="731520" y="850392"/>
            <a:ext cx="1072591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5F7FB"/>
                </a:solidFill>
                <a:latin typeface="Bahnschrift SemiBold"/>
              </a:rPr>
              <a:t>O nível é sinal; o movimento não é — por isso Black-Litterman, e não trading de Δp.</a:t>
            </a:r>
          </a:p>
        </p:txBody>
      </p:sp>
      <p:cxnSp>
        <p:nvCxnSpPr>
          <p:cNvPr id="10" name="sA3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13" name="sA3_11"/>
          <p:cNvSpPr txBox="1"/>
          <p:nvPr/>
        </p:nvSpPr>
        <p:spPr>
          <a:xfrm>
            <a:off x="731520" y="1417320"/>
            <a:ext cx="5760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QUAL EXPECTATIVA EXPLICA O RETORNO DO DIA DO FOMC (R², 9 ETFs)</a:t>
            </a:r>
          </a:p>
        </p:txBody>
      </p:sp>
      <p:pic>
        <p:nvPicPr>
          <p:cNvPr id="14" name="sA3_12" descr="estudo_5_event_stu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760720" cy="2891990"/>
          </a:xfrm>
          <a:prstGeom prst="rect">
            <a:avLst/>
          </a:prstGeom>
        </p:spPr>
      </p:pic>
      <p:sp>
        <p:nvSpPr>
          <p:cNvPr id="15" name="sA3_13"/>
          <p:cNvSpPr txBox="1"/>
          <p:nvPr/>
        </p:nvSpPr>
        <p:spPr>
          <a:xfrm>
            <a:off x="6812279" y="1417320"/>
            <a:ext cx="46451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PLACAR DO ESTUDO</a:t>
            </a:r>
          </a:p>
        </p:txBody>
      </p:sp>
      <p:pic>
        <p:nvPicPr>
          <p:cNvPr id="16" name="sA3_14" descr="estudo_6_sinte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79" y="1645920"/>
            <a:ext cx="4645152" cy="2845885"/>
          </a:xfrm>
          <a:prstGeom prst="rect">
            <a:avLst/>
          </a:prstGeom>
        </p:spPr>
      </p:pic>
      <p:sp>
        <p:nvSpPr>
          <p:cNvPr id="17" name="sA3_15"/>
          <p:cNvSpPr txBox="1"/>
          <p:nvPr/>
        </p:nvSpPr>
        <p:spPr>
          <a:xfrm>
            <a:off x="731520" y="4892040"/>
            <a:ext cx="61264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AC6DA"/>
                </a:solidFill>
                <a:latin typeface="Bahnschrift SemiLight"/>
              </a:rPr>
              <a:t>Na véspera quase não sobra surpresa (MAE 0,9 bps): o que move os ETFs no dia é o caminho da política, não a decisão.</a:t>
            </a:r>
          </a:p>
        </p:txBody>
      </p:sp>
      <p:sp>
        <p:nvSpPr>
          <p:cNvPr id="18" name="sA3_16"/>
          <p:cNvSpPr txBox="1"/>
          <p:nvPr/>
        </p:nvSpPr>
        <p:spPr>
          <a:xfrm>
            <a:off x="731520" y="5184648"/>
            <a:ext cx="61264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BAC6DA"/>
                </a:solidFill>
                <a:latin typeface="Bahnschrift SemiLight"/>
              </a:rPr>
              <a:t>Antes do anúncio, Δp não antecipa o retorno (Teste_sinal.md: t ≈ 0 em h = 0, 1, 5); o preço do Polymarket reverte em 12 h (ACF −0,13, VR(5) = 0,78).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A1_0"/>
          <p:cNvSpPr txBox="1"/>
          <p:nvPr/>
        </p:nvSpPr>
        <p:spPr>
          <a:xfrm>
            <a:off x="822960" y="292608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80">
                <a:solidFill>
                  <a:srgbClr val="F5A623"/>
                </a:solidFill>
                <a:latin typeface="Segoe UI"/>
              </a:rPr>
              <a:t>KAIRÓS</a:t>
            </a:r>
            <a:r>
              <a:rPr sz="1500" b="0" spc="80">
                <a:solidFill>
                  <a:srgbClr val="E8EDF2"/>
                </a:solidFill>
                <a:latin typeface="Segoe UI"/>
              </a:rPr>
              <a:t>   Apêndice · a conta inteira</a:t>
            </a:r>
          </a:p>
        </p:txBody>
      </p:sp>
      <p:sp>
        <p:nvSpPr>
          <p:cNvPr id="3" name="sA1_1"/>
          <p:cNvSpPr txBox="1"/>
          <p:nvPr/>
        </p:nvSpPr>
        <p:spPr>
          <a:xfrm>
            <a:off x="8988552" y="347472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8299"/>
                </a:solidFill>
                <a:latin typeface="Segoe UI"/>
              </a:rPr>
              <a:t>A1</a:t>
            </a:r>
          </a:p>
        </p:txBody>
      </p:sp>
      <p:cxnSp>
        <p:nvCxnSpPr>
          <p:cNvPr id="4" name="sA1_2"/>
          <p:cNvCxnSpPr/>
          <p:nvPr/>
        </p:nvCxnSpPr>
        <p:spPr>
          <a:xfrm>
            <a:off x="822960" y="768096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A1_3"/>
          <p:cNvCxnSpPr/>
          <p:nvPr/>
        </p:nvCxnSpPr>
        <p:spPr>
          <a:xfrm>
            <a:off x="822960" y="3931920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A1_4"/>
          <p:cNvCxnSpPr/>
          <p:nvPr/>
        </p:nvCxnSpPr>
        <p:spPr>
          <a:xfrm>
            <a:off x="822960" y="6291072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A1_5"/>
          <p:cNvSpPr txBox="1"/>
          <p:nvPr/>
        </p:nvSpPr>
        <p:spPr>
          <a:xfrm>
            <a:off x="822960" y="6382512"/>
            <a:ext cx="105430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8299"/>
                </a:solidFill>
                <a:latin typeface="Segoe UI"/>
              </a:rPr>
              <a:t>Apêndice — fora dos 6 minutos, mostrado só se perguntarem.   </a:t>
            </a:r>
            <a:r>
              <a:rPr sz="850" b="0">
                <a:solidFill>
                  <a:srgbClr val="9BAEC0"/>
                </a:solidFill>
                <a:latin typeface="Segoe UI"/>
              </a:rPr>
              <a:t>scripts/slides_apendice_pptx.py</a:t>
            </a:r>
          </a:p>
        </p:txBody>
      </p:sp>
      <p:sp>
        <p:nvSpPr>
          <p:cNvPr id="8" name="sA1_6"/>
          <p:cNvSpPr/>
          <p:nvPr/>
        </p:nvSpPr>
        <p:spPr>
          <a:xfrm>
            <a:off x="822960" y="969264"/>
            <a:ext cx="2450592" cy="2724912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B2D40"/>
              </a:gs>
              <a:gs pos="100000">
                <a:srgbClr val="0C1824"/>
              </a:gs>
            </a:gsLst>
            <a:lin ang="5400000" scaled="0"/>
          </a:gradFill>
          <a:ln w="12700">
            <a:solidFill>
              <a:srgbClr val="23384C"/>
            </a:solidFill>
          </a:ln>
          <a:effectLst>
            <a:outerShdw blurRad="170000" dist="44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A1_7"/>
          <p:cNvSpPr txBox="1"/>
          <p:nvPr/>
        </p:nvSpPr>
        <p:spPr>
          <a:xfrm>
            <a:off x="1042416" y="1188720"/>
            <a:ext cx="20848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00">
                <a:solidFill>
                  <a:srgbClr val="F5A623"/>
                </a:solidFill>
                <a:latin typeface="Segoe UI"/>
              </a:rPr>
              <a:t>1 · EQUILÍBRIO</a:t>
            </a:r>
          </a:p>
        </p:txBody>
      </p:sp>
      <p:sp>
        <p:nvSpPr>
          <p:cNvPr id="10" name="sA1_8"/>
          <p:cNvSpPr txBox="1"/>
          <p:nvPr/>
        </p:nvSpPr>
        <p:spPr>
          <a:xfrm>
            <a:off x="1042416" y="1517904"/>
            <a:ext cx="20848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8EDF2"/>
                </a:solidFill>
                <a:latin typeface="Consolas"/>
              </a:rPr>
              <a:t>π = δ · Σ · w_mkt</a:t>
            </a:r>
          </a:p>
        </p:txBody>
      </p:sp>
      <p:sp>
        <p:nvSpPr>
          <p:cNvPr id="11" name="sA1_9"/>
          <p:cNvSpPr txBox="1"/>
          <p:nvPr/>
        </p:nvSpPr>
        <p:spPr>
          <a:xfrm>
            <a:off x="1042416" y="1993392"/>
            <a:ext cx="208483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3A9BC"/>
                </a:solidFill>
                <a:latin typeface="Segoe UI"/>
              </a:rPr>
              <a:t>Em vez de perguntar quais pesos são os melhores, perguntamos o contrário: que retornos fariam a carteira do mercado ser a ótima? É o ponto de partida, e não precisa de previsão nenhuma.</a:t>
            </a:r>
          </a:p>
        </p:txBody>
      </p:sp>
      <p:sp>
        <p:nvSpPr>
          <p:cNvPr id="12" name="sA1_10"/>
          <p:cNvSpPr/>
          <p:nvPr/>
        </p:nvSpPr>
        <p:spPr>
          <a:xfrm>
            <a:off x="3520440" y="969264"/>
            <a:ext cx="2450592" cy="2724912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B2D40"/>
              </a:gs>
              <a:gs pos="100000">
                <a:srgbClr val="0C1824"/>
              </a:gs>
            </a:gsLst>
            <a:lin ang="5400000" scaled="0"/>
          </a:gradFill>
          <a:ln w="12700">
            <a:solidFill>
              <a:srgbClr val="23384C"/>
            </a:solidFill>
          </a:ln>
          <a:effectLst>
            <a:outerShdw blurRad="170000" dist="44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A1_11"/>
          <p:cNvSpPr txBox="1"/>
          <p:nvPr/>
        </p:nvSpPr>
        <p:spPr>
          <a:xfrm>
            <a:off x="3739896" y="1188720"/>
            <a:ext cx="20848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00">
                <a:solidFill>
                  <a:srgbClr val="F5A623"/>
                </a:solidFill>
                <a:latin typeface="Segoe UI"/>
              </a:rPr>
              <a:t>2 · A OPINIÃO</a:t>
            </a:r>
          </a:p>
        </p:txBody>
      </p:sp>
      <p:sp>
        <p:nvSpPr>
          <p:cNvPr id="14" name="sA1_12"/>
          <p:cNvSpPr txBox="1"/>
          <p:nvPr/>
        </p:nvSpPr>
        <p:spPr>
          <a:xfrm>
            <a:off x="3739896" y="1517904"/>
            <a:ext cx="20848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8EDF2"/>
                </a:solidFill>
                <a:latin typeface="Consolas"/>
              </a:rPr>
              <a:t>P[i] = 2·(β_i − β_SPY) / Σ|β − β_SPY|</a:t>
            </a:r>
          </a:p>
        </p:txBody>
      </p:sp>
      <p:sp>
        <p:nvSpPr>
          <p:cNvPr id="15" name="sA1_13"/>
          <p:cNvSpPr txBox="1"/>
          <p:nvPr/>
        </p:nvSpPr>
        <p:spPr>
          <a:xfrm>
            <a:off x="3739896" y="2084831"/>
            <a:ext cx="20848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8EDF2"/>
                </a:solidFill>
                <a:latin typeface="Consolas"/>
              </a:rPr>
              <a:t>Q  = (Σ P·β) × surpresa</a:t>
            </a:r>
          </a:p>
        </p:txBody>
      </p:sp>
      <p:sp>
        <p:nvSpPr>
          <p:cNvPr id="16" name="sA1_14"/>
          <p:cNvSpPr txBox="1"/>
          <p:nvPr/>
        </p:nvSpPr>
        <p:spPr>
          <a:xfrm>
            <a:off x="3739896" y="2560320"/>
            <a:ext cx="208483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3A9BC"/>
                </a:solidFill>
                <a:latin typeface="Segoe UI"/>
              </a:rPr>
              <a:t>P diz quem compra e quem vende, na proporção da sensibilidade medida. Q é essa sensibilidade vezes a surpresa de hoje: o Polymarket menos o que a bolsa já embutiu.</a:t>
            </a:r>
          </a:p>
        </p:txBody>
      </p:sp>
      <p:sp>
        <p:nvSpPr>
          <p:cNvPr id="17" name="sA1_15"/>
          <p:cNvSpPr/>
          <p:nvPr/>
        </p:nvSpPr>
        <p:spPr>
          <a:xfrm>
            <a:off x="6217920" y="969264"/>
            <a:ext cx="2450592" cy="2724912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B2D40"/>
              </a:gs>
              <a:gs pos="100000">
                <a:srgbClr val="0C1824"/>
              </a:gs>
            </a:gsLst>
            <a:lin ang="5400000" scaled="0"/>
          </a:gradFill>
          <a:ln w="12700">
            <a:solidFill>
              <a:srgbClr val="23384C"/>
            </a:solidFill>
          </a:ln>
          <a:effectLst>
            <a:outerShdw blurRad="170000" dist="44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sA1_16"/>
          <p:cNvSpPr txBox="1"/>
          <p:nvPr/>
        </p:nvSpPr>
        <p:spPr>
          <a:xfrm>
            <a:off x="6437376" y="1188720"/>
            <a:ext cx="20848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00">
                <a:solidFill>
                  <a:srgbClr val="F5A623"/>
                </a:solidFill>
                <a:latin typeface="Segoe UI"/>
              </a:rPr>
              <a:t>3 · A MISTURA</a:t>
            </a:r>
          </a:p>
        </p:txBody>
      </p:sp>
      <p:sp>
        <p:nvSpPr>
          <p:cNvPr id="19" name="sA1_17"/>
          <p:cNvSpPr txBox="1"/>
          <p:nvPr/>
        </p:nvSpPr>
        <p:spPr>
          <a:xfrm>
            <a:off x="6437376" y="1517904"/>
            <a:ext cx="20848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8EDF2"/>
                </a:solidFill>
                <a:latin typeface="Consolas"/>
              </a:rPr>
              <a:t>μ = π + peso · (Q − P·π)</a:t>
            </a:r>
          </a:p>
        </p:txBody>
      </p:sp>
      <p:sp>
        <p:nvSpPr>
          <p:cNvPr id="20" name="sA1_18"/>
          <p:cNvSpPr txBox="1"/>
          <p:nvPr/>
        </p:nvSpPr>
        <p:spPr>
          <a:xfrm>
            <a:off x="6437376" y="1993392"/>
            <a:ext cx="208483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3A9BC"/>
                </a:solidFill>
                <a:latin typeface="Segoe UI"/>
              </a:rPr>
              <a:t>Só a discordância move a carteira: se a opinião concordar com o equilíbrio, nada muda. O peso vem do Ω — a confiança medida, que está no slide 5.</a:t>
            </a:r>
          </a:p>
        </p:txBody>
      </p:sp>
      <p:sp>
        <p:nvSpPr>
          <p:cNvPr id="21" name="sA1_19"/>
          <p:cNvSpPr/>
          <p:nvPr/>
        </p:nvSpPr>
        <p:spPr>
          <a:xfrm>
            <a:off x="8915400" y="969264"/>
            <a:ext cx="2450592" cy="2724912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B2D40"/>
              </a:gs>
              <a:gs pos="100000">
                <a:srgbClr val="0C1824"/>
              </a:gs>
            </a:gsLst>
            <a:lin ang="5400000" scaled="0"/>
          </a:gradFill>
          <a:ln w="12700">
            <a:solidFill>
              <a:srgbClr val="23384C"/>
            </a:solidFill>
          </a:ln>
          <a:effectLst>
            <a:outerShdw blurRad="170000" dist="44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sA1_20"/>
          <p:cNvSpPr txBox="1"/>
          <p:nvPr/>
        </p:nvSpPr>
        <p:spPr>
          <a:xfrm>
            <a:off x="9134856" y="1188720"/>
            <a:ext cx="208483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spc="100">
                <a:solidFill>
                  <a:srgbClr val="F5A623"/>
                </a:solidFill>
                <a:latin typeface="Segoe UI"/>
              </a:rPr>
              <a:t>4 · A CARTEIRA</a:t>
            </a:r>
          </a:p>
        </p:txBody>
      </p:sp>
      <p:sp>
        <p:nvSpPr>
          <p:cNvPr id="23" name="sA1_21"/>
          <p:cNvSpPr txBox="1"/>
          <p:nvPr/>
        </p:nvSpPr>
        <p:spPr>
          <a:xfrm>
            <a:off x="9134856" y="1517904"/>
            <a:ext cx="20848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8EDF2"/>
                </a:solidFill>
                <a:latin typeface="Consolas"/>
              </a:rPr>
              <a:t>w = inv(δ · Σ) · μ</a:t>
            </a:r>
          </a:p>
        </p:txBody>
      </p:sp>
      <p:sp>
        <p:nvSpPr>
          <p:cNvPr id="24" name="sA1_22"/>
          <p:cNvSpPr txBox="1"/>
          <p:nvPr/>
        </p:nvSpPr>
        <p:spPr>
          <a:xfrm>
            <a:off x="9134856" y="1847088"/>
            <a:ext cx="20848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8EDF2"/>
                </a:solidFill>
                <a:latin typeface="Consolas"/>
              </a:rPr>
              <a:t>Σ|w − w_mkt| ≤ 1</a:t>
            </a:r>
          </a:p>
        </p:txBody>
      </p:sp>
      <p:sp>
        <p:nvSpPr>
          <p:cNvPr id="25" name="sA1_23"/>
          <p:cNvSpPr txBox="1"/>
          <p:nvPr/>
        </p:nvSpPr>
        <p:spPr>
          <a:xfrm>
            <a:off x="9134856" y="2322576"/>
            <a:ext cx="208483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3A9BC"/>
                </a:solidFill>
                <a:latin typeface="Segoe UI"/>
              </a:rPr>
              <a:t>A conta clássica de carteira ótima, sem restrição de sinal — é o que permite comprar um setor e vender outro. O teto limita o desvio contra o mercado, não o tamanho da carteira.</a:t>
            </a:r>
          </a:p>
        </p:txBody>
      </p:sp>
      <p:sp>
        <p:nvSpPr>
          <p:cNvPr id="26" name="sA1_24"/>
          <p:cNvSpPr txBox="1"/>
          <p:nvPr/>
        </p:nvSpPr>
        <p:spPr>
          <a:xfrm>
            <a:off x="822960" y="4041648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5A623"/>
                </a:solidFill>
                <a:latin typeface="Segoe UI"/>
              </a:rPr>
              <a:t>O QUE CADA SÍMBOLO É</a:t>
            </a:r>
          </a:p>
        </p:txBody>
      </p:sp>
      <p:sp>
        <p:nvSpPr>
          <p:cNvPr id="27" name="sA1_25"/>
          <p:cNvSpPr txBox="1"/>
          <p:nvPr/>
        </p:nvSpPr>
        <p:spPr>
          <a:xfrm>
            <a:off x="822960" y="4352544"/>
            <a:ext cx="51206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5A623"/>
                </a:solidFill>
                <a:latin typeface="Segoe UI"/>
              </a:rPr>
              <a:t>δ   </a:t>
            </a:r>
            <a:r>
              <a:rPr sz="1050" b="0">
                <a:solidFill>
                  <a:srgbClr val="93A9BC"/>
                </a:solidFill>
                <a:latin typeface="Segoe UI"/>
              </a:rPr>
              <a:t>o quanto o investidor típico odeia risco — medido no S&amp;P 500 em 22 anos.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F5A623"/>
                </a:solidFill>
                <a:latin typeface="Segoe UI"/>
              </a:rPr>
              <a:t>Σ   </a:t>
            </a:r>
            <a:r>
              <a:rPr sz="1050" b="0">
                <a:solidFill>
                  <a:srgbClr val="93A9BC"/>
                </a:solidFill>
                <a:latin typeface="Segoe UI"/>
              </a:rPr>
              <a:t>como os nove fundos se mexem juntos — dois anos de histórico, até a véspera.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F5A623"/>
                </a:solidFill>
                <a:latin typeface="Segoe UI"/>
              </a:rPr>
              <a:t>w_mkt   </a:t>
            </a:r>
            <a:r>
              <a:rPr sz="1050" b="0">
                <a:solidFill>
                  <a:srgbClr val="93A9BC"/>
                </a:solidFill>
                <a:latin typeface="Segoe UI"/>
              </a:rPr>
              <a:t>a carteira do mercado: 100% no S&amp;P 500, porque os setores já estão dentro dele.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F5A623"/>
                </a:solidFill>
                <a:latin typeface="Segoe UI"/>
              </a:rPr>
              <a:t>β   </a:t>
            </a:r>
            <a:r>
              <a:rPr sz="1050" b="0">
                <a:solidFill>
                  <a:srgbClr val="93A9BC"/>
                </a:solidFill>
                <a:latin typeface="Segoe UI"/>
              </a:rPr>
              <a:t>quanto cada fundo anda quando o evento surpreende — sai de regressão, nunca de palpite.</a:t>
            </a:r>
          </a:p>
          <a:p>
            <a:pPr algn="l">
              <a:lnSpc>
                <a:spcPct val="12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>
                <a:solidFill>
                  <a:srgbClr val="F5A623"/>
                </a:solidFill>
                <a:latin typeface="Segoe UI"/>
              </a:rPr>
              <a:t>μ   </a:t>
            </a:r>
            <a:r>
              <a:rPr sz="1050" b="0">
                <a:solidFill>
                  <a:srgbClr val="93A9BC"/>
                </a:solidFill>
                <a:latin typeface="Segoe UI"/>
              </a:rPr>
              <a:t>o retorno esperado final, já misturando equilíbrio e opinião.</a:t>
            </a:r>
          </a:p>
        </p:txBody>
      </p:sp>
      <p:sp>
        <p:nvSpPr>
          <p:cNvPr id="28" name="sA1_26"/>
          <p:cNvSpPr/>
          <p:nvPr/>
        </p:nvSpPr>
        <p:spPr>
          <a:xfrm>
            <a:off x="6245352" y="4078224"/>
            <a:ext cx="45720" cy="1024127"/>
          </a:xfrm>
          <a:prstGeom prst="roundRect">
            <a:avLst>
              <a:gd name="adj" fmla="val 50000"/>
            </a:avLst>
          </a:prstGeom>
          <a:solidFill>
            <a:srgbClr val="4FC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sA1_27"/>
          <p:cNvSpPr txBox="1"/>
          <p:nvPr/>
        </p:nvSpPr>
        <p:spPr>
          <a:xfrm>
            <a:off x="6464808" y="4041648"/>
            <a:ext cx="4901183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EDF2"/>
                </a:solidFill>
                <a:latin typeface="Segoe UI"/>
              </a:rPr>
              <a:t>A prova de que a conta está certa. </a:t>
            </a:r>
            <a:r>
              <a:rPr sz="1150" b="0">
                <a:solidFill>
                  <a:srgbClr val="93A9BC"/>
                </a:solidFill>
                <a:latin typeface="Segoe UI"/>
              </a:rPr>
              <a:t>Sem nenhuma opinião ativa, ela devolve exatamente a carteira do mercado — sem sobra e sem resíduo. O caso extremo é testado automaticamente.</a:t>
            </a:r>
          </a:p>
        </p:txBody>
      </p:sp>
      <p:sp>
        <p:nvSpPr>
          <p:cNvPr id="30" name="sA1_28"/>
          <p:cNvSpPr/>
          <p:nvPr/>
        </p:nvSpPr>
        <p:spPr>
          <a:xfrm>
            <a:off x="6245352" y="5321807"/>
            <a:ext cx="45720" cy="84124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sA1_29"/>
          <p:cNvSpPr txBox="1"/>
          <p:nvPr/>
        </p:nvSpPr>
        <p:spPr>
          <a:xfrm>
            <a:off x="6464808" y="5285231"/>
            <a:ext cx="4901183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EDF2"/>
                </a:solidFill>
                <a:latin typeface="Segoe UI"/>
              </a:rPr>
              <a:t>A confiança (Ω) não está aqui de propósito. </a:t>
            </a:r>
            <a:r>
              <a:rPr sz="1150" b="0">
                <a:solidFill>
                  <a:srgbClr val="93A9BC"/>
                </a:solidFill>
                <a:latin typeface="Segoe UI"/>
              </a:rPr>
              <a:t>A fórmula dela é o slide 5: a régua de coerência e estabilidade do próprio mercado.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A2_0"/>
          <p:cNvSpPr txBox="1"/>
          <p:nvPr/>
        </p:nvSpPr>
        <p:spPr>
          <a:xfrm>
            <a:off x="822960" y="292608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80">
                <a:solidFill>
                  <a:srgbClr val="F5A623"/>
                </a:solidFill>
                <a:latin typeface="Segoe UI"/>
              </a:rPr>
              <a:t>KAIRÓS</a:t>
            </a:r>
            <a:r>
              <a:rPr sz="1500" b="0" spc="80">
                <a:solidFill>
                  <a:srgbClr val="E8EDF2"/>
                </a:solidFill>
                <a:latin typeface="Segoe UI"/>
              </a:rPr>
              <a:t>   Apêndice · o teto de risco, e as 8 configurações</a:t>
            </a:r>
          </a:p>
        </p:txBody>
      </p:sp>
      <p:sp>
        <p:nvSpPr>
          <p:cNvPr id="3" name="sA2_1"/>
          <p:cNvSpPr txBox="1"/>
          <p:nvPr/>
        </p:nvSpPr>
        <p:spPr>
          <a:xfrm>
            <a:off x="8988552" y="347472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8299"/>
                </a:solidFill>
                <a:latin typeface="Segoe UI"/>
              </a:rPr>
              <a:t>A2</a:t>
            </a:r>
          </a:p>
        </p:txBody>
      </p:sp>
      <p:cxnSp>
        <p:nvCxnSpPr>
          <p:cNvPr id="4" name="sA2_2"/>
          <p:cNvCxnSpPr/>
          <p:nvPr/>
        </p:nvCxnSpPr>
        <p:spPr>
          <a:xfrm>
            <a:off x="822960" y="768096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A2_3"/>
          <p:cNvCxnSpPr/>
          <p:nvPr/>
        </p:nvCxnSpPr>
        <p:spPr>
          <a:xfrm>
            <a:off x="822960" y="3931920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A2_4"/>
          <p:cNvCxnSpPr/>
          <p:nvPr/>
        </p:nvCxnSpPr>
        <p:spPr>
          <a:xfrm>
            <a:off x="822960" y="6291072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A2_5"/>
          <p:cNvSpPr txBox="1"/>
          <p:nvPr/>
        </p:nvSpPr>
        <p:spPr>
          <a:xfrm>
            <a:off x="822960" y="6382512"/>
            <a:ext cx="105430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8299"/>
                </a:solidFill>
                <a:latin typeface="Segoe UI"/>
              </a:rPr>
              <a:t>Apêndice — fora dos 6 minutos, mostrado só se perguntarem.   </a:t>
            </a:r>
            <a:r>
              <a:rPr sz="850" b="0">
                <a:solidFill>
                  <a:srgbClr val="9BAEC0"/>
                </a:solidFill>
                <a:latin typeface="Segoe UI"/>
              </a:rPr>
              <a:t>scripts/slides_apendice_pptx.py</a:t>
            </a:r>
          </a:p>
        </p:txBody>
      </p:sp>
      <p:sp>
        <p:nvSpPr>
          <p:cNvPr id="8" name="sA2_6"/>
          <p:cNvSpPr txBox="1"/>
          <p:nvPr/>
        </p:nvSpPr>
        <p:spPr>
          <a:xfrm>
            <a:off x="822960" y="1042415"/>
            <a:ext cx="4846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5A623"/>
                </a:solidFill>
                <a:latin typeface="Segoe UI"/>
              </a:rPr>
              <a:t>ENCOLHENDO A CARTEIRA INTEIRA</a:t>
            </a:r>
          </a:p>
        </p:txBody>
      </p:sp>
      <p:sp>
        <p:nvSpPr>
          <p:cNvPr id="9" name="sA2_7"/>
          <p:cNvSpPr txBox="1"/>
          <p:nvPr/>
        </p:nvSpPr>
        <p:spPr>
          <a:xfrm>
            <a:off x="822960" y="1389888"/>
            <a:ext cx="25054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LIMITE</a:t>
            </a:r>
          </a:p>
        </p:txBody>
      </p:sp>
      <p:sp>
        <p:nvSpPr>
          <p:cNvPr id="10" name="sA2_8"/>
          <p:cNvSpPr txBox="1"/>
          <p:nvPr/>
        </p:nvSpPr>
        <p:spPr>
          <a:xfrm>
            <a:off x="3328415" y="1389888"/>
            <a:ext cx="11704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RETORNO</a:t>
            </a:r>
          </a:p>
        </p:txBody>
      </p:sp>
      <p:sp>
        <p:nvSpPr>
          <p:cNvPr id="11" name="sA2_9"/>
          <p:cNvSpPr txBox="1"/>
          <p:nvPr/>
        </p:nvSpPr>
        <p:spPr>
          <a:xfrm>
            <a:off x="4498848" y="1389888"/>
            <a:ext cx="11704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VS ÍNDICE</a:t>
            </a:r>
          </a:p>
        </p:txBody>
      </p:sp>
      <p:cxnSp>
        <p:nvCxnSpPr>
          <p:cNvPr id="12" name="sA2_10"/>
          <p:cNvCxnSpPr/>
          <p:nvPr/>
        </p:nvCxnSpPr>
        <p:spPr>
          <a:xfrm>
            <a:off x="822960" y="1609344"/>
            <a:ext cx="48463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A2_11"/>
          <p:cNvSpPr txBox="1"/>
          <p:nvPr/>
        </p:nvSpPr>
        <p:spPr>
          <a:xfrm>
            <a:off x="822960" y="1700784"/>
            <a:ext cx="2505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BAEC0"/>
                </a:solidFill>
                <a:latin typeface="Segoe UI"/>
              </a:rPr>
              <a:t>teto 1</a:t>
            </a:r>
          </a:p>
        </p:txBody>
      </p:sp>
      <p:sp>
        <p:nvSpPr>
          <p:cNvPr id="14" name="sA2_12"/>
          <p:cNvSpPr txBox="1"/>
          <p:nvPr/>
        </p:nvSpPr>
        <p:spPr>
          <a:xfrm>
            <a:off x="3328415" y="1700784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+15,3%</a:t>
            </a:r>
          </a:p>
        </p:txBody>
      </p:sp>
      <p:sp>
        <p:nvSpPr>
          <p:cNvPr id="15" name="sA2_13"/>
          <p:cNvSpPr txBox="1"/>
          <p:nvPr/>
        </p:nvSpPr>
        <p:spPr>
          <a:xfrm>
            <a:off x="4498848" y="1700784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8299"/>
                </a:solidFill>
                <a:latin typeface="Segoe UI"/>
              </a:rPr>
              <a:t>−14,9 pp</a:t>
            </a:r>
          </a:p>
        </p:txBody>
      </p:sp>
      <p:cxnSp>
        <p:nvCxnSpPr>
          <p:cNvPr id="16" name="sA2_14"/>
          <p:cNvCxnSpPr/>
          <p:nvPr/>
        </p:nvCxnSpPr>
        <p:spPr>
          <a:xfrm>
            <a:off x="822960" y="1883664"/>
            <a:ext cx="48463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A2_15"/>
          <p:cNvSpPr txBox="1"/>
          <p:nvPr/>
        </p:nvSpPr>
        <p:spPr>
          <a:xfrm>
            <a:off x="822960" y="1975104"/>
            <a:ext cx="2505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BAEC0"/>
                </a:solidFill>
                <a:latin typeface="Segoe UI"/>
              </a:rPr>
              <a:t>teto 2</a:t>
            </a:r>
          </a:p>
        </p:txBody>
      </p:sp>
      <p:sp>
        <p:nvSpPr>
          <p:cNvPr id="18" name="sA2_16"/>
          <p:cNvSpPr txBox="1"/>
          <p:nvPr/>
        </p:nvSpPr>
        <p:spPr>
          <a:xfrm>
            <a:off x="3328415" y="1975104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+18,8%</a:t>
            </a:r>
          </a:p>
        </p:txBody>
      </p:sp>
      <p:sp>
        <p:nvSpPr>
          <p:cNvPr id="19" name="sA2_17"/>
          <p:cNvSpPr txBox="1"/>
          <p:nvPr/>
        </p:nvSpPr>
        <p:spPr>
          <a:xfrm>
            <a:off x="4498848" y="1975104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8299"/>
                </a:solidFill>
                <a:latin typeface="Segoe UI"/>
              </a:rPr>
              <a:t>−11,4 pp</a:t>
            </a:r>
          </a:p>
        </p:txBody>
      </p:sp>
      <p:cxnSp>
        <p:nvCxnSpPr>
          <p:cNvPr id="20" name="sA2_18"/>
          <p:cNvCxnSpPr/>
          <p:nvPr/>
        </p:nvCxnSpPr>
        <p:spPr>
          <a:xfrm>
            <a:off x="822960" y="2157984"/>
            <a:ext cx="48463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A2_19"/>
          <p:cNvSpPr txBox="1"/>
          <p:nvPr/>
        </p:nvSpPr>
        <p:spPr>
          <a:xfrm>
            <a:off x="822960" y="2249424"/>
            <a:ext cx="2505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BAEC0"/>
                </a:solidFill>
                <a:latin typeface="Segoe UI"/>
              </a:rPr>
              <a:t>teto 3</a:t>
            </a:r>
          </a:p>
        </p:txBody>
      </p:sp>
      <p:sp>
        <p:nvSpPr>
          <p:cNvPr id="22" name="sA2_20"/>
          <p:cNvSpPr txBox="1"/>
          <p:nvPr/>
        </p:nvSpPr>
        <p:spPr>
          <a:xfrm>
            <a:off x="3328415" y="2249424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+23,8%</a:t>
            </a:r>
          </a:p>
        </p:txBody>
      </p:sp>
      <p:sp>
        <p:nvSpPr>
          <p:cNvPr id="23" name="sA2_21"/>
          <p:cNvSpPr txBox="1"/>
          <p:nvPr/>
        </p:nvSpPr>
        <p:spPr>
          <a:xfrm>
            <a:off x="4498848" y="2249424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8299"/>
                </a:solidFill>
                <a:latin typeface="Segoe UI"/>
              </a:rPr>
              <a:t>−6,4 pp</a:t>
            </a:r>
          </a:p>
        </p:txBody>
      </p:sp>
      <p:cxnSp>
        <p:nvCxnSpPr>
          <p:cNvPr id="24" name="sA2_22"/>
          <p:cNvCxnSpPr/>
          <p:nvPr/>
        </p:nvCxnSpPr>
        <p:spPr>
          <a:xfrm>
            <a:off x="822960" y="2432303"/>
            <a:ext cx="48463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A2_23"/>
          <p:cNvSpPr txBox="1"/>
          <p:nvPr/>
        </p:nvSpPr>
        <p:spPr>
          <a:xfrm>
            <a:off x="822960" y="2523744"/>
            <a:ext cx="2505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BAEC0"/>
                </a:solidFill>
                <a:latin typeface="Segoe UI"/>
              </a:rPr>
              <a:t>teto 5</a:t>
            </a:r>
          </a:p>
        </p:txBody>
      </p:sp>
      <p:sp>
        <p:nvSpPr>
          <p:cNvPr id="26" name="sA2_24"/>
          <p:cNvSpPr txBox="1"/>
          <p:nvPr/>
        </p:nvSpPr>
        <p:spPr>
          <a:xfrm>
            <a:off x="3328415" y="2523744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+28,3%</a:t>
            </a:r>
          </a:p>
        </p:txBody>
      </p:sp>
      <p:sp>
        <p:nvSpPr>
          <p:cNvPr id="27" name="sA2_25"/>
          <p:cNvSpPr txBox="1"/>
          <p:nvPr/>
        </p:nvSpPr>
        <p:spPr>
          <a:xfrm>
            <a:off x="4498848" y="2523744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8299"/>
                </a:solidFill>
                <a:latin typeface="Segoe UI"/>
              </a:rPr>
              <a:t>−1,8 pp</a:t>
            </a:r>
          </a:p>
        </p:txBody>
      </p:sp>
      <p:cxnSp>
        <p:nvCxnSpPr>
          <p:cNvPr id="28" name="sA2_26"/>
          <p:cNvCxnSpPr/>
          <p:nvPr/>
        </p:nvCxnSpPr>
        <p:spPr>
          <a:xfrm>
            <a:off x="822960" y="2706623"/>
            <a:ext cx="48463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A2_27"/>
          <p:cNvSpPr txBox="1"/>
          <p:nvPr/>
        </p:nvSpPr>
        <p:spPr>
          <a:xfrm>
            <a:off x="822960" y="3017520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3A9BC"/>
                </a:solidFill>
                <a:latin typeface="Segoe UI"/>
              </a:rPr>
              <a:t>Corta tudo pelo mesmo fator, inclusive a parte que é mercado. Num ano em que o índice subiu 30%, vender índice custa caro sozinho — sem ter nada a ver com a qualidade das apostas.</a:t>
            </a:r>
          </a:p>
        </p:txBody>
      </p:sp>
      <p:sp>
        <p:nvSpPr>
          <p:cNvPr id="30" name="sA2_28"/>
          <p:cNvSpPr txBox="1"/>
          <p:nvPr/>
        </p:nvSpPr>
        <p:spPr>
          <a:xfrm>
            <a:off x="6519672" y="1042415"/>
            <a:ext cx="4846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4FC3A1"/>
                </a:solidFill>
                <a:latin typeface="Segoe UI"/>
              </a:rPr>
              <a:t>ENCOLHENDO SÓ O DESVIO  ·  A NOSSA</a:t>
            </a:r>
          </a:p>
        </p:txBody>
      </p:sp>
      <p:sp>
        <p:nvSpPr>
          <p:cNvPr id="31" name="sA2_29"/>
          <p:cNvSpPr txBox="1"/>
          <p:nvPr/>
        </p:nvSpPr>
        <p:spPr>
          <a:xfrm>
            <a:off x="6519672" y="1389888"/>
            <a:ext cx="2505456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LIMITE</a:t>
            </a:r>
          </a:p>
        </p:txBody>
      </p:sp>
      <p:sp>
        <p:nvSpPr>
          <p:cNvPr id="32" name="sA2_30"/>
          <p:cNvSpPr txBox="1"/>
          <p:nvPr/>
        </p:nvSpPr>
        <p:spPr>
          <a:xfrm>
            <a:off x="9025128" y="1389888"/>
            <a:ext cx="11704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RETORNO</a:t>
            </a:r>
          </a:p>
        </p:txBody>
      </p:sp>
      <p:sp>
        <p:nvSpPr>
          <p:cNvPr id="33" name="sA2_31"/>
          <p:cNvSpPr txBox="1"/>
          <p:nvPr/>
        </p:nvSpPr>
        <p:spPr>
          <a:xfrm>
            <a:off x="10195559" y="1389888"/>
            <a:ext cx="11704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VS ÍNDICE</a:t>
            </a:r>
          </a:p>
        </p:txBody>
      </p:sp>
      <p:cxnSp>
        <p:nvCxnSpPr>
          <p:cNvPr id="34" name="sA2_32"/>
          <p:cNvCxnSpPr/>
          <p:nvPr/>
        </p:nvCxnSpPr>
        <p:spPr>
          <a:xfrm>
            <a:off x="6519672" y="1609344"/>
            <a:ext cx="48463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A2_33"/>
          <p:cNvSpPr txBox="1"/>
          <p:nvPr/>
        </p:nvSpPr>
        <p:spPr>
          <a:xfrm>
            <a:off x="6519672" y="1700784"/>
            <a:ext cx="2505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4FC3A1"/>
                </a:solidFill>
                <a:latin typeface="Segoe UI"/>
              </a:rPr>
              <a:t>teto 1</a:t>
            </a:r>
          </a:p>
        </p:txBody>
      </p:sp>
      <p:sp>
        <p:nvSpPr>
          <p:cNvPr id="36" name="sA2_34"/>
          <p:cNvSpPr txBox="1"/>
          <p:nvPr/>
        </p:nvSpPr>
        <p:spPr>
          <a:xfrm>
            <a:off x="9025128" y="1700784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4FC3A1"/>
                </a:solidFill>
                <a:latin typeface="Segoe UI"/>
              </a:rPr>
              <a:t>+33,2%</a:t>
            </a:r>
          </a:p>
        </p:txBody>
      </p:sp>
      <p:sp>
        <p:nvSpPr>
          <p:cNvPr id="37" name="sA2_35"/>
          <p:cNvSpPr txBox="1"/>
          <p:nvPr/>
        </p:nvSpPr>
        <p:spPr>
          <a:xfrm>
            <a:off x="10195559" y="1700784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4FC3A1"/>
                </a:solidFill>
                <a:latin typeface="Segoe UI"/>
              </a:rPr>
              <a:t>+3,0 pp</a:t>
            </a:r>
          </a:p>
        </p:txBody>
      </p:sp>
      <p:cxnSp>
        <p:nvCxnSpPr>
          <p:cNvPr id="38" name="sA2_36"/>
          <p:cNvCxnSpPr/>
          <p:nvPr/>
        </p:nvCxnSpPr>
        <p:spPr>
          <a:xfrm>
            <a:off x="6519672" y="1883664"/>
            <a:ext cx="48463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sA2_37"/>
          <p:cNvSpPr txBox="1"/>
          <p:nvPr/>
        </p:nvSpPr>
        <p:spPr>
          <a:xfrm>
            <a:off x="6519672" y="1975104"/>
            <a:ext cx="2505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BAEC0"/>
                </a:solidFill>
                <a:latin typeface="Segoe UI"/>
              </a:rPr>
              <a:t>teto 2</a:t>
            </a:r>
          </a:p>
        </p:txBody>
      </p:sp>
      <p:sp>
        <p:nvSpPr>
          <p:cNvPr id="40" name="sA2_38"/>
          <p:cNvSpPr txBox="1"/>
          <p:nvPr/>
        </p:nvSpPr>
        <p:spPr>
          <a:xfrm>
            <a:off x="9025128" y="1975104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+36,5%</a:t>
            </a:r>
          </a:p>
        </p:txBody>
      </p:sp>
      <p:sp>
        <p:nvSpPr>
          <p:cNvPr id="41" name="sA2_39"/>
          <p:cNvSpPr txBox="1"/>
          <p:nvPr/>
        </p:nvSpPr>
        <p:spPr>
          <a:xfrm>
            <a:off x="10195559" y="1975104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8299"/>
                </a:solidFill>
                <a:latin typeface="Segoe UI"/>
              </a:rPr>
              <a:t>+6,4 pp</a:t>
            </a:r>
          </a:p>
        </p:txBody>
      </p:sp>
      <p:cxnSp>
        <p:nvCxnSpPr>
          <p:cNvPr id="42" name="sA2_40"/>
          <p:cNvCxnSpPr/>
          <p:nvPr/>
        </p:nvCxnSpPr>
        <p:spPr>
          <a:xfrm>
            <a:off x="6519672" y="2157984"/>
            <a:ext cx="48463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sA2_41"/>
          <p:cNvSpPr txBox="1"/>
          <p:nvPr/>
        </p:nvSpPr>
        <p:spPr>
          <a:xfrm>
            <a:off x="6519672" y="2249424"/>
            <a:ext cx="2505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BAEC0"/>
                </a:solidFill>
                <a:latin typeface="Segoe UI"/>
              </a:rPr>
              <a:t>teto 3</a:t>
            </a:r>
          </a:p>
        </p:txBody>
      </p:sp>
      <p:sp>
        <p:nvSpPr>
          <p:cNvPr id="44" name="sA2_42"/>
          <p:cNvSpPr txBox="1"/>
          <p:nvPr/>
        </p:nvSpPr>
        <p:spPr>
          <a:xfrm>
            <a:off x="9025128" y="2249424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+38,9%</a:t>
            </a:r>
          </a:p>
        </p:txBody>
      </p:sp>
      <p:sp>
        <p:nvSpPr>
          <p:cNvPr id="45" name="sA2_43"/>
          <p:cNvSpPr txBox="1"/>
          <p:nvPr/>
        </p:nvSpPr>
        <p:spPr>
          <a:xfrm>
            <a:off x="10195559" y="2249424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8299"/>
                </a:solidFill>
                <a:latin typeface="Segoe UI"/>
              </a:rPr>
              <a:t>+8,8 pp</a:t>
            </a:r>
          </a:p>
        </p:txBody>
      </p:sp>
      <p:cxnSp>
        <p:nvCxnSpPr>
          <p:cNvPr id="46" name="sA2_44"/>
          <p:cNvCxnSpPr/>
          <p:nvPr/>
        </p:nvCxnSpPr>
        <p:spPr>
          <a:xfrm>
            <a:off x="6519672" y="2432303"/>
            <a:ext cx="48463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sA2_45"/>
          <p:cNvSpPr txBox="1"/>
          <p:nvPr/>
        </p:nvSpPr>
        <p:spPr>
          <a:xfrm>
            <a:off x="6519672" y="2523744"/>
            <a:ext cx="25054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BAEC0"/>
                </a:solidFill>
                <a:latin typeface="Segoe UI"/>
              </a:rPr>
              <a:t>teto 5</a:t>
            </a:r>
          </a:p>
        </p:txBody>
      </p:sp>
      <p:sp>
        <p:nvSpPr>
          <p:cNvPr id="48" name="sA2_46"/>
          <p:cNvSpPr txBox="1"/>
          <p:nvPr/>
        </p:nvSpPr>
        <p:spPr>
          <a:xfrm>
            <a:off x="9025128" y="2523744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+45,8%</a:t>
            </a:r>
          </a:p>
        </p:txBody>
      </p:sp>
      <p:sp>
        <p:nvSpPr>
          <p:cNvPr id="49" name="sA2_47"/>
          <p:cNvSpPr txBox="1"/>
          <p:nvPr/>
        </p:nvSpPr>
        <p:spPr>
          <a:xfrm>
            <a:off x="10195559" y="2523744"/>
            <a:ext cx="1170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8299"/>
                </a:solidFill>
                <a:latin typeface="Segoe UI"/>
              </a:rPr>
              <a:t>+15,7 pp</a:t>
            </a:r>
          </a:p>
        </p:txBody>
      </p:sp>
      <p:cxnSp>
        <p:nvCxnSpPr>
          <p:cNvPr id="50" name="sA2_48"/>
          <p:cNvCxnSpPr/>
          <p:nvPr/>
        </p:nvCxnSpPr>
        <p:spPr>
          <a:xfrm>
            <a:off x="6519672" y="2706623"/>
            <a:ext cx="48463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sA2_49"/>
          <p:cNvSpPr txBox="1"/>
          <p:nvPr/>
        </p:nvSpPr>
        <p:spPr>
          <a:xfrm>
            <a:off x="6519672" y="3017520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3A9BC"/>
                </a:solidFill>
                <a:latin typeface="Segoe UI"/>
              </a:rPr>
              <a:t>Limita só o quanto a carteira se afasta do índice e entrega a perna de mercado inteira. É o escopo da entrega — e a linha que usamos é a MAIS APERTADA da tabela, não a de melhor número.</a:t>
            </a:r>
          </a:p>
        </p:txBody>
      </p:sp>
      <p:sp>
        <p:nvSpPr>
          <p:cNvPr id="52" name="sA2_50"/>
          <p:cNvSpPr txBox="1"/>
          <p:nvPr/>
        </p:nvSpPr>
        <p:spPr>
          <a:xfrm>
            <a:off x="822960" y="4041648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5A623"/>
                </a:solidFill>
                <a:latin typeface="Segoe UI"/>
              </a:rPr>
              <a:t>POR QUE ISSO NÃO É ESCOLHER O QUE FICOU BOM</a:t>
            </a:r>
          </a:p>
        </p:txBody>
      </p:sp>
      <p:sp>
        <p:nvSpPr>
          <p:cNvPr id="53" name="sA2_51"/>
          <p:cNvSpPr txBox="1"/>
          <p:nvPr/>
        </p:nvSpPr>
        <p:spPr>
          <a:xfrm>
            <a:off x="822960" y="4352544"/>
            <a:ext cx="51206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A regra veio antes.</a:t>
            </a:r>
            <a:r>
              <a:rPr sz="1050" b="0">
                <a:solidFill>
                  <a:srgbClr val="93A9BC"/>
                </a:solidFill>
                <a:latin typeface="Segoe UI"/>
              </a:rPr>
              <a:t> O escopo e o nível foram fixados antes de rodar o backtest, com plano B escrito. Nenhuma linha desta tabela foi escolhida depois.</a:t>
            </a:r>
          </a:p>
          <a:p>
            <a:pPr algn="l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Publicamos as oito.</a:t>
            </a:r>
            <a:r>
              <a:rPr sz="1050" b="0">
                <a:solidFill>
                  <a:srgbClr val="93A9BC"/>
                </a:solidFill>
                <a:latin typeface="Segoe UI"/>
              </a:rPr>
              <a:t> A alternativa honesta a escolher uma configuração é mostrar a grade inteira — inclusive as quatro em que perdemos do índice.</a:t>
            </a:r>
          </a:p>
          <a:p>
            <a:pPr algn="l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E ficamos na mais apertada.</a:t>
            </a:r>
            <a:r>
              <a:rPr sz="1050" b="0">
                <a:solidFill>
                  <a:srgbClr val="93A9BC"/>
                </a:solidFill>
                <a:latin typeface="Segoe UI"/>
              </a:rPr>
              <a:t> Afrouxar o limite melhoraria o número em toda a coluna. Não afrouxamos.</a:t>
            </a:r>
          </a:p>
        </p:txBody>
      </p:sp>
      <p:sp>
        <p:nvSpPr>
          <p:cNvPr id="54" name="sA2_52"/>
          <p:cNvSpPr/>
          <p:nvPr/>
        </p:nvSpPr>
        <p:spPr>
          <a:xfrm>
            <a:off x="6245352" y="4078224"/>
            <a:ext cx="45720" cy="138988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sA2_53"/>
          <p:cNvSpPr txBox="1"/>
          <p:nvPr/>
        </p:nvSpPr>
        <p:spPr>
          <a:xfrm>
            <a:off x="6464808" y="4041648"/>
            <a:ext cx="4901183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EDF2"/>
                </a:solidFill>
                <a:latin typeface="Segoe UI"/>
              </a:rPr>
              <a:t>O escopo vale 18 pontos, e é mecânico. </a:t>
            </a:r>
            <a:r>
              <a:rPr sz="1150" b="0">
                <a:solidFill>
                  <a:srgbClr val="93A9BC"/>
                </a:solidFill>
                <a:latin typeface="Segoe UI"/>
              </a:rPr>
              <a:t>A diferença entre as duas tabelas no mesmo limite não vem das apostas: vem de uma delas vender índice e a outra não. Por ser uma escolha tão pesada, ela é a que mais precisava ser fixada antes.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A3_0"/>
          <p:cNvSpPr txBox="1"/>
          <p:nvPr/>
        </p:nvSpPr>
        <p:spPr>
          <a:xfrm>
            <a:off x="822960" y="292608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80">
                <a:solidFill>
                  <a:srgbClr val="F5A623"/>
                </a:solidFill>
                <a:latin typeface="Segoe UI"/>
              </a:rPr>
              <a:t>KAIRÓS</a:t>
            </a:r>
            <a:r>
              <a:rPr sz="1500" b="0" spc="80">
                <a:solidFill>
                  <a:srgbClr val="E8EDF2"/>
                </a:solidFill>
                <a:latin typeface="Segoe UI"/>
              </a:rPr>
              <a:t>   Apêndice · a camada tática por dentro</a:t>
            </a:r>
          </a:p>
        </p:txBody>
      </p:sp>
      <p:sp>
        <p:nvSpPr>
          <p:cNvPr id="3" name="sA3_1"/>
          <p:cNvSpPr txBox="1"/>
          <p:nvPr/>
        </p:nvSpPr>
        <p:spPr>
          <a:xfrm>
            <a:off x="8988552" y="347472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8299"/>
                </a:solidFill>
                <a:latin typeface="Segoe UI"/>
              </a:rPr>
              <a:t>A3</a:t>
            </a:r>
          </a:p>
        </p:txBody>
      </p:sp>
      <p:cxnSp>
        <p:nvCxnSpPr>
          <p:cNvPr id="4" name="sA3_2"/>
          <p:cNvCxnSpPr/>
          <p:nvPr/>
        </p:nvCxnSpPr>
        <p:spPr>
          <a:xfrm>
            <a:off x="822960" y="768096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A3_3"/>
          <p:cNvCxnSpPr/>
          <p:nvPr/>
        </p:nvCxnSpPr>
        <p:spPr>
          <a:xfrm>
            <a:off x="822960" y="3931920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A3_4"/>
          <p:cNvCxnSpPr/>
          <p:nvPr/>
        </p:nvCxnSpPr>
        <p:spPr>
          <a:xfrm>
            <a:off x="822960" y="6291072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A3_5"/>
          <p:cNvSpPr txBox="1"/>
          <p:nvPr/>
        </p:nvSpPr>
        <p:spPr>
          <a:xfrm>
            <a:off x="822960" y="6382512"/>
            <a:ext cx="105430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8299"/>
                </a:solidFill>
                <a:latin typeface="Segoe UI"/>
              </a:rPr>
              <a:t>Apêndice — fora dos 6 minutos, mostrado só se perguntarem.   </a:t>
            </a:r>
            <a:r>
              <a:rPr sz="850" b="0">
                <a:solidFill>
                  <a:srgbClr val="9BAEC0"/>
                </a:solidFill>
                <a:latin typeface="Segoe UI"/>
              </a:rPr>
              <a:t>scripts/slides_apendice_pptx.py</a:t>
            </a:r>
          </a:p>
        </p:txBody>
      </p:sp>
      <p:sp>
        <p:nvSpPr>
          <p:cNvPr id="8" name="sA3_6"/>
          <p:cNvSpPr/>
          <p:nvPr/>
        </p:nvSpPr>
        <p:spPr>
          <a:xfrm>
            <a:off x="822960" y="1005840"/>
            <a:ext cx="3291840" cy="1691640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B2D40"/>
              </a:gs>
              <a:gs pos="100000">
                <a:srgbClr val="0C1824"/>
              </a:gs>
            </a:gsLst>
            <a:lin ang="5400000" scaled="0"/>
          </a:gradFill>
          <a:ln w="12700">
            <a:solidFill>
              <a:srgbClr val="23384C"/>
            </a:solidFill>
          </a:ln>
          <a:effectLst>
            <a:outerShdw blurRad="170000" dist="44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A3_7"/>
          <p:cNvSpPr/>
          <p:nvPr/>
        </p:nvSpPr>
        <p:spPr>
          <a:xfrm>
            <a:off x="1005840" y="1207008"/>
            <a:ext cx="45720" cy="1289304"/>
          </a:xfrm>
          <a:prstGeom prst="roundRect">
            <a:avLst>
              <a:gd name="adj" fmla="val 50000"/>
            </a:avLst>
          </a:prstGeom>
          <a:solidFill>
            <a:srgbClr val="4FC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A3_8"/>
          <p:cNvSpPr txBox="1"/>
          <p:nvPr/>
        </p:nvSpPr>
        <p:spPr>
          <a:xfrm>
            <a:off x="1225296" y="1207008"/>
            <a:ext cx="270662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4FC3A1"/>
                </a:solidFill>
                <a:latin typeface="Segoe UI"/>
              </a:rPr>
              <a:t>+42,6 pp</a:t>
            </a:r>
          </a:p>
        </p:txBody>
      </p:sp>
      <p:sp>
        <p:nvSpPr>
          <p:cNvPr id="11" name="sA3_9"/>
          <p:cNvSpPr txBox="1"/>
          <p:nvPr/>
        </p:nvSpPr>
        <p:spPr>
          <a:xfrm>
            <a:off x="1225296" y="1755648"/>
            <a:ext cx="27066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Sozinha, fora da carteira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93A9BC"/>
                </a:solidFill>
                <a:latin typeface="Segoe UI"/>
              </a:rPr>
              <a:t>327 pregões ativos · acerta a direção em 54% deles · e sem os três melhores dias sobe para +64 pp</a:t>
            </a:r>
          </a:p>
        </p:txBody>
      </p:sp>
      <p:sp>
        <p:nvSpPr>
          <p:cNvPr id="12" name="sA3_10"/>
          <p:cNvSpPr/>
          <p:nvPr/>
        </p:nvSpPr>
        <p:spPr>
          <a:xfrm>
            <a:off x="4343400" y="1005840"/>
            <a:ext cx="3291840" cy="1691640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B2D40"/>
              </a:gs>
              <a:gs pos="100000">
                <a:srgbClr val="0C1824"/>
              </a:gs>
            </a:gsLst>
            <a:lin ang="5400000" scaled="0"/>
          </a:gradFill>
          <a:ln w="12700">
            <a:solidFill>
              <a:srgbClr val="23384C"/>
            </a:solidFill>
          </a:ln>
          <a:effectLst>
            <a:outerShdw blurRad="170000" dist="44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A3_11"/>
          <p:cNvSpPr/>
          <p:nvPr/>
        </p:nvSpPr>
        <p:spPr>
          <a:xfrm>
            <a:off x="4526280" y="1207008"/>
            <a:ext cx="45720" cy="1289304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sA3_12"/>
          <p:cNvSpPr txBox="1"/>
          <p:nvPr/>
        </p:nvSpPr>
        <p:spPr>
          <a:xfrm>
            <a:off x="4745736" y="1207008"/>
            <a:ext cx="270662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5A623"/>
                </a:solidFill>
                <a:latin typeface="Segoe UI"/>
              </a:rPr>
              <a:t>−2,9 pp</a:t>
            </a:r>
          </a:p>
        </p:txBody>
      </p:sp>
      <p:sp>
        <p:nvSpPr>
          <p:cNvPr id="15" name="sA3_13"/>
          <p:cNvSpPr txBox="1"/>
          <p:nvPr/>
        </p:nvSpPr>
        <p:spPr>
          <a:xfrm>
            <a:off x="4745736" y="1755648"/>
            <a:ext cx="27066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Ao entrar na carteira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93A9BC"/>
                </a:solidFill>
                <a:latin typeface="Segoe UI"/>
              </a:rPr>
              <a:t>O excesso sobre o índice cai de +6,0 pp para +3,0 pp. Não é contradição — é divisão de um orçamento fixo de risco.</a:t>
            </a:r>
          </a:p>
        </p:txBody>
      </p:sp>
      <p:sp>
        <p:nvSpPr>
          <p:cNvPr id="16" name="sA3_14"/>
          <p:cNvSpPr/>
          <p:nvPr/>
        </p:nvSpPr>
        <p:spPr>
          <a:xfrm>
            <a:off x="822960" y="2980944"/>
            <a:ext cx="45720" cy="74980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sA3_15"/>
          <p:cNvSpPr txBox="1"/>
          <p:nvPr/>
        </p:nvSpPr>
        <p:spPr>
          <a:xfrm>
            <a:off x="1042416" y="2944368"/>
            <a:ext cx="659282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EDF2"/>
                </a:solidFill>
                <a:latin typeface="Segoe UI"/>
              </a:rPr>
              <a:t>Diga assim, se perguntarem: </a:t>
            </a:r>
            <a:r>
              <a:rPr sz="1150" b="0">
                <a:solidFill>
                  <a:srgbClr val="93A9BC"/>
                </a:solidFill>
                <a:latin typeface="Segoe UI"/>
              </a:rPr>
              <a:t>“o limite de risco é fixo. Quando a camada tática entra, ela não soma — ela divide. Nessa janela, o que ela deslocou valia um pouco mais do que o que ela trouxe.”</a:t>
            </a:r>
          </a:p>
        </p:txBody>
      </p:sp>
      <p:sp>
        <p:nvSpPr>
          <p:cNvPr id="18" name="sA3_16"/>
          <p:cNvSpPr txBox="1"/>
          <p:nvPr/>
        </p:nvSpPr>
        <p:spPr>
          <a:xfrm>
            <a:off x="8074152" y="1005840"/>
            <a:ext cx="3291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5A623"/>
                </a:solidFill>
                <a:latin typeface="Segoe UI"/>
              </a:rPr>
              <a:t>POR QUE ELA NÃO CABE</a:t>
            </a:r>
          </a:p>
        </p:txBody>
      </p:sp>
      <p:sp>
        <p:nvSpPr>
          <p:cNvPr id="19" name="sA3_17"/>
          <p:cNvSpPr txBox="1"/>
          <p:nvPr/>
        </p:nvSpPr>
        <p:spPr>
          <a:xfrm>
            <a:off x="8074152" y="1389888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3A9BC"/>
                </a:solidFill>
                <a:latin typeface="Segoe UI"/>
              </a:rPr>
              <a:t>O limite de risco da carteira inteira</a:t>
            </a:r>
          </a:p>
        </p:txBody>
      </p:sp>
      <p:sp>
        <p:nvSpPr>
          <p:cNvPr id="20" name="sA3_18"/>
          <p:cNvSpPr/>
          <p:nvPr/>
        </p:nvSpPr>
        <p:spPr>
          <a:xfrm>
            <a:off x="8074152" y="1627632"/>
            <a:ext cx="3291840" cy="201168"/>
          </a:xfrm>
          <a:prstGeom prst="roundRect">
            <a:avLst>
              <a:gd name="adj" fmla="val 11000"/>
            </a:avLst>
          </a:prstGeom>
          <a:solidFill>
            <a:srgbClr val="6B8299"/>
          </a:solidFill>
          <a:ln w="12700">
            <a:solidFill>
              <a:srgbClr val="23384C"/>
            </a:solidFill>
          </a:ln>
          <a:effectLst>
            <a:outerShdw blurRad="170000" dist="44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sA3_19"/>
          <p:cNvSpPr/>
          <p:nvPr/>
        </p:nvSpPr>
        <p:spPr>
          <a:xfrm>
            <a:off x="8074152" y="1627632"/>
            <a:ext cx="1296000" cy="201168"/>
          </a:xfrm>
          <a:prstGeom prst="roundRect">
            <a:avLst>
              <a:gd name="adj" fmla="val 11000"/>
            </a:avLst>
          </a:prstGeom>
          <a:solidFill>
            <a:srgbClr val="9BAEC0"/>
          </a:solidFill>
          <a:ln w="12700">
            <a:solidFill>
              <a:srgbClr val="23384C"/>
            </a:solidFill>
          </a:ln>
          <a:effectLst>
            <a:outerShdw blurRad="170000" dist="44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sA3_20"/>
          <p:cNvSpPr txBox="1"/>
          <p:nvPr/>
        </p:nvSpPr>
        <p:spPr>
          <a:xfrm>
            <a:off x="8074152" y="1883664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BAEC0"/>
                </a:solidFill>
                <a:latin typeface="Segoe UI"/>
              </a:rPr>
              <a:t>1,0</a:t>
            </a:r>
          </a:p>
        </p:txBody>
      </p:sp>
      <p:sp>
        <p:nvSpPr>
          <p:cNvPr id="23" name="sA3_21"/>
          <p:cNvSpPr txBox="1"/>
          <p:nvPr/>
        </p:nvSpPr>
        <p:spPr>
          <a:xfrm>
            <a:off x="8074152" y="2121408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3A9BC"/>
                </a:solidFill>
                <a:latin typeface="Segoe UI"/>
              </a:rPr>
              <a:t>O que a camada tática pede sozinha</a:t>
            </a:r>
          </a:p>
        </p:txBody>
      </p:sp>
      <p:sp>
        <p:nvSpPr>
          <p:cNvPr id="24" name="sA3_22"/>
          <p:cNvSpPr/>
          <p:nvPr/>
        </p:nvSpPr>
        <p:spPr>
          <a:xfrm>
            <a:off x="8074152" y="2359152"/>
            <a:ext cx="3291840" cy="201168"/>
          </a:xfrm>
          <a:prstGeom prst="roundRect">
            <a:avLst>
              <a:gd name="adj" fmla="val 11000"/>
            </a:avLst>
          </a:prstGeom>
          <a:solidFill>
            <a:srgbClr val="6B8299"/>
          </a:solidFill>
          <a:ln w="12700">
            <a:solidFill>
              <a:srgbClr val="23384C"/>
            </a:solidFill>
          </a:ln>
          <a:effectLst>
            <a:outerShdw blurRad="170000" dist="44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sA3_23"/>
          <p:cNvSpPr/>
          <p:nvPr/>
        </p:nvSpPr>
        <p:spPr>
          <a:xfrm>
            <a:off x="8074152" y="2359152"/>
            <a:ext cx="3291840" cy="201168"/>
          </a:xfrm>
          <a:prstGeom prst="roundRect">
            <a:avLst>
              <a:gd name="adj" fmla="val 11000"/>
            </a:avLst>
          </a:prstGeom>
          <a:solidFill>
            <a:srgbClr val="F5A623"/>
          </a:solidFill>
          <a:ln w="12700">
            <a:solidFill>
              <a:srgbClr val="23384C"/>
            </a:solidFill>
          </a:ln>
          <a:effectLst>
            <a:outerShdw blurRad="170000" dist="44000" dir="5400000" rotWithShape="0">
              <a:srgbClr val="000000">
                <a:alpha val="4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sA3_24"/>
          <p:cNvSpPr txBox="1"/>
          <p:nvPr/>
        </p:nvSpPr>
        <p:spPr>
          <a:xfrm>
            <a:off x="8074152" y="2615184"/>
            <a:ext cx="3291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5A623"/>
                </a:solidFill>
                <a:latin typeface="Segoe UI"/>
              </a:rPr>
              <a:t>2,54</a:t>
            </a:r>
          </a:p>
        </p:txBody>
      </p:sp>
      <p:sp>
        <p:nvSpPr>
          <p:cNvPr id="27" name="sA3_25"/>
          <p:cNvSpPr txBox="1"/>
          <p:nvPr/>
        </p:nvSpPr>
        <p:spPr>
          <a:xfrm>
            <a:off x="8074152" y="2834640"/>
            <a:ext cx="32918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3A9BC"/>
                </a:solidFill>
                <a:latin typeface="Segoe UI"/>
              </a:rPr>
              <a:t>Em 80% dos dias ativos o pedido dela sozinho já não cabe — então o corte encolhe também as outras apostas.</a:t>
            </a:r>
          </a:p>
        </p:txBody>
      </p:sp>
      <p:sp>
        <p:nvSpPr>
          <p:cNvPr id="28" name="sA3_26"/>
          <p:cNvSpPr txBox="1"/>
          <p:nvPr/>
        </p:nvSpPr>
        <p:spPr>
          <a:xfrm>
            <a:off x="822960" y="4041648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5A623"/>
                </a:solidFill>
                <a:latin typeface="Segoe UI"/>
              </a:rPr>
              <a:t>E AFROUXAR O LIMITE RESOLVERIA? NÃO</a:t>
            </a:r>
          </a:p>
        </p:txBody>
      </p:sp>
      <p:sp>
        <p:nvSpPr>
          <p:cNvPr id="29" name="sA3_27"/>
          <p:cNvSpPr txBox="1"/>
          <p:nvPr/>
        </p:nvSpPr>
        <p:spPr>
          <a:xfrm>
            <a:off x="822960" y="4297680"/>
            <a:ext cx="2779775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LIMITE DE RISCO</a:t>
            </a:r>
          </a:p>
        </p:txBody>
      </p:sp>
      <p:sp>
        <p:nvSpPr>
          <p:cNvPr id="30" name="sA3_28"/>
          <p:cNvSpPr txBox="1"/>
          <p:nvPr/>
        </p:nvSpPr>
        <p:spPr>
          <a:xfrm>
            <a:off x="3602735" y="4297680"/>
            <a:ext cx="11704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EFEITO</a:t>
            </a:r>
          </a:p>
        </p:txBody>
      </p:sp>
      <p:sp>
        <p:nvSpPr>
          <p:cNvPr id="31" name="sA3_29"/>
          <p:cNvSpPr txBox="1"/>
          <p:nvPr/>
        </p:nvSpPr>
        <p:spPr>
          <a:xfrm>
            <a:off x="4773168" y="4297680"/>
            <a:ext cx="11704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cxnSp>
        <p:nvCxnSpPr>
          <p:cNvPr id="32" name="sA3_30"/>
          <p:cNvCxnSpPr/>
          <p:nvPr/>
        </p:nvCxnSpPr>
        <p:spPr>
          <a:xfrm>
            <a:off x="822960" y="4498848"/>
            <a:ext cx="512064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sA3_31"/>
          <p:cNvSpPr txBox="1"/>
          <p:nvPr/>
        </p:nvSpPr>
        <p:spPr>
          <a:xfrm>
            <a:off x="822960" y="4590288"/>
            <a:ext cx="27797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BAEC0"/>
                </a:solidFill>
                <a:latin typeface="Segoe UI"/>
              </a:rPr>
              <a:t>teto 1</a:t>
            </a:r>
          </a:p>
        </p:txBody>
      </p:sp>
      <p:sp>
        <p:nvSpPr>
          <p:cNvPr id="34" name="sA3_32"/>
          <p:cNvSpPr txBox="1"/>
          <p:nvPr/>
        </p:nvSpPr>
        <p:spPr>
          <a:xfrm>
            <a:off x="3602735" y="4590288"/>
            <a:ext cx="11704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−2,94 pp</a:t>
            </a:r>
          </a:p>
        </p:txBody>
      </p:sp>
      <p:sp>
        <p:nvSpPr>
          <p:cNvPr id="35" name="sA3_33"/>
          <p:cNvSpPr txBox="1"/>
          <p:nvPr/>
        </p:nvSpPr>
        <p:spPr>
          <a:xfrm>
            <a:off x="4773168" y="4590288"/>
            <a:ext cx="11704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cxnSp>
        <p:nvCxnSpPr>
          <p:cNvPr id="36" name="sA3_34"/>
          <p:cNvCxnSpPr/>
          <p:nvPr/>
        </p:nvCxnSpPr>
        <p:spPr>
          <a:xfrm>
            <a:off x="822960" y="4754880"/>
            <a:ext cx="512064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A3_35"/>
          <p:cNvSpPr txBox="1"/>
          <p:nvPr/>
        </p:nvSpPr>
        <p:spPr>
          <a:xfrm>
            <a:off x="822960" y="4846320"/>
            <a:ext cx="27797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BAEC0"/>
                </a:solidFill>
                <a:latin typeface="Segoe UI"/>
              </a:rPr>
              <a:t>teto 2</a:t>
            </a:r>
          </a:p>
        </p:txBody>
      </p:sp>
      <p:sp>
        <p:nvSpPr>
          <p:cNvPr id="38" name="sA3_36"/>
          <p:cNvSpPr txBox="1"/>
          <p:nvPr/>
        </p:nvSpPr>
        <p:spPr>
          <a:xfrm>
            <a:off x="3602735" y="4846320"/>
            <a:ext cx="11704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−6,75 pp</a:t>
            </a:r>
          </a:p>
        </p:txBody>
      </p:sp>
      <p:sp>
        <p:nvSpPr>
          <p:cNvPr id="39" name="sA3_37"/>
          <p:cNvSpPr txBox="1"/>
          <p:nvPr/>
        </p:nvSpPr>
        <p:spPr>
          <a:xfrm>
            <a:off x="4773168" y="4846320"/>
            <a:ext cx="11704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cxnSp>
        <p:nvCxnSpPr>
          <p:cNvPr id="40" name="sA3_38"/>
          <p:cNvCxnSpPr/>
          <p:nvPr/>
        </p:nvCxnSpPr>
        <p:spPr>
          <a:xfrm>
            <a:off x="822960" y="5010912"/>
            <a:ext cx="512064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sA3_39"/>
          <p:cNvSpPr txBox="1"/>
          <p:nvPr/>
        </p:nvSpPr>
        <p:spPr>
          <a:xfrm>
            <a:off x="822960" y="5102352"/>
            <a:ext cx="27797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BAEC0"/>
                </a:solidFill>
                <a:latin typeface="Segoe UI"/>
              </a:rPr>
              <a:t>teto 3</a:t>
            </a:r>
          </a:p>
        </p:txBody>
      </p:sp>
      <p:sp>
        <p:nvSpPr>
          <p:cNvPr id="42" name="sA3_40"/>
          <p:cNvSpPr txBox="1"/>
          <p:nvPr/>
        </p:nvSpPr>
        <p:spPr>
          <a:xfrm>
            <a:off x="3602735" y="5102352"/>
            <a:ext cx="11704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−8,90 pp</a:t>
            </a:r>
          </a:p>
        </p:txBody>
      </p:sp>
      <p:sp>
        <p:nvSpPr>
          <p:cNvPr id="43" name="sA3_41"/>
          <p:cNvSpPr txBox="1"/>
          <p:nvPr/>
        </p:nvSpPr>
        <p:spPr>
          <a:xfrm>
            <a:off x="4773168" y="5102352"/>
            <a:ext cx="11704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cxnSp>
        <p:nvCxnSpPr>
          <p:cNvPr id="44" name="sA3_42"/>
          <p:cNvCxnSpPr/>
          <p:nvPr/>
        </p:nvCxnSpPr>
        <p:spPr>
          <a:xfrm>
            <a:off x="822960" y="5266944"/>
            <a:ext cx="512064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sA3_43"/>
          <p:cNvSpPr txBox="1"/>
          <p:nvPr/>
        </p:nvSpPr>
        <p:spPr>
          <a:xfrm>
            <a:off x="822960" y="5358384"/>
            <a:ext cx="2779775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BAEC0"/>
                </a:solidFill>
                <a:latin typeface="Segoe UI"/>
              </a:rPr>
              <a:t>teto 5</a:t>
            </a:r>
          </a:p>
        </p:txBody>
      </p:sp>
      <p:sp>
        <p:nvSpPr>
          <p:cNvPr id="46" name="sA3_44"/>
          <p:cNvSpPr txBox="1"/>
          <p:nvPr/>
        </p:nvSpPr>
        <p:spPr>
          <a:xfrm>
            <a:off x="3602735" y="5358384"/>
            <a:ext cx="11704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+3,82 pp</a:t>
            </a:r>
          </a:p>
        </p:txBody>
      </p:sp>
      <p:sp>
        <p:nvSpPr>
          <p:cNvPr id="47" name="sA3_45"/>
          <p:cNvSpPr txBox="1"/>
          <p:nvPr/>
        </p:nvSpPr>
        <p:spPr>
          <a:xfrm>
            <a:off x="4773168" y="5358384"/>
            <a:ext cx="11704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cxnSp>
        <p:nvCxnSpPr>
          <p:cNvPr id="48" name="sA3_46"/>
          <p:cNvCxnSpPr/>
          <p:nvPr/>
        </p:nvCxnSpPr>
        <p:spPr>
          <a:xfrm>
            <a:off x="822960" y="5522976"/>
            <a:ext cx="512064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sA3_47"/>
          <p:cNvSpPr txBox="1"/>
          <p:nvPr/>
        </p:nvSpPr>
        <p:spPr>
          <a:xfrm>
            <a:off x="822960" y="557784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3A9BC"/>
                </a:solidFill>
                <a:latin typeface="Segoe UI"/>
              </a:rPr>
              <a:t>O efeito piora até o teto 3 e só depois vira. Um padrão assim não se lê como 'a camada perde' nem como 'ela só disputa espaço' — e escolher o limite que fica bom seria exatamente o overfit que a gente diz evitar.</a:t>
            </a:r>
          </a:p>
        </p:txBody>
      </p:sp>
      <p:sp>
        <p:nvSpPr>
          <p:cNvPr id="50" name="sA3_48"/>
          <p:cNvSpPr/>
          <p:nvPr/>
        </p:nvSpPr>
        <p:spPr>
          <a:xfrm>
            <a:off x="6245352" y="4078224"/>
            <a:ext cx="45720" cy="932688"/>
          </a:xfrm>
          <a:prstGeom prst="roundRect">
            <a:avLst>
              <a:gd name="adj" fmla="val 50000"/>
            </a:avLst>
          </a:prstGeom>
          <a:solidFill>
            <a:srgbClr val="4FC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sA3_49"/>
          <p:cNvSpPr txBox="1"/>
          <p:nvPr/>
        </p:nvSpPr>
        <p:spPr>
          <a:xfrm>
            <a:off x="6464808" y="4041648"/>
            <a:ext cx="4901183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EDF2"/>
                </a:solidFill>
                <a:latin typeface="Segoe UI"/>
              </a:rPr>
              <a:t>Ela entrou por mecanismo, não por lucro. </a:t>
            </a:r>
            <a:r>
              <a:rPr sz="1150" b="0">
                <a:solidFill>
                  <a:srgbClr val="93A9BC"/>
                </a:solidFill>
                <a:latin typeface="Segoe UI"/>
              </a:rPr>
              <a:t>Lê o movimento da probabilidade, não o nível; nenhum parâmetro foi escolhido olhando resultado. Prejuízo não reprova — e o custo dessa decisão está medido acima.</a:t>
            </a:r>
          </a:p>
        </p:txBody>
      </p:sp>
      <p:sp>
        <p:nvSpPr>
          <p:cNvPr id="52" name="sA3_50"/>
          <p:cNvSpPr/>
          <p:nvPr/>
        </p:nvSpPr>
        <p:spPr>
          <a:xfrm>
            <a:off x="6245352" y="5266944"/>
            <a:ext cx="45720" cy="93268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sA3_51"/>
          <p:cNvSpPr txBox="1"/>
          <p:nvPr/>
        </p:nvSpPr>
        <p:spPr>
          <a:xfrm>
            <a:off x="6464808" y="5230368"/>
            <a:ext cx="4901183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EDF2"/>
                </a:solidFill>
                <a:latin typeface="Segoe UI"/>
              </a:rPr>
              <a:t>O único teste fora da amostra do projeto. </a:t>
            </a:r>
            <a:r>
              <a:rPr sz="1150" b="0">
                <a:solidFill>
                  <a:srgbClr val="93A9BC"/>
                </a:solidFill>
                <a:latin typeface="Segoe UI"/>
              </a:rPr>
              <a:t>A aposta da Câmara repete o comportamento em um mercado parecido, que não foi usado para construí-la. É o teste mais forte que temos, e é o único.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A4_0"/>
          <p:cNvSpPr txBox="1"/>
          <p:nvPr/>
        </p:nvSpPr>
        <p:spPr>
          <a:xfrm>
            <a:off x="822960" y="292608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80">
                <a:solidFill>
                  <a:srgbClr val="F5A623"/>
                </a:solidFill>
                <a:latin typeface="Segoe UI"/>
              </a:rPr>
              <a:t>KAIRÓS</a:t>
            </a:r>
            <a:r>
              <a:rPr sz="1500" b="0" spc="80">
                <a:solidFill>
                  <a:srgbClr val="E8EDF2"/>
                </a:solidFill>
                <a:latin typeface="Segoe UI"/>
              </a:rPr>
              <a:t>   Apêndice · robustez, concentração e cauda</a:t>
            </a:r>
          </a:p>
        </p:txBody>
      </p:sp>
      <p:sp>
        <p:nvSpPr>
          <p:cNvPr id="3" name="sA4_1"/>
          <p:cNvSpPr txBox="1"/>
          <p:nvPr/>
        </p:nvSpPr>
        <p:spPr>
          <a:xfrm>
            <a:off x="8988552" y="347472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B8299"/>
                </a:solidFill>
                <a:latin typeface="Segoe UI"/>
              </a:rPr>
              <a:t>A4</a:t>
            </a:r>
          </a:p>
        </p:txBody>
      </p:sp>
      <p:cxnSp>
        <p:nvCxnSpPr>
          <p:cNvPr id="4" name="sA4_2"/>
          <p:cNvCxnSpPr/>
          <p:nvPr/>
        </p:nvCxnSpPr>
        <p:spPr>
          <a:xfrm>
            <a:off x="822960" y="768096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A4_3"/>
          <p:cNvCxnSpPr/>
          <p:nvPr/>
        </p:nvCxnSpPr>
        <p:spPr>
          <a:xfrm>
            <a:off x="822960" y="3931920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A4_4"/>
          <p:cNvCxnSpPr/>
          <p:nvPr/>
        </p:nvCxnSpPr>
        <p:spPr>
          <a:xfrm>
            <a:off x="822960" y="6291072"/>
            <a:ext cx="10543032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A4_5"/>
          <p:cNvSpPr txBox="1"/>
          <p:nvPr/>
        </p:nvSpPr>
        <p:spPr>
          <a:xfrm>
            <a:off x="822960" y="6382512"/>
            <a:ext cx="105430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8299"/>
                </a:solidFill>
                <a:latin typeface="Segoe UI"/>
              </a:rPr>
              <a:t>Apêndice — fora dos 6 minutos, mostrado só se perguntarem.   </a:t>
            </a:r>
            <a:r>
              <a:rPr sz="850" b="0">
                <a:solidFill>
                  <a:srgbClr val="9BAEC0"/>
                </a:solidFill>
                <a:latin typeface="Segoe UI"/>
              </a:rPr>
              <a:t>scripts/slides_apendice_pptx.py</a:t>
            </a:r>
          </a:p>
        </p:txBody>
      </p:sp>
      <p:sp>
        <p:nvSpPr>
          <p:cNvPr id="8" name="sA4_6"/>
          <p:cNvSpPr txBox="1"/>
          <p:nvPr/>
        </p:nvSpPr>
        <p:spPr>
          <a:xfrm>
            <a:off x="822960" y="1042415"/>
            <a:ext cx="3246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5A623"/>
                </a:solidFill>
                <a:latin typeface="Segoe UI"/>
              </a:rPr>
              <a:t>SEM OS TRÊS MAIORES DIAS</a:t>
            </a:r>
          </a:p>
        </p:txBody>
      </p:sp>
      <p:sp>
        <p:nvSpPr>
          <p:cNvPr id="9" name="sA4_7"/>
          <p:cNvSpPr txBox="1"/>
          <p:nvPr/>
        </p:nvSpPr>
        <p:spPr>
          <a:xfrm>
            <a:off x="822960" y="1389888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APOSTA</a:t>
            </a:r>
          </a:p>
        </p:txBody>
      </p:sp>
      <p:sp>
        <p:nvSpPr>
          <p:cNvPr id="10" name="sA4_8"/>
          <p:cNvSpPr txBox="1"/>
          <p:nvPr/>
        </p:nvSpPr>
        <p:spPr>
          <a:xfrm>
            <a:off x="2331720" y="1389888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SOMA</a:t>
            </a:r>
          </a:p>
        </p:txBody>
      </p:sp>
      <p:sp>
        <p:nvSpPr>
          <p:cNvPr id="11" name="sA4_9"/>
          <p:cNvSpPr txBox="1"/>
          <p:nvPr/>
        </p:nvSpPr>
        <p:spPr>
          <a:xfrm>
            <a:off x="3200400" y="1389888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SEM 3</a:t>
            </a:r>
          </a:p>
        </p:txBody>
      </p:sp>
      <p:cxnSp>
        <p:nvCxnSpPr>
          <p:cNvPr id="12" name="sA4_10"/>
          <p:cNvCxnSpPr/>
          <p:nvPr/>
        </p:nvCxnSpPr>
        <p:spPr>
          <a:xfrm>
            <a:off x="822960" y="1591056"/>
            <a:ext cx="32461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A4_11"/>
          <p:cNvSpPr txBox="1"/>
          <p:nvPr/>
        </p:nvSpPr>
        <p:spPr>
          <a:xfrm>
            <a:off x="822960" y="1682496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Incerteza</a:t>
            </a:r>
          </a:p>
        </p:txBody>
      </p:sp>
      <p:sp>
        <p:nvSpPr>
          <p:cNvPr id="14" name="sA4_12"/>
          <p:cNvSpPr txBox="1"/>
          <p:nvPr/>
        </p:nvSpPr>
        <p:spPr>
          <a:xfrm>
            <a:off x="2331720" y="1682496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8EDF2"/>
                </a:solidFill>
                <a:latin typeface="Segoe UI"/>
              </a:rPr>
              <a:t>+3,9 pp</a:t>
            </a:r>
          </a:p>
        </p:txBody>
      </p:sp>
      <p:sp>
        <p:nvSpPr>
          <p:cNvPr id="15" name="sA4_13"/>
          <p:cNvSpPr txBox="1"/>
          <p:nvPr/>
        </p:nvSpPr>
        <p:spPr>
          <a:xfrm>
            <a:off x="3200400" y="1682496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8299"/>
                </a:solidFill>
                <a:latin typeface="Segoe UI"/>
              </a:rPr>
              <a:t>−0,5 pp</a:t>
            </a:r>
          </a:p>
        </p:txBody>
      </p:sp>
      <p:cxnSp>
        <p:nvCxnSpPr>
          <p:cNvPr id="16" name="sA4_14"/>
          <p:cNvCxnSpPr/>
          <p:nvPr/>
        </p:nvCxnSpPr>
        <p:spPr>
          <a:xfrm>
            <a:off x="822960" y="1847088"/>
            <a:ext cx="32461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A4_15"/>
          <p:cNvSpPr txBox="1"/>
          <p:nvPr/>
        </p:nvSpPr>
        <p:spPr>
          <a:xfrm>
            <a:off x="822960" y="19385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Trajetória</a:t>
            </a:r>
          </a:p>
        </p:txBody>
      </p:sp>
      <p:sp>
        <p:nvSpPr>
          <p:cNvPr id="18" name="sA4_16"/>
          <p:cNvSpPr txBox="1"/>
          <p:nvPr/>
        </p:nvSpPr>
        <p:spPr>
          <a:xfrm>
            <a:off x="2331720" y="1938528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8EDF2"/>
                </a:solidFill>
                <a:latin typeface="Segoe UI"/>
              </a:rPr>
              <a:t>−1,4 pp</a:t>
            </a:r>
          </a:p>
        </p:txBody>
      </p:sp>
      <p:sp>
        <p:nvSpPr>
          <p:cNvPr id="19" name="sA4_17"/>
          <p:cNvSpPr txBox="1"/>
          <p:nvPr/>
        </p:nvSpPr>
        <p:spPr>
          <a:xfrm>
            <a:off x="3200400" y="1938528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8299"/>
                </a:solidFill>
                <a:latin typeface="Segoe UI"/>
              </a:rPr>
              <a:t>+2,9 pp</a:t>
            </a:r>
          </a:p>
        </p:txBody>
      </p:sp>
      <p:cxnSp>
        <p:nvCxnSpPr>
          <p:cNvPr id="20" name="sA4_18"/>
          <p:cNvCxnSpPr/>
          <p:nvPr/>
        </p:nvCxnSpPr>
        <p:spPr>
          <a:xfrm>
            <a:off x="822960" y="2103120"/>
            <a:ext cx="32461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A4_19"/>
          <p:cNvSpPr txBox="1"/>
          <p:nvPr/>
        </p:nvSpPr>
        <p:spPr>
          <a:xfrm>
            <a:off x="822960" y="2194560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As duas juntas</a:t>
            </a:r>
          </a:p>
        </p:txBody>
      </p:sp>
      <p:sp>
        <p:nvSpPr>
          <p:cNvPr id="22" name="sA4_20"/>
          <p:cNvSpPr txBox="1"/>
          <p:nvPr/>
        </p:nvSpPr>
        <p:spPr>
          <a:xfrm>
            <a:off x="2331720" y="2194560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8EDF2"/>
                </a:solidFill>
                <a:latin typeface="Segoe UI"/>
              </a:rPr>
              <a:t>+2,2 pp</a:t>
            </a:r>
          </a:p>
        </p:txBody>
      </p:sp>
      <p:sp>
        <p:nvSpPr>
          <p:cNvPr id="23" name="sA4_21"/>
          <p:cNvSpPr txBox="1"/>
          <p:nvPr/>
        </p:nvSpPr>
        <p:spPr>
          <a:xfrm>
            <a:off x="3200400" y="2194560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8299"/>
                </a:solidFill>
                <a:latin typeface="Segoe UI"/>
              </a:rPr>
              <a:t>+2,5 pp</a:t>
            </a:r>
          </a:p>
        </p:txBody>
      </p:sp>
      <p:cxnSp>
        <p:nvCxnSpPr>
          <p:cNvPr id="24" name="sA4_22"/>
          <p:cNvCxnSpPr/>
          <p:nvPr/>
        </p:nvCxnSpPr>
        <p:spPr>
          <a:xfrm>
            <a:off x="822960" y="2359152"/>
            <a:ext cx="32461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A4_23"/>
          <p:cNvSpPr txBox="1"/>
          <p:nvPr/>
        </p:nvSpPr>
        <p:spPr>
          <a:xfrm>
            <a:off x="822960" y="2578608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3A9BC"/>
                </a:solidFill>
                <a:latin typeface="Segoe UI"/>
              </a:rPr>
              <a:t>A aposta de incerteza vira negativa sem os três maiores dias — e isso foi escrito ANTES de ligá-la. O acerto de direção das duas é de 48% e 49%: cara ou coroa.</a:t>
            </a:r>
          </a:p>
        </p:txBody>
      </p:sp>
      <p:sp>
        <p:nvSpPr>
          <p:cNvPr id="26" name="sA4_24"/>
          <p:cNvSpPr txBox="1"/>
          <p:nvPr/>
        </p:nvSpPr>
        <p:spPr>
          <a:xfrm>
            <a:off x="4434840" y="1042415"/>
            <a:ext cx="3246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5A623"/>
                </a:solidFill>
                <a:latin typeface="Segoe UI"/>
              </a:rPr>
              <a:t>SE CORRIGIRMOS O VIÉS DE AZARÃO</a:t>
            </a:r>
          </a:p>
        </p:txBody>
      </p:sp>
      <p:sp>
        <p:nvSpPr>
          <p:cNvPr id="27" name="sA4_25"/>
          <p:cNvSpPr txBox="1"/>
          <p:nvPr/>
        </p:nvSpPr>
        <p:spPr>
          <a:xfrm>
            <a:off x="4434840" y="1389888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CORREÇÃO</a:t>
            </a:r>
          </a:p>
        </p:txBody>
      </p:sp>
      <p:sp>
        <p:nvSpPr>
          <p:cNvPr id="28" name="sA4_26"/>
          <p:cNvSpPr txBox="1"/>
          <p:nvPr/>
        </p:nvSpPr>
        <p:spPr>
          <a:xfrm>
            <a:off x="5943600" y="1389888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VS ÍNDICE</a:t>
            </a:r>
          </a:p>
        </p:txBody>
      </p:sp>
      <p:sp>
        <p:nvSpPr>
          <p:cNvPr id="29" name="sA4_27"/>
          <p:cNvSpPr txBox="1"/>
          <p:nvPr/>
        </p:nvSpPr>
        <p:spPr>
          <a:xfrm>
            <a:off x="6812280" y="1389888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cxnSp>
        <p:nvCxnSpPr>
          <p:cNvPr id="30" name="sA4_28"/>
          <p:cNvCxnSpPr/>
          <p:nvPr/>
        </p:nvCxnSpPr>
        <p:spPr>
          <a:xfrm>
            <a:off x="4434840" y="1591056"/>
            <a:ext cx="3246119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A4_29"/>
          <p:cNvSpPr txBox="1"/>
          <p:nvPr/>
        </p:nvSpPr>
        <p:spPr>
          <a:xfrm>
            <a:off x="4434840" y="1682496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γ = 1,0</a:t>
            </a:r>
          </a:p>
        </p:txBody>
      </p:sp>
      <p:sp>
        <p:nvSpPr>
          <p:cNvPr id="32" name="sA4_30"/>
          <p:cNvSpPr txBox="1"/>
          <p:nvPr/>
        </p:nvSpPr>
        <p:spPr>
          <a:xfrm>
            <a:off x="5943600" y="1682496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8EDF2"/>
                </a:solidFill>
                <a:latin typeface="Segoe UI"/>
              </a:rPr>
              <a:t>+3,0 pp</a:t>
            </a:r>
          </a:p>
        </p:txBody>
      </p:sp>
      <p:sp>
        <p:nvSpPr>
          <p:cNvPr id="33" name="sA4_31"/>
          <p:cNvSpPr txBox="1"/>
          <p:nvPr/>
        </p:nvSpPr>
        <p:spPr>
          <a:xfrm>
            <a:off x="6812280" y="1682496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cxnSp>
        <p:nvCxnSpPr>
          <p:cNvPr id="34" name="sA4_32"/>
          <p:cNvCxnSpPr/>
          <p:nvPr/>
        </p:nvCxnSpPr>
        <p:spPr>
          <a:xfrm>
            <a:off x="4434840" y="1847088"/>
            <a:ext cx="3246119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A4_33"/>
          <p:cNvSpPr txBox="1"/>
          <p:nvPr/>
        </p:nvSpPr>
        <p:spPr>
          <a:xfrm>
            <a:off x="4434840" y="19385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γ = 1,1</a:t>
            </a:r>
          </a:p>
        </p:txBody>
      </p:sp>
      <p:sp>
        <p:nvSpPr>
          <p:cNvPr id="36" name="sA4_34"/>
          <p:cNvSpPr txBox="1"/>
          <p:nvPr/>
        </p:nvSpPr>
        <p:spPr>
          <a:xfrm>
            <a:off x="5943600" y="1938528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8EDF2"/>
                </a:solidFill>
                <a:latin typeface="Segoe UI"/>
              </a:rPr>
              <a:t>+3,6 pp</a:t>
            </a:r>
          </a:p>
        </p:txBody>
      </p:sp>
      <p:sp>
        <p:nvSpPr>
          <p:cNvPr id="37" name="sA4_35"/>
          <p:cNvSpPr txBox="1"/>
          <p:nvPr/>
        </p:nvSpPr>
        <p:spPr>
          <a:xfrm>
            <a:off x="6812280" y="1938528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cxnSp>
        <p:nvCxnSpPr>
          <p:cNvPr id="38" name="sA4_36"/>
          <p:cNvCxnSpPr/>
          <p:nvPr/>
        </p:nvCxnSpPr>
        <p:spPr>
          <a:xfrm>
            <a:off x="4434840" y="2103120"/>
            <a:ext cx="3246119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sA4_37"/>
          <p:cNvSpPr txBox="1"/>
          <p:nvPr/>
        </p:nvSpPr>
        <p:spPr>
          <a:xfrm>
            <a:off x="4434840" y="2194560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γ = 1,25</a:t>
            </a:r>
          </a:p>
        </p:txBody>
      </p:sp>
      <p:sp>
        <p:nvSpPr>
          <p:cNvPr id="40" name="sA4_38"/>
          <p:cNvSpPr txBox="1"/>
          <p:nvPr/>
        </p:nvSpPr>
        <p:spPr>
          <a:xfrm>
            <a:off x="5943600" y="2194560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8EDF2"/>
                </a:solidFill>
                <a:latin typeface="Segoe UI"/>
              </a:rPr>
              <a:t>+3,9 pp</a:t>
            </a:r>
          </a:p>
        </p:txBody>
      </p:sp>
      <p:sp>
        <p:nvSpPr>
          <p:cNvPr id="41" name="sA4_39"/>
          <p:cNvSpPr txBox="1"/>
          <p:nvPr/>
        </p:nvSpPr>
        <p:spPr>
          <a:xfrm>
            <a:off x="6812280" y="2194560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cxnSp>
        <p:nvCxnSpPr>
          <p:cNvPr id="42" name="sA4_40"/>
          <p:cNvCxnSpPr/>
          <p:nvPr/>
        </p:nvCxnSpPr>
        <p:spPr>
          <a:xfrm>
            <a:off x="4434840" y="2359152"/>
            <a:ext cx="3246119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sA4_41"/>
          <p:cNvSpPr txBox="1"/>
          <p:nvPr/>
        </p:nvSpPr>
        <p:spPr>
          <a:xfrm>
            <a:off x="4434840" y="2578608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3A9BC"/>
                </a:solidFill>
                <a:latin typeface="Segoe UI"/>
              </a:rPr>
              <a:t>Apostadores pagam caro demais no azarão. Não corrigimos esse viés no resultado principal — e corrigir só melhoraria o número. A conclusão não depende disso.</a:t>
            </a:r>
          </a:p>
        </p:txBody>
      </p:sp>
      <p:sp>
        <p:nvSpPr>
          <p:cNvPr id="44" name="sA4_42"/>
          <p:cNvSpPr txBox="1"/>
          <p:nvPr/>
        </p:nvSpPr>
        <p:spPr>
          <a:xfrm>
            <a:off x="8119872" y="1042415"/>
            <a:ext cx="3246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5A623"/>
                </a:solidFill>
                <a:latin typeface="Segoe UI"/>
              </a:rPr>
              <a:t>CAPTURA DE ALTA E DE QUEDA</a:t>
            </a:r>
          </a:p>
        </p:txBody>
      </p:sp>
      <p:sp>
        <p:nvSpPr>
          <p:cNvPr id="45" name="sA4_43"/>
          <p:cNvSpPr txBox="1"/>
          <p:nvPr/>
        </p:nvSpPr>
        <p:spPr>
          <a:xfrm>
            <a:off x="8119872" y="1389888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NO DIA EM QUE</a:t>
            </a:r>
          </a:p>
        </p:txBody>
      </p:sp>
      <p:sp>
        <p:nvSpPr>
          <p:cNvPr id="46" name="sA4_44"/>
          <p:cNvSpPr txBox="1"/>
          <p:nvPr/>
        </p:nvSpPr>
        <p:spPr>
          <a:xfrm>
            <a:off x="9628632" y="1389888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spc="100">
                <a:solidFill>
                  <a:srgbClr val="6B8299"/>
                </a:solidFill>
                <a:latin typeface="Segoe UI"/>
              </a:rPr>
              <a:t>CAPTURA</a:t>
            </a:r>
          </a:p>
        </p:txBody>
      </p:sp>
      <p:sp>
        <p:nvSpPr>
          <p:cNvPr id="47" name="sA4_45"/>
          <p:cNvSpPr txBox="1"/>
          <p:nvPr/>
        </p:nvSpPr>
        <p:spPr>
          <a:xfrm>
            <a:off x="10497312" y="1389888"/>
            <a:ext cx="868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cxnSp>
        <p:nvCxnSpPr>
          <p:cNvPr id="48" name="sA4_46"/>
          <p:cNvCxnSpPr/>
          <p:nvPr/>
        </p:nvCxnSpPr>
        <p:spPr>
          <a:xfrm>
            <a:off x="8119872" y="1591056"/>
            <a:ext cx="32461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sA4_47"/>
          <p:cNvSpPr txBox="1"/>
          <p:nvPr/>
        </p:nvSpPr>
        <p:spPr>
          <a:xfrm>
            <a:off x="8119872" y="1682496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dias de alta</a:t>
            </a:r>
          </a:p>
        </p:txBody>
      </p:sp>
      <p:sp>
        <p:nvSpPr>
          <p:cNvPr id="50" name="sA4_48"/>
          <p:cNvSpPr txBox="1"/>
          <p:nvPr/>
        </p:nvSpPr>
        <p:spPr>
          <a:xfrm>
            <a:off x="9628632" y="1682496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8EDF2"/>
                </a:solidFill>
                <a:latin typeface="Segoe UI"/>
              </a:rPr>
              <a:t>95%</a:t>
            </a:r>
          </a:p>
        </p:txBody>
      </p:sp>
      <p:sp>
        <p:nvSpPr>
          <p:cNvPr id="51" name="sA4_49"/>
          <p:cNvSpPr txBox="1"/>
          <p:nvPr/>
        </p:nvSpPr>
        <p:spPr>
          <a:xfrm>
            <a:off x="10497312" y="1682496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cxnSp>
        <p:nvCxnSpPr>
          <p:cNvPr id="52" name="sA4_50"/>
          <p:cNvCxnSpPr/>
          <p:nvPr/>
        </p:nvCxnSpPr>
        <p:spPr>
          <a:xfrm>
            <a:off x="8119872" y="1847088"/>
            <a:ext cx="32461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sA4_51"/>
          <p:cNvSpPr txBox="1"/>
          <p:nvPr/>
        </p:nvSpPr>
        <p:spPr>
          <a:xfrm>
            <a:off x="8119872" y="1938528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dias de baixa</a:t>
            </a:r>
          </a:p>
        </p:txBody>
      </p:sp>
      <p:sp>
        <p:nvSpPr>
          <p:cNvPr id="54" name="sA4_52"/>
          <p:cNvSpPr txBox="1"/>
          <p:nvPr/>
        </p:nvSpPr>
        <p:spPr>
          <a:xfrm>
            <a:off x="9628632" y="1938528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8EDF2"/>
                </a:solidFill>
                <a:latin typeface="Segoe UI"/>
              </a:rPr>
              <a:t>91%</a:t>
            </a:r>
          </a:p>
        </p:txBody>
      </p:sp>
      <p:sp>
        <p:nvSpPr>
          <p:cNvPr id="55" name="sA4_53"/>
          <p:cNvSpPr txBox="1"/>
          <p:nvPr/>
        </p:nvSpPr>
        <p:spPr>
          <a:xfrm>
            <a:off x="10497312" y="1938528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cxnSp>
        <p:nvCxnSpPr>
          <p:cNvPr id="56" name="sA4_54"/>
          <p:cNvCxnSpPr/>
          <p:nvPr/>
        </p:nvCxnSpPr>
        <p:spPr>
          <a:xfrm>
            <a:off x="8119872" y="2103120"/>
            <a:ext cx="32461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sA4_55"/>
          <p:cNvSpPr txBox="1"/>
          <p:nvPr/>
        </p:nvSpPr>
        <p:spPr>
          <a:xfrm>
            <a:off x="8119872" y="2194560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5% piores dias</a:t>
            </a:r>
          </a:p>
        </p:txBody>
      </p:sp>
      <p:sp>
        <p:nvSpPr>
          <p:cNvPr id="58" name="sA4_56"/>
          <p:cNvSpPr txBox="1"/>
          <p:nvPr/>
        </p:nvSpPr>
        <p:spPr>
          <a:xfrm>
            <a:off x="9628632" y="2194560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8EDF2"/>
                </a:solidFill>
                <a:latin typeface="Segoe UI"/>
              </a:rPr>
              <a:t>98%</a:t>
            </a:r>
          </a:p>
        </p:txBody>
      </p:sp>
      <p:sp>
        <p:nvSpPr>
          <p:cNvPr id="59" name="sA4_57"/>
          <p:cNvSpPr txBox="1"/>
          <p:nvPr/>
        </p:nvSpPr>
        <p:spPr>
          <a:xfrm>
            <a:off x="10497312" y="2194560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cxnSp>
        <p:nvCxnSpPr>
          <p:cNvPr id="60" name="sA4_58"/>
          <p:cNvCxnSpPr/>
          <p:nvPr/>
        </p:nvCxnSpPr>
        <p:spPr>
          <a:xfrm>
            <a:off x="8119872" y="2359152"/>
            <a:ext cx="32461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sA4_59"/>
          <p:cNvSpPr txBox="1"/>
          <p:nvPr/>
        </p:nvSpPr>
        <p:spPr>
          <a:xfrm>
            <a:off x="8119872" y="2450592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BAEC0"/>
                </a:solidFill>
                <a:latin typeface="Segoe UI"/>
              </a:rPr>
              <a:t>5% melhores dias</a:t>
            </a:r>
          </a:p>
        </p:txBody>
      </p:sp>
      <p:sp>
        <p:nvSpPr>
          <p:cNvPr id="62" name="sA4_60"/>
          <p:cNvSpPr txBox="1"/>
          <p:nvPr/>
        </p:nvSpPr>
        <p:spPr>
          <a:xfrm>
            <a:off x="9628632" y="2450592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8EDF2"/>
                </a:solidFill>
                <a:latin typeface="Segoe UI"/>
              </a:rPr>
              <a:t>90%</a:t>
            </a:r>
          </a:p>
        </p:txBody>
      </p:sp>
      <p:sp>
        <p:nvSpPr>
          <p:cNvPr id="63" name="sA4_61"/>
          <p:cNvSpPr txBox="1"/>
          <p:nvPr/>
        </p:nvSpPr>
        <p:spPr>
          <a:xfrm>
            <a:off x="10497312" y="2450592"/>
            <a:ext cx="8686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/>
          </a:p>
        </p:txBody>
      </p:sp>
      <p:cxnSp>
        <p:nvCxnSpPr>
          <p:cNvPr id="64" name="sA4_62"/>
          <p:cNvCxnSpPr/>
          <p:nvPr/>
        </p:nvCxnSpPr>
        <p:spPr>
          <a:xfrm>
            <a:off x="8119872" y="2615184"/>
            <a:ext cx="3246120" cy="0"/>
          </a:xfrm>
          <a:prstGeom prst="line">
            <a:avLst/>
          </a:prstGeom>
          <a:ln w="9525">
            <a:solidFill>
              <a:srgbClr val="243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sA4_63"/>
          <p:cNvSpPr txBox="1"/>
          <p:nvPr/>
        </p:nvSpPr>
        <p:spPr>
          <a:xfrm>
            <a:off x="8119872" y="2834640"/>
            <a:ext cx="32461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3A9BC"/>
                </a:solidFill>
                <a:latin typeface="Segoe UI"/>
              </a:rPr>
              <a:t>No dia comum a carteira cai um pouco menos que o índice. Nos dias extremos a vantagem some: caímos quase igual e subimos menos.</a:t>
            </a:r>
          </a:p>
        </p:txBody>
      </p:sp>
      <p:sp>
        <p:nvSpPr>
          <p:cNvPr id="66" name="sA4_64"/>
          <p:cNvSpPr txBox="1"/>
          <p:nvPr/>
        </p:nvSpPr>
        <p:spPr>
          <a:xfrm>
            <a:off x="822960" y="4041648"/>
            <a:ext cx="51206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spc="100">
                <a:solidFill>
                  <a:srgbClr val="F5A623"/>
                </a:solidFill>
                <a:latin typeface="Segoe UI"/>
              </a:rPr>
              <a:t>E O GANHO DE TRÊS PONTOS — É SORTE?</a:t>
            </a:r>
          </a:p>
        </p:txBody>
      </p:sp>
      <p:sp>
        <p:nvSpPr>
          <p:cNvPr id="67" name="sA4_65"/>
          <p:cNvSpPr txBox="1"/>
          <p:nvPr/>
        </p:nvSpPr>
        <p:spPr>
          <a:xfrm>
            <a:off x="822960" y="4352544"/>
            <a:ext cx="51206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Pode ser, e não temos como provar o contrário.</a:t>
            </a:r>
            <a:r>
              <a:rPr sz="1050" b="0">
                <a:solidFill>
                  <a:srgbClr val="93A9BC"/>
                </a:solidFill>
                <a:latin typeface="Segoe UI"/>
              </a:rPr>
              <a:t> O teste dá 0,62 e o mínimo para se afirmar algo é 2. Com um ano e meio de dados, chegar lá é matematicamente impossível.</a:t>
            </a:r>
          </a:p>
          <a:p>
            <a:pPr algn="l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Não é um mês sortudo.</a:t>
            </a:r>
            <a:r>
              <a:rPr sz="1050" b="0">
                <a:solidFill>
                  <a:srgbClr val="93A9BC"/>
                </a:solidFill>
                <a:latin typeface="Segoe UI"/>
              </a:rPr>
              <a:t> A carteira bateu o índice em 11 dos 19 meses do período.</a:t>
            </a:r>
          </a:p>
          <a:p>
            <a:pPr algn="l">
              <a:lnSpc>
                <a:spcPct val="126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>
                <a:solidFill>
                  <a:srgbClr val="E8EDF2"/>
                </a:solidFill>
                <a:latin typeface="Segoe UI"/>
              </a:rPr>
              <a:t>O que defendemos é o método.</a:t>
            </a:r>
            <a:r>
              <a:rPr sz="1050" b="0">
                <a:solidFill>
                  <a:srgbClr val="93A9BC"/>
                </a:solidFill>
                <a:latin typeface="Segoe UI"/>
              </a:rPr>
              <a:t> Cada peça foi escolhida por um motivo escrito antes de medir — e nenhuma aposta foi cortada por dar prejuízo.</a:t>
            </a:r>
          </a:p>
        </p:txBody>
      </p:sp>
      <p:sp>
        <p:nvSpPr>
          <p:cNvPr id="68" name="sA4_66"/>
          <p:cNvSpPr/>
          <p:nvPr/>
        </p:nvSpPr>
        <p:spPr>
          <a:xfrm>
            <a:off x="6245352" y="4078224"/>
            <a:ext cx="45720" cy="93268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sA4_67"/>
          <p:cNvSpPr txBox="1"/>
          <p:nvPr/>
        </p:nvSpPr>
        <p:spPr>
          <a:xfrm>
            <a:off x="6464808" y="4041648"/>
            <a:ext cx="4901183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EDF2"/>
                </a:solidFill>
                <a:latin typeface="Segoe UI"/>
              </a:rPr>
              <a:t>O custo não decide o resultado. </a:t>
            </a:r>
            <a:r>
              <a:rPr sz="1150" b="0">
                <a:solidFill>
                  <a:srgbClr val="93A9BC"/>
                </a:solidFill>
                <a:latin typeface="Segoe UI"/>
              </a:rPr>
              <a:t>Supomos 2 bps por lado. O custo teria de ser 11 vezes maior para zerar o ganho — e testamos negociar menos, sem melhora.</a:t>
            </a:r>
          </a:p>
        </p:txBody>
      </p:sp>
      <p:sp>
        <p:nvSpPr>
          <p:cNvPr id="70" name="sA4_68"/>
          <p:cNvSpPr/>
          <p:nvPr/>
        </p:nvSpPr>
        <p:spPr>
          <a:xfrm>
            <a:off x="6245352" y="5266944"/>
            <a:ext cx="45720" cy="932688"/>
          </a:xfrm>
          <a:prstGeom prst="roundRect">
            <a:avLst>
              <a:gd name="adj" fmla="val 50000"/>
            </a:avLst>
          </a:prstGeom>
          <a:solidFill>
            <a:srgbClr val="4FC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sA4_69"/>
          <p:cNvSpPr txBox="1"/>
          <p:nvPr/>
        </p:nvSpPr>
        <p:spPr>
          <a:xfrm>
            <a:off x="6464808" y="5230368"/>
            <a:ext cx="4901183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EDF2"/>
                </a:solidFill>
                <a:latin typeface="Segoe UI"/>
              </a:rPr>
              <a:t>Alfa e beta, para quem pedir. </a:t>
            </a:r>
            <a:r>
              <a:rPr sz="1150" b="0">
                <a:solidFill>
                  <a:srgbClr val="93A9BC"/>
                </a:solidFill>
                <a:latin typeface="Segoe UI"/>
              </a:rPr>
              <a:t>Beta de 0,95 e alfa de +2,57% ao ano, pela regressão diária contra o S&amp;P 500, com taxa livre de risco zero para os dois lados.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92100"/>
            <a:ext cx="8229600" cy="3111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80"/>
              </a:lnSpc>
            </a:pPr>
            <a:r>
              <a:rPr sz="1500" b="1" spc="80">
                <a:solidFill>
                  <a:srgbClr val="F5A623"/>
                </a:solidFill>
                <a:latin typeface="Segoe UI"/>
              </a:rPr>
              <a:t>KAIRÓS</a:t>
            </a:r>
            <a:r>
              <a:rPr sz="1500" b="0" spc="80">
                <a:solidFill>
                  <a:srgbClr val="E8EDF2"/>
                </a:solidFill>
                <a:latin typeface="Segoe UI"/>
              </a:rPr>
              <a:t>  Apêndice · de onde sai o 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89060" y="347980"/>
            <a:ext cx="2377440" cy="21971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100" b="0">
                <a:solidFill>
                  <a:srgbClr val="6B8299"/>
                </a:solidFill>
                <a:latin typeface="Segoe UI"/>
              </a:rPr>
              <a:t>A5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68350"/>
            <a:ext cx="10543540" cy="9525"/>
          </a:xfrm>
          <a:prstGeom prst="rect">
            <a:avLst/>
          </a:prstGeom>
          <a:solidFill>
            <a:srgbClr val="243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3931920"/>
            <a:ext cx="10543540" cy="9525"/>
          </a:xfrm>
          <a:prstGeom prst="rect">
            <a:avLst/>
          </a:prstGeom>
          <a:solidFill>
            <a:srgbClr val="243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6291580"/>
            <a:ext cx="10543540" cy="9525"/>
          </a:xfrm>
          <a:prstGeom prst="rect">
            <a:avLst/>
          </a:prstGeom>
          <a:solidFill>
            <a:srgbClr val="243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6383020"/>
            <a:ext cx="1054354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>
                <a:solidFill>
                  <a:srgbClr val="6B8299"/>
                </a:solidFill>
                <a:latin typeface="Segoe UI"/>
              </a:rPr>
              <a:t>Apêndice — fora dos 6 minutos, mostrado só se perguntarem.   </a:t>
            </a:r>
            <a:r>
              <a:rPr sz="850" b="0">
                <a:solidFill>
                  <a:srgbClr val="9BAEC0"/>
                </a:solidFill>
                <a:latin typeface="Segoe UI"/>
              </a:rPr>
              <a:t>semifinal/fonte/montar_apendices.py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969010"/>
            <a:ext cx="2451100" cy="2725420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B2D40"/>
              </a:gs>
              <a:gs pos="100000">
                <a:srgbClr val="0C1824"/>
              </a:gs>
            </a:gsLst>
            <a:lin ang="16200000" scaled="0"/>
          </a:gradFill>
          <a:ln w="12700">
            <a:solidFill>
              <a:srgbClr val="233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669" y="1188720"/>
            <a:ext cx="2011680" cy="165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spc="100">
                <a:solidFill>
                  <a:srgbClr val="F5A623"/>
                </a:solidFill>
                <a:latin typeface="Segoe UI"/>
              </a:rPr>
              <a:t>1 · A MEDIÇÃO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669" y="1517650"/>
            <a:ext cx="201168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1100" b="0">
                <a:solidFill>
                  <a:srgbClr val="E8EDF2"/>
                </a:solidFill>
                <a:latin typeface="Consolas"/>
              </a:rPr>
              <a:t>OLS(r, surpresa)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669" y="1993900"/>
            <a:ext cx="201168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93A9BC"/>
                </a:solidFill>
                <a:latin typeface="Segoe UI"/>
              </a:rPr>
              <a:t>Para cada ETF, uma regressão do retorno dos dias de anúncio contra a surpresa daquele dia — event-study à la Bernanke-Kuttner. A literatura confere a ordem de grandeza; não é a fonte do número.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969010"/>
            <a:ext cx="2451100" cy="2725420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B2D40"/>
              </a:gs>
              <a:gs pos="100000">
                <a:srgbClr val="0C1824"/>
              </a:gs>
            </a:gsLst>
            <a:lin ang="16200000" scaled="0"/>
          </a:gradFill>
          <a:ln w="12700">
            <a:solidFill>
              <a:srgbClr val="233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40150" y="1188720"/>
            <a:ext cx="2011680" cy="165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spc="100">
                <a:solidFill>
                  <a:srgbClr val="F5A623"/>
                </a:solidFill>
                <a:latin typeface="Segoe UI"/>
              </a:rPr>
              <a:t>2 · SEM OLHAR PARA A FRENTE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0150" y="1517650"/>
            <a:ext cx="201168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1100" b="0">
                <a:solidFill>
                  <a:srgbClr val="E8EDF2"/>
                </a:solidFill>
                <a:latin typeface="Consolas"/>
              </a:rPr>
              <a:t>surpresa − média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0150" y="1993900"/>
            <a:ext cx="201168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93A9BC"/>
                </a:solidFill>
                <a:latin typeface="Segoe UI"/>
              </a:rPr>
              <a:t>A média é expansiva: em cada dia entra só o que já havia acontecido até ali. Nenhum β é estimado com dado que ainda não existia.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969010"/>
            <a:ext cx="2451100" cy="2725420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B2D40"/>
              </a:gs>
              <a:gs pos="100000">
                <a:srgbClr val="0C1824"/>
              </a:gs>
            </a:gsLst>
            <a:lin ang="16200000" scaled="0"/>
          </a:gradFill>
          <a:ln w="12700">
            <a:solidFill>
              <a:srgbClr val="233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37630" y="1188720"/>
            <a:ext cx="2011680" cy="165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spc="100">
                <a:solidFill>
                  <a:srgbClr val="F5A623"/>
                </a:solidFill>
                <a:latin typeface="Segoe UI"/>
              </a:rPr>
              <a:t>3 · A UNIDADE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630" y="1517650"/>
            <a:ext cx="201168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1100" b="0">
                <a:solidFill>
                  <a:srgbClr val="E8EDF2"/>
                </a:solidFill>
                <a:latin typeface="Consolas"/>
              </a:rPr>
              <a:t>fração / bp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630" y="1993900"/>
            <a:ext cx="201168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93A9BC"/>
                </a:solidFill>
                <a:latin typeface="Segoe UI"/>
              </a:rPr>
              <a:t>−0,0008 é −0,08% por ponto-base. É a unidade em que a literatura publica os dela, e é assim que se confere se o nosso é plausível.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969010"/>
            <a:ext cx="2451100" cy="2725420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B2D40"/>
              </a:gs>
              <a:gs pos="100000">
                <a:srgbClr val="0C1824"/>
              </a:gs>
            </a:gsLst>
            <a:lin ang="16200000" scaled="0"/>
          </a:gradFill>
          <a:ln w="12700">
            <a:solidFill>
              <a:srgbClr val="233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35110" y="1188720"/>
            <a:ext cx="2011680" cy="165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spc="100">
                <a:solidFill>
                  <a:srgbClr val="F5A623"/>
                </a:solidFill>
                <a:latin typeface="Segoe UI"/>
              </a:rPr>
              <a:t>4 · O QUE O P GARANTE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5110" y="1517650"/>
            <a:ext cx="201168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1100" b="0">
                <a:solidFill>
                  <a:srgbClr val="E8EDF2"/>
                </a:solidFill>
                <a:latin typeface="Consolas"/>
              </a:rPr>
              <a:t>P[SPY] =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5110" y="1845310"/>
            <a:ext cx="201168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1100" b="0">
                <a:solidFill>
                  <a:srgbClr val="E8EDF2"/>
                </a:solidFill>
                <a:latin typeface="Consolas"/>
              </a:rPr>
              <a:t>Σ|P| =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5110" y="2321560"/>
            <a:ext cx="201168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93A9BC"/>
                </a:solidFill>
                <a:latin typeface="Segoe UI"/>
              </a:rPr>
              <a:t>Subtrair o β do índice zera o peso do SPY: a view não aposta na direção da bolsa. E a escala é a mesma em toda view — quem dimensiona a posição é o BL.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041140"/>
            <a:ext cx="5120640" cy="165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1" spc="100">
                <a:solidFill>
                  <a:srgbClr val="F5A623"/>
                </a:solidFill>
                <a:latin typeface="Segoe UI"/>
              </a:rPr>
              <a:t>AS TRÊS EXCEÇÕES, DECLARADAS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352290"/>
            <a:ext cx="512064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</a:pPr>
            <a:r>
              <a:rPr sz="1050" b="1">
                <a:solidFill>
                  <a:srgbClr val="E8EDF2"/>
                </a:solidFill>
                <a:latin typeface="Segoe UI"/>
              </a:rPr>
              <a:t>Inflação (2.2): sem regressão.</a:t>
            </a:r>
            <a:r>
              <a:rPr sz="1050" b="0">
                <a:solidFill>
                  <a:srgbClr val="93A9BC"/>
                </a:solidFill>
                <a:latin typeface="Segoe UI"/>
              </a:rPr>
              <a:t>  O β é a duration do breakeven de 10 anos e o par é fixo, +1 TIP contra −1 TLT. Exceção mecânica, escrita na espec antes de medir.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029200"/>
            <a:ext cx="512064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</a:pPr>
            <a:r>
              <a:rPr sz="1050" b="1">
                <a:solidFill>
                  <a:srgbClr val="E8EDF2"/>
                </a:solidFill>
                <a:latin typeface="Segoe UI"/>
              </a:rPr>
              <a:t>Taxa no fim do ano (B): β próprio.</a:t>
            </a:r>
            <a:r>
              <a:rPr sz="1050" b="0">
                <a:solidFill>
                  <a:srgbClr val="93A9BC"/>
                </a:solidFill>
                <a:latin typeface="Segoe UI"/>
              </a:rPr>
              <a:t>  Reusar o β do Fed punha duas linhas idênticas no P, e duas views viravam uma. Medido em 37 reuniões: trocar o vértice da regressão gira o P em 95,6°.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706110"/>
            <a:ext cx="512064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</a:pPr>
            <a:r>
              <a:rPr sz="1050" b="1">
                <a:solidFill>
                  <a:srgbClr val="E8EDF2"/>
                </a:solidFill>
                <a:latin typeface="Segoe UI"/>
              </a:rPr>
              <a:t>Dúvida na véspera (15b): direcional.</a:t>
            </a:r>
            <a:r>
              <a:rPr sz="1050" b="0">
                <a:solidFill>
                  <a:srgbClr val="93A9BC"/>
                </a:solidFill>
                <a:latin typeface="Segoe UI"/>
              </a:rPr>
              <a:t>  O β é a reação à incerteza e o P é 2 no índice — a única view que aposta na direção do mercado.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5860" y="4352290"/>
            <a:ext cx="45720" cy="660400"/>
          </a:xfrm>
          <a:prstGeom prst="roundRect">
            <a:avLst>
              <a:gd name="adj" fmla="val 50000"/>
            </a:avLst>
          </a:prstGeom>
          <a:solidFill>
            <a:srgbClr val="4FC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64300" y="4352290"/>
            <a:ext cx="490093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</a:pPr>
            <a:r>
              <a:rPr sz="1050" b="1">
                <a:solidFill>
                  <a:srgbClr val="E8EDF2"/>
                </a:solidFill>
                <a:latin typeface="Segoe UI"/>
              </a:rPr>
              <a:t>Onde o β entra na conta.</a:t>
            </a:r>
            <a:r>
              <a:rPr sz="1050" b="0">
                <a:solidFill>
                  <a:srgbClr val="93A9BC"/>
                </a:solidFill>
                <a:latin typeface="Segoe UI"/>
              </a:rPr>
              <a:t>  Duas vezes: no P, que decide quem compra e quem vende, e no Q, que dá o tamanho do retorno esperado.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5860" y="5257800"/>
            <a:ext cx="45720" cy="6604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64300" y="5257800"/>
            <a:ext cx="490093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</a:pPr>
            <a:r>
              <a:rPr sz="1050" b="1">
                <a:solidFill>
                  <a:srgbClr val="E8EDF2"/>
                </a:solidFill>
                <a:latin typeface="Segoe UI"/>
              </a:rPr>
              <a:t>Por que β medido, e não declarado.</a:t>
            </a:r>
            <a:r>
              <a:rPr sz="1050" b="0">
                <a:solidFill>
                  <a:srgbClr val="93A9BC"/>
                </a:solidFill>
                <a:latin typeface="Segoe UI"/>
              </a:rPr>
              <a:t>  É a mesma disciplina do Ω, agora do lado do retorno: opinião trocada por medição.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92100"/>
            <a:ext cx="8229600" cy="3111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80"/>
              </a:lnSpc>
            </a:pPr>
            <a:r>
              <a:rPr sz="1500" b="1" spc="80">
                <a:solidFill>
                  <a:srgbClr val="F5A623"/>
                </a:solidFill>
                <a:latin typeface="Segoe UI"/>
              </a:rPr>
              <a:t>KAIRÓS</a:t>
            </a:r>
            <a:r>
              <a:rPr sz="1500" b="0" spc="80">
                <a:solidFill>
                  <a:srgbClr val="E8EDF2"/>
                </a:solidFill>
                <a:latin typeface="Segoe UI"/>
              </a:rPr>
              <a:t>  Apêndice · de onde sai a âncora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89060" y="347980"/>
            <a:ext cx="2377440" cy="21971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1100" b="0">
                <a:solidFill>
                  <a:srgbClr val="6B8299"/>
                </a:solidFill>
                <a:latin typeface="Segoe UI"/>
              </a:rPr>
              <a:t>A6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768350"/>
            <a:ext cx="10543540" cy="9525"/>
          </a:xfrm>
          <a:prstGeom prst="rect">
            <a:avLst/>
          </a:prstGeom>
          <a:solidFill>
            <a:srgbClr val="243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3931920"/>
            <a:ext cx="10543540" cy="9525"/>
          </a:xfrm>
          <a:prstGeom prst="rect">
            <a:avLst/>
          </a:prstGeom>
          <a:solidFill>
            <a:srgbClr val="243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6291580"/>
            <a:ext cx="10543540" cy="9525"/>
          </a:xfrm>
          <a:prstGeom prst="rect">
            <a:avLst/>
          </a:prstGeom>
          <a:solidFill>
            <a:srgbClr val="243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6383020"/>
            <a:ext cx="10543540" cy="18288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0">
                <a:solidFill>
                  <a:srgbClr val="6B8299"/>
                </a:solidFill>
                <a:latin typeface="Segoe UI"/>
              </a:rPr>
              <a:t>Apêndice — fora dos 6 minutos, mostrado só se perguntarem.   </a:t>
            </a:r>
            <a:r>
              <a:rPr sz="850" b="0">
                <a:solidFill>
                  <a:srgbClr val="9BAEC0"/>
                </a:solidFill>
                <a:latin typeface="Segoe UI"/>
              </a:rPr>
              <a:t>semifinal/fonte/montar_apendices.py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969010"/>
            <a:ext cx="2451100" cy="2725420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B2D40"/>
              </a:gs>
              <a:gs pos="100000">
                <a:srgbClr val="0C1824"/>
              </a:gs>
            </a:gsLst>
            <a:lin ang="16200000" scaled="0"/>
          </a:gradFill>
          <a:ln w="12700">
            <a:solidFill>
              <a:srgbClr val="233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669" y="1188720"/>
            <a:ext cx="2011680" cy="165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spc="100">
                <a:solidFill>
                  <a:srgbClr val="F5A623"/>
                </a:solidFill>
                <a:latin typeface="Segoe UI"/>
              </a:rPr>
              <a:t>2.3 · DECISÃO DO FED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669" y="1517650"/>
            <a:ext cx="201168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1100" b="0">
                <a:solidFill>
                  <a:srgbClr val="E8EDF2"/>
                </a:solidFill>
                <a:latin typeface="Consolas"/>
              </a:rPr>
              <a:t>DTB3 − DFF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669" y="1993900"/>
            <a:ext cx="201168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93A9BC"/>
                </a:solidFill>
                <a:latin typeface="Segoe UI"/>
              </a:rPr>
              <a:t>O Polymarket diz quanto o Fed corta na reunião, em pontos-base. O que já estava no preço sai do papel de 3 meses contra a taxa efetiva.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969010"/>
            <a:ext cx="2451100" cy="2725420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B2D40"/>
              </a:gs>
              <a:gs pos="100000">
                <a:srgbClr val="0C1824"/>
              </a:gs>
            </a:gsLst>
            <a:lin ang="16200000" scaled="0"/>
          </a:gradFill>
          <a:ln w="12700">
            <a:solidFill>
              <a:srgbClr val="233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40150" y="1188720"/>
            <a:ext cx="2011680" cy="165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spc="100">
                <a:solidFill>
                  <a:srgbClr val="F5A623"/>
                </a:solidFill>
                <a:latin typeface="Segoe UI"/>
              </a:rPr>
              <a:t>2.2 · INFLAÇÃO DO MÊS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0150" y="1517650"/>
            <a:ext cx="201168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1100" b="0">
                <a:solidFill>
                  <a:srgbClr val="E8EDF2"/>
                </a:solidFill>
                <a:latin typeface="Consolas"/>
              </a:rPr>
              <a:t>breakeven 10a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0150" y="1993900"/>
            <a:ext cx="201168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93A9BC"/>
                </a:solidFill>
                <a:latin typeface="Segoe UI"/>
              </a:rPr>
              <a:t>O CPI do mês, anualizado antes de comparar, contra o breakeven de 10 anos do FRED (T10YIE).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969010"/>
            <a:ext cx="2451100" cy="2725420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B2D40"/>
              </a:gs>
              <a:gs pos="100000">
                <a:srgbClr val="0C1824"/>
              </a:gs>
            </a:gsLst>
            <a:lin ang="16200000" scaled="0"/>
          </a:gradFill>
          <a:ln w="12700">
            <a:solidFill>
              <a:srgbClr val="233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37630" y="1188720"/>
            <a:ext cx="2011680" cy="165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spc="100">
                <a:solidFill>
                  <a:srgbClr val="F5A623"/>
                </a:solidFill>
                <a:latin typeface="Segoe UI"/>
              </a:rPr>
              <a:t>B · TAXA NO FIM DO ANO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630" y="1517650"/>
            <a:ext cx="201168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1100" b="0">
                <a:solidFill>
                  <a:srgbClr val="E8EDF2"/>
                </a:solidFill>
                <a:latin typeface="Consolas"/>
              </a:rPr>
              <a:t>DGS1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630" y="1993900"/>
            <a:ext cx="201168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93A9BC"/>
                </a:solidFill>
                <a:latin typeface="Segoe UI"/>
              </a:rPr>
              <a:t>Onde a taxa termina o ano, contra o Treasury de 1 ano — o vértice da própria pergunta, e não o de 3 meses da view do Fed.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969010"/>
            <a:ext cx="2451100" cy="2725420"/>
          </a:xfrm>
          <a:prstGeom prst="roundRect">
            <a:avLst>
              <a:gd name="adj" fmla="val 11000"/>
            </a:avLst>
          </a:prstGeom>
          <a:gradFill rotWithShape="1">
            <a:gsLst>
              <a:gs pos="0">
                <a:srgbClr val="1B2D40"/>
              </a:gs>
              <a:gs pos="100000">
                <a:srgbClr val="0C1824"/>
              </a:gs>
            </a:gsLst>
            <a:lin ang="16200000" scaled="0"/>
          </a:gradFill>
          <a:ln w="12700">
            <a:solidFill>
              <a:srgbClr val="233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35110" y="1188720"/>
            <a:ext cx="2011680" cy="165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50" b="1" spc="100">
                <a:solidFill>
                  <a:srgbClr val="F5A623"/>
                </a:solidFill>
                <a:latin typeface="Segoe UI"/>
              </a:rPr>
              <a:t>15b · DÚVIDA NA VÉSPERA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5110" y="1517650"/>
            <a:ext cx="2011680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0"/>
              </a:lnSpc>
            </a:pPr>
            <a:r>
              <a:rPr sz="1100" b="0">
                <a:solidFill>
                  <a:srgbClr val="E8EDF2"/>
                </a:solidFill>
                <a:latin typeface="Consolas"/>
              </a:rPr>
              <a:t>média da família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5110" y="1993900"/>
            <a:ext cx="201168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93A9BC"/>
                </a:solidFill>
                <a:latin typeface="Segoe UI"/>
              </a:rPr>
              <a:t>Aqui não há âncora de preço: nenhum instrumento cota incerteza. A comparação é com a média histórica daquele tipo de anúncio.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041140"/>
            <a:ext cx="5120640" cy="165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1" spc="100">
                <a:solidFill>
                  <a:srgbClr val="F5A623"/>
                </a:solidFill>
                <a:latin typeface="Segoe UI"/>
              </a:rPr>
              <a:t>A REGRA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352290"/>
            <a:ext cx="512064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</a:pPr>
            <a:r>
              <a:rPr sz="1050" b="1">
                <a:solidFill>
                  <a:srgbClr val="E8EDF2"/>
                </a:solidFill>
                <a:latin typeface="Segoe UI"/>
              </a:rPr>
              <a:t>A âncora é lida, nunca escolhida.</a:t>
            </a:r>
            <a:r>
              <a:rPr sz="1050" b="0">
                <a:solidFill>
                  <a:srgbClr val="93A9BC"/>
                </a:solidFill>
                <a:latin typeface="Segoe UI"/>
              </a:rPr>
              <a:t>  Cada view mede o mesmo evento em dois lugares: no mercado de apostas e no instrumento que já negocia aquilo. A subtração só é legítima porque os dois lados medem a mesma grandeza — e o segundo lado é sempre um preço de juros ou de inflação, nunca o da bolsa.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321300"/>
            <a:ext cx="512064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</a:pPr>
            <a:r>
              <a:rPr sz="1050" b="1">
                <a:solidFill>
                  <a:srgbClr val="E8EDF2"/>
                </a:solidFill>
                <a:latin typeface="Segoe UI"/>
              </a:rPr>
              <a:t>O vértice tem de bater com a pergunta.</a:t>
            </a:r>
            <a:r>
              <a:rPr sz="1050" b="0">
                <a:solidFill>
                  <a:srgbClr val="93A9BC"/>
                </a:solidFill>
                <a:latin typeface="Segoe UI"/>
              </a:rPr>
              <a:t>  "Nessa reunião" pede papel de 3 meses; "no fim do ano" pede o de 1 ano. Foi por isso que a view B trocou de âncora.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300" y="4041140"/>
            <a:ext cx="4900930" cy="1651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950" b="1" spc="100">
                <a:solidFill>
                  <a:srgbClr val="F5A623"/>
                </a:solidFill>
                <a:latin typeface="Segoe UI"/>
              </a:rPr>
              <a:t>POR QUE ETF, E NÃO JUROS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45860" y="4352290"/>
            <a:ext cx="45720" cy="660400"/>
          </a:xfrm>
          <a:prstGeom prst="roundRect">
            <a:avLst>
              <a:gd name="adj" fmla="val 50000"/>
            </a:avLst>
          </a:prstGeom>
          <a:solidFill>
            <a:srgbClr val="4FC3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64300" y="4352290"/>
            <a:ext cx="490093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</a:pPr>
            <a:r>
              <a:rPr sz="1050" b="1">
                <a:solidFill>
                  <a:srgbClr val="E8EDF2"/>
                </a:solidFill>
                <a:latin typeface="Segoe UI"/>
              </a:rPr>
              <a:t>O universo é o do desafio:</a:t>
            </a:r>
            <a:r>
              <a:rPr sz="1050" b="0">
                <a:solidFill>
                  <a:srgbClr val="93A9BC"/>
                </a:solidFill>
                <a:latin typeface="Segoe UI"/>
              </a:rPr>
              <a:t>  9 ETFs americanos. A surpresa de juros não vira posição em juros — vira posição em ações, pela reação medida.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45860" y="5257800"/>
            <a:ext cx="45720" cy="838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64300" y="5257800"/>
            <a:ext cx="490093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00"/>
              </a:lnSpc>
            </a:pPr>
            <a:r>
              <a:rPr sz="1050" b="1">
                <a:solidFill>
                  <a:srgbClr val="E8EDF2"/>
                </a:solidFill>
                <a:latin typeface="Segoe UI"/>
              </a:rPr>
              <a:t>O ideal seria o futuro de fed funds (ZQ),</a:t>
            </a:r>
            <a:r>
              <a:rPr sz="1050" b="0">
                <a:solidFill>
                  <a:srgbClr val="93A9BC"/>
                </a:solidFill>
                <a:latin typeface="Segoe UI"/>
              </a:rPr>
              <a:t>  que não tem fonte gratuita. O substituto está declarado na espec da view, e a surpresa entra centrada na média.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0203A"/>
            </a:gs>
            <a:gs pos="55000">
              <a:srgbClr val="0A1325"/>
            </a:gs>
            <a:gs pos="100000">
              <a:srgbClr val="04070E"/>
            </a:gs>
          </a:gsLst>
          <a:path path="circle">
            <a:fillToRect l="38000" r="62000" b="100000"/>
          </a:path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!!glow_tl"/>
          <p:cNvSpPr/>
          <p:nvPr/>
        </p:nvSpPr>
        <p:spPr>
          <a:xfrm>
            <a:off x="-2600000" y="-22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4F8EF7">
                  <a:alpha val="10000"/>
                </a:srgbClr>
              </a:gs>
              <a:gs pos="45000">
                <a:srgbClr val="4F8EF7">
                  <a:alpha val="4000"/>
                </a:srgbClr>
              </a:gs>
              <a:gs pos="80000">
                <a:srgbClr val="4F8EF7">
                  <a:alpha val="1000"/>
                </a:srgbClr>
              </a:gs>
              <a:gs pos="100000">
                <a:srgbClr val="4F8EF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!!glow_br"/>
          <p:cNvSpPr/>
          <p:nvPr/>
        </p:nvSpPr>
        <p:spPr>
          <a:xfrm>
            <a:off x="8200000" y="4600000"/>
            <a:ext cx="7000000" cy="5200000"/>
          </a:xfrm>
          <a:prstGeom prst="ellipse">
            <a:avLst/>
          </a:prstGeom>
          <a:gradFill rotWithShape="1">
            <a:gsLst>
              <a:gs pos="0">
                <a:srgbClr val="FFB531">
                  <a:alpha val="7000"/>
                </a:srgbClr>
              </a:gs>
              <a:gs pos="45000">
                <a:srgbClr val="FFB531">
                  <a:alpha val="2800"/>
                </a:srgbClr>
              </a:gs>
              <a:gs pos="80000">
                <a:srgbClr val="FFB531">
                  <a:alpha val="1000"/>
                </a:srgbClr>
              </a:gs>
              <a:gs pos="100000">
                <a:srgbClr val="FFB53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!!ghost"/>
          <p:cNvSpPr txBox="1"/>
          <p:nvPr/>
        </p:nvSpPr>
        <p:spPr>
          <a:xfrm>
            <a:off x="6900062" y="-230428"/>
            <a:ext cx="4949647" cy="19997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0" i="0">
                <a:solidFill>
                  <a:srgbClr val="101A2E"/>
                </a:solidFill>
                <a:latin typeface="Bahnschrift SemiBold Condensed"/>
              </a:rPr>
              <a:t>A9</a:t>
            </a:r>
          </a:p>
        </p:txBody>
      </p:sp>
      <p:sp>
        <p:nvSpPr>
          <p:cNvPr id="5" name="!!tick"/>
          <p:cNvSpPr/>
          <p:nvPr/>
        </p:nvSpPr>
        <p:spPr>
          <a:xfrm>
            <a:off x="603504" y="446024"/>
            <a:ext cx="45720" cy="164592"/>
          </a:xfrm>
          <a:prstGeom prst="rect">
            <a:avLst/>
          </a:prstGeom>
          <a:solidFill>
            <a:srgbClr val="FFB5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A9_4"/>
          <p:cNvSpPr txBox="1"/>
          <p:nvPr/>
        </p:nvSpPr>
        <p:spPr>
          <a:xfrm>
            <a:off x="731520" y="427024"/>
            <a:ext cx="7315200" cy="2029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300">
                <a:solidFill>
                  <a:srgbClr val="FFB531"/>
                </a:solidFill>
                <a:latin typeface="Consolas"/>
              </a:rPr>
              <a:t>KAIROS</a:t>
            </a:r>
            <a:r>
              <a:rPr sz="1100" b="0" i="0" spc="72">
                <a:solidFill>
                  <a:srgbClr val="8395B5"/>
                </a:solidFill>
                <a:latin typeface="Consolas"/>
              </a:rPr>
              <a:t>   Apêndice · estatística do backtest</a:t>
            </a:r>
          </a:p>
        </p:txBody>
      </p:sp>
      <p:sp>
        <p:nvSpPr>
          <p:cNvPr id="7" name="sA9_5"/>
          <p:cNvSpPr txBox="1"/>
          <p:nvPr/>
        </p:nvSpPr>
        <p:spPr>
          <a:xfrm>
            <a:off x="0" y="467258"/>
            <a:ext cx="11457432" cy="1527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spc="45">
                <a:solidFill>
                  <a:srgbClr val="8395B5"/>
                </a:solidFill>
                <a:latin typeface="Consolas"/>
              </a:rPr>
              <a:t>A9</a:t>
            </a:r>
          </a:p>
        </p:txBody>
      </p:sp>
      <p:cxnSp>
        <p:nvCxnSpPr>
          <p:cNvPr id="8" name="sA9_6"/>
          <p:cNvCxnSpPr/>
          <p:nvPr/>
        </p:nvCxnSpPr>
        <p:spPr>
          <a:xfrm>
            <a:off x="731520" y="705002"/>
            <a:ext cx="10725912" cy="0"/>
          </a:xfrm>
          <a:prstGeom prst="line">
            <a:avLst/>
          </a:prstGeom>
          <a:ln w="12700">
            <a:gradFill rotWithShape="1">
              <a:gsLst>
                <a:gs pos="0">
                  <a:srgbClr val="FFB531"/>
                </a:gs>
                <a:gs pos="30000">
                  <a:srgbClr val="2A3F63"/>
                </a:gs>
                <a:gs pos="100000">
                  <a:srgbClr val="2A3F63">
                    <a:alpha val="30000"/>
                  </a:srgb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A9_7"/>
          <p:cNvSpPr txBox="1"/>
          <p:nvPr/>
        </p:nvSpPr>
        <p:spPr>
          <a:xfrm>
            <a:off x="731520" y="850392"/>
            <a:ext cx="1072591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5F7FB"/>
                </a:solidFill>
                <a:latin typeface="Bahnschrift SemiBold"/>
              </a:rPr>
              <a:t>Tear-sheet completa: inferência, concentração, estabilidade e implementação</a:t>
            </a:r>
          </a:p>
        </p:txBody>
      </p:sp>
      <p:cxnSp>
        <p:nvCxnSpPr>
          <p:cNvPr id="10" name="sA9_8"/>
          <p:cNvCxnSpPr/>
          <p:nvPr/>
        </p:nvCxnSpPr>
        <p:spPr>
          <a:xfrm>
            <a:off x="731520" y="6553504"/>
            <a:ext cx="10725912" cy="0"/>
          </a:xfrm>
          <a:prstGeom prst="line">
            <a:avLst/>
          </a:prstGeom>
          <a:ln w="9525">
            <a:solidFill>
              <a:srgbClr val="2A3F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!!foot_l"/>
          <p:cNvSpPr txBox="1"/>
          <p:nvPr/>
        </p:nvSpPr>
        <p:spPr>
          <a:xfrm>
            <a:off x="731520" y="6653174"/>
            <a:ext cx="5998464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ITAÚ QUANT AI CHALLENGE  ·  FINAL 2026</a:t>
            </a:r>
          </a:p>
        </p:txBody>
      </p:sp>
      <p:sp>
        <p:nvSpPr>
          <p:cNvPr id="12" name="!!foot_r"/>
          <p:cNvSpPr txBox="1"/>
          <p:nvPr/>
        </p:nvSpPr>
        <p:spPr>
          <a:xfrm>
            <a:off x="5457139" y="6653174"/>
            <a:ext cx="5998464" cy="1600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 spc="120">
                <a:solidFill>
                  <a:srgbClr val="58698A"/>
                </a:solidFill>
                <a:latin typeface="Consolas"/>
              </a:rPr>
              <a:t>BLACK-LITTERMAN  ×  POLYMARKET</a:t>
            </a:r>
          </a:p>
        </p:txBody>
      </p:sp>
      <p:sp>
        <p:nvSpPr>
          <p:cNvPr id="13" name="sA9_11"/>
          <p:cNvSpPr txBox="1"/>
          <p:nvPr/>
        </p:nvSpPr>
        <p:spPr>
          <a:xfrm>
            <a:off x="731520" y="1417320"/>
            <a:ext cx="5212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TILT ≤ 1  ·  374 PREGÕES  ·  IC95 BOOTSTRAP</a:t>
            </a:r>
          </a:p>
        </p:txBody>
      </p:sp>
      <p:cxnSp>
        <p:nvCxnSpPr>
          <p:cNvPr id="14" name="sA9_12"/>
          <p:cNvCxnSpPr/>
          <p:nvPr/>
        </p:nvCxnSpPr>
        <p:spPr>
          <a:xfrm>
            <a:off x="731520" y="1709928"/>
            <a:ext cx="5212080" cy="0"/>
          </a:xfrm>
          <a:prstGeom prst="line">
            <a:avLst/>
          </a:prstGeom>
          <a:ln w="9525">
            <a:solidFill>
              <a:srgbClr val="2A3F6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A9_13"/>
          <p:cNvSpPr txBox="1"/>
          <p:nvPr/>
        </p:nvSpPr>
        <p:spPr>
          <a:xfrm>
            <a:off x="731520" y="1746504"/>
            <a:ext cx="5212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8395B5"/>
                </a:solidFill>
                <a:latin typeface="Consolas"/>
              </a:rPr>
              <a:t>INFERÊNCIA</a:t>
            </a:r>
          </a:p>
        </p:txBody>
      </p:sp>
      <p:sp>
        <p:nvSpPr>
          <p:cNvPr id="16" name="sA9_14"/>
          <p:cNvSpPr txBox="1"/>
          <p:nvPr/>
        </p:nvSpPr>
        <p:spPr>
          <a:xfrm>
            <a:off x="731520" y="1938528"/>
            <a:ext cx="25146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AC6DA"/>
                </a:solidFill>
                <a:latin typeface="Bahnschrift SemiLight"/>
              </a:rPr>
              <a:t>Sharpe Kairós [IC95]</a:t>
            </a:r>
          </a:p>
        </p:txBody>
      </p:sp>
      <p:sp>
        <p:nvSpPr>
          <p:cNvPr id="17" name="sA9_15"/>
          <p:cNvSpPr txBox="1"/>
          <p:nvPr/>
        </p:nvSpPr>
        <p:spPr>
          <a:xfrm>
            <a:off x="3291839" y="1938528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5F7FB"/>
                </a:solidFill>
                <a:latin typeface="Consolas"/>
              </a:rPr>
              <a:t>1,18  [−0,23; 3,04]</a:t>
            </a:r>
          </a:p>
        </p:txBody>
      </p:sp>
      <p:sp>
        <p:nvSpPr>
          <p:cNvPr id="18" name="sA9_16"/>
          <p:cNvSpPr txBox="1"/>
          <p:nvPr/>
        </p:nvSpPr>
        <p:spPr>
          <a:xfrm>
            <a:off x="731520" y="2135124"/>
            <a:ext cx="25146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AC6DA"/>
                </a:solidFill>
                <a:latin typeface="Bahnschrift SemiLight"/>
              </a:rPr>
              <a:t>Sharpe SPY  ·  ΔSharpe [IC95]</a:t>
            </a:r>
          </a:p>
        </p:txBody>
      </p:sp>
      <p:sp>
        <p:nvSpPr>
          <p:cNvPr id="19" name="sA9_17"/>
          <p:cNvSpPr txBox="1"/>
          <p:nvPr/>
        </p:nvSpPr>
        <p:spPr>
          <a:xfrm>
            <a:off x="3291839" y="2135124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5F7FB"/>
                </a:solidFill>
                <a:latin typeface="Consolas"/>
              </a:rPr>
              <a:t>1,08  ·  [−0,42; 0,63]  P = 66%</a:t>
            </a:r>
          </a:p>
        </p:txBody>
      </p:sp>
      <p:sp>
        <p:nvSpPr>
          <p:cNvPr id="20" name="sA9_18"/>
          <p:cNvSpPr txBox="1"/>
          <p:nvPr/>
        </p:nvSpPr>
        <p:spPr>
          <a:xfrm>
            <a:off x="731520" y="2331720"/>
            <a:ext cx="25146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AC6DA"/>
                </a:solidFill>
                <a:latin typeface="Bahnschrift SemiLight"/>
              </a:rPr>
              <a:t>excesso acumulado [IC95]</a:t>
            </a:r>
          </a:p>
        </p:txBody>
      </p:sp>
      <p:sp>
        <p:nvSpPr>
          <p:cNvPr id="21" name="sA9_19"/>
          <p:cNvSpPr txBox="1"/>
          <p:nvPr/>
        </p:nvSpPr>
        <p:spPr>
          <a:xfrm>
            <a:off x="3291839" y="2331720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5F7FB"/>
                </a:solidFill>
                <a:latin typeface="Consolas"/>
              </a:rPr>
              <a:t>3,0 pp  [−12,9; 20,6]  P = 64%</a:t>
            </a:r>
          </a:p>
        </p:txBody>
      </p:sp>
      <p:sp>
        <p:nvSpPr>
          <p:cNvPr id="22" name="sA9_20"/>
          <p:cNvSpPr txBox="1"/>
          <p:nvPr/>
        </p:nvSpPr>
        <p:spPr>
          <a:xfrm>
            <a:off x="731520" y="2528315"/>
            <a:ext cx="25146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AC6DA"/>
                </a:solidFill>
                <a:latin typeface="Bahnschrift SemiLight"/>
              </a:rPr>
              <a:t>alpha anual (t Newey-West)  ·  beta</a:t>
            </a:r>
          </a:p>
        </p:txBody>
      </p:sp>
      <p:sp>
        <p:nvSpPr>
          <p:cNvPr id="23" name="sA9_21"/>
          <p:cNvSpPr txBox="1"/>
          <p:nvPr/>
        </p:nvSpPr>
        <p:spPr>
          <a:xfrm>
            <a:off x="3291839" y="2528315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5F7FB"/>
                </a:solidFill>
                <a:latin typeface="Consolas"/>
              </a:rPr>
              <a:t>+2,6 %  (t 0,6)  ·  0,95</a:t>
            </a:r>
          </a:p>
        </p:txBody>
      </p:sp>
      <p:sp>
        <p:nvSpPr>
          <p:cNvPr id="24" name="sA9_22"/>
          <p:cNvSpPr txBox="1"/>
          <p:nvPr/>
        </p:nvSpPr>
        <p:spPr>
          <a:xfrm>
            <a:off x="731520" y="2724911"/>
            <a:ext cx="25146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AC6DA"/>
                </a:solidFill>
                <a:latin typeface="Bahnschrift SemiLight"/>
              </a:rPr>
              <a:t>information ratio  ·  tracking error</a:t>
            </a:r>
          </a:p>
        </p:txBody>
      </p:sp>
      <p:sp>
        <p:nvSpPr>
          <p:cNvPr id="25" name="sA9_23"/>
          <p:cNvSpPr txBox="1"/>
          <p:nvPr/>
        </p:nvSpPr>
        <p:spPr>
          <a:xfrm>
            <a:off x="3291839" y="2724911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5F7FB"/>
                </a:solidFill>
                <a:latin typeface="Consolas"/>
              </a:rPr>
              <a:t>0,30  ·  5,1 %</a:t>
            </a:r>
          </a:p>
        </p:txBody>
      </p:sp>
      <p:sp>
        <p:nvSpPr>
          <p:cNvPr id="26" name="sA9_24"/>
          <p:cNvSpPr txBox="1"/>
          <p:nvPr/>
        </p:nvSpPr>
        <p:spPr>
          <a:xfrm>
            <a:off x="731520" y="2921507"/>
            <a:ext cx="25146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AC6DA"/>
                </a:solidFill>
                <a:latin typeface="Bahnschrift SemiLight"/>
              </a:rPr>
              <a:t>PSR(SR &gt; 0)  ·  MinTRL 95 %</a:t>
            </a:r>
          </a:p>
        </p:txBody>
      </p:sp>
      <p:sp>
        <p:nvSpPr>
          <p:cNvPr id="27" name="sA9_25"/>
          <p:cNvSpPr txBox="1"/>
          <p:nvPr/>
        </p:nvSpPr>
        <p:spPr>
          <a:xfrm>
            <a:off x="3291839" y="2921507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5F7FB"/>
                </a:solidFill>
                <a:latin typeface="Consolas"/>
              </a:rPr>
              <a:t>93%  ·  457 pregões</a:t>
            </a:r>
          </a:p>
        </p:txBody>
      </p:sp>
      <p:sp>
        <p:nvSpPr>
          <p:cNvPr id="28" name="sA9_26"/>
          <p:cNvSpPr txBox="1"/>
          <p:nvPr/>
        </p:nvSpPr>
        <p:spPr>
          <a:xfrm>
            <a:off x="731520" y="3118103"/>
            <a:ext cx="25146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AC6DA"/>
                </a:solidFill>
                <a:latin typeface="Bahnschrift SemiLight"/>
              </a:rPr>
              <a:t>DSR, N = 18 / 31 / 231</a:t>
            </a:r>
          </a:p>
        </p:txBody>
      </p:sp>
      <p:sp>
        <p:nvSpPr>
          <p:cNvPr id="29" name="sA9_27"/>
          <p:cNvSpPr txBox="1"/>
          <p:nvPr/>
        </p:nvSpPr>
        <p:spPr>
          <a:xfrm>
            <a:off x="3291839" y="3118103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5F7FB"/>
                </a:solidFill>
                <a:latin typeface="Consolas"/>
              </a:rPr>
              <a:t>V medido 0,84–0,88  ·  V indep. 0,08–0,33</a:t>
            </a:r>
          </a:p>
        </p:txBody>
      </p:sp>
      <p:sp>
        <p:nvSpPr>
          <p:cNvPr id="30" name="sA9_28"/>
          <p:cNvSpPr txBox="1"/>
          <p:nvPr/>
        </p:nvSpPr>
        <p:spPr>
          <a:xfrm>
            <a:off x="731520" y="3314699"/>
            <a:ext cx="25146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AC6DA"/>
                </a:solidFill>
                <a:latin typeface="Bahnschrift SemiLight"/>
              </a:rPr>
              <a:t>assimetria  ·  curtose  ·  ACF(1)</a:t>
            </a:r>
          </a:p>
        </p:txBody>
      </p:sp>
      <p:sp>
        <p:nvSpPr>
          <p:cNvPr id="31" name="sA9_29"/>
          <p:cNvSpPr txBox="1"/>
          <p:nvPr/>
        </p:nvSpPr>
        <p:spPr>
          <a:xfrm>
            <a:off x="3291839" y="3314699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5F7FB"/>
                </a:solidFill>
                <a:latin typeface="Consolas"/>
              </a:rPr>
              <a:t>1,36  ·  26  ·  –0,07</a:t>
            </a:r>
          </a:p>
        </p:txBody>
      </p:sp>
      <p:cxnSp>
        <p:nvCxnSpPr>
          <p:cNvPr id="32" name="sA9_30"/>
          <p:cNvCxnSpPr/>
          <p:nvPr/>
        </p:nvCxnSpPr>
        <p:spPr>
          <a:xfrm>
            <a:off x="731520" y="3557015"/>
            <a:ext cx="5212080" cy="0"/>
          </a:xfrm>
          <a:prstGeom prst="line">
            <a:avLst/>
          </a:prstGeom>
          <a:ln w="9525">
            <a:solidFill>
              <a:srgbClr val="2A3F6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sA9_31"/>
          <p:cNvSpPr txBox="1"/>
          <p:nvPr/>
        </p:nvSpPr>
        <p:spPr>
          <a:xfrm>
            <a:off x="731520" y="3593591"/>
            <a:ext cx="5212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8395B5"/>
                </a:solidFill>
                <a:latin typeface="Consolas"/>
              </a:rPr>
              <a:t>CONCENTRAÇÃO (PERNA DAS VIEWS)</a:t>
            </a:r>
          </a:p>
        </p:txBody>
      </p:sp>
      <p:sp>
        <p:nvSpPr>
          <p:cNvPr id="34" name="sA9_32"/>
          <p:cNvSpPr txBox="1"/>
          <p:nvPr/>
        </p:nvSpPr>
        <p:spPr>
          <a:xfrm>
            <a:off x="731520" y="3785615"/>
            <a:ext cx="25146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AC6DA"/>
                </a:solidFill>
                <a:latin typeface="Bahnschrift SemiLight"/>
              </a:rPr>
              <a:t>hit ratio  ·  payoff  ·  HHI +/−</a:t>
            </a:r>
          </a:p>
        </p:txBody>
      </p:sp>
      <p:sp>
        <p:nvSpPr>
          <p:cNvPr id="35" name="sA9_33"/>
          <p:cNvSpPr txBox="1"/>
          <p:nvPr/>
        </p:nvSpPr>
        <p:spPr>
          <a:xfrm>
            <a:off x="3291839" y="3785615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5F7FB"/>
                </a:solidFill>
                <a:latin typeface="Consolas"/>
              </a:rPr>
              <a:t>50%  ·  1,16  ·  0,009 / 0,013</a:t>
            </a:r>
          </a:p>
        </p:txBody>
      </p:sp>
      <p:sp>
        <p:nvSpPr>
          <p:cNvPr id="36" name="sA9_34"/>
          <p:cNvSpPr txBox="1"/>
          <p:nvPr/>
        </p:nvSpPr>
        <p:spPr>
          <a:xfrm>
            <a:off x="731520" y="3982211"/>
            <a:ext cx="25146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AC6DA"/>
                </a:solidFill>
                <a:latin typeface="Bahnschrift SemiLight"/>
              </a:rPr>
              <a:t>tilt  ·  sem os 3 maiores  ·  sem os 3 piores</a:t>
            </a:r>
          </a:p>
        </p:txBody>
      </p:sp>
      <p:sp>
        <p:nvSpPr>
          <p:cNvPr id="37" name="sA9_35"/>
          <p:cNvSpPr txBox="1"/>
          <p:nvPr/>
        </p:nvSpPr>
        <p:spPr>
          <a:xfrm>
            <a:off x="3291839" y="3982211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5F7FB"/>
                </a:solidFill>
                <a:latin typeface="Consolas"/>
              </a:rPr>
              <a:t>5,2  ·  1,7  ·  9,7 pp</a:t>
            </a:r>
          </a:p>
        </p:txBody>
      </p:sp>
      <p:cxnSp>
        <p:nvCxnSpPr>
          <p:cNvPr id="38" name="sA9_36"/>
          <p:cNvCxnSpPr/>
          <p:nvPr/>
        </p:nvCxnSpPr>
        <p:spPr>
          <a:xfrm>
            <a:off x="731520" y="4224527"/>
            <a:ext cx="5212080" cy="0"/>
          </a:xfrm>
          <a:prstGeom prst="line">
            <a:avLst/>
          </a:prstGeom>
          <a:ln w="9525">
            <a:solidFill>
              <a:srgbClr val="2A3F6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sA9_37"/>
          <p:cNvSpPr txBox="1"/>
          <p:nvPr/>
        </p:nvSpPr>
        <p:spPr>
          <a:xfrm>
            <a:off x="731520" y="4261103"/>
            <a:ext cx="5212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8395B5"/>
                </a:solidFill>
                <a:latin typeface="Consolas"/>
              </a:rPr>
              <a:t>ESTABILIDADE</a:t>
            </a:r>
          </a:p>
        </p:txBody>
      </p:sp>
      <p:sp>
        <p:nvSpPr>
          <p:cNvPr id="40" name="sA9_38"/>
          <p:cNvSpPr txBox="1"/>
          <p:nvPr/>
        </p:nvSpPr>
        <p:spPr>
          <a:xfrm>
            <a:off x="731520" y="4453127"/>
            <a:ext cx="25146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AC6DA"/>
                </a:solidFill>
                <a:latin typeface="Bahnschrift SemiLight"/>
              </a:rPr>
              <a:t>excesso 1ª / 2ª metade</a:t>
            </a:r>
          </a:p>
        </p:txBody>
      </p:sp>
      <p:sp>
        <p:nvSpPr>
          <p:cNvPr id="41" name="sA9_39"/>
          <p:cNvSpPr txBox="1"/>
          <p:nvPr/>
        </p:nvSpPr>
        <p:spPr>
          <a:xfrm>
            <a:off x="3291839" y="4453127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5F7FB"/>
                </a:solidFill>
                <a:latin typeface="Consolas"/>
              </a:rPr>
              <a:t>+3,3 / –0,6 pp</a:t>
            </a:r>
          </a:p>
        </p:txBody>
      </p:sp>
      <p:sp>
        <p:nvSpPr>
          <p:cNvPr id="42" name="sA9_40"/>
          <p:cNvSpPr txBox="1"/>
          <p:nvPr/>
        </p:nvSpPr>
        <p:spPr>
          <a:xfrm>
            <a:off x="731520" y="4649723"/>
            <a:ext cx="25146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AC6DA"/>
                </a:solidFill>
                <a:latin typeface="Bahnschrift SemiLight"/>
              </a:rPr>
              <a:t>excesso por dia: SPY em alta / em queda</a:t>
            </a:r>
          </a:p>
        </p:txBody>
      </p:sp>
      <p:sp>
        <p:nvSpPr>
          <p:cNvPr id="43" name="sA9_41"/>
          <p:cNvSpPr txBox="1"/>
          <p:nvPr/>
        </p:nvSpPr>
        <p:spPr>
          <a:xfrm>
            <a:off x="3291839" y="4649723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5F7FB"/>
                </a:solidFill>
                <a:latin typeface="Consolas"/>
              </a:rPr>
              <a:t>–3,9 / +6,2 bps  (hit 43% / 52%)</a:t>
            </a:r>
          </a:p>
        </p:txBody>
      </p:sp>
      <p:sp>
        <p:nvSpPr>
          <p:cNvPr id="44" name="sA9_42"/>
          <p:cNvSpPr txBox="1"/>
          <p:nvPr/>
        </p:nvSpPr>
        <p:spPr>
          <a:xfrm>
            <a:off x="731520" y="4846319"/>
            <a:ext cx="25146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AC6DA"/>
                </a:solidFill>
                <a:latin typeface="Bahnschrift SemiLight"/>
              </a:rPr>
              <a:t>máx. drawdown  ·  time under water</a:t>
            </a:r>
          </a:p>
        </p:txBody>
      </p:sp>
      <p:sp>
        <p:nvSpPr>
          <p:cNvPr id="45" name="sA9_43"/>
          <p:cNvSpPr txBox="1"/>
          <p:nvPr/>
        </p:nvSpPr>
        <p:spPr>
          <a:xfrm>
            <a:off x="3291839" y="4846319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5F7FB"/>
                </a:solidFill>
                <a:latin typeface="Consolas"/>
              </a:rPr>
              <a:t>–19,6 % (87 pregões)  ·  SPY –18,8 % (87)</a:t>
            </a:r>
          </a:p>
        </p:txBody>
      </p:sp>
      <p:sp>
        <p:nvSpPr>
          <p:cNvPr id="46" name="sA9_44"/>
          <p:cNvSpPr txBox="1"/>
          <p:nvPr/>
        </p:nvSpPr>
        <p:spPr>
          <a:xfrm>
            <a:off x="731520" y="5042915"/>
            <a:ext cx="25146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AC6DA"/>
                </a:solidFill>
                <a:latin typeface="Bahnschrift SemiLight"/>
              </a:rPr>
              <a:t>maior drawdown</a:t>
            </a:r>
          </a:p>
        </p:txBody>
      </p:sp>
      <p:sp>
        <p:nvSpPr>
          <p:cNvPr id="47" name="sA9_45"/>
          <p:cNvSpPr txBox="1"/>
          <p:nvPr/>
        </p:nvSpPr>
        <p:spPr>
          <a:xfrm>
            <a:off x="3291839" y="5042915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5F7FB"/>
                </a:solidFill>
                <a:latin typeface="Consolas"/>
              </a:rPr>
              <a:t>2025-02-20 → 2025-04-08 → 2025-06-26</a:t>
            </a:r>
          </a:p>
        </p:txBody>
      </p:sp>
      <p:sp>
        <p:nvSpPr>
          <p:cNvPr id="48" name="sA9_46"/>
          <p:cNvSpPr txBox="1"/>
          <p:nvPr/>
        </p:nvSpPr>
        <p:spPr>
          <a:xfrm>
            <a:off x="731520" y="5239511"/>
            <a:ext cx="25146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AC6DA"/>
                </a:solidFill>
                <a:latin typeface="Bahnschrift SemiLight"/>
              </a:rPr>
              <a:t>meses &gt; SPY  ·  IR 63d &gt; 0  ·  beta 63d</a:t>
            </a:r>
          </a:p>
        </p:txBody>
      </p:sp>
      <p:sp>
        <p:nvSpPr>
          <p:cNvPr id="49" name="sA9_47"/>
          <p:cNvSpPr txBox="1"/>
          <p:nvPr/>
        </p:nvSpPr>
        <p:spPr>
          <a:xfrm>
            <a:off x="3291839" y="5239511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5F7FB"/>
                </a:solidFill>
                <a:latin typeface="Consolas"/>
              </a:rPr>
              <a:t>11 de 19  ·  77%  ·  0,75 / 1,06</a:t>
            </a:r>
          </a:p>
        </p:txBody>
      </p:sp>
      <p:cxnSp>
        <p:nvCxnSpPr>
          <p:cNvPr id="50" name="sA9_48"/>
          <p:cNvCxnSpPr/>
          <p:nvPr/>
        </p:nvCxnSpPr>
        <p:spPr>
          <a:xfrm>
            <a:off x="731520" y="5481827"/>
            <a:ext cx="5212080" cy="0"/>
          </a:xfrm>
          <a:prstGeom prst="line">
            <a:avLst/>
          </a:prstGeom>
          <a:ln w="9525">
            <a:solidFill>
              <a:srgbClr val="2A3F6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sA9_49"/>
          <p:cNvSpPr txBox="1"/>
          <p:nvPr/>
        </p:nvSpPr>
        <p:spPr>
          <a:xfrm>
            <a:off x="731520" y="5518403"/>
            <a:ext cx="5212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8395B5"/>
                </a:solidFill>
                <a:latin typeface="Consolas"/>
              </a:rPr>
              <a:t>IMPLEMENTAÇÃO</a:t>
            </a:r>
          </a:p>
        </p:txBody>
      </p:sp>
      <p:sp>
        <p:nvSpPr>
          <p:cNvPr id="52" name="sA9_50"/>
          <p:cNvSpPr txBox="1"/>
          <p:nvPr/>
        </p:nvSpPr>
        <p:spPr>
          <a:xfrm>
            <a:off x="731520" y="5710427"/>
            <a:ext cx="25146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AC6DA"/>
                </a:solidFill>
                <a:latin typeface="Bahnschrift SemiLight"/>
              </a:rPr>
              <a:t>giro/dia  ·  desfeito em 1–2 pregões</a:t>
            </a:r>
          </a:p>
        </p:txBody>
      </p:sp>
      <p:sp>
        <p:nvSpPr>
          <p:cNvPr id="53" name="sA9_51"/>
          <p:cNvSpPr txBox="1"/>
          <p:nvPr/>
        </p:nvSpPr>
        <p:spPr>
          <a:xfrm>
            <a:off x="3291839" y="5710427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5F7FB"/>
                </a:solidFill>
                <a:latin typeface="Consolas"/>
              </a:rPr>
              <a:t>0,40  ·  42%</a:t>
            </a:r>
          </a:p>
        </p:txBody>
      </p:sp>
      <p:sp>
        <p:nvSpPr>
          <p:cNvPr id="54" name="sA9_52"/>
          <p:cNvSpPr txBox="1"/>
          <p:nvPr/>
        </p:nvSpPr>
        <p:spPr>
          <a:xfrm>
            <a:off x="731520" y="5907023"/>
            <a:ext cx="251460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AC6DA"/>
                </a:solidFill>
                <a:latin typeface="Bahnschrift SemiLight"/>
              </a:rPr>
              <a:t>custo pago  ·  breakeven</a:t>
            </a:r>
          </a:p>
        </p:txBody>
      </p:sp>
      <p:sp>
        <p:nvSpPr>
          <p:cNvPr id="55" name="sA9_53"/>
          <p:cNvSpPr txBox="1"/>
          <p:nvPr/>
        </p:nvSpPr>
        <p:spPr>
          <a:xfrm>
            <a:off x="3291839" y="5907023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5F7FB"/>
                </a:solidFill>
                <a:latin typeface="Consolas"/>
              </a:rPr>
              <a:t>3,0 pp  ·  22,9 bps por lado</a:t>
            </a:r>
          </a:p>
        </p:txBody>
      </p:sp>
      <p:sp>
        <p:nvSpPr>
          <p:cNvPr id="56" name="sA9_54"/>
          <p:cNvSpPr txBox="1"/>
          <p:nvPr/>
        </p:nvSpPr>
        <p:spPr>
          <a:xfrm>
            <a:off x="6309360" y="1417320"/>
            <a:ext cx="514807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INFORMATION RATIO EM JANELA MÓVEL DE 63 PREGÕES</a:t>
            </a:r>
          </a:p>
        </p:txBody>
      </p:sp>
      <p:pic>
        <p:nvPicPr>
          <p:cNvPr id="57" name="sA9_55" descr="ab_rolling_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27632"/>
            <a:ext cx="5148071" cy="1937366"/>
          </a:xfrm>
          <a:prstGeom prst="rect">
            <a:avLst/>
          </a:prstGeom>
        </p:spPr>
      </p:pic>
      <p:sp>
        <p:nvSpPr>
          <p:cNvPr id="58" name="sA9_56"/>
          <p:cNvSpPr txBox="1"/>
          <p:nvPr/>
        </p:nvSpPr>
        <p:spPr>
          <a:xfrm>
            <a:off x="6309360" y="3840480"/>
            <a:ext cx="514807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80">
                <a:solidFill>
                  <a:srgbClr val="FFB531"/>
                </a:solidFill>
                <a:latin typeface="Consolas"/>
              </a:rPr>
              <a:t>DEFLATED SHARPE RATIO PELO Nº DE TENTATIVAS</a:t>
            </a:r>
          </a:p>
        </p:txBody>
      </p:sp>
      <p:pic>
        <p:nvPicPr>
          <p:cNvPr id="59" name="sA9_57" descr="ab_ds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050791"/>
            <a:ext cx="3593591" cy="1832027"/>
          </a:xfrm>
          <a:prstGeom prst="rect">
            <a:avLst/>
          </a:prstGeom>
        </p:spPr>
      </p:pic>
      <p:sp>
        <p:nvSpPr>
          <p:cNvPr id="60" name="sA9_58"/>
          <p:cNvSpPr txBox="1"/>
          <p:nvPr/>
        </p:nvSpPr>
        <p:spPr>
          <a:xfrm>
            <a:off x="6309360" y="6016752"/>
            <a:ext cx="5148071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BAC6DA"/>
                </a:solidFill>
                <a:latin typeface="Bahnschrift SemiLight"/>
              </a:rPr>
              <a:t>Laranja: variância dos Sharpe das configurações gravadas (correlacionadas — subestima). Azul: tentativas independentes (cota superior). A verdade fica entre as duas.</a:t>
            </a:r>
          </a:p>
        </p:txBody>
      </p:sp>
      <p:sp>
        <p:nvSpPr>
          <p:cNvPr id="61" name="sA9_59"/>
          <p:cNvSpPr txBox="1"/>
          <p:nvPr/>
        </p:nvSpPr>
        <p:spPr>
          <a:xfrm>
            <a:off x="731520" y="6336792"/>
            <a:ext cx="1072591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8395B5"/>
                </a:solidFill>
                <a:latin typeface="Consolas"/>
              </a:rPr>
              <a:t>Tabelas em Uteis/dados/analise_backtest/  ·  scripts/analise_backtest.py --demo  ·  retornos mensais e os 3 maiores drawdowns em Uteis/analises/Analise_backtest.md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2A704A66-47E2-4505-D630-B3C6D0C49E26}"/>
              </a:ext>
            </a:extLst>
          </p:cNvPr>
          <p:cNvSpPr txBox="1"/>
          <p:nvPr/>
        </p:nvSpPr>
        <p:spPr>
          <a:xfrm>
            <a:off x="3064020" y="1629561"/>
            <a:ext cx="656642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POLYMARKET VS KALSHI – Analise kalshi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479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6062</Words>
  <Application>Microsoft Office PowerPoint</Application>
  <PresentationFormat>Widescreen</PresentationFormat>
  <Paragraphs>572</Paragraphs>
  <Slides>26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7" baseType="lpstr">
      <vt:lpstr>Aptos</vt:lpstr>
      <vt:lpstr>Arial</vt:lpstr>
      <vt:lpstr>Bahnschrift</vt:lpstr>
      <vt:lpstr>Bahnschrift SemiBold</vt:lpstr>
      <vt:lpstr>Bahnschrift SemiBold Condensed</vt:lpstr>
      <vt:lpstr>Bahnschrift SemiLight</vt:lpstr>
      <vt:lpstr>Calibri</vt:lpstr>
      <vt:lpstr>Consolas</vt:lpstr>
      <vt:lpstr>Georgia</vt:lpstr>
      <vt:lpstr>Segoe UI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Felipe da Costa Menusier</cp:lastModifiedBy>
  <cp:revision>6</cp:revision>
  <dcterms:created xsi:type="dcterms:W3CDTF">2013-01-27T09:14:16Z</dcterms:created>
  <dcterms:modified xsi:type="dcterms:W3CDTF">2026-09-18T17:10:08Z</dcterms:modified>
  <cp:category/>
</cp:coreProperties>
</file>