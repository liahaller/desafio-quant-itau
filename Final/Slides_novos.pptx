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Esforço: 31/54/15 % das sessões e 25/71/4 % dos tokens. Erros: 145, 88 % pegos na própria sessão. Peneira: GRUPOS do slide 8 da semi. Uma que caiu: momentum do sinal, VR 0,97–1,18 (Premissa_tendencia.md).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7800" y="160020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10512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pulso"/>
          <p:cNvSpPr/>
          <p:nvPr/>
        </p:nvSpPr>
        <p:spPr>
          <a:xfrm>
            <a:off x="2743081" y="3883851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pulso"/>
          <p:cNvSpPr/>
          <p:nvPr/>
        </p:nvSpPr>
        <p:spPr>
          <a:xfrm>
            <a:off x="4373258" y="3159674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pulso"/>
          <p:cNvSpPr/>
          <p:nvPr/>
        </p:nvSpPr>
        <p:spPr>
          <a:xfrm>
            <a:off x="3869760" y="436986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pulso"/>
          <p:cNvSpPr/>
          <p:nvPr/>
        </p:nvSpPr>
        <p:spPr>
          <a:xfrm>
            <a:off x="2790509" y="3666214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pulso"/>
          <p:cNvSpPr/>
          <p:nvPr/>
        </p:nvSpPr>
        <p:spPr>
          <a:xfrm>
            <a:off x="3094685" y="41127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pulso"/>
          <p:cNvSpPr/>
          <p:nvPr/>
        </p:nvSpPr>
        <p:spPr>
          <a:xfrm>
            <a:off x="3564551" y="299577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pulso"/>
          <p:cNvSpPr/>
          <p:nvPr/>
        </p:nvSpPr>
        <p:spPr>
          <a:xfrm>
            <a:off x="2512507" y="3183521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763967" y="3434981"/>
            <a:ext cx="604072" cy="52246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276599" y="38660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pulso"/>
          <p:cNvSpPr/>
          <p:nvPr/>
        </p:nvSpPr>
        <p:spPr>
          <a:xfrm>
            <a:off x="3116579" y="37059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763967" y="3434981"/>
            <a:ext cx="604072" cy="52246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276599" y="38660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886755" y="2895055"/>
            <a:ext cx="481284" cy="106238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795315" y="280361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pulso"/>
          <p:cNvSpPr/>
          <p:nvPr/>
        </p:nvSpPr>
        <p:spPr>
          <a:xfrm>
            <a:off x="2635295" y="264359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763967" y="3434981"/>
            <a:ext cx="604072" cy="52246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276599" y="38660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886755" y="2895055"/>
            <a:ext cx="481284" cy="106238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795315" y="280361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886755" y="2895055"/>
            <a:ext cx="118463" cy="5810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913778" y="338470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pulso"/>
          <p:cNvSpPr/>
          <p:nvPr/>
        </p:nvSpPr>
        <p:spPr>
          <a:xfrm>
            <a:off x="2753758" y="3224689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763967" y="3434981"/>
            <a:ext cx="604072" cy="52246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276599" y="38660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886755" y="2895055"/>
            <a:ext cx="481284" cy="106238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795315" y="280361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886755" y="2895055"/>
            <a:ext cx="118463" cy="5810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913778" y="338470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 flipH="1">
            <a:off x="2506262" y="3476149"/>
            <a:ext cx="498956" cy="185895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2414822" y="5243663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pulso"/>
          <p:cNvSpPr/>
          <p:nvPr/>
        </p:nvSpPr>
        <p:spPr>
          <a:xfrm>
            <a:off x="2254802" y="5083643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695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03101" y="4043871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2994541" y="3411134"/>
            <a:ext cx="1630177" cy="7241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533278" y="331969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121220" y="3411134"/>
            <a:ext cx="503498" cy="121019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029780" y="452988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041969" y="3917674"/>
            <a:ext cx="1079251" cy="70365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950529" y="3826234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041969" y="3917674"/>
            <a:ext cx="304176" cy="44653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254705" y="42727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346145" y="3247232"/>
            <a:ext cx="469866" cy="111698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24571" y="315579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763967" y="3247232"/>
            <a:ext cx="1052044" cy="18774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672527" y="334354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763967" y="3434981"/>
            <a:ext cx="604072" cy="52246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276599" y="38660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886755" y="2895055"/>
            <a:ext cx="481284" cy="106238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795315" y="280361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886755" y="2895055"/>
            <a:ext cx="118463" cy="5810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913778" y="338470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 flipH="1">
            <a:off x="2506262" y="3476149"/>
            <a:ext cx="498956" cy="185895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2414822" y="5243663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5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/>
          <p:nvPr/>
        </p:nvSpPr>
        <p:spPr>
          <a:xfrm>
            <a:off x="73152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13_12"/>
          <p:cNvSpPr txBox="1"/>
          <p:nvPr/>
        </p:nvSpPr>
        <p:spPr>
          <a:xfrm>
            <a:off x="93268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5" name="s13_13"/>
          <p:cNvSpPr txBox="1"/>
          <p:nvPr/>
        </p:nvSpPr>
        <p:spPr>
          <a:xfrm>
            <a:off x="196596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16" name="s13_14"/>
          <p:cNvSpPr txBox="1"/>
          <p:nvPr/>
        </p:nvSpPr>
        <p:spPr>
          <a:xfrm>
            <a:off x="196596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17" name="s13_15"/>
          <p:cNvSpPr/>
          <p:nvPr/>
        </p:nvSpPr>
        <p:spPr>
          <a:xfrm>
            <a:off x="344043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3_16"/>
          <p:cNvSpPr txBox="1"/>
          <p:nvPr/>
        </p:nvSpPr>
        <p:spPr>
          <a:xfrm>
            <a:off x="364159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467487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467487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1" name="s13_19"/>
          <p:cNvSpPr/>
          <p:nvPr/>
        </p:nvSpPr>
        <p:spPr>
          <a:xfrm>
            <a:off x="614934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3_20"/>
          <p:cNvSpPr txBox="1"/>
          <p:nvPr/>
        </p:nvSpPr>
        <p:spPr>
          <a:xfrm>
            <a:off x="6350507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7383779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7383779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5" name="s13_23"/>
          <p:cNvSpPr/>
          <p:nvPr/>
        </p:nvSpPr>
        <p:spPr>
          <a:xfrm>
            <a:off x="885825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3_24"/>
          <p:cNvSpPr txBox="1"/>
          <p:nvPr/>
        </p:nvSpPr>
        <p:spPr>
          <a:xfrm>
            <a:off x="905941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1009269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1009269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  <p:sp>
        <p:nvSpPr>
          <p:cNvPr id="29" name="s13_27"/>
          <p:cNvSpPr txBox="1"/>
          <p:nvPr/>
        </p:nvSpPr>
        <p:spPr>
          <a:xfrm>
            <a:off x="731520" y="2432304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0" name="s13_28" descr="p5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715000" cy="2395334"/>
          </a:xfrm>
          <a:prstGeom prst="rect">
            <a:avLst/>
          </a:prstGeom>
        </p:spPr>
      </p:pic>
      <p:sp>
        <p:nvSpPr>
          <p:cNvPr id="31" name="s13_29"/>
          <p:cNvSpPr txBox="1"/>
          <p:nvPr/>
        </p:nvSpPr>
        <p:spPr>
          <a:xfrm>
            <a:off x="6793992" y="2432304"/>
            <a:ext cx="4663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32" name="s13_30" descr="p5_er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2" y="2670048"/>
            <a:ext cx="4663440" cy="2238174"/>
          </a:xfrm>
          <a:prstGeom prst="rect">
            <a:avLst/>
          </a:prstGeom>
        </p:spPr>
      </p:pic>
      <p:sp>
        <p:nvSpPr>
          <p:cNvPr id="33" name="s13_31"/>
          <p:cNvSpPr txBox="1"/>
          <p:nvPr/>
        </p:nvSpPr>
        <p:spPr>
          <a:xfrm>
            <a:off x="731520" y="512064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sp>
        <p:nvSpPr>
          <p:cNvPr id="34" name="s13_32"/>
          <p:cNvSpPr txBox="1"/>
          <p:nvPr/>
        </p:nvSpPr>
        <p:spPr>
          <a:xfrm>
            <a:off x="731520" y="537667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sessão</a:t>
            </a:r>
          </a:p>
        </p:txBody>
      </p:sp>
      <p:sp>
        <p:nvSpPr>
          <p:cNvPr id="35" name="s13_33"/>
          <p:cNvSpPr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3_34"/>
          <p:cNvSpPr txBox="1"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31%</a:t>
            </a:r>
          </a:p>
        </p:txBody>
      </p:sp>
      <p:sp>
        <p:nvSpPr>
          <p:cNvPr id="37" name="s13_35"/>
          <p:cNvSpPr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3_36"/>
          <p:cNvSpPr txBox="1"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54%</a:t>
            </a:r>
          </a:p>
        </p:txBody>
      </p:sp>
      <p:sp>
        <p:nvSpPr>
          <p:cNvPr id="39" name="s13_37"/>
          <p:cNvSpPr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3_38"/>
          <p:cNvSpPr txBox="1"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15%</a:t>
            </a:r>
          </a:p>
        </p:txBody>
      </p:sp>
      <p:sp>
        <p:nvSpPr>
          <p:cNvPr id="41" name="s13_39"/>
          <p:cNvSpPr txBox="1"/>
          <p:nvPr/>
        </p:nvSpPr>
        <p:spPr>
          <a:xfrm>
            <a:off x="731520" y="568756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token</a:t>
            </a:r>
          </a:p>
        </p:txBody>
      </p:sp>
      <p:sp>
        <p:nvSpPr>
          <p:cNvPr id="42" name="s13_40"/>
          <p:cNvSpPr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s13_41"/>
          <p:cNvSpPr txBox="1"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25%</a:t>
            </a:r>
          </a:p>
        </p:txBody>
      </p:sp>
      <p:sp>
        <p:nvSpPr>
          <p:cNvPr id="44" name="s13_42"/>
          <p:cNvSpPr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s13_43"/>
          <p:cNvSpPr txBox="1"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71%</a:t>
            </a:r>
          </a:p>
        </p:txBody>
      </p:sp>
      <p:sp>
        <p:nvSpPr>
          <p:cNvPr id="46" name="s13_44"/>
          <p:cNvSpPr/>
          <p:nvPr/>
        </p:nvSpPr>
        <p:spPr>
          <a:xfrm>
            <a:off x="6251970" y="5687568"/>
            <a:ext cx="194549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s13_45"/>
          <p:cNvSpPr/>
          <p:nvPr/>
        </p:nvSpPr>
        <p:spPr>
          <a:xfrm>
            <a:off x="1604772" y="6094476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s13_46"/>
          <p:cNvSpPr txBox="1"/>
          <p:nvPr/>
        </p:nvSpPr>
        <p:spPr>
          <a:xfrm>
            <a:off x="1773936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pesquisa e decisão</a:t>
            </a:r>
          </a:p>
        </p:txBody>
      </p:sp>
      <p:sp>
        <p:nvSpPr>
          <p:cNvPr id="49" name="s13_47"/>
          <p:cNvSpPr/>
          <p:nvPr/>
        </p:nvSpPr>
        <p:spPr>
          <a:xfrm>
            <a:off x="2963570" y="6094476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s13_48"/>
          <p:cNvSpPr txBox="1"/>
          <p:nvPr/>
        </p:nvSpPr>
        <p:spPr>
          <a:xfrm>
            <a:off x="3132734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análise e medição</a:t>
            </a:r>
          </a:p>
        </p:txBody>
      </p:sp>
      <p:sp>
        <p:nvSpPr>
          <p:cNvPr id="51" name="s13_49"/>
          <p:cNvSpPr/>
          <p:nvPr/>
        </p:nvSpPr>
        <p:spPr>
          <a:xfrm>
            <a:off x="4265676" y="6094476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s13_50"/>
          <p:cNvSpPr txBox="1"/>
          <p:nvPr/>
        </p:nvSpPr>
        <p:spPr>
          <a:xfrm>
            <a:off x="4434840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código</a:t>
            </a:r>
          </a:p>
        </p:txBody>
      </p:sp>
      <p:sp>
        <p:nvSpPr>
          <p:cNvPr id="53" name="s13_51"/>
          <p:cNvSpPr txBox="1"/>
          <p:nvPr/>
        </p:nvSpPr>
        <p:spPr>
          <a:xfrm>
            <a:off x="6793992" y="5120640"/>
            <a:ext cx="4663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PESQUISA  ·  31 HIPÓTESES MEDIDAS, 7 ENTRARAM</a:t>
            </a:r>
          </a:p>
        </p:txBody>
      </p:sp>
      <p:sp>
        <p:nvSpPr>
          <p:cNvPr id="54" name="s13_52"/>
          <p:cNvSpPr txBox="1"/>
          <p:nvPr/>
        </p:nvSpPr>
        <p:spPr>
          <a:xfrm>
            <a:off x="6793992" y="53766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13 ideias de sinal</a:t>
            </a:r>
          </a:p>
        </p:txBody>
      </p:sp>
      <p:sp>
        <p:nvSpPr>
          <p:cNvPr id="55" name="s13_53"/>
          <p:cNvSpPr/>
          <p:nvPr/>
        </p:nvSpPr>
        <p:spPr>
          <a:xfrm>
            <a:off x="83987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s13_54"/>
          <p:cNvSpPr/>
          <p:nvPr/>
        </p:nvSpPr>
        <p:spPr>
          <a:xfrm>
            <a:off x="85816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s13_55"/>
          <p:cNvSpPr/>
          <p:nvPr/>
        </p:nvSpPr>
        <p:spPr>
          <a:xfrm>
            <a:off x="87645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s13_56"/>
          <p:cNvSpPr/>
          <p:nvPr/>
        </p:nvSpPr>
        <p:spPr>
          <a:xfrm>
            <a:off x="89474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s13_57"/>
          <p:cNvSpPr/>
          <p:nvPr/>
        </p:nvSpPr>
        <p:spPr>
          <a:xfrm>
            <a:off x="91302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s13_58"/>
          <p:cNvSpPr/>
          <p:nvPr/>
        </p:nvSpPr>
        <p:spPr>
          <a:xfrm>
            <a:off x="93131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s13_59"/>
          <p:cNvSpPr/>
          <p:nvPr/>
        </p:nvSpPr>
        <p:spPr>
          <a:xfrm>
            <a:off x="9477756" y="54086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s13_60"/>
          <p:cNvSpPr/>
          <p:nvPr/>
        </p:nvSpPr>
        <p:spPr>
          <a:xfrm>
            <a:off x="96789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s13_61"/>
          <p:cNvSpPr/>
          <p:nvPr/>
        </p:nvSpPr>
        <p:spPr>
          <a:xfrm>
            <a:off x="98618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s13_62"/>
          <p:cNvSpPr/>
          <p:nvPr/>
        </p:nvSpPr>
        <p:spPr>
          <a:xfrm>
            <a:off x="100446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s13_63"/>
          <p:cNvSpPr/>
          <p:nvPr/>
        </p:nvSpPr>
        <p:spPr>
          <a:xfrm>
            <a:off x="102275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s13_64"/>
          <p:cNvSpPr/>
          <p:nvPr/>
        </p:nvSpPr>
        <p:spPr>
          <a:xfrm>
            <a:off x="104104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s13_65"/>
          <p:cNvSpPr/>
          <p:nvPr/>
        </p:nvSpPr>
        <p:spPr>
          <a:xfrm>
            <a:off x="105933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s13_66"/>
          <p:cNvSpPr txBox="1"/>
          <p:nvPr/>
        </p:nvSpPr>
        <p:spPr>
          <a:xfrm>
            <a:off x="10908792" y="53766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13</a:t>
            </a:r>
          </a:p>
        </p:txBody>
      </p:sp>
      <p:sp>
        <p:nvSpPr>
          <p:cNvPr id="69" name="s13_67"/>
          <p:cNvSpPr txBox="1"/>
          <p:nvPr/>
        </p:nvSpPr>
        <p:spPr>
          <a:xfrm>
            <a:off x="6793992" y="56052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4 critérios do Ω</a:t>
            </a:r>
          </a:p>
        </p:txBody>
      </p:sp>
      <p:sp>
        <p:nvSpPr>
          <p:cNvPr id="70" name="s13_68"/>
          <p:cNvSpPr/>
          <p:nvPr/>
        </p:nvSpPr>
        <p:spPr>
          <a:xfrm>
            <a:off x="839876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s13_69"/>
          <p:cNvSpPr/>
          <p:nvPr/>
        </p:nvSpPr>
        <p:spPr>
          <a:xfrm>
            <a:off x="856335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s13_70"/>
          <p:cNvSpPr/>
          <p:nvPr/>
        </p:nvSpPr>
        <p:spPr>
          <a:xfrm>
            <a:off x="874623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s13_71"/>
          <p:cNvSpPr/>
          <p:nvPr/>
        </p:nvSpPr>
        <p:spPr>
          <a:xfrm>
            <a:off x="894740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s13_72"/>
          <p:cNvSpPr txBox="1"/>
          <p:nvPr/>
        </p:nvSpPr>
        <p:spPr>
          <a:xfrm>
            <a:off x="10908792" y="56052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2 de 4</a:t>
            </a:r>
          </a:p>
        </p:txBody>
      </p:sp>
      <p:sp>
        <p:nvSpPr>
          <p:cNvPr id="75" name="s13_73"/>
          <p:cNvSpPr txBox="1"/>
          <p:nvPr/>
        </p:nvSpPr>
        <p:spPr>
          <a:xfrm>
            <a:off x="6793992" y="58338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6 janelas</a:t>
            </a:r>
          </a:p>
        </p:txBody>
      </p:sp>
      <p:sp>
        <p:nvSpPr>
          <p:cNvPr id="76" name="s13_74"/>
          <p:cNvSpPr/>
          <p:nvPr/>
        </p:nvSpPr>
        <p:spPr>
          <a:xfrm>
            <a:off x="83987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s13_75"/>
          <p:cNvSpPr/>
          <p:nvPr/>
        </p:nvSpPr>
        <p:spPr>
          <a:xfrm>
            <a:off x="856335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s13_76"/>
          <p:cNvSpPr/>
          <p:nvPr/>
        </p:nvSpPr>
        <p:spPr>
          <a:xfrm>
            <a:off x="874623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s13_77"/>
          <p:cNvSpPr/>
          <p:nvPr/>
        </p:nvSpPr>
        <p:spPr>
          <a:xfrm>
            <a:off x="892911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s13_78"/>
          <p:cNvSpPr/>
          <p:nvPr/>
        </p:nvSpPr>
        <p:spPr>
          <a:xfrm>
            <a:off x="913028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s13_79"/>
          <p:cNvSpPr/>
          <p:nvPr/>
        </p:nvSpPr>
        <p:spPr>
          <a:xfrm>
            <a:off x="93131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s13_80"/>
          <p:cNvSpPr txBox="1"/>
          <p:nvPr/>
        </p:nvSpPr>
        <p:spPr>
          <a:xfrm>
            <a:off x="10908792" y="58338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3 de 6</a:t>
            </a:r>
          </a:p>
        </p:txBody>
      </p:sp>
      <p:sp>
        <p:nvSpPr>
          <p:cNvPr id="83" name="s13_81"/>
          <p:cNvSpPr txBox="1"/>
          <p:nvPr/>
        </p:nvSpPr>
        <p:spPr>
          <a:xfrm>
            <a:off x="6793992" y="60624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8 tetos de risco</a:t>
            </a:r>
          </a:p>
        </p:txBody>
      </p:sp>
      <p:sp>
        <p:nvSpPr>
          <p:cNvPr id="84" name="s13_82"/>
          <p:cNvSpPr/>
          <p:nvPr/>
        </p:nvSpPr>
        <p:spPr>
          <a:xfrm>
            <a:off x="83987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s13_83"/>
          <p:cNvSpPr/>
          <p:nvPr/>
        </p:nvSpPr>
        <p:spPr>
          <a:xfrm>
            <a:off x="85816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s13_84"/>
          <p:cNvSpPr/>
          <p:nvPr/>
        </p:nvSpPr>
        <p:spPr>
          <a:xfrm>
            <a:off x="87645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s13_85"/>
          <p:cNvSpPr/>
          <p:nvPr/>
        </p:nvSpPr>
        <p:spPr>
          <a:xfrm>
            <a:off x="8929116" y="60944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s13_86"/>
          <p:cNvSpPr/>
          <p:nvPr/>
        </p:nvSpPr>
        <p:spPr>
          <a:xfrm>
            <a:off x="913028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s13_87"/>
          <p:cNvSpPr/>
          <p:nvPr/>
        </p:nvSpPr>
        <p:spPr>
          <a:xfrm>
            <a:off x="93131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s13_88"/>
          <p:cNvSpPr/>
          <p:nvPr/>
        </p:nvSpPr>
        <p:spPr>
          <a:xfrm>
            <a:off x="94960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s13_89"/>
          <p:cNvSpPr/>
          <p:nvPr/>
        </p:nvSpPr>
        <p:spPr>
          <a:xfrm>
            <a:off x="96789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s13_90"/>
          <p:cNvSpPr txBox="1"/>
          <p:nvPr/>
        </p:nvSpPr>
        <p:spPr>
          <a:xfrm>
            <a:off x="10908792" y="60624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