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2026-01-27: E_poly = -0.2 bps · juros (DTB3 − DFF) = -5.0 bps · surpresa bruta +4.8 · líquida -0.2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2025-09-16: E_poly = -26.9 bps · juros (DTB3 − DFF) = -42.0 bps · surpresa bruta +15.1 · líquida +9.1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Gráficos da página 5 do relatório (Uteis/graficos/p5_*.png, graficos_p5.py; corte de 15/08, 91 sessões dos três LOGs). Esforço: 31/54/15 % das sessões e 25/71/4 % dos tokens. Erros: 145, 88 % pegos na própria sessão. Peneira: GRUPOS do slide 8 da semi. Uma que caiu: momentum do sinal, VR 0,97–1,18 (Premissa_tendencia.md).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Fonte: scripts/estudo_polymarket.py → Uteis/analises/Metricas_estudo.md; guia de leitura em Final/estudo/Guia_slide16.md. Amostra = todo o dado macro do repo (FOMC 76 faixas/18 reuniões, CPI 74 faixas/12 meses), sem exclusão. Brier 0,043 [0,022; 0,067]; calibração b = 1,04 (p = 0,15); FF = proxy DTB3−DFF corrigido do viés (cru: 8,9 bps), DM p = 0,002; 17/17 no desfecho modal. Terceira informação, se pedirem: o movimento do preço não é sinal (VR(5) = 0,78 &lt; 1, Δp com t ≈ 0) — por isso usamos o nível, não o Δp. Detalhe nos apêndices A1–A3.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Tabela: Uteis/dados/estudo/brier_horizonte.csv (IC por bootstrap de evento). BSS = 1 − Brier/Brier da uniforme (1/K por faixa): 0,73 pooled na véspera; FOMC 0,96, CPI 0,42. A 60 dias o FOMC ainda tem BSS 0,67.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Tabelas: Uteis/dados/estudo/fomc_vs_ff.csv, encompassing.csv, leadlag_*.csv. DM com correção HLN; n = 17-18 reuniões por horizonte. A 60 dias a vantagem some (p = 0,76). Granger com Newey-West: t = 1,8 (poly → FF) e 1,9 (FF → poly).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Tabelas: Uteis/dados/estudo/event_study.csv e martingale.csv. FOMC n = 17; a surpresa-FF corrigida explica mais (R² médio 0,19 vs 0,08) porque carrega o caminho de 3 meses, não porque o Polymarket erre. CPI: R² ≈ 0 para as duas. VR(5) por família: FOMC 0,78, CPI 0,72, payrolls 0,43 — nenhuma &gt;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7800" y="160020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10512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4a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a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a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a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Na maioria dos dias, Polymarket e mercado esperam a mesma coisa.</a:t>
            </a:r>
          </a:p>
        </p:txBody>
      </p:sp>
      <p:cxnSp>
        <p:nvCxnSpPr>
          <p:cNvPr id="10" name="s4a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4a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27/01/2026</a:t>
            </a:r>
          </a:p>
        </p:txBody>
      </p:sp>
      <p:sp>
        <p:nvSpPr>
          <p:cNvPr id="15" name="s4a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0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Polymarket e juros precificam a mesma decisão — o Kairós não tem opinião e carrega a carteira do mercado.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>
            <a:off x="9149913" y="2487168"/>
            <a:ext cx="11616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9179210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mk_XLK"/>
          <p:cNvSpPr/>
          <p:nvPr/>
        </p:nvSpPr>
        <p:spPr>
          <a:xfrm>
            <a:off x="9090477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val_XLK"/>
          <p:cNvSpPr txBox="1"/>
          <p:nvPr/>
        </p:nvSpPr>
        <p:spPr>
          <a:xfrm>
            <a:off x="9421526" y="23682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+ 0,08%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>
            <a:off x="9108785" y="2871216"/>
            <a:ext cx="9351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9115433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mk_SPY"/>
          <p:cNvSpPr/>
          <p:nvPr/>
        </p:nvSpPr>
        <p:spPr>
          <a:xfrm>
            <a:off x="9049349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val_SPY"/>
          <p:cNvSpPr txBox="1"/>
          <p:nvPr/>
        </p:nvSpPr>
        <p:spPr>
          <a:xfrm>
            <a:off x="9357749" y="275234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>
            <a:off x="9087962" y="3255264"/>
            <a:ext cx="9700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9098099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mk_XLF"/>
          <p:cNvSpPr/>
          <p:nvPr/>
        </p:nvSpPr>
        <p:spPr>
          <a:xfrm>
            <a:off x="9028526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val_XLF"/>
          <p:cNvSpPr txBox="1"/>
          <p:nvPr/>
        </p:nvSpPr>
        <p:spPr>
          <a:xfrm>
            <a:off x="9340415" y="313639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>
            <a:off x="9077378" y="3639312"/>
            <a:ext cx="5173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9042246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mk_XLE"/>
          <p:cNvSpPr/>
          <p:nvPr/>
        </p:nvSpPr>
        <p:spPr>
          <a:xfrm>
            <a:off x="9017942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val_XLE"/>
          <p:cNvSpPr txBox="1"/>
          <p:nvPr/>
        </p:nvSpPr>
        <p:spPr>
          <a:xfrm>
            <a:off x="9284562" y="35204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>
            <a:off x="9055277" y="4023360"/>
            <a:ext cx="61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9029793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mk_XLV"/>
          <p:cNvSpPr/>
          <p:nvPr/>
        </p:nvSpPr>
        <p:spPr>
          <a:xfrm>
            <a:off x="8995841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val_XLV"/>
          <p:cNvSpPr txBox="1"/>
          <p:nvPr/>
        </p:nvSpPr>
        <p:spPr>
          <a:xfrm>
            <a:off x="9272109" y="39044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>
            <a:off x="9031137" y="4407408"/>
            <a:ext cx="71251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9015520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mk_XLP"/>
          <p:cNvSpPr/>
          <p:nvPr/>
        </p:nvSpPr>
        <p:spPr>
          <a:xfrm>
            <a:off x="8971701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val_XLP"/>
          <p:cNvSpPr txBox="1"/>
          <p:nvPr/>
        </p:nvSpPr>
        <p:spPr>
          <a:xfrm>
            <a:off x="9257836" y="42885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>
            <a:off x="9010412" y="4791456"/>
            <a:ext cx="2513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948678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mk_TIP"/>
          <p:cNvSpPr/>
          <p:nvPr/>
        </p:nvSpPr>
        <p:spPr>
          <a:xfrm>
            <a:off x="8950976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val_TIP"/>
          <p:cNvSpPr txBox="1"/>
          <p:nvPr/>
        </p:nvSpPr>
        <p:spPr>
          <a:xfrm>
            <a:off x="9190994" y="4672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 flipH="1">
            <a:off x="9035140" y="5175504"/>
            <a:ext cx="937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8948272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mk_XLU"/>
          <p:cNvSpPr/>
          <p:nvPr/>
        </p:nvSpPr>
        <p:spPr>
          <a:xfrm>
            <a:off x="8985078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val_XLU"/>
          <p:cNvSpPr txBox="1"/>
          <p:nvPr/>
        </p:nvSpPr>
        <p:spPr>
          <a:xfrm>
            <a:off x="9190588" y="505663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3598" y="5559552"/>
            <a:ext cx="617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8932908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mk_TLT"/>
          <p:cNvSpPr/>
          <p:nvPr/>
        </p:nvSpPr>
        <p:spPr>
          <a:xfrm>
            <a:off x="8954162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val_TLT"/>
          <p:cNvSpPr txBox="1"/>
          <p:nvPr/>
        </p:nvSpPr>
        <p:spPr>
          <a:xfrm>
            <a:off x="9175224" y="54406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+ 0,00%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4b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b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b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b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Em alguns, divergem — e é aí que o Kairós age.</a:t>
            </a:r>
          </a:p>
        </p:txBody>
      </p:sp>
      <p:cxnSp>
        <p:nvCxnSpPr>
          <p:cNvPr id="10" name="s4b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4b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16/09/2025</a:t>
            </a:r>
          </a:p>
        </p:txBody>
      </p:sp>
      <p:sp>
        <p:nvSpPr>
          <p:cNvPr id="15" name="s4b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+9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O Polymarket vê menos corte do que os juros embutem: dinheiro em risco discorda do preço. A conta vira retorno esperado por ETF.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 flipH="1">
            <a:off x="4126496" y="2487168"/>
            <a:ext cx="5021063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4039628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mk_XLK"/>
          <p:cNvSpPr/>
          <p:nvPr/>
        </p:nvSpPr>
        <p:spPr>
          <a:xfrm>
            <a:off x="9088123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val_XLK"/>
          <p:cNvSpPr txBox="1"/>
          <p:nvPr/>
        </p:nvSpPr>
        <p:spPr>
          <a:xfrm>
            <a:off x="3257816" y="23682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− 1,52%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 flipH="1">
            <a:off x="5358875" y="2871216"/>
            <a:ext cx="37505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5272007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mk_SPY"/>
          <p:cNvSpPr/>
          <p:nvPr/>
        </p:nvSpPr>
        <p:spPr>
          <a:xfrm>
            <a:off x="9049977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val_SPY"/>
          <p:cNvSpPr txBox="1"/>
          <p:nvPr/>
        </p:nvSpPr>
        <p:spPr>
          <a:xfrm>
            <a:off x="4490195" y="275234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− 1,14%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 flipH="1">
            <a:off x="6216124" y="3255264"/>
            <a:ext cx="2874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6129256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mk_XLF"/>
          <p:cNvSpPr/>
          <p:nvPr/>
        </p:nvSpPr>
        <p:spPr>
          <a:xfrm>
            <a:off x="9031072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val_XLF"/>
          <p:cNvSpPr txBox="1"/>
          <p:nvPr/>
        </p:nvSpPr>
        <p:spPr>
          <a:xfrm>
            <a:off x="5347444" y="313639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− 0,87%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 flipH="1">
            <a:off x="6631476" y="3639312"/>
            <a:ext cx="24473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6544608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mk_XLE"/>
          <p:cNvSpPr/>
          <p:nvPr/>
        </p:nvSpPr>
        <p:spPr>
          <a:xfrm>
            <a:off x="9019378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val_XLE"/>
          <p:cNvSpPr txBox="1"/>
          <p:nvPr/>
        </p:nvSpPr>
        <p:spPr>
          <a:xfrm>
            <a:off x="5762796" y="35204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− 0,74%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 flipH="1">
            <a:off x="7357519" y="4023360"/>
            <a:ext cx="170007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7270651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mk_XLV"/>
          <p:cNvSpPr/>
          <p:nvPr/>
        </p:nvSpPr>
        <p:spPr>
          <a:xfrm>
            <a:off x="8998159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val_XLV"/>
          <p:cNvSpPr txBox="1"/>
          <p:nvPr/>
        </p:nvSpPr>
        <p:spPr>
          <a:xfrm>
            <a:off x="6488839" y="39044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− 0,52%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 flipH="1">
            <a:off x="7369482" y="4407408"/>
            <a:ext cx="166770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7282614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mk_XLP"/>
          <p:cNvSpPr/>
          <p:nvPr/>
        </p:nvSpPr>
        <p:spPr>
          <a:xfrm>
            <a:off x="8977750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val_XLP"/>
          <p:cNvSpPr txBox="1"/>
          <p:nvPr/>
        </p:nvSpPr>
        <p:spPr>
          <a:xfrm>
            <a:off x="6500802" y="42885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− 0,51%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 flipH="1">
            <a:off x="8379781" y="4791456"/>
            <a:ext cx="632287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292913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mk_TIP"/>
          <p:cNvSpPr/>
          <p:nvPr/>
        </p:nvSpPr>
        <p:spPr>
          <a:xfrm>
            <a:off x="8952632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val_TIP"/>
          <p:cNvSpPr txBox="1"/>
          <p:nvPr/>
        </p:nvSpPr>
        <p:spPr>
          <a:xfrm>
            <a:off x="7511101" y="4672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− 0,20%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>
            <a:off x="9048468" y="5175504"/>
            <a:ext cx="43582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9397428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mk_XLU"/>
          <p:cNvSpPr/>
          <p:nvPr/>
        </p:nvSpPr>
        <p:spPr>
          <a:xfrm>
            <a:off x="8989032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val_XLU"/>
          <p:cNvSpPr txBox="1"/>
          <p:nvPr/>
        </p:nvSpPr>
        <p:spPr>
          <a:xfrm>
            <a:off x="9639744" y="505663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+ 0,15%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9047" y="5559552"/>
            <a:ext cx="48685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9419035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mk_TLT"/>
          <p:cNvSpPr/>
          <p:nvPr/>
        </p:nvSpPr>
        <p:spPr>
          <a:xfrm>
            <a:off x="8959611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val_TLT"/>
          <p:cNvSpPr txBox="1"/>
          <p:nvPr/>
        </p:nvSpPr>
        <p:spPr>
          <a:xfrm>
            <a:off x="9661351" y="54406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+ 0,16%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59:morph xmlns:p159="http://schemas.microsoft.com/office/powerpoint/2015/09/main"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12_0_1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0" name="s12_0_1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pulso"/>
          <p:cNvSpPr/>
          <p:nvPr/>
        </p:nvSpPr>
        <p:spPr>
          <a:xfrm>
            <a:off x="2530300" y="372880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12_1_1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2" name="s12_1_2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pulso"/>
          <p:cNvSpPr/>
          <p:nvPr/>
        </p:nvSpPr>
        <p:spPr>
          <a:xfrm>
            <a:off x="1449603" y="262644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12_2_2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4" name="s12_2_2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pulso"/>
          <p:cNvSpPr/>
          <p:nvPr/>
        </p:nvSpPr>
        <p:spPr>
          <a:xfrm>
            <a:off x="1382760" y="361647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12_3_2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6" name="s12_3_2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pulso"/>
          <p:cNvSpPr/>
          <p:nvPr/>
        </p:nvSpPr>
        <p:spPr>
          <a:xfrm>
            <a:off x="2146815" y="331977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12_4_2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8" name="s12_4_2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pulso"/>
          <p:cNvSpPr/>
          <p:nvPr/>
        </p:nvSpPr>
        <p:spPr>
          <a:xfrm>
            <a:off x="2211553" y="39580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12_5_2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0" name="s12_5_2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pulso"/>
          <p:cNvSpPr/>
          <p:nvPr/>
        </p:nvSpPr>
        <p:spPr>
          <a:xfrm>
            <a:off x="1747201" y="314645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12_6_2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2" name="s12_6_3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!!pulso"/>
          <p:cNvSpPr/>
          <p:nvPr/>
        </p:nvSpPr>
        <p:spPr>
          <a:xfrm>
            <a:off x="3236739" y="324134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12_7_3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4" name="s12_7_3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!!pulso"/>
          <p:cNvSpPr/>
          <p:nvPr/>
        </p:nvSpPr>
        <p:spPr>
          <a:xfrm>
            <a:off x="2064431" y="357905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12_8_3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6" name="s12_8_3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pulso"/>
          <p:cNvSpPr/>
          <p:nvPr/>
        </p:nvSpPr>
        <p:spPr>
          <a:xfrm>
            <a:off x="2401930" y="259661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12_9_3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8" name="s12_9_3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!!pulso"/>
          <p:cNvSpPr/>
          <p:nvPr/>
        </p:nvSpPr>
        <p:spPr>
          <a:xfrm>
            <a:off x="2692843" y="343618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12_10_3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0" name="s12_10_3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!!pulso"/>
          <p:cNvSpPr/>
          <p:nvPr/>
        </p:nvSpPr>
        <p:spPr>
          <a:xfrm>
            <a:off x="3691153" y="491612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12_11_3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2" name="s12_11_4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s12_12_38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1" name="s12_12_39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50">
        <p159:morph xmlns:p159="http://schemas.microsoft.com/office/powerpoint/2015/09/main"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IA em números</a:t>
            </a:r>
          </a:p>
        </p:txBody>
      </p:sp>
      <p:sp>
        <p:nvSpPr>
          <p:cNvPr id="7" name="s1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13</a:t>
            </a:r>
          </a:p>
        </p:txBody>
      </p:sp>
      <p:cxnSp>
        <p:nvCxnSpPr>
          <p:cNvPr id="8" name="s1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Medimos o uso de IA como medimos a estratégia: pelo registro.</a:t>
            </a:r>
          </a:p>
        </p:txBody>
      </p:sp>
      <p:cxnSp>
        <p:nvCxnSpPr>
          <p:cNvPr id="10" name="s1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3_11"/>
          <p:cNvSpPr/>
          <p:nvPr/>
        </p:nvSpPr>
        <p:spPr>
          <a:xfrm>
            <a:off x="73152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13_12"/>
          <p:cNvSpPr txBox="1"/>
          <p:nvPr/>
        </p:nvSpPr>
        <p:spPr>
          <a:xfrm>
            <a:off x="932688" y="15179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15" name="s13_13"/>
          <p:cNvSpPr txBox="1"/>
          <p:nvPr/>
        </p:nvSpPr>
        <p:spPr>
          <a:xfrm>
            <a:off x="1965960" y="1591056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SESSÕES DE IA</a:t>
            </a:r>
          </a:p>
        </p:txBody>
      </p:sp>
      <p:sp>
        <p:nvSpPr>
          <p:cNvPr id="16" name="s13_14"/>
          <p:cNvSpPr txBox="1"/>
          <p:nvPr/>
        </p:nvSpPr>
        <p:spPr>
          <a:xfrm>
            <a:off x="1965960" y="184708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Felipe 55 · Lia 18 · Paulo 18</a:t>
            </a:r>
          </a:p>
        </p:txBody>
      </p:sp>
      <p:sp>
        <p:nvSpPr>
          <p:cNvPr id="17" name="s13_15"/>
          <p:cNvSpPr/>
          <p:nvPr/>
        </p:nvSpPr>
        <p:spPr>
          <a:xfrm>
            <a:off x="344043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s13_16"/>
          <p:cNvSpPr txBox="1"/>
          <p:nvPr/>
        </p:nvSpPr>
        <p:spPr>
          <a:xfrm>
            <a:off x="3641598" y="15179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4674870" y="1591056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TOKENS POR SESSÃO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4674870" y="184708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média · 19,7M no total</a:t>
            </a:r>
          </a:p>
        </p:txBody>
      </p:sp>
      <p:sp>
        <p:nvSpPr>
          <p:cNvPr id="21" name="s13_19"/>
          <p:cNvSpPr/>
          <p:nvPr/>
        </p:nvSpPr>
        <p:spPr>
          <a:xfrm>
            <a:off x="614934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13_20"/>
          <p:cNvSpPr txBox="1"/>
          <p:nvPr/>
        </p:nvSpPr>
        <p:spPr>
          <a:xfrm>
            <a:off x="6350507" y="15179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7383779" y="1591056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DECISÕES REGISTRADAS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7383779" y="184708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escaladas ao humano</a:t>
            </a:r>
          </a:p>
        </p:txBody>
      </p:sp>
      <p:sp>
        <p:nvSpPr>
          <p:cNvPr id="25" name="s13_23"/>
          <p:cNvSpPr/>
          <p:nvPr/>
        </p:nvSpPr>
        <p:spPr>
          <a:xfrm>
            <a:off x="885825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3_24"/>
          <p:cNvSpPr txBox="1"/>
          <p:nvPr/>
        </p:nvSpPr>
        <p:spPr>
          <a:xfrm>
            <a:off x="9059418" y="15179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10092690" y="1591056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TAXA DE RECORREÇÃO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10092690" y="184708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pediram 2ª rodada</a:t>
            </a:r>
          </a:p>
        </p:txBody>
      </p:sp>
      <p:sp>
        <p:nvSpPr>
          <p:cNvPr id="29" name="s13_27"/>
          <p:cNvSpPr txBox="1"/>
          <p:nvPr/>
        </p:nvSpPr>
        <p:spPr>
          <a:xfrm>
            <a:off x="731520" y="2432304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CONTEXTO POR DIA  ·  DECISÕES ACUMULADAS</a:t>
            </a:r>
          </a:p>
        </p:txBody>
      </p:sp>
      <p:pic>
        <p:nvPicPr>
          <p:cNvPr id="30" name="s13_28" descr="p5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715000" cy="2395334"/>
          </a:xfrm>
          <a:prstGeom prst="rect">
            <a:avLst/>
          </a:prstGeom>
        </p:spPr>
      </p:pic>
      <p:sp>
        <p:nvSpPr>
          <p:cNvPr id="31" name="s13_29"/>
          <p:cNvSpPr txBox="1"/>
          <p:nvPr/>
        </p:nvSpPr>
        <p:spPr>
          <a:xfrm>
            <a:off x="6793992" y="2432304"/>
            <a:ext cx="4663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145 ERROS DA IA  ·  QUEM PEGOU</a:t>
            </a:r>
          </a:p>
        </p:txBody>
      </p:sp>
      <p:pic>
        <p:nvPicPr>
          <p:cNvPr id="32" name="s13_30" descr="p5_err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2" y="2670048"/>
            <a:ext cx="4663440" cy="2238174"/>
          </a:xfrm>
          <a:prstGeom prst="rect">
            <a:avLst/>
          </a:prstGeom>
        </p:spPr>
      </p:pic>
      <p:sp>
        <p:nvSpPr>
          <p:cNvPr id="33" name="s13_31"/>
          <p:cNvSpPr txBox="1"/>
          <p:nvPr/>
        </p:nvSpPr>
        <p:spPr>
          <a:xfrm>
            <a:off x="731520" y="5120640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FOI O ESFORÇO</a:t>
            </a:r>
          </a:p>
        </p:txBody>
      </p:sp>
      <p:sp>
        <p:nvSpPr>
          <p:cNvPr id="34" name="s13_32"/>
          <p:cNvSpPr txBox="1"/>
          <p:nvPr/>
        </p:nvSpPr>
        <p:spPr>
          <a:xfrm>
            <a:off x="731520" y="537667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sessão</a:t>
            </a:r>
          </a:p>
        </p:txBody>
      </p:sp>
      <p:sp>
        <p:nvSpPr>
          <p:cNvPr id="35" name="s13_33"/>
          <p:cNvSpPr/>
          <p:nvPr/>
        </p:nvSpPr>
        <p:spPr>
          <a:xfrm>
            <a:off x="1600200" y="5376672"/>
            <a:ext cx="1491175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13_34"/>
          <p:cNvSpPr txBox="1"/>
          <p:nvPr/>
        </p:nvSpPr>
        <p:spPr>
          <a:xfrm>
            <a:off x="1600200" y="5376672"/>
            <a:ext cx="1491175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31%</a:t>
            </a:r>
          </a:p>
        </p:txBody>
      </p:sp>
      <p:sp>
        <p:nvSpPr>
          <p:cNvPr id="37" name="s13_35"/>
          <p:cNvSpPr/>
          <p:nvPr/>
        </p:nvSpPr>
        <p:spPr>
          <a:xfrm>
            <a:off x="3091375" y="5376672"/>
            <a:ext cx="2609556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s13_36"/>
          <p:cNvSpPr txBox="1"/>
          <p:nvPr/>
        </p:nvSpPr>
        <p:spPr>
          <a:xfrm>
            <a:off x="3091375" y="5376672"/>
            <a:ext cx="2609556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54%</a:t>
            </a:r>
          </a:p>
        </p:txBody>
      </p:sp>
      <p:sp>
        <p:nvSpPr>
          <p:cNvPr id="39" name="s13_37"/>
          <p:cNvSpPr/>
          <p:nvPr/>
        </p:nvSpPr>
        <p:spPr>
          <a:xfrm>
            <a:off x="5700932" y="5376672"/>
            <a:ext cx="745587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s13_38"/>
          <p:cNvSpPr txBox="1"/>
          <p:nvPr/>
        </p:nvSpPr>
        <p:spPr>
          <a:xfrm>
            <a:off x="5700932" y="5376672"/>
            <a:ext cx="745587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15%</a:t>
            </a:r>
          </a:p>
        </p:txBody>
      </p:sp>
      <p:sp>
        <p:nvSpPr>
          <p:cNvPr id="41" name="s13_39"/>
          <p:cNvSpPr txBox="1"/>
          <p:nvPr/>
        </p:nvSpPr>
        <p:spPr>
          <a:xfrm>
            <a:off x="731520" y="568756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token</a:t>
            </a:r>
          </a:p>
        </p:txBody>
      </p:sp>
      <p:sp>
        <p:nvSpPr>
          <p:cNvPr id="42" name="s13_40"/>
          <p:cNvSpPr/>
          <p:nvPr/>
        </p:nvSpPr>
        <p:spPr>
          <a:xfrm>
            <a:off x="1600200" y="5687568"/>
            <a:ext cx="1196847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s13_41"/>
          <p:cNvSpPr txBox="1"/>
          <p:nvPr/>
        </p:nvSpPr>
        <p:spPr>
          <a:xfrm>
            <a:off x="1600200" y="5687568"/>
            <a:ext cx="1196847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25%</a:t>
            </a:r>
          </a:p>
        </p:txBody>
      </p:sp>
      <p:sp>
        <p:nvSpPr>
          <p:cNvPr id="44" name="s13_42"/>
          <p:cNvSpPr/>
          <p:nvPr/>
        </p:nvSpPr>
        <p:spPr>
          <a:xfrm>
            <a:off x="2797047" y="5687568"/>
            <a:ext cx="3454923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s13_43"/>
          <p:cNvSpPr txBox="1"/>
          <p:nvPr/>
        </p:nvSpPr>
        <p:spPr>
          <a:xfrm>
            <a:off x="2797047" y="5687568"/>
            <a:ext cx="3454923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71%</a:t>
            </a:r>
          </a:p>
        </p:txBody>
      </p:sp>
      <p:sp>
        <p:nvSpPr>
          <p:cNvPr id="46" name="s13_44"/>
          <p:cNvSpPr/>
          <p:nvPr/>
        </p:nvSpPr>
        <p:spPr>
          <a:xfrm>
            <a:off x="6251970" y="5687568"/>
            <a:ext cx="194549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s13_45"/>
          <p:cNvSpPr/>
          <p:nvPr/>
        </p:nvSpPr>
        <p:spPr>
          <a:xfrm>
            <a:off x="1604772" y="6094476"/>
            <a:ext cx="100584" cy="100584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s13_46"/>
          <p:cNvSpPr txBox="1"/>
          <p:nvPr/>
        </p:nvSpPr>
        <p:spPr>
          <a:xfrm>
            <a:off x="1773936" y="6053328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pesquisa e decisão</a:t>
            </a:r>
          </a:p>
        </p:txBody>
      </p:sp>
      <p:sp>
        <p:nvSpPr>
          <p:cNvPr id="49" name="s13_47"/>
          <p:cNvSpPr/>
          <p:nvPr/>
        </p:nvSpPr>
        <p:spPr>
          <a:xfrm>
            <a:off x="2963570" y="6094476"/>
            <a:ext cx="100584" cy="100584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s13_48"/>
          <p:cNvSpPr txBox="1"/>
          <p:nvPr/>
        </p:nvSpPr>
        <p:spPr>
          <a:xfrm>
            <a:off x="3132734" y="6053328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análise e medição</a:t>
            </a:r>
          </a:p>
        </p:txBody>
      </p:sp>
      <p:sp>
        <p:nvSpPr>
          <p:cNvPr id="51" name="s13_49"/>
          <p:cNvSpPr/>
          <p:nvPr/>
        </p:nvSpPr>
        <p:spPr>
          <a:xfrm>
            <a:off x="4265676" y="6094476"/>
            <a:ext cx="100584" cy="100584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s13_50"/>
          <p:cNvSpPr txBox="1"/>
          <p:nvPr/>
        </p:nvSpPr>
        <p:spPr>
          <a:xfrm>
            <a:off x="4434840" y="6053328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código</a:t>
            </a:r>
          </a:p>
        </p:txBody>
      </p:sp>
      <p:sp>
        <p:nvSpPr>
          <p:cNvPr id="53" name="s13_51"/>
          <p:cNvSpPr txBox="1"/>
          <p:nvPr/>
        </p:nvSpPr>
        <p:spPr>
          <a:xfrm>
            <a:off x="6793992" y="5120640"/>
            <a:ext cx="4663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PESQUISA  ·  31 HIPÓTESES MEDIDAS, 7 ENTRARAM</a:t>
            </a:r>
          </a:p>
        </p:txBody>
      </p:sp>
      <p:sp>
        <p:nvSpPr>
          <p:cNvPr id="54" name="s13_52"/>
          <p:cNvSpPr txBox="1"/>
          <p:nvPr/>
        </p:nvSpPr>
        <p:spPr>
          <a:xfrm>
            <a:off x="6793992" y="537667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13 ideias de sinal</a:t>
            </a:r>
          </a:p>
        </p:txBody>
      </p:sp>
      <p:sp>
        <p:nvSpPr>
          <p:cNvPr id="55" name="s13_53"/>
          <p:cNvSpPr/>
          <p:nvPr/>
        </p:nvSpPr>
        <p:spPr>
          <a:xfrm>
            <a:off x="83987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s13_54"/>
          <p:cNvSpPr/>
          <p:nvPr/>
        </p:nvSpPr>
        <p:spPr>
          <a:xfrm>
            <a:off x="858164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s13_55"/>
          <p:cNvSpPr/>
          <p:nvPr/>
        </p:nvSpPr>
        <p:spPr>
          <a:xfrm>
            <a:off x="87645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s13_56"/>
          <p:cNvSpPr/>
          <p:nvPr/>
        </p:nvSpPr>
        <p:spPr>
          <a:xfrm>
            <a:off x="894740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s13_57"/>
          <p:cNvSpPr/>
          <p:nvPr/>
        </p:nvSpPr>
        <p:spPr>
          <a:xfrm>
            <a:off x="913028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s13_58"/>
          <p:cNvSpPr/>
          <p:nvPr/>
        </p:nvSpPr>
        <p:spPr>
          <a:xfrm>
            <a:off x="93131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s13_59"/>
          <p:cNvSpPr/>
          <p:nvPr/>
        </p:nvSpPr>
        <p:spPr>
          <a:xfrm>
            <a:off x="9477756" y="54086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s13_60"/>
          <p:cNvSpPr/>
          <p:nvPr/>
        </p:nvSpPr>
        <p:spPr>
          <a:xfrm>
            <a:off x="96789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s13_61"/>
          <p:cNvSpPr/>
          <p:nvPr/>
        </p:nvSpPr>
        <p:spPr>
          <a:xfrm>
            <a:off x="986180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s13_62"/>
          <p:cNvSpPr/>
          <p:nvPr/>
        </p:nvSpPr>
        <p:spPr>
          <a:xfrm>
            <a:off x="1004468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s13_63"/>
          <p:cNvSpPr/>
          <p:nvPr/>
        </p:nvSpPr>
        <p:spPr>
          <a:xfrm>
            <a:off x="102275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s13_64"/>
          <p:cNvSpPr/>
          <p:nvPr/>
        </p:nvSpPr>
        <p:spPr>
          <a:xfrm>
            <a:off x="1041044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s13_65"/>
          <p:cNvSpPr/>
          <p:nvPr/>
        </p:nvSpPr>
        <p:spPr>
          <a:xfrm>
            <a:off x="105933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s13_66"/>
          <p:cNvSpPr txBox="1"/>
          <p:nvPr/>
        </p:nvSpPr>
        <p:spPr>
          <a:xfrm>
            <a:off x="10908792" y="53766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13</a:t>
            </a:r>
          </a:p>
        </p:txBody>
      </p:sp>
      <p:sp>
        <p:nvSpPr>
          <p:cNvPr id="69" name="s13_67"/>
          <p:cNvSpPr txBox="1"/>
          <p:nvPr/>
        </p:nvSpPr>
        <p:spPr>
          <a:xfrm>
            <a:off x="6793992" y="560527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4 critérios do Ω</a:t>
            </a:r>
          </a:p>
        </p:txBody>
      </p:sp>
      <p:sp>
        <p:nvSpPr>
          <p:cNvPr id="70" name="s13_68"/>
          <p:cNvSpPr/>
          <p:nvPr/>
        </p:nvSpPr>
        <p:spPr>
          <a:xfrm>
            <a:off x="8398764" y="56555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s13_69"/>
          <p:cNvSpPr/>
          <p:nvPr/>
        </p:nvSpPr>
        <p:spPr>
          <a:xfrm>
            <a:off x="8563356" y="56372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s13_70"/>
          <p:cNvSpPr/>
          <p:nvPr/>
        </p:nvSpPr>
        <p:spPr>
          <a:xfrm>
            <a:off x="8746236" y="56372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s13_71"/>
          <p:cNvSpPr/>
          <p:nvPr/>
        </p:nvSpPr>
        <p:spPr>
          <a:xfrm>
            <a:off x="8947404" y="56555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s13_72"/>
          <p:cNvSpPr txBox="1"/>
          <p:nvPr/>
        </p:nvSpPr>
        <p:spPr>
          <a:xfrm>
            <a:off x="10908792" y="56052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2 de 4</a:t>
            </a:r>
          </a:p>
        </p:txBody>
      </p:sp>
      <p:sp>
        <p:nvSpPr>
          <p:cNvPr id="75" name="s13_73"/>
          <p:cNvSpPr txBox="1"/>
          <p:nvPr/>
        </p:nvSpPr>
        <p:spPr>
          <a:xfrm>
            <a:off x="6793992" y="583387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6 janelas</a:t>
            </a:r>
          </a:p>
        </p:txBody>
      </p:sp>
      <p:sp>
        <p:nvSpPr>
          <p:cNvPr id="76" name="s13_74"/>
          <p:cNvSpPr/>
          <p:nvPr/>
        </p:nvSpPr>
        <p:spPr>
          <a:xfrm>
            <a:off x="839876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s13_75"/>
          <p:cNvSpPr/>
          <p:nvPr/>
        </p:nvSpPr>
        <p:spPr>
          <a:xfrm>
            <a:off x="856335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s13_76"/>
          <p:cNvSpPr/>
          <p:nvPr/>
        </p:nvSpPr>
        <p:spPr>
          <a:xfrm>
            <a:off x="874623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s13_77"/>
          <p:cNvSpPr/>
          <p:nvPr/>
        </p:nvSpPr>
        <p:spPr>
          <a:xfrm>
            <a:off x="892911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s13_78"/>
          <p:cNvSpPr/>
          <p:nvPr/>
        </p:nvSpPr>
        <p:spPr>
          <a:xfrm>
            <a:off x="913028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s13_79"/>
          <p:cNvSpPr/>
          <p:nvPr/>
        </p:nvSpPr>
        <p:spPr>
          <a:xfrm>
            <a:off x="931316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s13_80"/>
          <p:cNvSpPr txBox="1"/>
          <p:nvPr/>
        </p:nvSpPr>
        <p:spPr>
          <a:xfrm>
            <a:off x="10908792" y="58338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3 de 6</a:t>
            </a:r>
          </a:p>
        </p:txBody>
      </p:sp>
      <p:sp>
        <p:nvSpPr>
          <p:cNvPr id="83" name="s13_81"/>
          <p:cNvSpPr txBox="1"/>
          <p:nvPr/>
        </p:nvSpPr>
        <p:spPr>
          <a:xfrm>
            <a:off x="6793992" y="606247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8 tetos de risco</a:t>
            </a:r>
          </a:p>
        </p:txBody>
      </p:sp>
      <p:sp>
        <p:nvSpPr>
          <p:cNvPr id="84" name="s13_82"/>
          <p:cNvSpPr/>
          <p:nvPr/>
        </p:nvSpPr>
        <p:spPr>
          <a:xfrm>
            <a:off x="839876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s13_83"/>
          <p:cNvSpPr/>
          <p:nvPr/>
        </p:nvSpPr>
        <p:spPr>
          <a:xfrm>
            <a:off x="858164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s13_84"/>
          <p:cNvSpPr/>
          <p:nvPr/>
        </p:nvSpPr>
        <p:spPr>
          <a:xfrm>
            <a:off x="876452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s13_85"/>
          <p:cNvSpPr/>
          <p:nvPr/>
        </p:nvSpPr>
        <p:spPr>
          <a:xfrm>
            <a:off x="8929116" y="60944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s13_86"/>
          <p:cNvSpPr/>
          <p:nvPr/>
        </p:nvSpPr>
        <p:spPr>
          <a:xfrm>
            <a:off x="913028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s13_87"/>
          <p:cNvSpPr/>
          <p:nvPr/>
        </p:nvSpPr>
        <p:spPr>
          <a:xfrm>
            <a:off x="931316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s13_88"/>
          <p:cNvSpPr/>
          <p:nvPr/>
        </p:nvSpPr>
        <p:spPr>
          <a:xfrm>
            <a:off x="949604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s13_89"/>
          <p:cNvSpPr/>
          <p:nvPr/>
        </p:nvSpPr>
        <p:spPr>
          <a:xfrm>
            <a:off x="967892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s13_90"/>
          <p:cNvSpPr txBox="1"/>
          <p:nvPr/>
        </p:nvSpPr>
        <p:spPr>
          <a:xfrm>
            <a:off x="10908792" y="60624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16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Polymarket como fonte de dados</a:t>
            </a:r>
          </a:p>
        </p:txBody>
      </p:sp>
      <p:sp>
        <p:nvSpPr>
          <p:cNvPr id="7" name="s1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16</a:t>
            </a:r>
          </a:p>
        </p:txBody>
      </p:sp>
      <p:cxnSp>
        <p:nvCxnSpPr>
          <p:cNvPr id="8" name="s1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Calibrado e mais preciso que o mercado de juros.</a:t>
            </a:r>
          </a:p>
        </p:txBody>
      </p:sp>
      <p:cxnSp>
        <p:nvCxnSpPr>
          <p:cNvPr id="10" name="s1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6_11"/>
          <p:cNvSpPr txBox="1"/>
          <p:nvPr/>
        </p:nvSpPr>
        <p:spPr>
          <a:xfrm>
            <a:off x="731520" y="1417320"/>
            <a:ext cx="51343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1  ·  CALIBRAÇÃO</a:t>
            </a:r>
          </a:p>
        </p:txBody>
      </p:sp>
      <p:sp>
        <p:nvSpPr>
          <p:cNvPr id="14" name="s16_12"/>
          <p:cNvSpPr txBox="1"/>
          <p:nvPr/>
        </p:nvSpPr>
        <p:spPr>
          <a:xfrm>
            <a:off x="731520" y="1645920"/>
            <a:ext cx="51343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Quando o Polymarket diz X %, acontece X % das vezes.</a:t>
            </a:r>
          </a:p>
        </p:txBody>
      </p:sp>
      <p:sp>
        <p:nvSpPr>
          <p:cNvPr id="15" name="s16_13"/>
          <p:cNvSpPr txBox="1"/>
          <p:nvPr/>
        </p:nvSpPr>
        <p:spPr>
          <a:xfrm>
            <a:off x="731520" y="2212848"/>
            <a:ext cx="15544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0,043</a:t>
            </a:r>
          </a:p>
        </p:txBody>
      </p:sp>
      <p:sp>
        <p:nvSpPr>
          <p:cNvPr id="16" name="s16_14"/>
          <p:cNvSpPr txBox="1"/>
          <p:nvPr/>
        </p:nvSpPr>
        <p:spPr>
          <a:xfrm>
            <a:off x="1874519" y="2258568"/>
            <a:ext cx="3488435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BRIER NA VÉSPERA</a:t>
            </a:r>
          </a:p>
        </p:txBody>
      </p:sp>
      <p:sp>
        <p:nvSpPr>
          <p:cNvPr id="17" name="s16_15"/>
          <p:cNvSpPr txBox="1"/>
          <p:nvPr/>
        </p:nvSpPr>
        <p:spPr>
          <a:xfrm>
            <a:off x="1874519" y="2496312"/>
            <a:ext cx="3488435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Kalshi a 1 h: 0,045</a:t>
            </a:r>
          </a:p>
        </p:txBody>
      </p:sp>
      <p:pic>
        <p:nvPicPr>
          <p:cNvPr id="18" name="s16_16" descr="estudo_s0_calib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52928"/>
            <a:ext cx="5134355" cy="2616594"/>
          </a:xfrm>
          <a:prstGeom prst="rect">
            <a:avLst/>
          </a:prstGeom>
        </p:spPr>
      </p:pic>
      <p:sp>
        <p:nvSpPr>
          <p:cNvPr id="19" name="s16_17"/>
          <p:cNvSpPr txBox="1"/>
          <p:nvPr/>
        </p:nvSpPr>
        <p:spPr>
          <a:xfrm>
            <a:off x="6323075" y="1417320"/>
            <a:ext cx="51343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2  ·  DECISÃO DO FED</a:t>
            </a:r>
          </a:p>
        </p:txBody>
      </p:sp>
      <p:sp>
        <p:nvSpPr>
          <p:cNvPr id="20" name="s16_18"/>
          <p:cNvSpPr txBox="1"/>
          <p:nvPr/>
        </p:nvSpPr>
        <p:spPr>
          <a:xfrm>
            <a:off x="6323075" y="1645920"/>
            <a:ext cx="51343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Na decisão do Fed, o Polymarket erra 0,9 bps; o mercado de juros, 4,8.</a:t>
            </a:r>
          </a:p>
        </p:txBody>
      </p:sp>
      <p:sp>
        <p:nvSpPr>
          <p:cNvPr id="21" name="s16_19"/>
          <p:cNvSpPr txBox="1"/>
          <p:nvPr/>
        </p:nvSpPr>
        <p:spPr>
          <a:xfrm>
            <a:off x="6323075" y="2212848"/>
            <a:ext cx="15544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0,9 × 4,8</a:t>
            </a:r>
          </a:p>
        </p:txBody>
      </p:sp>
      <p:sp>
        <p:nvSpPr>
          <p:cNvPr id="22" name="s16_20"/>
          <p:cNvSpPr txBox="1"/>
          <p:nvPr/>
        </p:nvSpPr>
        <p:spPr>
          <a:xfrm>
            <a:off x="7923275" y="2258568"/>
            <a:ext cx="3488435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BPS DE ERRO NA VÉSPERA</a:t>
            </a:r>
          </a:p>
        </p:txBody>
      </p:sp>
      <p:sp>
        <p:nvSpPr>
          <p:cNvPr id="23" name="s16_21"/>
          <p:cNvSpPr txBox="1"/>
          <p:nvPr/>
        </p:nvSpPr>
        <p:spPr>
          <a:xfrm>
            <a:off x="7923275" y="2496312"/>
            <a:ext cx="3488435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Polymarket × futuro de FF</a:t>
            </a:r>
          </a:p>
        </p:txBody>
      </p:sp>
      <p:pic>
        <p:nvPicPr>
          <p:cNvPr id="24" name="s16_22" descr="estudo_s2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5" y="2852928"/>
            <a:ext cx="5134355" cy="2615335"/>
          </a:xfrm>
          <a:prstGeom prst="rect">
            <a:avLst/>
          </a:prstGeom>
        </p:spPr>
      </p:pic>
      <p:sp>
        <p:nvSpPr>
          <p:cNvPr id="25" name="s16_23"/>
          <p:cNvSpPr/>
          <p:nvPr/>
        </p:nvSpPr>
        <p:spPr>
          <a:xfrm>
            <a:off x="731520" y="559612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6_24"/>
          <p:cNvSpPr txBox="1"/>
          <p:nvPr/>
        </p:nvSpPr>
        <p:spPr>
          <a:xfrm>
            <a:off x="960120" y="565099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FD3B0"/>
                </a:solidFill>
                <a:latin typeface="Consolas"/>
              </a:rPr>
              <a:t>CONCLUSÃO</a:t>
            </a:r>
          </a:p>
        </p:txBody>
      </p:sp>
      <p:sp>
        <p:nvSpPr>
          <p:cNvPr id="27" name="s16_25"/>
          <p:cNvSpPr txBox="1"/>
          <p:nvPr/>
        </p:nvSpPr>
        <p:spPr>
          <a:xfrm>
            <a:off x="960120" y="5824728"/>
            <a:ext cx="10268711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5F7FB"/>
                </a:solidFill>
                <a:latin typeface="Bahnschrift SemiBold"/>
              </a:rPr>
              <a:t>É uma probabilidade confiável — e melhor que os juros no que os dois precificam. </a:t>
            </a:r>
            <a:r>
              <a:rPr sz="1300" b="0" i="0">
                <a:solidFill>
                  <a:srgbClr val="FFB531"/>
                </a:solidFill>
                <a:latin typeface="Bahnschrift SemiBold"/>
              </a:rPr>
              <a:t>Por isso ela é a opinião do Black-Litterman.</a:t>
            </a:r>
          </a:p>
        </p:txBody>
      </p:sp>
      <p:sp>
        <p:nvSpPr>
          <p:cNvPr id="28" name="s16_26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150 contratos do Polymarket (Fed e CPI) · 30 eventos · 1416 leituras em 11 horizontes · resolução no FRED · apêndice A1–A3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A1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A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acurácia por horizonte</a:t>
            </a:r>
          </a:p>
        </p:txBody>
      </p:sp>
      <p:sp>
        <p:nvSpPr>
          <p:cNvPr id="7" name="sA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A1</a:t>
            </a:r>
          </a:p>
        </p:txBody>
      </p:sp>
      <p:cxnSp>
        <p:nvCxnSpPr>
          <p:cNvPr id="8" name="sA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Quanto mais perto do evento, menor o erro — e na véspera está no nível do Kalshi.</a:t>
            </a:r>
          </a:p>
        </p:txBody>
      </p:sp>
      <p:cxnSp>
        <p:nvCxnSpPr>
          <p:cNvPr id="10" name="sA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1_11"/>
          <p:cNvSpPr txBox="1"/>
          <p:nvPr/>
        </p:nvSpPr>
        <p:spPr>
          <a:xfrm>
            <a:off x="1705355" y="1417320"/>
            <a:ext cx="8778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BRIER POR DIAS ANTES DA RESOLUÇÃO  ·  SKILL SOBRE A PMF UNIFORME</a:t>
            </a:r>
          </a:p>
        </p:txBody>
      </p:sp>
      <p:pic>
        <p:nvPicPr>
          <p:cNvPr id="14" name="sA1_12" descr="estudo_2_b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355" y="1645920"/>
            <a:ext cx="8778240" cy="3666611"/>
          </a:xfrm>
          <a:prstGeom prst="rect">
            <a:avLst/>
          </a:prstGeom>
        </p:spPr>
      </p:pic>
      <p:sp>
        <p:nvSpPr>
          <p:cNvPr id="15" name="sA1_13"/>
          <p:cNvSpPr txBox="1"/>
          <p:nvPr/>
        </p:nvSpPr>
        <p:spPr>
          <a:xfrm>
            <a:off x="731520" y="5532120"/>
            <a:ext cx="10725911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FOMC: 0,035 a 20 dias → 0,007 na véspera. CPI: 0,092 → 0,078 (é o objeto difícil; ninguém sabe o CPI na véspera).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731520" y="5824728"/>
            <a:ext cx="10725911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 linha branca (as duas famílias) para em 20 dias porque os mercados de CPI vivem ~30 dias; depois só sobra FOMC.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A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Polymarket × mercado de juros</a:t>
            </a:r>
          </a:p>
        </p:txBody>
      </p:sp>
      <p:sp>
        <p:nvSpPr>
          <p:cNvPr id="7" name="sA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A2</a:t>
            </a:r>
          </a:p>
        </p:txBody>
      </p:sp>
      <p:cxnSp>
        <p:nvCxnSpPr>
          <p:cNvPr id="8" name="sA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No FOMC, o Polymarket erra menos e o futuro de FF não acrescenta informação.</a:t>
            </a:r>
          </a:p>
        </p:txBody>
      </p:sp>
      <p:cxnSp>
        <p:nvCxnSpPr>
          <p:cNvPr id="10" name="sA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2_11"/>
          <p:cNvSpPr txBox="1"/>
          <p:nvPr/>
        </p:nvSpPr>
        <p:spPr>
          <a:xfrm>
            <a:off x="731520" y="1417320"/>
            <a:ext cx="6583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ERRO DO Δ TAXA E ACERTO DO DESFECHO MODAL, POR HORIZONTE</a:t>
            </a:r>
          </a:p>
        </p:txBody>
      </p:sp>
      <p:pic>
        <p:nvPicPr>
          <p:cNvPr id="14" name="sA2_12" descr="estudo_3_fomc_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2749958"/>
          </a:xfrm>
          <a:prstGeom prst="rect">
            <a:avLst/>
          </a:prstGeom>
        </p:spPr>
      </p:pic>
      <p:sp>
        <p:nvSpPr>
          <p:cNvPr id="15" name="sA2_13"/>
          <p:cNvSpPr txBox="1"/>
          <p:nvPr/>
        </p:nvSpPr>
        <p:spPr>
          <a:xfrm>
            <a:off x="7589520" y="1417320"/>
            <a:ext cx="3867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QUEM SE MOVE PRIMEIRO</a:t>
            </a:r>
          </a:p>
        </p:txBody>
      </p:sp>
      <p:pic>
        <p:nvPicPr>
          <p:cNvPr id="16" name="sA2_14" descr="estudo_4_lead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645920"/>
            <a:ext cx="3867911" cy="2610490"/>
          </a:xfrm>
          <a:prstGeom prst="rect">
            <a:avLst/>
          </a:prstGeom>
        </p:spPr>
      </p:pic>
      <p:sp>
        <p:nvSpPr>
          <p:cNvPr id="17" name="sA2_15"/>
          <p:cNvSpPr txBox="1"/>
          <p:nvPr/>
        </p:nvSpPr>
        <p:spPr>
          <a:xfrm>
            <a:off x="731520" y="4892040"/>
            <a:ext cx="10725911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Encompassing na véspera:  Δreal = a + 1,14·E_poly -0,06·E_FF   (t = 19,0 e -1,1),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731520" y="5184648"/>
            <a:ext cx="10725911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Proxy = DTB3 − DFF (sem o contrato ZQ, D12), corrigido do viés pela média expansiva dos erros passados (D12a).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731520" y="5477255"/>
            <a:ext cx="10725911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Lead-lag: nos lags sem sobreposição de janela (k = +1, −2) a correlação é ≈ 0 — a informação chega aos dois no mesmo pregão.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A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onde está o valor</a:t>
            </a:r>
          </a:p>
        </p:txBody>
      </p:sp>
      <p:sp>
        <p:nvSpPr>
          <p:cNvPr id="7" name="sA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A3</a:t>
            </a:r>
          </a:p>
        </p:txBody>
      </p:sp>
      <p:cxnSp>
        <p:nvCxnSpPr>
          <p:cNvPr id="8" name="sA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O nível é sinal; o movimento não é — por isso Black-Litterman, e não trading de Δp.</a:t>
            </a:r>
          </a:p>
        </p:txBody>
      </p:sp>
      <p:cxnSp>
        <p:nvCxnSpPr>
          <p:cNvPr id="10" name="sA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3_11"/>
          <p:cNvSpPr txBox="1"/>
          <p:nvPr/>
        </p:nvSpPr>
        <p:spPr>
          <a:xfrm>
            <a:off x="731520" y="1417320"/>
            <a:ext cx="5760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QUAL EXPECTATIVA EXPLICA O RETORNO DO DIA DO FOMC (R², 9 ETFs)</a:t>
            </a:r>
          </a:p>
        </p:txBody>
      </p:sp>
      <p:pic>
        <p:nvPicPr>
          <p:cNvPr id="14" name="sA3_12" descr="estudo_5_event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760720" cy="2891990"/>
          </a:xfrm>
          <a:prstGeom prst="rect">
            <a:avLst/>
          </a:prstGeom>
        </p:spPr>
      </p:pic>
      <p:sp>
        <p:nvSpPr>
          <p:cNvPr id="15" name="sA3_13"/>
          <p:cNvSpPr txBox="1"/>
          <p:nvPr/>
        </p:nvSpPr>
        <p:spPr>
          <a:xfrm>
            <a:off x="6812279" y="1417320"/>
            <a:ext cx="46451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PLACAR DO ESTUDO</a:t>
            </a:r>
          </a:p>
        </p:txBody>
      </p:sp>
      <p:pic>
        <p:nvPicPr>
          <p:cNvPr id="16" name="sA3_14" descr="estudo_6_sinte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79" y="1645920"/>
            <a:ext cx="4645152" cy="2845885"/>
          </a:xfrm>
          <a:prstGeom prst="rect">
            <a:avLst/>
          </a:prstGeom>
        </p:spPr>
      </p:pic>
      <p:sp>
        <p:nvSpPr>
          <p:cNvPr id="17" name="sA3_15"/>
          <p:cNvSpPr txBox="1"/>
          <p:nvPr/>
        </p:nvSpPr>
        <p:spPr>
          <a:xfrm>
            <a:off x="731520" y="4892040"/>
            <a:ext cx="61264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Na véspera quase não sobra surpresa (MAE 0,9 bps): o que move os ETFs no dia é o caminho da política, não a decisão.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731520" y="5184648"/>
            <a:ext cx="61264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Antes do anúncio, Δp não antecipa o retorno (Teste_sinal.md: t ≈ 0 em h = 0, 1, 5); o preço do Polymarket reverte em 12 h (ACF −0,13, VR(5) = 0,78).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