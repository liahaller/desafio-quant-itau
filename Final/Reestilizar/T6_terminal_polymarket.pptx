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peso de mercado</c:v>
                </c:pt>
              </c:strCache>
            </c:strRef>
          </c:tx>
          <c:spPr>
            <a:solidFill>
              <a:srgbClr val="2A4BC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XLU</c:v>
                </c:pt>
                <c:pt idx="1">
                  <c:v>TLT</c:v>
                </c:pt>
                <c:pt idx="2">
                  <c:v>TIP</c:v>
                </c:pt>
                <c:pt idx="3">
                  <c:v>XLK</c:v>
                </c:pt>
                <c:pt idx="4">
                  <c:v>XLE</c:v>
                </c:pt>
                <c:pt idx="5">
                  <c:v>SPY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</c:v>
                </c:pt>
                <c:pt idx="1">
                  <c:v>0.2</c:v>
                </c:pt>
                <c:pt idx="2">
                  <c:v>0.1</c:v>
                </c:pt>
                <c:pt idx="3">
                  <c:v>0.28</c:v>
                </c:pt>
                <c:pt idx="4">
                  <c:v>0.08</c:v>
                </c:pt>
                <c:pt idx="5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peso Black-Litterman</c:v>
                </c:pt>
              </c:strCache>
            </c:strRef>
          </c:tx>
          <c:spPr>
            <a:solidFill>
              <a:srgbClr val="FFB531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XLU</c:v>
                </c:pt>
                <c:pt idx="1">
                  <c:v>TLT</c:v>
                </c:pt>
                <c:pt idx="2">
                  <c:v>TIP</c:v>
                </c:pt>
                <c:pt idx="3">
                  <c:v>XLK</c:v>
                </c:pt>
                <c:pt idx="4">
                  <c:v>XLE</c:v>
                </c:pt>
                <c:pt idx="5">
                  <c:v>SPY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0.16</c:v>
                </c:pt>
                <c:pt idx="1">
                  <c:v>0.24</c:v>
                </c:pt>
                <c:pt idx="2">
                  <c:v>0.13</c:v>
                </c:pt>
                <c:pt idx="3">
                  <c:v>0.2</c:v>
                </c:pt>
                <c:pt idx="4">
                  <c:v>0.08</c:v>
                </c:pt>
                <c:pt idx="5">
                  <c:v>0.19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3A404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</c:scaling>
        <c:delete val="0"/>
        <c:axPos val="l"/>
        <c:majorGridlines>
          <c:spPr>
            <a:ln w="6350">
              <a:solidFill>
                <a:srgbClr val="2A2F37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0.1"/>
      </c:valAx>
      <c:spPr>
        <a:noFill/>
      </c:spPr>
    </c:plotArea>
    <c:legend>
      <c:legendPos val="b"/>
      <c:overlay val="0"/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9AA3A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T6 · Terminal Polymarket (escuro, azul)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 Semibold"/>
              </a:rPr>
              <a:t>Modelo</a:t>
            </a:r>
            <a:r>
              <a:rPr sz="2000" b="0" i="0">
                <a:solidFill>
                  <a:srgbClr val="FFFFFF"/>
                </a:solidFill>
                <a:latin typeface="Segoe UI Semibold"/>
              </a:rPr>
              <a:t>  |  </a:t>
            </a:r>
            <a:r>
              <a:rPr sz="2000" b="0" i="0">
                <a:solidFill>
                  <a:srgbClr val="FFFFFF"/>
                </a:solidFill>
                <a:latin typeface="Segoe UI Semibold"/>
              </a:rPr>
              <a:t>A probabilidade do Polymarket vira uma view com incerteza no 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85855" cy="13716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FFB531"/>
                </a:solidFill>
                <a:latin typeface="Segoe UI Semibold"/>
              </a:rPr>
              <a:t>COMO A VIEW NASCE</a:t>
            </a:r>
          </a:p>
        </p:txBody>
      </p:sp>
      <p:sp>
        <p:nvSpPr>
          <p:cNvPr id="6" name="caixa_1"/>
          <p:cNvSpPr/>
          <p:nvPr/>
        </p:nvSpPr>
        <p:spPr>
          <a:xfrm>
            <a:off x="502920" y="1600200"/>
            <a:ext cx="1572768" cy="96012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12648" y="1682496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FFB531"/>
                </a:solidFill>
                <a:latin typeface="Segoe UI Semibold"/>
              </a:rPr>
              <a:t>POLYMARKET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01952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 Semibold"/>
              </a:rPr>
              <a:t>72 %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5856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3AF"/>
                </a:solidFill>
                <a:latin typeface="Segoe UI"/>
              </a:rPr>
              <a:t>P(corte): preço do contrato “Sim”</a:t>
            </a:r>
          </a:p>
        </p:txBody>
      </p:sp>
      <p:sp>
        <p:nvSpPr>
          <p:cNvPr id="10" name="Oval 9"/>
          <p:cNvSpPr/>
          <p:nvPr/>
        </p:nvSpPr>
        <p:spPr>
          <a:xfrm>
            <a:off x="1929384" y="1490472"/>
            <a:ext cx="256032" cy="256032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5181D"/>
                </a:solidFill>
                <a:latin typeface="Segoe UI Semibold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12264" y="2080260"/>
            <a:ext cx="237744" cy="0"/>
          </a:xfrm>
          <a:prstGeom prst="line">
            <a:avLst/>
          </a:prstGeom>
          <a:ln w="15875">
            <a:solidFill>
              <a:srgbClr val="FFB5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_2"/>
          <p:cNvSpPr/>
          <p:nvPr/>
        </p:nvSpPr>
        <p:spPr>
          <a:xfrm>
            <a:off x="2386584" y="1600200"/>
            <a:ext cx="1572768" cy="96012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496312" y="1682496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FFB531"/>
                </a:solidFill>
                <a:latin typeface="Segoe UI Semibold"/>
              </a:rPr>
              <a:t>SURPRESA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1901952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 Semibold"/>
              </a:rPr>
              <a:t>+0,18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25856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3AF"/>
                </a:solidFill>
                <a:latin typeface="Segoe UI"/>
              </a:rPr>
              <a:t>vs. o que a curva de juros já precifica</a:t>
            </a:r>
          </a:p>
        </p:txBody>
      </p:sp>
      <p:sp>
        <p:nvSpPr>
          <p:cNvPr id="16" name="Oval 15"/>
          <p:cNvSpPr/>
          <p:nvPr/>
        </p:nvSpPr>
        <p:spPr>
          <a:xfrm>
            <a:off x="3813048" y="1490472"/>
            <a:ext cx="256032" cy="256032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5181D"/>
                </a:solidFill>
                <a:latin typeface="Segoe UI Semibold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95928" y="2080260"/>
            <a:ext cx="237744" cy="0"/>
          </a:xfrm>
          <a:prstGeom prst="line">
            <a:avLst/>
          </a:prstGeom>
          <a:ln w="15875">
            <a:solidFill>
              <a:srgbClr val="FFB5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_3"/>
          <p:cNvSpPr/>
          <p:nvPr/>
        </p:nvSpPr>
        <p:spPr>
          <a:xfrm>
            <a:off x="4270248" y="1600200"/>
            <a:ext cx="1572768" cy="96012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79976" y="1682496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FFB531"/>
                </a:solidFill>
                <a:latin typeface="Segoe UI Semibold"/>
              </a:rPr>
              <a:t>VIEW  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1901952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 Semibold"/>
              </a:rPr>
              <a:t>+42 bps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25856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3AF"/>
                </a:solidFill>
                <a:latin typeface="Segoe UI"/>
              </a:rPr>
              <a:t>β × surpresa, no par XLU − XLK</a:t>
            </a:r>
          </a:p>
        </p:txBody>
      </p:sp>
      <p:sp>
        <p:nvSpPr>
          <p:cNvPr id="22" name="Oval 21"/>
          <p:cNvSpPr/>
          <p:nvPr/>
        </p:nvSpPr>
        <p:spPr>
          <a:xfrm>
            <a:off x="5696712" y="1490472"/>
            <a:ext cx="256032" cy="256032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5181D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743200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5D9E0"/>
                </a:solidFill>
                <a:latin typeface="Segoe UI"/>
              </a:rPr>
              <a:t>A view entra na mesma unidade do prior de equilíbrio </a:t>
            </a:r>
            <a:r>
              <a:rPr sz="1150" b="1" i="0">
                <a:solidFill>
                  <a:srgbClr val="D5D9E0"/>
                </a:solidFill>
                <a:latin typeface="Segoe UI"/>
              </a:rPr>
              <a:t>π</a:t>
            </a:r>
            <a:r>
              <a:rPr sz="1150" b="0" i="0">
                <a:solidFill>
                  <a:srgbClr val="D5D9E0"/>
                </a:solidFill>
                <a:latin typeface="Segoe UI"/>
              </a:rPr>
              <a:t>: retorno esperado do par. </a:t>
            </a:r>
            <a:r>
              <a:rPr sz="1150" b="0" i="0">
                <a:solidFill>
                  <a:srgbClr val="D5D9E0"/>
                </a:solidFill>
                <a:latin typeface="Segoe UI"/>
              </a:rPr>
              <a:t>A incerteza </a:t>
            </a:r>
            <a:r>
              <a:rPr sz="1150" b="1" i="0">
                <a:solidFill>
                  <a:srgbClr val="D5D9E0"/>
                </a:solidFill>
                <a:latin typeface="Segoe UI"/>
              </a:rPr>
              <a:t>Ω</a:t>
            </a:r>
            <a:r>
              <a:rPr sz="1150" b="0" i="0">
                <a:solidFill>
                  <a:srgbClr val="D5D9E0"/>
                </a:solidFill>
                <a:latin typeface="Segoe UI"/>
              </a:rPr>
              <a:t> decide quanto o peso se afasta de w</a:t>
            </a:r>
            <a:r>
              <a:rPr sz="1150" b="0" i="0" baseline="-25000">
                <a:solidFill>
                  <a:srgbClr val="D5D9E0"/>
                </a:solidFill>
                <a:latin typeface="Segoe UI"/>
              </a:rPr>
              <a:t>mkt</a:t>
            </a:r>
            <a:r>
              <a:rPr sz="1150" b="0" i="0">
                <a:solidFill>
                  <a:srgbClr val="D5D9E0"/>
                </a:solidFill>
                <a:latin typeface="Segoe UI"/>
              </a:rPr>
              <a:t>; com Ω grande, o posterior volta ao prior.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661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FFB531"/>
                </a:solidFill>
                <a:latin typeface="Segoe UI Semibold"/>
              </a:rPr>
              <a:t>POSTERIOR DE BLACK-LITTERMAN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502920" y="3840479"/>
                <a:ext cx="5394960" cy="59436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</a:rPr>
                            <m:t>μ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FFFFFF"/>
                              </a:solidFill>
                            </a:rPr>
                            <m:t>BL</m:t>
                          </m:r>
                        </m:sub>
                      </m:sSub>
                      <m:r>
                        <a:rPr lang="en-US" sz="2000">
                          <a:solidFill>
                            <a:srgbClr val="FFFFFF"/>
                          </a:solidFill>
                        </a:rPr>
                        <m:t>=</m:t>
                      </m:r>
                      <m:sSup>
                        <m:e>
                          <m:d>
                            <m:dPr>
                              <m:begChr m:val="["/>
                              <m:endChr m:val="]"/>
                            </m:dP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endChr m:val=")"/>
                                    </m:dPr>
                                    <m:e>
                                      <m:r>
                                        <a:rPr lang="en-US" sz="2000">
                                          <a:solidFill>
                                            <a:srgbClr val="FFFFFF"/>
                                          </a:solidFill>
                                        </a:rPr>
                                        <m:t>τΣ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solidFill>
                                        <a:srgbClr val="FFFFFF"/>
                                      </a:solidFill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US" sz="2000">
                                      <a:solidFill>
                                        <a:srgbClr val="FFFFFF"/>
                                      </a:solidFill>
                                    </a:rPr>
                                    <m:t>P</m:t>
                                  </m:r>
                                </m:e>
                                <m:sup>
                                  <m:r>
                                    <a:rPr lang="en-US" sz="2000">
                                      <a:solidFill>
                                        <a:srgbClr val="FFFFFF"/>
                                      </a:solidFill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a:rPr lang="en-US" sz="2000">
                                      <a:solidFill>
                                        <a:srgbClr val="FFFFFF"/>
                                      </a:solidFill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US" sz="2000">
                                      <a:solidFill>
                                        <a:srgbClr val="FFFFFF"/>
                                      </a:solidFill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</a:rPr>
                                <m:t>P</m:t>
                              </m:r>
                            </m:e>
                          </m:d>
                        </m:e>
                        <m:sup>
                          <m:r>
                            <a:rPr lang="en-US" sz="2000">
                              <a:solidFill>
                                <a:srgbClr val="FFFFFF"/>
                              </a:solidFill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</m:dPr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solidFill>
                                        <a:srgbClr val="FFFFFF"/>
                                      </a:solidFill>
                                    </a:rPr>
                                    <m:t>τΣ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>
                              <a:solidFill>
                                <a:srgbClr val="FFFFFF"/>
                              </a:solidFill>
                            </a:rPr>
                            <m:t>π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</a:rPr>
                            <m:t>+</m:t>
                          </m:r>
                          <m:sSup>
                            <m:e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</a:rPr>
                                <m:t>P</m:t>
                              </m:r>
                            </m:e>
                            <m:sup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</a:rPr>
                                <m:t>Ω</m:t>
                              </m:r>
                            </m:e>
                            <m:sup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>
                              <a:solidFill>
                                <a:srgbClr val="FFFFFF"/>
                              </a:solidFill>
                            </a:rPr>
                            <m:t>Q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25" name="TextBox 24"/>
              <p:cNvSpPr txBox="1"/>
              <p:nvPr/>
            </p:nvSpPr>
            <p:spPr>
              <a:xfrm>
                <a:off x="502920" y="3840479"/>
                <a:ext cx="5394960" cy="594360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spAutoFit/>
              </a:bodyPr>
              <a:lstStyle/>
              <a:p>
                <a:pPr algn="l"/>
                <a:r>
                  <a:rPr sz="2000" b="0" i="0">
                    <a:solidFill>
                      <a:srgbClr val="FFFFFF"/>
                    </a:solidFill>
                    <a:latin typeface="Cambria Math"/>
                  </a:rPr>
                  <a:t>μ_BL = [(τΣ)^-1 + P'Ω^-1 P]^-1 [(τΣ)^-1 π + P'Ω^-1 Q]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502920" y="4480560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3AF"/>
                </a:solidFill>
                <a:latin typeface="Segoe UI"/>
              </a:rPr>
              <a:t>Q: view do Polymarket  ·  Ω: incerteza da view  ·  τ: escala do 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2801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FFB531"/>
                </a:solidFill>
                <a:latin typeface="Segoe UI Semibold"/>
              </a:rPr>
              <a:t>PESO DE MERCADO × PESO BL  (EXEMPLO)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6537960" y="1645919"/>
          <a:ext cx="5148071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Rectangle 28"/>
          <p:cNvSpPr/>
          <p:nvPr/>
        </p:nvSpPr>
        <p:spPr>
          <a:xfrm>
            <a:off x="502920" y="4983479"/>
            <a:ext cx="11183111" cy="566928"/>
          </a:xfrm>
          <a:prstGeom prst="rect">
            <a:avLst/>
          </a:prstGeom>
          <a:noFill/>
          <a:ln w="9525">
            <a:solidFill>
              <a:srgbClr val="3A40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4983479"/>
            <a:ext cx="1072591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Onde o Polymarket concorda com o mercado a surpresa é zero e a carteira fica em w</a:t>
            </a:r>
            <a:r>
              <a:rPr sz="1200" b="0" i="0" baseline="-25000">
                <a:solidFill>
                  <a:srgbClr val="FFFFFF"/>
                </a:solidFill>
                <a:latin typeface="Segoe UI"/>
              </a:rPr>
              <a:t>mkt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; a view só desloca o peso quando há discordância — e Ω decide quanto.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650992"/>
            <a:ext cx="1118311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AA3AF"/>
                </a:solidFill>
                <a:latin typeface="Segoe UI"/>
              </a:rPr>
              <a:t>Fonte: elaboração própria. Dados ilustrativos — template de estilo, não são números da entrega.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00800"/>
            <a:ext cx="11185855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3AF"/>
                </a:solidFill>
                <a:latin typeface="Segoe UI"/>
              </a:rPr>
              <a:t>Motivação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5309" y="6473952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3AF"/>
                </a:solidFill>
                <a:latin typeface="Segoe UI"/>
              </a:rPr>
              <a:t>Dados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87698" y="6473952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Segoe UI Semibold"/>
              </a:rPr>
              <a:t>Modelo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47413" y="6739128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730087" y="6473952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2476" y="6473952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3AF"/>
                </a:solidFill>
                <a:latin typeface="Segoe UI"/>
              </a:rPr>
              <a:t>Análise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4866" y="6473952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3AF"/>
                </a:solidFill>
                <a:latin typeface="Segoe UI"/>
              </a:rPr>
              <a:t>Apêndice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AA3A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