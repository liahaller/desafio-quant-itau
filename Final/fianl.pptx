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34" r:id="rId4"/>
  </p:sldMasterIdLst>
  <p:notesMasterIdLst>
    <p:notesMasterId r:id="rId29"/>
  </p:notesMasterIdLst>
  <p:sldIdLst>
    <p:sldId id="256" r:id="rId5"/>
    <p:sldId id="257" r:id="rId6"/>
    <p:sldId id="279" r:id="rId7"/>
    <p:sldId id="273" r:id="rId8"/>
    <p:sldId id="258" r:id="rId9"/>
    <p:sldId id="276" r:id="rId10"/>
    <p:sldId id="266" r:id="rId11"/>
    <p:sldId id="274" r:id="rId12"/>
    <p:sldId id="275" r:id="rId13"/>
    <p:sldId id="260" r:id="rId14"/>
    <p:sldId id="261" r:id="rId15"/>
    <p:sldId id="277" r:id="rId16"/>
    <p:sldId id="262" r:id="rId17"/>
    <p:sldId id="263" r:id="rId18"/>
    <p:sldId id="278" r:id="rId19"/>
    <p:sldId id="280" r:id="rId20"/>
    <p:sldId id="267" r:id="rId21"/>
    <p:sldId id="268" r:id="rId22"/>
    <p:sldId id="269" r:id="rId23"/>
    <p:sldId id="270" r:id="rId24"/>
    <p:sldId id="259" r:id="rId25"/>
    <p:sldId id="271" r:id="rId26"/>
    <p:sldId id="272" r:id="rId27"/>
    <p:sldId id="281" r:id="rId28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01E2C"/>
    <a:srgbClr val="24374A"/>
    <a:srgbClr val="9BAEC0"/>
    <a:srgbClr val="728293"/>
    <a:srgbClr val="F5A623"/>
    <a:srgbClr val="7F91A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582B94D-1D7B-95AE-6988-A78C495B3FEB}" v="18" dt="2026-09-16T23:59:56.384"/>
    <p1510:client id="{9A80E55D-9C1C-4CF9-A5EB-245C9D2F4FDF}" v="1070" dt="2026-09-17T00:36:10.979"/>
    <p1510:client id="{A561BD78-AC76-5B12-57A4-5A4E2F8CCEB0}" v="131" dt="2026-09-17T00:00:30.53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09" d="100"/>
          <a:sy n="109" d="100"/>
        </p:scale>
        <p:origin x="672" y="11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34" Type="http://schemas.microsoft.com/office/2016/11/relationships/changesInfo" Target="changesInfos/changesInfo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presProps" Target="presProps.xml"/><Relationship Id="rId35" Type="http://schemas.microsoft.com/office/2015/10/relationships/revisionInfo" Target="revisionInfo.xml"/><Relationship Id="rId8" Type="http://schemas.openxmlformats.org/officeDocument/2006/relationships/slide" Target="slides/slide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da Costa Menusier" userId="797c70dd-f395-4042-9773-26bd55573a5d" providerId="ADAL" clId="{C6B74651-31EC-4988-9930-A32ABBFCAD74}"/>
    <pc:docChg chg="addSld modSld sldOrd">
      <pc:chgData name="Felipe da Costa Menusier" userId="797c70dd-f395-4042-9773-26bd55573a5d" providerId="ADAL" clId="{C6B74651-31EC-4988-9930-A32ABBFCAD74}" dt="2026-09-17T00:33:14.672" v="6"/>
      <pc:docMkLst>
        <pc:docMk/>
      </pc:docMkLst>
      <pc:sldChg chg="modSp">
        <pc:chgData name="Felipe da Costa Menusier" userId="797c70dd-f395-4042-9773-26bd55573a5d" providerId="ADAL" clId="{C6B74651-31EC-4988-9930-A32ABBFCAD74}" dt="2026-09-17T00:12:41.620" v="3" actId="20578"/>
        <pc:sldMkLst>
          <pc:docMk/>
          <pc:sldMk cId="0" sldId="262"/>
        </pc:sldMkLst>
        <pc:spChg chg="mod">
          <ac:chgData name="Felipe da Costa Menusier" userId="797c70dd-f395-4042-9773-26bd55573a5d" providerId="ADAL" clId="{C6B74651-31EC-4988-9930-A32ABBFCAD74}" dt="2026-09-17T00:12:41.620" v="3" actId="20578"/>
          <ac:spMkLst>
            <pc:docMk/>
            <pc:sldMk cId="0" sldId="262"/>
            <ac:spMk id="18" creationId="{8C1132E1-7B15-74A9-4126-A2E501E8E693}"/>
          </ac:spMkLst>
        </pc:spChg>
      </pc:sldChg>
      <pc:sldChg chg="ord">
        <pc:chgData name="Felipe da Costa Menusier" userId="797c70dd-f395-4042-9773-26bd55573a5d" providerId="ADAL" clId="{C6B74651-31EC-4988-9930-A32ABBFCAD74}" dt="2026-09-17T00:06:14.613" v="1"/>
        <pc:sldMkLst>
          <pc:docMk/>
          <pc:sldMk cId="3769131820" sldId="276"/>
        </pc:sldMkLst>
      </pc:sldChg>
      <pc:sldChg chg="add">
        <pc:chgData name="Felipe da Costa Menusier" userId="797c70dd-f395-4042-9773-26bd55573a5d" providerId="ADAL" clId="{C6B74651-31EC-4988-9930-A32ABBFCAD74}" dt="2026-09-17T00:06:39.714" v="2"/>
        <pc:sldMkLst>
          <pc:docMk/>
          <pc:sldMk cId="2667986819" sldId="277"/>
        </pc:sldMkLst>
      </pc:sldChg>
      <pc:sldChg chg="add">
        <pc:chgData name="Felipe da Costa Menusier" userId="797c70dd-f395-4042-9773-26bd55573a5d" providerId="ADAL" clId="{C6B74651-31EC-4988-9930-A32ABBFCAD74}" dt="2026-09-17T00:17:46.083" v="4"/>
        <pc:sldMkLst>
          <pc:docMk/>
          <pc:sldMk cId="1556199943" sldId="278"/>
        </pc:sldMkLst>
      </pc:sldChg>
      <pc:sldChg chg="add">
        <pc:chgData name="Felipe da Costa Menusier" userId="797c70dd-f395-4042-9773-26bd55573a5d" providerId="ADAL" clId="{C6B74651-31EC-4988-9930-A32ABBFCAD74}" dt="2026-09-17T00:24:57.178" v="5"/>
        <pc:sldMkLst>
          <pc:docMk/>
          <pc:sldMk cId="1719061596" sldId="279"/>
        </pc:sldMkLst>
      </pc:sldChg>
      <pc:sldChg chg="add">
        <pc:chgData name="Felipe da Costa Menusier" userId="797c70dd-f395-4042-9773-26bd55573a5d" providerId="ADAL" clId="{C6B74651-31EC-4988-9930-A32ABBFCAD74}" dt="2026-09-17T00:33:14.672" v="6"/>
        <pc:sldMkLst>
          <pc:docMk/>
          <pc:sldMk cId="1718000780" sldId="280"/>
        </pc:sldMkLst>
      </pc:sldChg>
    </pc:docChg>
  </pc:docChgLst>
  <pc:docChgLst>
    <pc:chgData name="Guest User" userId="S::urn:spo:tenantanon#6370a6c0-7b90-4709-bd6e-59c28ede833b::" providerId="AD" clId="Web-{A561BD78-AC76-5B12-57A4-5A4E2F8CCEB0}"/>
    <pc:docChg chg="addSld modSld sldOrd">
      <pc:chgData name="Guest User" userId="S::urn:spo:tenantanon#6370a6c0-7b90-4709-bd6e-59c28ede833b::" providerId="AD" clId="Web-{A561BD78-AC76-5B12-57A4-5A4E2F8CCEB0}" dt="2026-09-17T00:00:27.896" v="71" actId="20577"/>
      <pc:docMkLst>
        <pc:docMk/>
      </pc:docMkLst>
      <pc:sldChg chg="modSp">
        <pc:chgData name="Guest User" userId="S::urn:spo:tenantanon#6370a6c0-7b90-4709-bd6e-59c28ede833b::" providerId="AD" clId="Web-{A561BD78-AC76-5B12-57A4-5A4E2F8CCEB0}" dt="2026-09-16T23:59:42.238" v="55" actId="20577"/>
        <pc:sldMkLst>
          <pc:docMk/>
          <pc:sldMk cId="0" sldId="257"/>
        </pc:sldMkLst>
        <pc:spChg chg="mod">
          <ac:chgData name="Guest User" userId="S::urn:spo:tenantanon#6370a6c0-7b90-4709-bd6e-59c28ede833b::" providerId="AD" clId="Web-{A561BD78-AC76-5B12-57A4-5A4E2F8CCEB0}" dt="2026-09-16T23:59:42.238" v="55" actId="20577"/>
          <ac:spMkLst>
            <pc:docMk/>
            <pc:sldMk cId="0" sldId="257"/>
            <ac:spMk id="5" creationId="{00000000-0000-0000-0000-000000000000}"/>
          </ac:spMkLst>
        </pc:spChg>
      </pc:sldChg>
      <pc:sldChg chg="addSp modSp new ord">
        <pc:chgData name="Guest User" userId="S::urn:spo:tenantanon#6370a6c0-7b90-4709-bd6e-59c28ede833b::" providerId="AD" clId="Web-{A561BD78-AC76-5B12-57A4-5A4E2F8CCEB0}" dt="2026-09-16T23:51:26.766" v="13"/>
        <pc:sldMkLst>
          <pc:docMk/>
          <pc:sldMk cId="1926029493" sldId="273"/>
        </pc:sldMkLst>
        <pc:spChg chg="add mod">
          <ac:chgData name="Guest User" userId="S::urn:spo:tenantanon#6370a6c0-7b90-4709-bd6e-59c28ede833b::" providerId="AD" clId="Web-{A561BD78-AC76-5B12-57A4-5A4E2F8CCEB0}" dt="2026-09-16T23:51:24.454" v="12" actId="20577"/>
          <ac:spMkLst>
            <pc:docMk/>
            <pc:sldMk cId="1926029493" sldId="273"/>
            <ac:spMk id="2" creationId="{DB03040F-9650-C6CA-098D-94420FA5A936}"/>
          </ac:spMkLst>
        </pc:spChg>
      </pc:sldChg>
      <pc:sldChg chg="new">
        <pc:chgData name="Guest User" userId="S::urn:spo:tenantanon#6370a6c0-7b90-4709-bd6e-59c28ede833b::" providerId="AD" clId="Web-{A561BD78-AC76-5B12-57A4-5A4E2F8CCEB0}" dt="2026-09-16T23:57:52.281" v="14"/>
        <pc:sldMkLst>
          <pc:docMk/>
          <pc:sldMk cId="718984315" sldId="274"/>
        </pc:sldMkLst>
      </pc:sldChg>
      <pc:sldChg chg="addSp modSp new">
        <pc:chgData name="Guest User" userId="S::urn:spo:tenantanon#6370a6c0-7b90-4709-bd6e-59c28ede833b::" providerId="AD" clId="Web-{A561BD78-AC76-5B12-57A4-5A4E2F8CCEB0}" dt="2026-09-16T23:58:30.642" v="46" actId="20577"/>
        <pc:sldMkLst>
          <pc:docMk/>
          <pc:sldMk cId="222590383" sldId="275"/>
        </pc:sldMkLst>
        <pc:spChg chg="add mod">
          <ac:chgData name="Guest User" userId="S::urn:spo:tenantanon#6370a6c0-7b90-4709-bd6e-59c28ede833b::" providerId="AD" clId="Web-{A561BD78-AC76-5B12-57A4-5A4E2F8CCEB0}" dt="2026-09-16T23:58:30.642" v="46" actId="20577"/>
          <ac:spMkLst>
            <pc:docMk/>
            <pc:sldMk cId="222590383" sldId="275"/>
            <ac:spMk id="2" creationId="{2F41A7A3-C771-0B4A-A16D-C3A311A0D6D0}"/>
          </ac:spMkLst>
        </pc:spChg>
      </pc:sldChg>
      <pc:sldChg chg="addSp modSp new">
        <pc:chgData name="Guest User" userId="S::urn:spo:tenantanon#6370a6c0-7b90-4709-bd6e-59c28ede833b::" providerId="AD" clId="Web-{A561BD78-AC76-5B12-57A4-5A4E2F8CCEB0}" dt="2026-09-17T00:00:27.896" v="71" actId="20577"/>
        <pc:sldMkLst>
          <pc:docMk/>
          <pc:sldMk cId="3769131820" sldId="276"/>
        </pc:sldMkLst>
        <pc:spChg chg="add mod">
          <ac:chgData name="Guest User" userId="S::urn:spo:tenantanon#6370a6c0-7b90-4709-bd6e-59c28ede833b::" providerId="AD" clId="Web-{A561BD78-AC76-5B12-57A4-5A4E2F8CCEB0}" dt="2026-09-17T00:00:27.896" v="71" actId="20577"/>
          <ac:spMkLst>
            <pc:docMk/>
            <pc:sldMk cId="3769131820" sldId="276"/>
            <ac:spMk id="2" creationId="{BCBC75B4-CAB3-C358-51F5-AB9FC92AEBC5}"/>
          </ac:spMkLst>
        </pc:spChg>
      </pc:sldChg>
    </pc:docChg>
  </pc:docChgLst>
  <pc:docChgLst>
    <pc:chgData name="Guest User" userId="S::urn:spo:tenantanon#6370a6c0-7b90-4709-bd6e-59c28ede833b::" providerId="AD" clId="Web-{4582B94D-1D7B-95AE-6988-A78C495B3FEB}"/>
    <pc:docChg chg="modSld">
      <pc:chgData name="Guest User" userId="S::urn:spo:tenantanon#6370a6c0-7b90-4709-bd6e-59c28ede833b::" providerId="AD" clId="Web-{4582B94D-1D7B-95AE-6988-A78C495B3FEB}" dt="2026-09-16T23:59:56.087" v="16" actId="20577"/>
      <pc:docMkLst>
        <pc:docMk/>
      </pc:docMkLst>
      <pc:sldChg chg="modSp">
        <pc:chgData name="Guest User" userId="S::urn:spo:tenantanon#6370a6c0-7b90-4709-bd6e-59c28ede833b::" providerId="AD" clId="Web-{4582B94D-1D7B-95AE-6988-A78C495B3FEB}" dt="2026-09-16T23:59:56.087" v="16" actId="20577"/>
        <pc:sldMkLst>
          <pc:docMk/>
          <pc:sldMk cId="0" sldId="257"/>
        </pc:sldMkLst>
        <pc:spChg chg="mod">
          <ac:chgData name="Guest User" userId="S::urn:spo:tenantanon#6370a6c0-7b90-4709-bd6e-59c28ede833b::" providerId="AD" clId="Web-{4582B94D-1D7B-95AE-6988-A78C495B3FEB}" dt="2026-09-16T23:59:56.087" v="16" actId="20577"/>
          <ac:spMkLst>
            <pc:docMk/>
            <pc:sldMk cId="0" sldId="257"/>
            <ac:spMk id="5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3B5C461-9D63-4A58-BF91-933D95097AE6}" type="datetimeFigureOut">
              <a:rPr lang="pt-BR" smtClean="0"/>
              <a:t>17/09/2026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F6ADDB9-189E-4F84-A208-07C1AA8F3A1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074970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abre com o diagrama frio. A pergunta do fim é a deixa do slide 4 — o Morph acende o Q enquanto ela é dita.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 </a:t>
            </a:r>
            <a:r>
              <a:rPr err="1"/>
              <a:t>fala</a:t>
            </a:r>
            <a:r>
              <a:t> </a:t>
            </a:r>
            <a:r>
              <a:rPr err="1"/>
              <a:t>percorre</a:t>
            </a:r>
            <a:r>
              <a:t> UMA view </a:t>
            </a:r>
            <a:r>
              <a:rPr err="1"/>
              <a:t>inteira</a:t>
            </a:r>
            <a:r>
              <a:t> (o Fed); a </a:t>
            </a:r>
            <a:r>
              <a:rPr err="1"/>
              <a:t>tabela</a:t>
            </a:r>
            <a:r>
              <a:t> </a:t>
            </a:r>
            <a:r>
              <a:rPr err="1"/>
              <a:t>existe</a:t>
            </a:r>
            <a:r>
              <a:t> para as </a:t>
            </a:r>
            <a:r>
              <a:rPr err="1"/>
              <a:t>outras</a:t>
            </a:r>
            <a:r>
              <a:t> </a:t>
            </a:r>
            <a:r>
              <a:rPr err="1"/>
              <a:t>três</a:t>
            </a:r>
            <a:r>
              <a:t> </a:t>
            </a:r>
            <a:r>
              <a:rPr err="1"/>
              <a:t>serem</a:t>
            </a:r>
            <a:r>
              <a:t> </a:t>
            </a:r>
            <a:r>
              <a:rPr err="1"/>
              <a:t>só</a:t>
            </a:r>
            <a:r>
              <a:t> </a:t>
            </a:r>
            <a:r>
              <a:rPr err="1"/>
              <a:t>nomeadas</a:t>
            </a:r>
            <a:r>
              <a:t>.</a:t>
            </a:r>
          </a:p>
          <a:p>
            <a:endParaRPr lang="pt-BR">
              <a:solidFill>
                <a:srgbClr val="F5A623"/>
              </a:solidFill>
            </a:endParaRPr>
          </a:p>
          <a:p>
            <a:r>
              <a:rPr lang="pt-BR" b="1">
                <a:solidFill>
                  <a:srgbClr val="F5A623"/>
                </a:solidFill>
              </a:rPr>
              <a:t>probabilidade</a:t>
            </a:r>
            <a:r>
              <a:rPr lang="pt-BR">
                <a:solidFill>
                  <a:srgbClr val="F5A623"/>
                </a:solidFill>
              </a:rPr>
              <a:t>  − âncora = surpresa (bps)  × β medido → </a:t>
            </a:r>
            <a:r>
              <a:rPr lang="pt-BR" b="1">
                <a:solidFill>
                  <a:srgbClr val="F5A623"/>
                </a:solidFill>
              </a:rPr>
              <a:t>retorno por ativo</a:t>
            </a:r>
            <a:endParaRPr lang="en-US">
              <a:solidFill>
                <a:srgbClr val="F5A623"/>
              </a:solidFill>
            </a:endParaRPr>
          </a:p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 número das views vetadas fica na tela, não na fala.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err="1"/>
              <a:t>estado</a:t>
            </a:r>
            <a:r>
              <a:t> final: o Morph </a:t>
            </a:r>
            <a:r>
              <a:rPr err="1"/>
              <a:t>empilha</a:t>
            </a:r>
            <a:r>
              <a:t> a </a:t>
            </a:r>
            <a:r>
              <a:rPr err="1"/>
              <a:t>camada</a:t>
            </a:r>
            <a:r>
              <a:t> </a:t>
            </a:r>
            <a:r>
              <a:rPr err="1"/>
              <a:t>estrutural</a:t>
            </a:r>
            <a:r>
              <a:t> no canto </a:t>
            </a:r>
            <a:r>
              <a:rPr err="1"/>
              <a:t>enquanto</a:t>
            </a:r>
            <a:r>
              <a:t> a </a:t>
            </a:r>
            <a:r>
              <a:rPr err="1"/>
              <a:t>tática</a:t>
            </a:r>
            <a:r>
              <a:t> e o </a:t>
            </a:r>
            <a:r>
              <a:rPr err="1"/>
              <a:t>teto</a:t>
            </a:r>
            <a:r>
              <a:t> </a:t>
            </a:r>
            <a:r>
              <a:rPr err="1"/>
              <a:t>entram</a:t>
            </a:r>
            <a:r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 grafo é o argumento: o contrato (CLAUDE.md, LOG.md, Decisoes_pendentes.md) é o miolo de onde tudo pende — o second brain não é metáfora, é a forma que o repositório tomou. Medido no branch Felipe pelo grafo_repo.py, não estimado.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800" b="0">
                <a:solidFill>
                  <a:srgbClr val="E8EDF2"/>
                </a:solidFill>
                <a:latin typeface="Segoe UI Semibold"/>
              </a:rPr>
              <a:t>Exposição à queda.</a:t>
            </a:r>
            <a:r>
              <a:rPr lang="pt-BR" sz="800" b="0">
                <a:solidFill>
                  <a:srgbClr val="9BAEC0"/>
                </a:solidFill>
                <a:latin typeface="Segoe UI"/>
              </a:rPr>
              <a:t> Nos dois tombos a carteira caiu junto e, em abril/2025, mais fundo que o índice: −19,6% contra −18,8%. O ganho vem da subida, não da defesa.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800" b="0">
                <a:solidFill>
                  <a:srgbClr val="E8EDF2"/>
                </a:solidFill>
                <a:latin typeface="Segoe UI Semibold"/>
              </a:rPr>
              <a:t>Uma janela, um regime.</a:t>
            </a:r>
            <a:r>
              <a:rPr lang="pt-BR" sz="800" b="0">
                <a:solidFill>
                  <a:srgbClr val="9BAEC0"/>
                </a:solidFill>
                <a:latin typeface="Segoe UI"/>
              </a:rPr>
              <a:t> 374 pregões de alta do S&amp;P, sem correção para as ~200 comparações da busca tática. O teste em regime de queda é o que falta.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800" b="0">
                <a:solidFill>
                  <a:srgbClr val="E8EDF2"/>
                </a:solidFill>
                <a:latin typeface="Segoe UI Semibold"/>
              </a:rPr>
              <a:t>Teto de risco: somar é dividir.</a:t>
            </a:r>
            <a:r>
              <a:rPr lang="pt-BR" sz="800" b="0">
                <a:solidFill>
                  <a:srgbClr val="9BAEC0"/>
                </a:solidFill>
                <a:latin typeface="Segoe UI"/>
              </a:rPr>
              <a:t> A camada tática faz +42,6 pp sozinha e −2,94 pp dentro da carteira. Sob teto fixo, entrar não acrescenta — reparte o mesmo orçamento.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800" b="0">
                <a:solidFill>
                  <a:srgbClr val="9BAEC0"/>
                </a:solidFill>
                <a:latin typeface="Segoe UI"/>
              </a:rPr>
              <a:t>Giramos os quatro botões da estratégia — risco, confiança, gatilho e correção das probabilidades — e a vantagem sobre o SPY não vira negativa em nenhuma posição: </a:t>
            </a:r>
            <a:r>
              <a:rPr lang="pt-BR" sz="800" b="0">
                <a:solidFill>
                  <a:srgbClr val="E8EDF2"/>
                </a:solidFill>
                <a:latin typeface="Segoe UI Semibold"/>
              </a:rPr>
              <a:t>+0,5 a +15,8 pp</a:t>
            </a:r>
            <a:r>
              <a:rPr lang="pt-BR" sz="800" b="0">
                <a:solidFill>
                  <a:srgbClr val="9BAEC0"/>
                </a:solidFill>
                <a:latin typeface="Segoe UI"/>
              </a:rPr>
              <a:t>. Não é um parâmetro bem escolhido.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800" b="0">
              <a:solidFill>
                <a:srgbClr val="9BAEC0"/>
              </a:solidFill>
              <a:latin typeface="Segoe U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800" b="0">
              <a:solidFill>
                <a:srgbClr val="9BAEC0"/>
              </a:solidFill>
              <a:latin typeface="Segoe U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800" b="0">
              <a:solidFill>
                <a:srgbClr val="9BAEC0"/>
              </a:solidFill>
              <a:latin typeface="Segoe UI"/>
            </a:endParaRPr>
          </a:p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F6ADDB9-189E-4F84-A208-07C1AA8F3A13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317544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890B36E-D51A-C0F9-E815-0D094873B92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54C68810-6F02-A152-DEE1-20884A74E04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34664017-52AF-D126-1B05-4FFD71F74C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9FE14E9-0A22-34BB-C700-25A9A8B5E5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F5F84E2-0ED1-6970-B999-0B056C2BCD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3800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C3A25B5-2C10-8739-37D2-E68D960EAB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A902611-C8E8-FD43-CA04-A5C77539C4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3C9FE30-6AD4-B38C-46FE-BE1B6C127A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DABF4630-B32C-5EB9-1A9A-97F5A12B74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BB3723A-424A-0173-0A27-3A715617C8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08524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58BB581-3721-7232-CBF0-C76B2C405F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A2BB0A-7E6B-95ED-07B7-681D20CD8C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1E0E806D-B16F-C6BA-F051-BC92FC1A16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FAD4C58-E774-2DAD-918B-00EF2D04BE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00AFC58-C7DA-A825-1DBF-C3480BD47C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80094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1635A49-4295-332F-69CC-C718CA5369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265518A-38FB-F6DB-2C4F-38DA6F54B04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8A816CE2-C369-D6D0-3E11-89C79EA7E4C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6CBF2E7-443B-DD82-A6C9-93597F0166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480A6FC-0F1D-7182-1997-A8EB519A0B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BD6E6C5A-0DA8-3CD0-8D24-C5C83D24BF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80690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AFA16D9-6E28-9F77-9747-4525AD8D68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62098AB5-AB06-9FE2-2DEC-2758B16DB2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A6DE695-6D08-A6FB-DE7A-4269957CFA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54D0C7E8-6D72-8EE4-0BCD-F9EC79CC3BC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64349DCC-FA2E-97A4-775E-D4245B0953E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2C1FF268-6D1B-3209-16AC-8AFEF91B8E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97686B93-4E15-3FB0-06D0-D697A0ECB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A7B8C49E-37A4-5EF6-9284-D8F96D9DD3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10931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1F243F8-0F72-5AD4-FC98-C0C3FD49B0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66079B89-8659-6C46-D458-984473B7D9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0B315535-C74B-6E2C-4C14-AE066CDFA2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4B2E3F4F-52E7-0EFA-D6A9-F7372AE73C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94876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54A0CE1D-51D4-E00B-1564-B6D610D7F1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705FD508-07A1-7323-E1D0-BA68271AB0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455A543-F1E2-9305-3146-41FFC697CB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43263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8471DB2-C33C-6448-D56B-AC54B42A9E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6E72565-6389-C614-EA0D-93677DD672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9EB10022-78A3-5909-8094-C9E989D4DC4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39269421-94F3-CC9D-327C-72D302B409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1D3A48BA-F7DE-D417-622D-2FD1A422D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5CBD7F5-EF63-7A0A-A74B-C313348C5E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28438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90DA162-4DBE-585E-136C-B8E7B85F31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BC1C692E-67B5-5E7B-F724-E638BA7E60B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C71461D2-780A-C22A-215A-1FF164F006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E378CC3E-201D-F865-D512-8E3CCB969A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9C076904-9ECF-4F8E-20E3-313134C907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DED6A9DA-D49F-8656-E170-92D20E83B8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87120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55E59DC-DA4B-4665-8C75-7137EDACF4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E00E46B8-8ACD-6FD6-81A6-DC87794EDD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85E25331-5DA7-8E75-DFA3-FB67273124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71D5FF99-C3FD-0894-3E58-3BF2FB847B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343F733-8F82-A93A-D584-12DEB0A389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46753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DAF8A04C-582B-F2BC-AC43-2CC90BB30FE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CCC603B4-49D8-B11A-0FA1-1CF6679089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321678AD-30D7-8553-8E72-5FF3B1544F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5BE1D8F-E400-7A9F-C150-48A86B3781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48E79D2B-E1A6-FEE9-D5C1-3B2A2D5B2A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6184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BB43002A-F87C-CD61-CDB4-9F64F6CCCA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93EBA176-418D-D436-89BB-74915DCBA2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F8DA1F8-7DB8-B1AE-1F56-0B338A1AB33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0AA4F68-06BA-CD94-1699-EFD307B95D6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9AA8497-C9BB-A966-1538-4B95AF6A54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614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5" r:id="rId1"/>
    <p:sldLayoutId id="2147483736" r:id="rId2"/>
    <p:sldLayoutId id="2147483737" r:id="rId3"/>
    <p:sldLayoutId id="2147483738" r:id="rId4"/>
    <p:sldLayoutId id="2147483739" r:id="rId5"/>
    <p:sldLayoutId id="2147483740" r:id="rId6"/>
    <p:sldLayoutId id="2147483741" r:id="rId7"/>
    <p:sldLayoutId id="2147483742" r:id="rId8"/>
    <p:sldLayoutId id="2147483743" r:id="rId9"/>
    <p:sldLayoutId id="2147483744" r:id="rId10"/>
    <p:sldLayoutId id="214748374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36CA4CB-FC8F-E7CE-BF85-D20C627AA7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!!halo_robo"/>
          <p:cNvSpPr/>
          <p:nvPr/>
        </p:nvSpPr>
        <p:spPr>
          <a:xfrm>
            <a:off x="5322792" y="326358"/>
            <a:ext cx="6600000" cy="6600000"/>
          </a:xfrm>
          <a:prstGeom prst="ellipse">
            <a:avLst/>
          </a:prstGeom>
          <a:gradFill rotWithShape="1">
            <a:gsLst>
              <a:gs pos="0">
                <a:srgbClr val="FFB531">
                  <a:alpha val="22000"/>
                </a:srgbClr>
              </a:gs>
              <a:gs pos="35000">
                <a:srgbClr val="FFB531">
                  <a:alpha val="9000"/>
                </a:srgbClr>
              </a:gs>
              <a:gs pos="65000">
                <a:srgbClr val="FFB531">
                  <a:alpha val="3000"/>
                </a:srgbClr>
              </a:gs>
              <a:gs pos="85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4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5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30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6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7" name="!!foot_l"/>
          <p:cNvSpPr txBox="1"/>
          <p:nvPr/>
        </p:nvSpPr>
        <p:spPr>
          <a:xfrm>
            <a:off x="731520" y="6653200"/>
            <a:ext cx="6000000" cy="16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pt-BR" sz="700" b="0" spc="120">
                <a:solidFill>
                  <a:srgbClr val="58698A"/>
                </a:solidFill>
                <a:latin typeface="Consolas"/>
              </a:rPr>
              <a:t>ITAÚ QUANT AI CHALLENGE  ·  SEMIFINAL 2026</a:t>
            </a:r>
          </a:p>
        </p:txBody>
      </p:sp>
      <p:sp>
        <p:nvSpPr>
          <p:cNvPr id="28" name="!!foot_r"/>
          <p:cNvSpPr txBox="1"/>
          <p:nvPr/>
        </p:nvSpPr>
        <p:spPr>
          <a:xfrm>
            <a:off x="5457432" y="6653200"/>
            <a:ext cx="6000000" cy="16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pt-BR" sz="700" b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sp>
        <p:nvSpPr>
          <p:cNvPr id="30" name="!!risca"/>
          <p:cNvSpPr/>
          <p:nvPr/>
        </p:nvSpPr>
        <p:spPr>
          <a:xfrm>
            <a:off x="731520" y="3705000"/>
            <a:ext cx="1005840" cy="36576"/>
          </a:xfrm>
          <a:prstGeom prst="rect">
            <a:avLst/>
          </a:prstGeom>
          <a:gradFill rotWithShape="1">
            <a:gsLst>
              <a:gs pos="0">
                <a:srgbClr val="FFB531"/>
              </a:gs>
              <a:gs pos="100000">
                <a:srgbClr val="FFB531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D2AEB71-E81B-F9D0-B1D6-9F0DF9E870EB}"/>
              </a:ext>
            </a:extLst>
          </p:cNvPr>
          <p:cNvSpPr txBox="1"/>
          <p:nvPr/>
        </p:nvSpPr>
        <p:spPr>
          <a:xfrm>
            <a:off x="731520" y="426720"/>
            <a:ext cx="7315200" cy="203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1200" b="1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spc="72">
                <a:solidFill>
                  <a:srgbClr val="8395B5"/>
                </a:solidFill>
                <a:latin typeface="Consolas"/>
              </a:rPr>
              <a:t>   </a:t>
            </a:r>
            <a:r>
              <a:rPr sz="1100" b="0" spc="72" err="1">
                <a:solidFill>
                  <a:srgbClr val="8395B5"/>
                </a:solidFill>
                <a:latin typeface="Consolas"/>
              </a:rPr>
              <a:t>Identidade</a:t>
            </a:r>
            <a:endParaRPr sz="1000" b="0" spc="50">
              <a:solidFill>
                <a:srgbClr val="BAC6DA"/>
              </a:solidFill>
              <a:latin typeface="Consola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68F7E83-1878-C6AE-87BA-2472312350CC}"/>
              </a:ext>
            </a:extLst>
          </p:cNvPr>
          <p:cNvSpPr txBox="1"/>
          <p:nvPr/>
        </p:nvSpPr>
        <p:spPr>
          <a:xfrm>
            <a:off x="0" y="467359"/>
            <a:ext cx="11457432" cy="152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900" b="0" spc="45">
                <a:solidFill>
                  <a:srgbClr val="8395B5"/>
                </a:solidFill>
                <a:latin typeface="Consolas"/>
              </a:rPr>
              <a:t>01</a:t>
            </a:r>
          </a:p>
        </p:txBody>
      </p:sp>
      <p:cxnSp>
        <p:nvCxnSpPr>
          <p:cNvPr id="4" name="Connector 3">
            <a:extLst>
              <a:ext uri="{FF2B5EF4-FFF2-40B4-BE49-F238E27FC236}">
                <a16:creationId xmlns:a16="http://schemas.microsoft.com/office/drawing/2014/main" id="{3A137472-E872-EFA6-A9AC-37E1822B6C24}"/>
              </a:ext>
            </a:extLst>
          </p:cNvPr>
          <p:cNvCxnSpPr/>
          <p:nvPr/>
        </p:nvCxnSpPr>
        <p:spPr>
          <a:xfrm>
            <a:off x="731520" y="704850"/>
            <a:ext cx="10725912" cy="0"/>
          </a:xfrm>
          <a:prstGeom prst="bentConnector3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4B599A72-77AC-8217-4D08-A8B49FEEE24E}"/>
              </a:ext>
            </a:extLst>
          </p:cNvPr>
          <p:cNvSpPr txBox="1"/>
          <p:nvPr/>
        </p:nvSpPr>
        <p:spPr>
          <a:xfrm>
            <a:off x="731520" y="2121041"/>
            <a:ext cx="5788152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2000" b="0" spc="500">
                <a:solidFill>
                  <a:srgbClr val="FFB531"/>
                </a:solidFill>
                <a:latin typeface="Bahnschrift SemiBold Condensed"/>
              </a:rPr>
              <a:t>KAIROS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B5290D6-2EB0-BB5D-D448-220E46A92B64}"/>
              </a:ext>
            </a:extLst>
          </p:cNvPr>
          <p:cNvSpPr txBox="1"/>
          <p:nvPr/>
        </p:nvSpPr>
        <p:spPr>
          <a:xfrm>
            <a:off x="731520" y="3886961"/>
            <a:ext cx="578815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200" b="0" spc="20">
                <a:solidFill>
                  <a:srgbClr val="F5F7FB"/>
                </a:solidFill>
                <a:latin typeface="Bahnschrift SemiBold"/>
              </a:rPr>
              <a:t>Black-Litterman movido a probabilidade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52231AA-A8C0-C4DA-F7CD-E18C762D8673}"/>
              </a:ext>
            </a:extLst>
          </p:cNvPr>
          <p:cNvSpPr txBox="1"/>
          <p:nvPr/>
        </p:nvSpPr>
        <p:spPr>
          <a:xfrm>
            <a:off x="731520" y="4572762"/>
            <a:ext cx="5788152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800" b="1" i="1" err="1">
                <a:solidFill>
                  <a:srgbClr val="FFB531"/>
                </a:solidFill>
                <a:latin typeface="Georgia"/>
              </a:rPr>
              <a:t>Kairós</a:t>
            </a:r>
            <a:r>
              <a:rPr sz="1800" b="0" i="1">
                <a:solidFill>
                  <a:srgbClr val="BAC6DA"/>
                </a:solidFill>
                <a:latin typeface="Georgia"/>
              </a:rPr>
              <a:t>, no grego: o </a:t>
            </a:r>
            <a:r>
              <a:rPr sz="1800" b="0" i="1" err="1">
                <a:solidFill>
                  <a:srgbClr val="BAC6DA"/>
                </a:solidFill>
                <a:latin typeface="Georgia"/>
              </a:rPr>
              <a:t>instante</a:t>
            </a:r>
            <a:r>
              <a:rPr sz="1800" b="0" i="1">
                <a:solidFill>
                  <a:srgbClr val="BAC6DA"/>
                </a:solidFill>
                <a:latin typeface="Georgia"/>
              </a:rPr>
              <a:t> </a:t>
            </a:r>
            <a:r>
              <a:rPr sz="1800" b="0" i="1" err="1">
                <a:solidFill>
                  <a:srgbClr val="BAC6DA"/>
                </a:solidFill>
                <a:latin typeface="Georgia"/>
              </a:rPr>
              <a:t>certo</a:t>
            </a:r>
            <a:r>
              <a:rPr sz="1800" b="0" i="1">
                <a:solidFill>
                  <a:srgbClr val="BAC6DA"/>
                </a:solidFill>
                <a:latin typeface="Georgia"/>
              </a:rPr>
              <a:t> de </a:t>
            </a:r>
            <a:r>
              <a:rPr sz="1800" b="0" i="1" err="1">
                <a:solidFill>
                  <a:srgbClr val="BAC6DA"/>
                </a:solidFill>
                <a:latin typeface="Georgia"/>
              </a:rPr>
              <a:t>agir</a:t>
            </a:r>
            <a:r>
              <a:rPr sz="1800" b="0" i="1">
                <a:solidFill>
                  <a:srgbClr val="BAC6DA"/>
                </a:solidFill>
                <a:latin typeface="Georgia"/>
              </a:rPr>
              <a:t>.</a:t>
            </a:r>
            <a:r>
              <a:rPr lang="pt-PT" sz="1800" b="0" i="1">
                <a:solidFill>
                  <a:srgbClr val="BAC6DA"/>
                </a:solidFill>
                <a:latin typeface="Georgia"/>
              </a:rPr>
              <a:t> O modelo só age quando o mercado de previsão traz oportunidade</a:t>
            </a:r>
            <a:endParaRPr sz="1800" b="0" i="1">
              <a:solidFill>
                <a:srgbClr val="BAC6DA"/>
              </a:solidFill>
              <a:latin typeface="Georgia"/>
            </a:endParaRPr>
          </a:p>
        </p:txBody>
      </p:sp>
      <p:cxnSp>
        <p:nvCxnSpPr>
          <p:cNvPr id="20" name="Connector 19">
            <a:extLst>
              <a:ext uri="{FF2B5EF4-FFF2-40B4-BE49-F238E27FC236}">
                <a16:creationId xmlns:a16="http://schemas.microsoft.com/office/drawing/2014/main" id="{CCB5ED1E-9847-784C-70E6-939D37736474}"/>
              </a:ext>
            </a:extLst>
          </p:cNvPr>
          <p:cNvCxnSpPr/>
          <p:nvPr/>
        </p:nvCxnSpPr>
        <p:spPr>
          <a:xfrm>
            <a:off x="731520" y="6553200"/>
            <a:ext cx="10725912" cy="0"/>
          </a:xfrm>
          <a:prstGeom prst="bentConnector3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3" name="Picture 22">
            <a:extLst>
              <a:ext uri="{FF2B5EF4-FFF2-40B4-BE49-F238E27FC236}">
                <a16:creationId xmlns:a16="http://schemas.microsoft.com/office/drawing/2014/main" id="{881CF7BA-CCFB-7A3B-4C58-E2143E1F30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8716" y="732282"/>
            <a:ext cx="5788152" cy="5788152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E42EEE03-8A5A-9E38-1C78-7E8AE6CD3915}"/>
              </a:ext>
            </a:extLst>
          </p:cNvPr>
          <p:cNvSpPr txBox="1"/>
          <p:nvPr/>
        </p:nvSpPr>
        <p:spPr>
          <a:xfrm>
            <a:off x="10691446" y="33159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052720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30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4" name="!!ghost"/>
          <p:cNvSpPr txBox="1"/>
          <p:nvPr/>
        </p:nvSpPr>
        <p:spPr>
          <a:xfrm>
            <a:off x="6900000" y="-230000"/>
            <a:ext cx="4950000" cy="200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pt-BR" sz="15000" b="0" spc="0">
                <a:solidFill>
                  <a:srgbClr val="101A2E"/>
                </a:solidFill>
                <a:latin typeface="Bahnschrift SemiBold Condensed"/>
              </a:rPr>
              <a:t>02</a:t>
            </a:r>
          </a:p>
        </p:txBody>
      </p:sp>
      <p:sp>
        <p:nvSpPr>
          <p:cNvPr id="3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6" name="!!foot_l"/>
          <p:cNvSpPr txBox="1"/>
          <p:nvPr/>
        </p:nvSpPr>
        <p:spPr>
          <a:xfrm>
            <a:off x="731520" y="6653200"/>
            <a:ext cx="6000000" cy="16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pt-BR" sz="700" b="0" spc="120">
                <a:solidFill>
                  <a:srgbClr val="58698A"/>
                </a:solidFill>
                <a:latin typeface="Consolas"/>
              </a:rPr>
              <a:t>ITAÚ QUANT AI CHALLENGE  ·  SEMIFINAL 2026</a:t>
            </a:r>
          </a:p>
        </p:txBody>
      </p:sp>
      <p:sp>
        <p:nvSpPr>
          <p:cNvPr id="37" name="!!foot_r"/>
          <p:cNvSpPr txBox="1"/>
          <p:nvPr/>
        </p:nvSpPr>
        <p:spPr>
          <a:xfrm>
            <a:off x="5457432" y="6653200"/>
            <a:ext cx="6000000" cy="16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pt-BR" sz="700" b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731520" y="426720"/>
            <a:ext cx="7315200" cy="203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1200" b="1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spc="72">
                <a:solidFill>
                  <a:srgbClr val="8395B5"/>
                </a:solidFill>
                <a:latin typeface="Consolas"/>
              </a:rPr>
              <a:t>   A ideia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467359"/>
            <a:ext cx="11457432" cy="152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900" b="0" spc="45">
                <a:solidFill>
                  <a:srgbClr val="8395B5"/>
                </a:solidFill>
                <a:latin typeface="Consolas"/>
              </a:rPr>
              <a:t>02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31520" y="704850"/>
            <a:ext cx="10725912" cy="0"/>
          </a:xfrm>
          <a:prstGeom prst="bentConnector3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31520" y="850900"/>
            <a:ext cx="10725911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2000" b="0">
                <a:solidFill>
                  <a:srgbClr val="F5F7FB"/>
                </a:solidFill>
                <a:latin typeface="Bahnschrift SemiBold"/>
              </a:rPr>
              <a:t>A </a:t>
            </a:r>
            <a:r>
              <a:rPr lang="en-US" sz="2000" b="0" err="1">
                <a:solidFill>
                  <a:srgbClr val="F5F7FB"/>
                </a:solidFill>
                <a:latin typeface="Bahnschrift SemiBold"/>
              </a:rPr>
              <a:t>ideia</a:t>
            </a:r>
            <a:r>
              <a:rPr lang="en-US" sz="2000">
                <a:solidFill>
                  <a:srgbClr val="F5F7FB"/>
                </a:solidFill>
                <a:latin typeface="Bahnschrift SemiBold"/>
              </a:rPr>
              <a:t> POLYMARKET (</a:t>
            </a:r>
            <a:r>
              <a:rPr lang="en-US" sz="2000" err="1">
                <a:solidFill>
                  <a:srgbClr val="F5F7FB"/>
                </a:solidFill>
                <a:latin typeface="Bahnschrift SemiBold"/>
              </a:rPr>
              <a:t>sem</a:t>
            </a:r>
            <a:r>
              <a:rPr lang="en-US" sz="2000">
                <a:solidFill>
                  <a:srgbClr val="F5F7FB"/>
                </a:solidFill>
                <a:latin typeface="Bahnschrift SemiBold"/>
              </a:rPr>
              <a:t> </a:t>
            </a:r>
            <a:r>
              <a:rPr lang="en-US" sz="2000" err="1">
                <a:solidFill>
                  <a:srgbClr val="F5F7FB"/>
                </a:solidFill>
                <a:latin typeface="Bahnschrift SemiBold"/>
              </a:rPr>
              <a:t>ficha</a:t>
            </a:r>
            <a:r>
              <a:rPr lang="en-US" sz="2000">
                <a:solidFill>
                  <a:srgbClr val="F5F7FB"/>
                </a:solidFill>
                <a:latin typeface="Bahnschrift SemiBold"/>
              </a:rPr>
              <a:t> </a:t>
            </a:r>
            <a:r>
              <a:rPr lang="en-US" sz="2000" err="1">
                <a:solidFill>
                  <a:srgbClr val="F5F7FB"/>
                </a:solidFill>
                <a:latin typeface="Bahnschrift SemiBold"/>
              </a:rPr>
              <a:t>tecnica</a:t>
            </a:r>
            <a:r>
              <a:rPr lang="en-US" sz="2000">
                <a:solidFill>
                  <a:srgbClr val="F5F7FB"/>
                </a:solidFill>
                <a:latin typeface="Bahnschrift SemiBold"/>
              </a:rPr>
              <a:t>)</a:t>
            </a:r>
            <a:endParaRPr lang="en-US" sz="2000" b="0">
              <a:solidFill>
                <a:srgbClr val="F5F7FB"/>
              </a:solidFill>
              <a:latin typeface="Bahnschrift SemiBold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5212080" cy="1188720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nschrift SemiLight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987552" y="1819656"/>
            <a:ext cx="4700016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1200"/>
              </a:spcAft>
            </a:pPr>
            <a:r>
              <a:rPr sz="900" b="1" spc="180">
                <a:solidFill>
                  <a:srgbClr val="FFB531"/>
                </a:solidFill>
                <a:latin typeface="Consolas"/>
              </a:rPr>
              <a:t>A HIPÓTESE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300" b="0">
                <a:solidFill>
                  <a:srgbClr val="BAC6DA"/>
                </a:solidFill>
                <a:latin typeface="Bahnschrift SemiLight"/>
              </a:rPr>
              <a:t>Mercados de previsão antecipam o mercado financeiro.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300" b="0">
                <a:solidFill>
                  <a:srgbClr val="BAC6DA"/>
                </a:solidFill>
                <a:latin typeface="Bahnschrift SemiLight"/>
              </a:rPr>
              <a:t>Esse é o nosso sinal.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971800"/>
            <a:ext cx="5212080" cy="1554480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nschrift SemiLight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987552" y="3191256"/>
            <a:ext cx="4700016" cy="11887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1200"/>
              </a:spcAft>
            </a:pPr>
            <a:r>
              <a:rPr sz="900" b="1" spc="180">
                <a:solidFill>
                  <a:srgbClr val="FFB531"/>
                </a:solidFill>
                <a:latin typeface="Consolas"/>
              </a:rPr>
              <a:t>O QUE É O POLYMARKET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300" b="0">
                <a:solidFill>
                  <a:srgbClr val="BAC6DA"/>
                </a:solidFill>
                <a:latin typeface="Bahnschrift SemiLight"/>
              </a:rPr>
              <a:t>Contratos pagam US$ 1 se o evento ocorre, zero se não.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300" b="0">
                <a:solidFill>
                  <a:srgbClr val="BAC6DA"/>
                </a:solidFill>
                <a:latin typeface="Bahnschrift SemiLight"/>
              </a:rPr>
              <a:t>O preço do contrato é a probabilidade implícita do mercado.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300" b="0">
                <a:solidFill>
                  <a:srgbClr val="BAC6DA"/>
                </a:solidFill>
                <a:latin typeface="Bahnschrift SemiLight"/>
              </a:rPr>
              <a:t>Quem errar perde dinheiro de verdade.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709160"/>
            <a:ext cx="2491740" cy="1234440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nschrift SemiLight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932688" y="4709160"/>
            <a:ext cx="2089404" cy="1234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Aft>
                <a:spcPts val="300"/>
              </a:spcAft>
            </a:pPr>
            <a:r>
              <a:rPr sz="3250" b="0">
                <a:solidFill>
                  <a:srgbClr val="FFB531"/>
                </a:solidFill>
                <a:latin typeface="Bahnschrift SemiBold Condensed"/>
              </a:rPr>
              <a:t>90,1%</a:t>
            </a:r>
          </a:p>
          <a:p>
            <a:pPr>
              <a:lnSpc>
                <a:spcPct val="105000"/>
              </a:lnSpc>
            </a:pPr>
            <a:r>
              <a:rPr sz="950" b="0">
                <a:solidFill>
                  <a:srgbClr val="BAC6DA"/>
                </a:solidFill>
                <a:latin typeface="Bahnschrift"/>
              </a:rPr>
              <a:t>de acerto a 1 mês da resolução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51860" y="4709160"/>
            <a:ext cx="2491740" cy="1234440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nschrift SemiLight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653028" y="4709160"/>
            <a:ext cx="2089404" cy="1234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Aft>
                <a:spcPts val="300"/>
              </a:spcAft>
            </a:pPr>
            <a:r>
              <a:rPr sz="3250" b="0">
                <a:solidFill>
                  <a:srgbClr val="FFB531"/>
                </a:solidFill>
                <a:latin typeface="Bahnschrift SemiBold Condensed"/>
              </a:rPr>
              <a:t>US$ 26,2 bi</a:t>
            </a:r>
          </a:p>
          <a:p>
            <a:pPr>
              <a:lnSpc>
                <a:spcPct val="105000"/>
              </a:lnSpc>
            </a:pPr>
            <a:r>
              <a:rPr sz="950" b="0">
                <a:solidFill>
                  <a:srgbClr val="BAC6DA"/>
                </a:solidFill>
                <a:latin typeface="Bahnschrift"/>
              </a:rPr>
              <a:t>negociados no 1º tri de 2026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45352" y="1600200"/>
            <a:ext cx="5212080" cy="4343400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nschrift SemiLight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6519672" y="1819656"/>
            <a:ext cx="4663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900" b="1" spc="180">
                <a:solidFill>
                  <a:srgbClr val="FFB531"/>
                </a:solidFill>
                <a:latin typeface="Consolas"/>
              </a:rPr>
              <a:t>FICHA TÉCNICA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519672" y="2313432"/>
            <a:ext cx="4663440" cy="0"/>
          </a:xfrm>
          <a:prstGeom prst="bentConnector3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519672" y="2368296"/>
            <a:ext cx="4663440" cy="61996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200" b="0">
                <a:solidFill>
                  <a:srgbClr val="BAC6DA"/>
                </a:solidFill>
                <a:latin typeface="Bahnschrift SemiLight"/>
              </a:rPr>
              <a:t>Universo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9672" y="2368296"/>
            <a:ext cx="4663440" cy="61996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200" b="0">
                <a:solidFill>
                  <a:srgbClr val="F5F7FB"/>
                </a:solidFill>
                <a:latin typeface="Bahnschrift SemiBold"/>
              </a:rPr>
              <a:t>9 ETFs americanos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519672" y="2988259"/>
            <a:ext cx="4663440" cy="0"/>
          </a:xfrm>
          <a:prstGeom prst="bentConnector3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519672" y="3043123"/>
            <a:ext cx="4663440" cy="61996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200" b="0">
                <a:solidFill>
                  <a:srgbClr val="BAC6DA"/>
                </a:solidFill>
                <a:latin typeface="Bahnschrift SemiLight"/>
              </a:rPr>
              <a:t>Benchmark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19672" y="3043123"/>
            <a:ext cx="4663440" cy="61996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200" b="0">
                <a:solidFill>
                  <a:srgbClr val="F5F7FB"/>
                </a:solidFill>
                <a:latin typeface="Bahnschrift SemiBold"/>
              </a:rPr>
              <a:t>S&amp;P 500 (SPY)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519672" y="3663086"/>
            <a:ext cx="4663440" cy="0"/>
          </a:xfrm>
          <a:prstGeom prst="bentConnector3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519672" y="3717950"/>
            <a:ext cx="4663440" cy="61996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200" b="0">
                <a:solidFill>
                  <a:srgbClr val="BAC6DA"/>
                </a:solidFill>
                <a:latin typeface="Bahnschrift SemiLight"/>
              </a:rPr>
              <a:t>Período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9672" y="3717950"/>
            <a:ext cx="4663440" cy="61996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200" b="0">
                <a:solidFill>
                  <a:srgbClr val="F5F7FB"/>
                </a:solidFill>
                <a:latin typeface="Bahnschrift SemiBold"/>
              </a:rPr>
              <a:t>fev/2025 – ago/2026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519672" y="4337913"/>
            <a:ext cx="4663440" cy="0"/>
          </a:xfrm>
          <a:prstGeom prst="bentConnector3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519672" y="4392777"/>
            <a:ext cx="4663440" cy="61996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200" b="0">
                <a:solidFill>
                  <a:srgbClr val="BAC6DA"/>
                </a:solidFill>
                <a:latin typeface="Bahnschrift SemiLight"/>
              </a:rPr>
              <a:t>Rebalanceamento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19672" y="4392777"/>
            <a:ext cx="4663440" cy="61996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200" b="0">
                <a:solidFill>
                  <a:srgbClr val="F5F7FB"/>
                </a:solidFill>
                <a:latin typeface="Bahnschrift SemiBold"/>
              </a:rPr>
              <a:t>Diário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519672" y="5012740"/>
            <a:ext cx="4663440" cy="0"/>
          </a:xfrm>
          <a:prstGeom prst="bentConnector3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519672" y="5067604"/>
            <a:ext cx="4663440" cy="61996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200" b="0">
                <a:solidFill>
                  <a:srgbClr val="BAC6DA"/>
                </a:solidFill>
                <a:latin typeface="Bahnschrift SemiLight"/>
              </a:rPr>
              <a:t>Plataforma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19672" y="5067604"/>
            <a:ext cx="4663440" cy="61996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200" b="0">
                <a:solidFill>
                  <a:srgbClr val="F5F7FB"/>
                </a:solidFill>
                <a:latin typeface="Bahnschrift SemiBold"/>
              </a:rPr>
              <a:t>Python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31520" y="6553200"/>
            <a:ext cx="10725912" cy="0"/>
          </a:xfrm>
          <a:prstGeom prst="bentConnector3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1">
            <a:extLst>
              <a:ext uri="{FF2B5EF4-FFF2-40B4-BE49-F238E27FC236}">
                <a16:creationId xmlns:a16="http://schemas.microsoft.com/office/drawing/2014/main" id="{1DCF4A1B-FBCD-C9D8-0EA2-929D36855646}"/>
              </a:ext>
            </a:extLst>
          </p:cNvPr>
          <p:cNvSpPr txBox="1"/>
          <p:nvPr/>
        </p:nvSpPr>
        <p:spPr>
          <a:xfrm>
            <a:off x="3052199" y="1526099"/>
            <a:ext cx="6580430" cy="95410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2800">
                <a:solidFill>
                  <a:schemeClr val="bg1"/>
                </a:solidFill>
              </a:rPr>
              <a:t>Só A </a:t>
            </a:r>
            <a:r>
              <a:rPr lang="en-US" sz="2800" err="1">
                <a:solidFill>
                  <a:schemeClr val="bg1"/>
                </a:solidFill>
              </a:rPr>
              <a:t>ideia</a:t>
            </a:r>
            <a:endParaRPr lang="en-US" sz="2800">
              <a:solidFill>
                <a:schemeClr val="bg1"/>
              </a:solidFill>
            </a:endParaRPr>
          </a:p>
          <a:p>
            <a:endParaRPr lang="en-US" sz="28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7D3949-D38B-0A4B-1289-D3C8C01448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33F75D3-78E2-91EA-6D58-D99F554CA944}"/>
              </a:ext>
            </a:extLst>
          </p:cNvPr>
          <p:cNvSpPr txBox="1"/>
          <p:nvPr/>
        </p:nvSpPr>
        <p:spPr>
          <a:xfrm>
            <a:off x="3052199" y="1526099"/>
            <a:ext cx="6580430" cy="181588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2800"/>
              <a:t>Mercados do </a:t>
            </a:r>
            <a:r>
              <a:rPr lang="en-US" sz="2800" err="1"/>
              <a:t>polymarket</a:t>
            </a:r>
            <a:r>
              <a:rPr lang="en-US" sz="2800"/>
              <a:t> / </a:t>
            </a:r>
            <a:r>
              <a:rPr lang="en-US" sz="2800" err="1"/>
              <a:t>Explicação</a:t>
            </a:r>
            <a:r>
              <a:rPr lang="en-US" sz="2800"/>
              <a:t> de </a:t>
            </a:r>
            <a:r>
              <a:rPr lang="en-US" sz="2800" err="1"/>
              <a:t>como</a:t>
            </a:r>
            <a:r>
              <a:rPr lang="en-US" sz="2800"/>
              <a:t> </a:t>
            </a:r>
            <a:r>
              <a:rPr lang="en-US" sz="2800" err="1"/>
              <a:t>funciona</a:t>
            </a:r>
            <a:r>
              <a:rPr lang="en-US" sz="2800"/>
              <a:t> – Print de mercado</a:t>
            </a:r>
          </a:p>
          <a:p>
            <a:pPr algn="l"/>
            <a:r>
              <a:rPr lang="en-US" sz="2800" err="1"/>
              <a:t>Umgráfico</a:t>
            </a:r>
            <a:r>
              <a:rPr lang="en-US" sz="2800"/>
              <a:t> </a:t>
            </a:r>
          </a:p>
          <a:p>
            <a:endParaRPr lang="en-US" sz="2800"/>
          </a:p>
        </p:txBody>
      </p:sp>
    </p:spTree>
    <p:extLst>
      <p:ext uri="{BB962C8B-B14F-4D97-AF65-F5344CB8AC3E}">
        <p14:creationId xmlns:p14="http://schemas.microsoft.com/office/powerpoint/2010/main" val="17190615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B03040F-9650-C6CA-098D-94420FA5A936}"/>
              </a:ext>
            </a:extLst>
          </p:cNvPr>
          <p:cNvSpPr txBox="1"/>
          <p:nvPr/>
        </p:nvSpPr>
        <p:spPr>
          <a:xfrm>
            <a:off x="2718913" y="2107213"/>
            <a:ext cx="6580430" cy="181588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2800"/>
              <a:t>COMPARACAO com a </a:t>
            </a:r>
            <a:r>
              <a:rPr lang="en-US" sz="2800" err="1"/>
              <a:t>bolsa</a:t>
            </a:r>
            <a:r>
              <a:rPr lang="en-US" sz="2800"/>
              <a:t> </a:t>
            </a:r>
            <a:r>
              <a:rPr lang="en-US" sz="2800" err="1"/>
              <a:t>comum</a:t>
            </a:r>
            <a:r>
              <a:rPr lang="en-US" sz="2800"/>
              <a:t> – </a:t>
            </a:r>
            <a:r>
              <a:rPr lang="en-US" sz="2800" err="1"/>
              <a:t>introduz</a:t>
            </a:r>
            <a:r>
              <a:rPr lang="en-US" sz="2800"/>
              <a:t> </a:t>
            </a:r>
            <a:r>
              <a:rPr lang="en-US" sz="2800" err="1"/>
              <a:t>conceito</a:t>
            </a:r>
            <a:r>
              <a:rPr lang="en-US" sz="2800"/>
              <a:t> </a:t>
            </a:r>
            <a:r>
              <a:rPr lang="en-US" sz="2800" err="1"/>
              <a:t>que</a:t>
            </a:r>
            <a:r>
              <a:rPr lang="en-US" sz="2800"/>
              <a:t> o </a:t>
            </a:r>
            <a:r>
              <a:rPr lang="en-US" sz="2800" err="1"/>
              <a:t>polymarket</a:t>
            </a:r>
            <a:r>
              <a:rPr lang="en-US" sz="2800"/>
              <a:t> e a </a:t>
            </a:r>
            <a:r>
              <a:rPr lang="en-US" sz="2800" err="1"/>
              <a:t>bolsa</a:t>
            </a:r>
            <a:r>
              <a:rPr lang="en-US" sz="2800"/>
              <a:t> </a:t>
            </a:r>
            <a:r>
              <a:rPr lang="en-US" sz="2800" err="1"/>
              <a:t>podem</a:t>
            </a:r>
            <a:r>
              <a:rPr lang="en-US" sz="2800"/>
              <a:t> </a:t>
            </a:r>
            <a:r>
              <a:rPr lang="en-US" sz="2800" err="1"/>
              <a:t>divergir</a:t>
            </a:r>
            <a:r>
              <a:rPr lang="en-US" sz="2800"/>
              <a:t>  - </a:t>
            </a:r>
            <a:r>
              <a:rPr lang="en-US" sz="2800" err="1"/>
              <a:t>transição</a:t>
            </a:r>
            <a:r>
              <a:rPr lang="en-US" sz="2800"/>
              <a:t> </a:t>
            </a:r>
          </a:p>
          <a:p>
            <a:endParaRPr lang="en-US" sz="2800"/>
          </a:p>
        </p:txBody>
      </p:sp>
    </p:spTree>
    <p:extLst>
      <p:ext uri="{BB962C8B-B14F-4D97-AF65-F5344CB8AC3E}">
        <p14:creationId xmlns:p14="http://schemas.microsoft.com/office/powerpoint/2010/main" val="19260294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!!glow_tl"/>
          <p:cNvSpPr/>
          <p:nvPr/>
        </p:nvSpPr>
        <p:spPr>
          <a:xfrm>
            <a:off x="-2073535" y="-970433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8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30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9" name="!!ghost"/>
          <p:cNvSpPr txBox="1"/>
          <p:nvPr/>
        </p:nvSpPr>
        <p:spPr>
          <a:xfrm>
            <a:off x="6900000" y="-230000"/>
            <a:ext cx="4950000" cy="200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pt-BR" sz="15000" b="0" spc="0">
                <a:solidFill>
                  <a:srgbClr val="101A2E"/>
                </a:solidFill>
                <a:latin typeface="Bahnschrift SemiBold Condensed"/>
              </a:rPr>
              <a:t>03</a:t>
            </a:r>
          </a:p>
        </p:txBody>
      </p:sp>
      <p:sp>
        <p:nvSpPr>
          <p:cNvPr id="30" name="!!tick"/>
          <p:cNvSpPr/>
          <p:nvPr/>
        </p:nvSpPr>
        <p:spPr>
          <a:xfrm>
            <a:off x="69494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" name="!!foot_l"/>
          <p:cNvSpPr txBox="1"/>
          <p:nvPr/>
        </p:nvSpPr>
        <p:spPr>
          <a:xfrm>
            <a:off x="822960" y="6653200"/>
            <a:ext cx="6000000" cy="16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pt-BR" sz="700" b="0" spc="120">
                <a:solidFill>
                  <a:srgbClr val="58698A"/>
                </a:solidFill>
                <a:latin typeface="Consolas"/>
              </a:rPr>
              <a:t>ITAÚ QUANT AI CHALLENGE  ·  SEMIFINAL 2026</a:t>
            </a:r>
          </a:p>
        </p:txBody>
      </p:sp>
      <p:sp>
        <p:nvSpPr>
          <p:cNvPr id="32" name="!!foot_r"/>
          <p:cNvSpPr txBox="1"/>
          <p:nvPr/>
        </p:nvSpPr>
        <p:spPr>
          <a:xfrm>
            <a:off x="5365992" y="6653200"/>
            <a:ext cx="6000000" cy="16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pt-BR" sz="700" b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sp>
        <p:nvSpPr>
          <p:cNvPr id="2" name="s3_0"/>
          <p:cNvSpPr txBox="1"/>
          <p:nvPr/>
        </p:nvSpPr>
        <p:spPr>
          <a:xfrm>
            <a:off x="822960" y="426720"/>
            <a:ext cx="8229600" cy="203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spc="72">
                <a:solidFill>
                  <a:srgbClr val="8395B5"/>
                </a:solidFill>
                <a:latin typeface="Consolas"/>
              </a:rPr>
              <a:t>   Como o Black-Litterman funciona</a:t>
            </a:r>
          </a:p>
        </p:txBody>
      </p:sp>
      <p:sp>
        <p:nvSpPr>
          <p:cNvPr id="3" name="s3_1"/>
          <p:cNvSpPr txBox="1"/>
          <p:nvPr/>
        </p:nvSpPr>
        <p:spPr>
          <a:xfrm>
            <a:off x="8988552" y="467359"/>
            <a:ext cx="2377440" cy="152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45">
                <a:solidFill>
                  <a:srgbClr val="8395B5"/>
                </a:solidFill>
                <a:latin typeface="Consolas"/>
              </a:rPr>
              <a:t>03</a:t>
            </a:r>
          </a:p>
        </p:txBody>
      </p:sp>
      <p:cxnSp>
        <p:nvCxnSpPr>
          <p:cNvPr id="4" name="s3_2"/>
          <p:cNvCxnSpPr/>
          <p:nvPr/>
        </p:nvCxnSpPr>
        <p:spPr>
          <a:xfrm>
            <a:off x="822960" y="704850"/>
            <a:ext cx="1054303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3_3"/>
          <p:cNvCxnSpPr/>
          <p:nvPr/>
        </p:nvCxnSpPr>
        <p:spPr>
          <a:xfrm>
            <a:off x="822960" y="3931920"/>
            <a:ext cx="1054303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3_4"/>
          <p:cNvCxnSpPr/>
          <p:nvPr/>
        </p:nvCxnSpPr>
        <p:spPr>
          <a:xfrm>
            <a:off x="822960" y="6553200"/>
            <a:ext cx="1054303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!!halo"/>
          <p:cNvSpPr/>
          <p:nvPr/>
        </p:nvSpPr>
        <p:spPr>
          <a:xfrm>
            <a:off x="1463040" y="868680"/>
            <a:ext cx="9235440" cy="1828800"/>
          </a:xfrm>
          <a:prstGeom prst="ellipse">
            <a:avLst/>
          </a:prstGeom>
          <a:solidFill>
            <a:srgbClr val="FFB531">
              <a:alpha val="9000"/>
            </a:srgbClr>
          </a:solidFill>
          <a:ln>
            <a:noFill/>
          </a:ln>
          <a:effectLst>
            <a:softEdge rad="130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nschrift SemiLight"/>
            </a:endParaRPr>
          </a:p>
        </p:txBody>
      </p:sp>
      <p:sp>
        <p:nvSpPr>
          <p:cNvPr id="9" name="!!eq"/>
          <p:cNvSpPr/>
          <p:nvPr/>
        </p:nvSpPr>
        <p:spPr>
          <a:xfrm>
            <a:off x="822959" y="1211049"/>
            <a:ext cx="3127248" cy="1115568"/>
          </a:xfrm>
          <a:prstGeom prst="roundRect">
            <a:avLst>
              <a:gd name="adj" fmla="val 11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12700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70916" tIns="0" rIns="128016" bIns="0" rtlCol="0" anchor="ctr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30">
                <a:solidFill>
                  <a:srgbClr val="F5F7FB"/>
                </a:solidFill>
                <a:latin typeface="Bahnschrift SemiBold"/>
              </a:rPr>
              <a:t>EQUILÍBRIO</a:t>
            </a:r>
          </a:p>
          <a:p>
            <a:pPr algn="l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>
                <a:solidFill>
                  <a:srgbClr val="BAC6DA"/>
                </a:solidFill>
                <a:latin typeface="Bahnschrift"/>
              </a:rPr>
              <a:t>o que o mercado já espera</a:t>
            </a:r>
          </a:p>
        </p:txBody>
      </p:sp>
      <p:sp>
        <p:nvSpPr>
          <p:cNvPr id="10" name="!!bar_eq"/>
          <p:cNvSpPr/>
          <p:nvPr/>
        </p:nvSpPr>
        <p:spPr>
          <a:xfrm>
            <a:off x="1078992" y="1456456"/>
            <a:ext cx="50292" cy="580095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4F8EF7"/>
              </a:gs>
              <a:gs pos="100000">
                <a:srgbClr val="4F8EF7">
                  <a:alpha val="35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nschrift SemiLight"/>
            </a:endParaRPr>
          </a:p>
        </p:txBody>
      </p:sp>
      <p:sp>
        <p:nvSpPr>
          <p:cNvPr id="11" name="!!q"/>
          <p:cNvSpPr/>
          <p:nvPr/>
        </p:nvSpPr>
        <p:spPr>
          <a:xfrm>
            <a:off x="4526280" y="1188720"/>
            <a:ext cx="3127248" cy="1115568"/>
          </a:xfrm>
          <a:prstGeom prst="roundRect">
            <a:avLst>
              <a:gd name="adj" fmla="val 11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12700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70916" tIns="0" rIns="128016" bIns="0" rtlCol="0" anchor="ctr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00" b="0" spc="130">
                <a:solidFill>
                  <a:srgbClr val="F5F7FB"/>
                </a:solidFill>
                <a:latin typeface="Bahnschrift SemiBold"/>
              </a:rPr>
              <a:t>PREVISÃO</a:t>
            </a:r>
            <a:r>
              <a:rPr sz="1300" b="0" spc="130">
                <a:solidFill>
                  <a:srgbClr val="F5F7FB"/>
                </a:solidFill>
                <a:latin typeface="Bahnschrift SemiBold"/>
              </a:rPr>
              <a:t>    </a:t>
            </a:r>
            <a:r>
              <a:rPr lang="en-US" sz="1300" b="0" spc="130">
                <a:solidFill>
                  <a:srgbClr val="F5F7FB"/>
                </a:solidFill>
                <a:latin typeface="Bahnschrift SemiBold"/>
              </a:rPr>
              <a:t>(</a:t>
            </a:r>
            <a:r>
              <a:rPr sz="1300" b="0" spc="130">
                <a:solidFill>
                  <a:srgbClr val="F5F7FB"/>
                </a:solidFill>
                <a:latin typeface="Bahnschrift SemiBold"/>
              </a:rPr>
              <a:t>Q</a:t>
            </a:r>
            <a:r>
              <a:rPr lang="en-US" sz="1300" b="0" spc="130">
                <a:solidFill>
                  <a:srgbClr val="F5F7FB"/>
                </a:solidFill>
                <a:latin typeface="Bahnschrift SemiBold"/>
              </a:rPr>
              <a:t>)</a:t>
            </a:r>
            <a:endParaRPr sz="1300" b="0" spc="130">
              <a:solidFill>
                <a:srgbClr val="F5F7FB"/>
              </a:solidFill>
              <a:latin typeface="Bahnschrift SemiBold"/>
            </a:endParaRPr>
          </a:p>
          <a:p>
            <a:pPr algn="l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 err="1">
                <a:solidFill>
                  <a:srgbClr val="BAC6DA"/>
                </a:solidFill>
                <a:latin typeface="Bahnschrift"/>
              </a:rPr>
              <a:t>quanto</a:t>
            </a:r>
            <a:r>
              <a:rPr sz="950" b="0">
                <a:solidFill>
                  <a:srgbClr val="BAC6DA"/>
                </a:solidFill>
                <a:latin typeface="Bahnschrift"/>
              </a:rPr>
              <a:t> se </a:t>
            </a:r>
            <a:r>
              <a:rPr sz="950" b="0" err="1">
                <a:solidFill>
                  <a:srgbClr val="BAC6DA"/>
                </a:solidFill>
                <a:latin typeface="Bahnschrift"/>
              </a:rPr>
              <a:t>espera</a:t>
            </a:r>
            <a:r>
              <a:rPr sz="950" b="0">
                <a:solidFill>
                  <a:srgbClr val="BAC6DA"/>
                </a:solidFill>
                <a:latin typeface="Bahnschrift"/>
              </a:rPr>
              <a:t> render</a:t>
            </a:r>
          </a:p>
          <a:p>
            <a:pPr algn="l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 err="1">
                <a:solidFill>
                  <a:srgbClr val="8395B5"/>
                </a:solidFill>
                <a:latin typeface="Bahnschrift"/>
              </a:rPr>
              <a:t>digitado</a:t>
            </a:r>
            <a:r>
              <a:rPr sz="950" b="0">
                <a:solidFill>
                  <a:srgbClr val="8395B5"/>
                </a:solidFill>
                <a:latin typeface="Bahnschrift"/>
              </a:rPr>
              <a:t> </a:t>
            </a:r>
            <a:r>
              <a:rPr sz="950" b="0" err="1">
                <a:solidFill>
                  <a:srgbClr val="8395B5"/>
                </a:solidFill>
                <a:latin typeface="Bahnschrift"/>
              </a:rPr>
              <a:t>pelo</a:t>
            </a:r>
            <a:r>
              <a:rPr sz="950" b="0">
                <a:solidFill>
                  <a:srgbClr val="8395B5"/>
                </a:solidFill>
                <a:latin typeface="Bahnschrift"/>
              </a:rPr>
              <a:t> gestor</a:t>
            </a:r>
          </a:p>
        </p:txBody>
      </p:sp>
      <p:sp>
        <p:nvSpPr>
          <p:cNvPr id="12" name="!!bar_q"/>
          <p:cNvSpPr/>
          <p:nvPr/>
        </p:nvSpPr>
        <p:spPr>
          <a:xfrm>
            <a:off x="4782312" y="1456456"/>
            <a:ext cx="50292" cy="580095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B5811C"/>
              </a:gs>
              <a:gs pos="100000">
                <a:srgbClr val="B5811C">
                  <a:alpha val="35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nschrift SemiLight"/>
            </a:endParaRPr>
          </a:p>
        </p:txBody>
      </p:sp>
      <p:sp>
        <p:nvSpPr>
          <p:cNvPr id="13" name="!!om"/>
          <p:cNvSpPr/>
          <p:nvPr/>
        </p:nvSpPr>
        <p:spPr>
          <a:xfrm>
            <a:off x="8238744" y="1188720"/>
            <a:ext cx="3127248" cy="1115568"/>
          </a:xfrm>
          <a:prstGeom prst="roundRect">
            <a:avLst>
              <a:gd name="adj" fmla="val 11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12700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70916" tIns="0" rIns="128016" bIns="0" rtlCol="0" anchor="ctr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30">
                <a:solidFill>
                  <a:srgbClr val="F5F7FB"/>
                </a:solidFill>
                <a:latin typeface="Bahnschrift SemiBold"/>
              </a:rPr>
              <a:t>CONFIANÇA    </a:t>
            </a:r>
            <a:r>
              <a:rPr lang="en-US" sz="1300" b="0" spc="130">
                <a:solidFill>
                  <a:srgbClr val="F5F7FB"/>
                </a:solidFill>
                <a:latin typeface="Bahnschrift SemiBold"/>
              </a:rPr>
              <a:t>(</a:t>
            </a:r>
            <a:r>
              <a:rPr sz="1300" b="0" spc="130">
                <a:solidFill>
                  <a:srgbClr val="F5F7FB"/>
                </a:solidFill>
                <a:latin typeface="Bahnschrift SemiBold"/>
              </a:rPr>
              <a:t>Ω</a:t>
            </a:r>
            <a:r>
              <a:rPr lang="en-US" sz="1300" b="0" spc="130">
                <a:solidFill>
                  <a:srgbClr val="F5F7FB"/>
                </a:solidFill>
                <a:latin typeface="Bahnschrift SemiBold"/>
              </a:rPr>
              <a:t>)</a:t>
            </a:r>
            <a:endParaRPr sz="1300" b="0" spc="130">
              <a:solidFill>
                <a:srgbClr val="F5F7FB"/>
              </a:solidFill>
              <a:latin typeface="Bahnschrift SemiBold"/>
            </a:endParaRPr>
          </a:p>
          <a:p>
            <a:pPr algn="l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>
                <a:solidFill>
                  <a:srgbClr val="BAC6DA"/>
                </a:solidFill>
                <a:latin typeface="Bahnschrift"/>
              </a:rPr>
              <a:t>o </a:t>
            </a:r>
            <a:r>
              <a:rPr sz="950" b="0" err="1">
                <a:solidFill>
                  <a:srgbClr val="BAC6DA"/>
                </a:solidFill>
                <a:latin typeface="Bahnschrift"/>
              </a:rPr>
              <a:t>quanto</a:t>
            </a:r>
            <a:r>
              <a:rPr sz="950" b="0">
                <a:solidFill>
                  <a:srgbClr val="BAC6DA"/>
                </a:solidFill>
                <a:latin typeface="Bahnschrift"/>
              </a:rPr>
              <a:t> </a:t>
            </a:r>
            <a:r>
              <a:rPr sz="950" b="0" err="1">
                <a:solidFill>
                  <a:srgbClr val="BAC6DA"/>
                </a:solidFill>
                <a:latin typeface="Bahnschrift"/>
              </a:rPr>
              <a:t>ela</a:t>
            </a:r>
            <a:r>
              <a:rPr sz="950" b="0">
                <a:solidFill>
                  <a:srgbClr val="BAC6DA"/>
                </a:solidFill>
                <a:latin typeface="Bahnschrift"/>
              </a:rPr>
              <a:t> </a:t>
            </a:r>
            <a:r>
              <a:rPr sz="950" b="0" err="1">
                <a:solidFill>
                  <a:srgbClr val="BAC6DA"/>
                </a:solidFill>
                <a:latin typeface="Bahnschrift"/>
              </a:rPr>
              <a:t>pesa</a:t>
            </a:r>
            <a:endParaRPr sz="950" b="0">
              <a:solidFill>
                <a:srgbClr val="BAC6DA"/>
              </a:solidFill>
              <a:latin typeface="Bahnschrift"/>
            </a:endParaRPr>
          </a:p>
          <a:p>
            <a:pPr algn="l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 err="1">
                <a:solidFill>
                  <a:srgbClr val="8395B5"/>
                </a:solidFill>
                <a:latin typeface="Bahnschrift"/>
              </a:rPr>
              <a:t>digitado</a:t>
            </a:r>
            <a:r>
              <a:rPr sz="950" b="0">
                <a:solidFill>
                  <a:srgbClr val="8395B5"/>
                </a:solidFill>
                <a:latin typeface="Bahnschrift"/>
              </a:rPr>
              <a:t> </a:t>
            </a:r>
            <a:r>
              <a:rPr sz="950" b="0" err="1">
                <a:solidFill>
                  <a:srgbClr val="8395B5"/>
                </a:solidFill>
                <a:latin typeface="Bahnschrift"/>
              </a:rPr>
              <a:t>pelo</a:t>
            </a:r>
            <a:r>
              <a:rPr sz="950" b="0">
                <a:solidFill>
                  <a:srgbClr val="8395B5"/>
                </a:solidFill>
                <a:latin typeface="Bahnschrift"/>
              </a:rPr>
              <a:t> gestor</a:t>
            </a:r>
          </a:p>
        </p:txBody>
      </p:sp>
      <p:sp>
        <p:nvSpPr>
          <p:cNvPr id="14" name="!!bar_om"/>
          <p:cNvSpPr/>
          <p:nvPr/>
        </p:nvSpPr>
        <p:spPr>
          <a:xfrm>
            <a:off x="8494776" y="1456456"/>
            <a:ext cx="50292" cy="580095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B5811C"/>
              </a:gs>
              <a:gs pos="100000">
                <a:srgbClr val="B5811C">
                  <a:alpha val="35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nschrift SemiLight"/>
            </a:endParaRPr>
          </a:p>
        </p:txBody>
      </p:sp>
      <p:sp>
        <p:nvSpPr>
          <p:cNvPr id="15" name="!!cart"/>
          <p:cNvSpPr/>
          <p:nvPr/>
        </p:nvSpPr>
        <p:spPr>
          <a:xfrm>
            <a:off x="4526280" y="2743200"/>
            <a:ext cx="3127248" cy="950976"/>
          </a:xfrm>
          <a:prstGeom prst="roundRect">
            <a:avLst>
              <a:gd name="adj" fmla="val 11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12700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70916" tIns="0" rIns="128016" bIns="0" rtlCol="0" anchor="ctr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30">
                <a:solidFill>
                  <a:srgbClr val="F5F7FB"/>
                </a:solidFill>
                <a:latin typeface="Bahnschrift SemiBold"/>
              </a:rPr>
              <a:t>CARTEIRA  BL</a:t>
            </a:r>
          </a:p>
          <a:p>
            <a:pPr algn="l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>
                <a:solidFill>
                  <a:srgbClr val="BAC6DA"/>
                </a:solidFill>
                <a:latin typeface="Bahnschrift"/>
              </a:rPr>
              <a:t>9 ETFs, os pesos do dia</a:t>
            </a:r>
          </a:p>
        </p:txBody>
      </p:sp>
      <p:sp>
        <p:nvSpPr>
          <p:cNvPr id="16" name="!!bar_cart"/>
          <p:cNvSpPr/>
          <p:nvPr/>
        </p:nvSpPr>
        <p:spPr>
          <a:xfrm>
            <a:off x="4782312" y="2971434"/>
            <a:ext cx="50292" cy="494507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FD3B0"/>
              </a:gs>
              <a:gs pos="100000">
                <a:srgbClr val="2FD3B0">
                  <a:alpha val="35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nschrift SemiLight"/>
            </a:endParaRPr>
          </a:p>
        </p:txBody>
      </p:sp>
      <p:sp>
        <p:nvSpPr>
          <p:cNvPr id="17" name="!!op_mais"/>
          <p:cNvSpPr/>
          <p:nvPr/>
        </p:nvSpPr>
        <p:spPr>
          <a:xfrm>
            <a:off x="4064507" y="1572768"/>
            <a:ext cx="347472" cy="347472"/>
          </a:xfrm>
          <a:prstGeom prst="ellipse">
            <a:avLst/>
          </a:prstGeom>
          <a:solidFill>
            <a:srgbClr val="0B1426"/>
          </a:solidFill>
          <a:ln w="9525">
            <a:solidFill>
              <a:srgbClr val="FFB531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BAC6DA"/>
                </a:solidFill>
                <a:latin typeface="Bahnschrift SemiLight"/>
              </a:rPr>
              <a:t>+</a:t>
            </a:r>
          </a:p>
        </p:txBody>
      </p:sp>
      <p:sp>
        <p:nvSpPr>
          <p:cNvPr id="18" name="!!op_vezes"/>
          <p:cNvSpPr/>
          <p:nvPr/>
        </p:nvSpPr>
        <p:spPr>
          <a:xfrm>
            <a:off x="7772400" y="1572768"/>
            <a:ext cx="347472" cy="347472"/>
          </a:xfrm>
          <a:prstGeom prst="ellipse">
            <a:avLst/>
          </a:prstGeom>
          <a:solidFill>
            <a:srgbClr val="0B1426"/>
          </a:solidFill>
          <a:ln w="9525">
            <a:solidFill>
              <a:srgbClr val="FFB531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BAC6DA"/>
                </a:solidFill>
                <a:latin typeface="Bahnschrift SemiLight"/>
              </a:rPr>
              <a:t>×</a:t>
            </a:r>
          </a:p>
        </p:txBody>
      </p:sp>
      <p:sp>
        <p:nvSpPr>
          <p:cNvPr id="19" name="!!chave"/>
          <p:cNvSpPr/>
          <p:nvPr/>
        </p:nvSpPr>
        <p:spPr>
          <a:xfrm rot="5400000">
            <a:off x="6006693" y="-2733141"/>
            <a:ext cx="175564" cy="10543032"/>
          </a:xfrm>
          <a:prstGeom prst="rightBrace">
            <a:avLst>
              <a:gd name="adj1" fmla="val 30000"/>
              <a:gd name="adj2" fmla="val 50000"/>
            </a:avLst>
          </a:prstGeom>
          <a:noFill/>
          <a:ln w="15875">
            <a:solidFill>
              <a:srgbClr val="839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nschrift SemiLight"/>
            </a:endParaRPr>
          </a:p>
        </p:txBody>
      </p:sp>
      <p:cxnSp>
        <p:nvCxnSpPr>
          <p:cNvPr id="20" name="!!seta_cart"/>
          <p:cNvCxnSpPr/>
          <p:nvPr/>
        </p:nvCxnSpPr>
        <p:spPr>
          <a:xfrm>
            <a:off x="6089904" y="2626156"/>
            <a:ext cx="0" cy="98756"/>
          </a:xfrm>
          <a:prstGeom prst="line">
            <a:avLst/>
          </a:prstGeom>
          <a:ln w="15875">
            <a:solidFill>
              <a:srgbClr val="8395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s3_19"/>
          <p:cNvSpPr txBox="1"/>
          <p:nvPr/>
        </p:nvSpPr>
        <p:spPr>
          <a:xfrm>
            <a:off x="822960" y="4041648"/>
            <a:ext cx="48463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100">
                <a:solidFill>
                  <a:srgbClr val="FFB531"/>
                </a:solidFill>
                <a:latin typeface="Consolas"/>
              </a:rPr>
              <a:t>O QUE O </a:t>
            </a:r>
            <a:r>
              <a:rPr lang="pt-BR" sz="950" b="1" spc="100">
                <a:solidFill>
                  <a:srgbClr val="FFB531"/>
                </a:solidFill>
                <a:latin typeface="Consolas"/>
              </a:rPr>
              <a:t>BLACK-LITTERMAN</a:t>
            </a:r>
            <a:r>
              <a:rPr sz="950" b="1" spc="100">
                <a:solidFill>
                  <a:srgbClr val="FFB531"/>
                </a:solidFill>
                <a:latin typeface="Consolas"/>
              </a:rPr>
              <a:t> FAZ</a:t>
            </a:r>
          </a:p>
        </p:txBody>
      </p:sp>
      <p:sp>
        <p:nvSpPr>
          <p:cNvPr id="22" name="s3_20"/>
          <p:cNvSpPr txBox="1"/>
          <p:nvPr/>
        </p:nvSpPr>
        <p:spPr>
          <a:xfrm>
            <a:off x="822960" y="4352544"/>
            <a:ext cx="4846320" cy="1125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just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1150" b="0">
                <a:solidFill>
                  <a:srgbClr val="F5F7FB"/>
                </a:solidFill>
                <a:latin typeface="Bahnschrift SemiBold"/>
              </a:rPr>
              <a:t>Parte</a:t>
            </a:r>
            <a:r>
              <a:rPr sz="1150" b="0">
                <a:solidFill>
                  <a:srgbClr val="F5F7FB"/>
                </a:solidFill>
                <a:latin typeface="Bahnschrift SemiBold"/>
              </a:rPr>
              <a:t> do </a:t>
            </a:r>
            <a:r>
              <a:rPr lang="pt-BR" sz="1150" b="0">
                <a:solidFill>
                  <a:srgbClr val="F5F7FB"/>
                </a:solidFill>
                <a:latin typeface="Bahnschrift SemiBold"/>
              </a:rPr>
              <a:t>equilíbrio</a:t>
            </a:r>
            <a:r>
              <a:rPr sz="1150" b="0">
                <a:solidFill>
                  <a:srgbClr val="F5F7FB"/>
                </a:solidFill>
                <a:latin typeface="Bahnschrift SemiBold"/>
              </a:rPr>
              <a:t>. </a:t>
            </a:r>
            <a:r>
              <a:rPr sz="1150" b="0">
                <a:solidFill>
                  <a:srgbClr val="BAC6DA"/>
                </a:solidFill>
                <a:latin typeface="Bahnschrift SemiLight"/>
              </a:rPr>
              <a:t> A </a:t>
            </a:r>
            <a:r>
              <a:rPr lang="pt-BR" sz="1150" b="0">
                <a:solidFill>
                  <a:srgbClr val="BAC6DA"/>
                </a:solidFill>
                <a:latin typeface="Bahnschrift SemiLight"/>
              </a:rPr>
              <a:t>carteira</a:t>
            </a:r>
            <a:r>
              <a:rPr sz="1150" b="0">
                <a:solidFill>
                  <a:srgbClr val="BAC6DA"/>
                </a:solidFill>
                <a:latin typeface="Bahnschrift SemiLight"/>
              </a:rPr>
              <a:t> base é a </a:t>
            </a:r>
            <a:r>
              <a:rPr lang="pt-BR" sz="1150" b="0">
                <a:solidFill>
                  <a:srgbClr val="BAC6DA"/>
                </a:solidFill>
                <a:latin typeface="Bahnschrift SemiLight"/>
              </a:rPr>
              <a:t>que</a:t>
            </a:r>
            <a:r>
              <a:rPr sz="1150" b="0">
                <a:solidFill>
                  <a:srgbClr val="BAC6DA"/>
                </a:solidFill>
                <a:latin typeface="Bahnschrift SemiLight"/>
              </a:rPr>
              <a:t> o mercado </a:t>
            </a:r>
            <a:r>
              <a:rPr lang="pt-BR" sz="1150" b="0">
                <a:solidFill>
                  <a:srgbClr val="BAC6DA"/>
                </a:solidFill>
                <a:latin typeface="Bahnschrift SemiLight"/>
              </a:rPr>
              <a:t>já</a:t>
            </a:r>
            <a:r>
              <a:rPr sz="1150" b="0">
                <a:solidFill>
                  <a:srgbClr val="BAC6DA"/>
                </a:solidFill>
                <a:latin typeface="Bahnschrift SemiLight"/>
              </a:rPr>
              <a:t> </a:t>
            </a:r>
            <a:r>
              <a:rPr lang="pt-BR" sz="1150" b="0">
                <a:solidFill>
                  <a:srgbClr val="BAC6DA"/>
                </a:solidFill>
                <a:latin typeface="Bahnschrift SemiLight"/>
              </a:rPr>
              <a:t>carrega</a:t>
            </a:r>
            <a:r>
              <a:rPr sz="1150" b="0">
                <a:solidFill>
                  <a:srgbClr val="BAC6DA"/>
                </a:solidFill>
                <a:latin typeface="Bahnschrift SemiLight"/>
              </a:rPr>
              <a:t> </a:t>
            </a:r>
            <a:endParaRPr lang="pt-BR" sz="1150">
              <a:solidFill>
                <a:srgbClr val="BAC6DA"/>
              </a:solidFill>
              <a:latin typeface="Bahnschrift SemiLight"/>
            </a:endParaRPr>
          </a:p>
          <a:p>
            <a:pPr algn="just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err="1">
                <a:solidFill>
                  <a:srgbClr val="F5F7FB"/>
                </a:solidFill>
                <a:latin typeface="Bahnschrift SemiBold"/>
              </a:rPr>
              <a:t>Você</a:t>
            </a:r>
            <a:r>
              <a:rPr sz="1150" b="0">
                <a:solidFill>
                  <a:srgbClr val="F5F7FB"/>
                </a:solidFill>
                <a:latin typeface="Bahnschrift SemiBold"/>
              </a:rPr>
              <a:t> </a:t>
            </a:r>
            <a:r>
              <a:rPr lang="pt-BR" sz="1150" b="0">
                <a:solidFill>
                  <a:srgbClr val="F5F7FB"/>
                </a:solidFill>
                <a:latin typeface="Bahnschrift SemiBold"/>
              </a:rPr>
              <a:t>entrega</a:t>
            </a:r>
            <a:r>
              <a:rPr sz="1150" b="0">
                <a:solidFill>
                  <a:srgbClr val="F5F7FB"/>
                </a:solidFill>
                <a:latin typeface="Bahnschrift SemiBold"/>
              </a:rPr>
              <a:t> </a:t>
            </a:r>
            <a:r>
              <a:rPr lang="pt-BR" sz="1150" b="0">
                <a:solidFill>
                  <a:srgbClr val="F5F7FB"/>
                </a:solidFill>
                <a:latin typeface="Bahnschrift SemiBold"/>
              </a:rPr>
              <a:t>opinião</a:t>
            </a:r>
            <a:r>
              <a:rPr sz="1150" b="0">
                <a:solidFill>
                  <a:srgbClr val="F5F7FB"/>
                </a:solidFill>
                <a:latin typeface="Bahnschrift SemiBold"/>
              </a:rPr>
              <a:t> e </a:t>
            </a:r>
            <a:r>
              <a:rPr lang="pt-BR" sz="1150" b="0">
                <a:solidFill>
                  <a:srgbClr val="F5F7FB"/>
                </a:solidFill>
                <a:latin typeface="Bahnschrift SemiBold"/>
              </a:rPr>
              <a:t>confiança</a:t>
            </a:r>
            <a:r>
              <a:rPr sz="1150" b="0">
                <a:solidFill>
                  <a:srgbClr val="F5F7FB"/>
                </a:solidFill>
                <a:latin typeface="Bahnschrift SemiBold"/>
              </a:rPr>
              <a:t>. </a:t>
            </a:r>
            <a:r>
              <a:rPr sz="1150" b="0">
                <a:solidFill>
                  <a:srgbClr val="BAC6DA"/>
                </a:solidFill>
                <a:latin typeface="Bahnschrift SemiLight"/>
              </a:rPr>
              <a:t> O </a:t>
            </a:r>
            <a:r>
              <a:rPr lang="pt-BR" sz="1150" b="0">
                <a:solidFill>
                  <a:srgbClr val="BAC6DA"/>
                </a:solidFill>
                <a:latin typeface="Bahnschrift SemiLight"/>
              </a:rPr>
              <a:t>modelo</a:t>
            </a:r>
            <a:r>
              <a:rPr sz="1150" b="0">
                <a:solidFill>
                  <a:srgbClr val="BAC6DA"/>
                </a:solidFill>
                <a:latin typeface="Bahnschrift SemiLight"/>
              </a:rPr>
              <a:t> </a:t>
            </a:r>
            <a:r>
              <a:rPr lang="pt-BR" sz="1150" b="0">
                <a:solidFill>
                  <a:srgbClr val="BAC6DA"/>
                </a:solidFill>
                <a:latin typeface="Bahnschrift SemiLight"/>
              </a:rPr>
              <a:t>faz</a:t>
            </a:r>
            <a:r>
              <a:rPr sz="1150" b="0">
                <a:solidFill>
                  <a:srgbClr val="BAC6DA"/>
                </a:solidFill>
                <a:latin typeface="Bahnschrift SemiLight"/>
              </a:rPr>
              <a:t> a </a:t>
            </a:r>
            <a:r>
              <a:rPr lang="pt-BR" sz="1150" b="0">
                <a:solidFill>
                  <a:srgbClr val="BAC6DA"/>
                </a:solidFill>
                <a:latin typeface="Bahnschrift SemiLight"/>
              </a:rPr>
              <a:t>conta</a:t>
            </a:r>
            <a:r>
              <a:rPr sz="1150" b="0">
                <a:solidFill>
                  <a:srgbClr val="BAC6DA"/>
                </a:solidFill>
                <a:latin typeface="Bahnschrift SemiLight"/>
              </a:rPr>
              <a:t> e devolve </a:t>
            </a:r>
            <a:r>
              <a:rPr lang="pt-BR" sz="1150" b="0">
                <a:solidFill>
                  <a:srgbClr val="BAC6DA"/>
                </a:solidFill>
                <a:latin typeface="Bahnschrift SemiLight"/>
              </a:rPr>
              <a:t>os</a:t>
            </a:r>
            <a:r>
              <a:rPr sz="1150" b="0">
                <a:solidFill>
                  <a:srgbClr val="BAC6DA"/>
                </a:solidFill>
                <a:latin typeface="Bahnschrift SemiLight"/>
              </a:rPr>
              <a:t> pesos do dia.</a:t>
            </a:r>
            <a:endParaRPr lang="en-US" sz="1150" b="0">
              <a:solidFill>
                <a:srgbClr val="BAC6DA"/>
              </a:solidFill>
              <a:latin typeface="Bahnschrift SemiLight"/>
            </a:endParaRPr>
          </a:p>
          <a:p>
            <a:pPr algn="just">
              <a:spcBef>
                <a:spcPts val="800"/>
              </a:spcBef>
            </a:pPr>
            <a:r>
              <a:rPr lang="pt-BR" sz="1150" b="0">
                <a:solidFill>
                  <a:schemeClr val="bg1"/>
                </a:solidFill>
                <a:latin typeface="Bahnschrift SemiBold" panose="020B0502040204020203" pitchFamily="34" charset="0"/>
                <a:cs typeface="Bahnschrift SemiBold" panose="020B0502040204020203" pitchFamily="34" charset="0"/>
              </a:rPr>
              <a:t>Sem confiança nas </a:t>
            </a:r>
            <a:r>
              <a:rPr lang="pt-BR" sz="1150" b="0" err="1">
                <a:solidFill>
                  <a:schemeClr val="bg1"/>
                </a:solidFill>
                <a:latin typeface="Bahnschrift SemiBold" panose="020B0502040204020203" pitchFamily="34" charset="0"/>
                <a:cs typeface="Bahnschrift SemiBold" panose="020B0502040204020203" pitchFamily="34" charset="0"/>
              </a:rPr>
              <a:t>views</a:t>
            </a:r>
            <a:r>
              <a:rPr lang="pt-BR" sz="1150" b="0">
                <a:solidFill>
                  <a:schemeClr val="bg1"/>
                </a:solidFill>
                <a:latin typeface="Bahnschrift SemiBold" panose="020B0502040204020203" pitchFamily="34" charset="0"/>
                <a:cs typeface="Bahnschrift SemiBold" panose="020B0502040204020203" pitchFamily="34" charset="0"/>
              </a:rPr>
              <a:t>, o BL devolve a carteira de mercado. </a:t>
            </a:r>
            <a:r>
              <a:rPr lang="pt-BR" sz="1150">
                <a:solidFill>
                  <a:srgbClr val="8FA2C2"/>
                </a:solidFill>
                <a:latin typeface="Bahnschrift SemiLight" panose="020B0502040204020203" pitchFamily="34" charset="0"/>
                <a:cs typeface="Bahnschrift SemiLight" panose="020B0502040204020203" pitchFamily="34" charset="0"/>
              </a:rPr>
              <a:t>Todo desvio do benchmark é proporcional à confiança na opinião.</a:t>
            </a:r>
            <a:endParaRPr sz="1150" b="0">
              <a:solidFill>
                <a:srgbClr val="8FA2C2"/>
              </a:solidFill>
              <a:latin typeface="Bahnschrift SemiLight" panose="020B0502040204020203" pitchFamily="34" charset="0"/>
              <a:cs typeface="Bahnschrift SemiLight" panose="020B0502040204020203" pitchFamily="34" charset="0"/>
            </a:endParaRPr>
          </a:p>
        </p:txBody>
      </p:sp>
      <p:sp>
        <p:nvSpPr>
          <p:cNvPr id="23" name="s3_21"/>
          <p:cNvSpPr txBox="1"/>
          <p:nvPr/>
        </p:nvSpPr>
        <p:spPr>
          <a:xfrm>
            <a:off x="6035040" y="4041648"/>
            <a:ext cx="5330952" cy="168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50" b="1" spc="100">
                <a:solidFill>
                  <a:srgbClr val="FFB531"/>
                </a:solidFill>
                <a:latin typeface="Consolas"/>
              </a:rPr>
              <a:t>PORQUE O BLACK-LITTERMAN</a:t>
            </a:r>
            <a:endParaRPr sz="950" b="1" spc="100">
              <a:solidFill>
                <a:srgbClr val="FFB531"/>
              </a:solidFill>
              <a:latin typeface="Consolas"/>
            </a:endParaRPr>
          </a:p>
        </p:txBody>
      </p:sp>
      <p:sp>
        <p:nvSpPr>
          <p:cNvPr id="24" name="s3_22"/>
          <p:cNvSpPr txBox="1"/>
          <p:nvPr/>
        </p:nvSpPr>
        <p:spPr>
          <a:xfrm>
            <a:off x="6035040" y="4352544"/>
            <a:ext cx="5330952" cy="7462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just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1150" b="0">
                <a:solidFill>
                  <a:srgbClr val="F5F7FB"/>
                </a:solidFill>
                <a:latin typeface="Bahnschrift SemiBold"/>
              </a:rPr>
              <a:t>Opiniões independentes. </a:t>
            </a:r>
            <a:r>
              <a:rPr lang="pt-BR" sz="1150" b="0">
                <a:solidFill>
                  <a:srgbClr val="BAC6DA"/>
                </a:solidFill>
                <a:latin typeface="Bahnschrift SemiLight"/>
              </a:rPr>
              <a:t> Permite criar previsões diferentes que e pontuais.</a:t>
            </a:r>
          </a:p>
          <a:p>
            <a:pPr algn="just">
              <a:lnSpc>
                <a:spcPct val="126000"/>
              </a:lnSpc>
              <a:spcBef>
                <a:spcPts val="800"/>
              </a:spcBef>
              <a:spcAft>
                <a:spcPts val="0"/>
              </a:spcAft>
            </a:pPr>
            <a:r>
              <a:rPr lang="pt-BR" sz="1150" b="0">
                <a:solidFill>
                  <a:srgbClr val="F5F7FB"/>
                </a:solidFill>
                <a:latin typeface="Bahnschrift SemiBold"/>
              </a:rPr>
              <a:t>Não é preciso opinar sobre tudo. </a:t>
            </a:r>
            <a:r>
              <a:rPr lang="pt-BR" sz="1150" b="0">
                <a:solidFill>
                  <a:srgbClr val="BAC6DA"/>
                </a:solidFill>
                <a:latin typeface="Bahnschrift SemiLight"/>
              </a:rPr>
              <a:t> </a:t>
            </a:r>
            <a:r>
              <a:rPr lang="pt-BR" sz="1150">
                <a:solidFill>
                  <a:srgbClr val="BAC6DA"/>
                </a:solidFill>
                <a:latin typeface="Bahnschrift SemiLight"/>
              </a:rPr>
              <a:t>Nem sempre o </a:t>
            </a:r>
            <a:r>
              <a:rPr lang="pt-BR" sz="1150" err="1">
                <a:solidFill>
                  <a:srgbClr val="BAC6DA"/>
                </a:solidFill>
                <a:latin typeface="Bahnschrift SemiLight"/>
              </a:rPr>
              <a:t>Polymarket</a:t>
            </a:r>
            <a:r>
              <a:rPr lang="pt-BR" sz="1150">
                <a:solidFill>
                  <a:srgbClr val="BAC6DA"/>
                </a:solidFill>
                <a:latin typeface="Bahnschrift SemiLight"/>
              </a:rPr>
              <a:t> vai dar informação de valor.</a:t>
            </a:r>
          </a:p>
        </p:txBody>
      </p:sp>
      <p:sp>
        <p:nvSpPr>
          <p:cNvPr id="25" name="s3_23"/>
          <p:cNvSpPr/>
          <p:nvPr/>
        </p:nvSpPr>
        <p:spPr>
          <a:xfrm>
            <a:off x="6035040" y="5452797"/>
            <a:ext cx="45720" cy="5120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FB531"/>
              </a:gs>
              <a:gs pos="100000">
                <a:srgbClr val="FFB531">
                  <a:alpha val="35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nschrift SemiLight"/>
            </a:endParaRPr>
          </a:p>
        </p:txBody>
      </p:sp>
      <p:sp>
        <p:nvSpPr>
          <p:cNvPr id="26" name="s3_24"/>
          <p:cNvSpPr txBox="1"/>
          <p:nvPr/>
        </p:nvSpPr>
        <p:spPr>
          <a:xfrm>
            <a:off x="6272784" y="5471085"/>
            <a:ext cx="3200400" cy="5861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1">
                <a:solidFill>
                  <a:srgbClr val="FFB531"/>
                </a:solidFill>
                <a:latin typeface="Georgia"/>
              </a:rPr>
              <a:t>E agora: </a:t>
            </a:r>
            <a:r>
              <a:rPr lang="pt-BR" sz="1600" b="1" i="1" err="1">
                <a:solidFill>
                  <a:srgbClr val="FFB531"/>
                </a:solidFill>
                <a:latin typeface="Georgia"/>
              </a:rPr>
              <a:t>onde</a:t>
            </a:r>
            <a:r>
              <a:rPr sz="1600" b="1" i="1">
                <a:solidFill>
                  <a:srgbClr val="FFB531"/>
                </a:solidFill>
                <a:latin typeface="Georgia"/>
              </a:rPr>
              <a:t> o </a:t>
            </a:r>
            <a:r>
              <a:rPr lang="pt-BR" sz="1600" b="1" i="1" err="1">
                <a:solidFill>
                  <a:srgbClr val="FFB531"/>
                </a:solidFill>
                <a:latin typeface="Georgia"/>
              </a:rPr>
              <a:t>Polymarket</a:t>
            </a:r>
            <a:r>
              <a:rPr sz="1600" b="1" i="1">
                <a:solidFill>
                  <a:srgbClr val="FFB531"/>
                </a:solidFill>
                <a:latin typeface="Georgia"/>
              </a:rPr>
              <a:t> </a:t>
            </a:r>
            <a:r>
              <a:rPr lang="pt-BR" sz="1600" b="1" i="1" err="1">
                <a:solidFill>
                  <a:srgbClr val="FFB531"/>
                </a:solidFill>
                <a:latin typeface="Georgia"/>
              </a:rPr>
              <a:t>entra</a:t>
            </a:r>
            <a:r>
              <a:rPr sz="1600" b="1" i="1">
                <a:solidFill>
                  <a:srgbClr val="FFB531"/>
                </a:solidFill>
                <a:latin typeface="Georgia"/>
              </a:rPr>
              <a:t> </a:t>
            </a:r>
            <a:r>
              <a:rPr lang="pt-BR" sz="1600" b="1" i="1" err="1">
                <a:solidFill>
                  <a:srgbClr val="FFB531"/>
                </a:solidFill>
                <a:latin typeface="Georgia"/>
              </a:rPr>
              <a:t>nisso</a:t>
            </a:r>
            <a:r>
              <a:rPr sz="1600" b="1" i="1">
                <a:solidFill>
                  <a:srgbClr val="FFB531"/>
                </a:solidFill>
                <a:latin typeface="Georgia"/>
              </a:rPr>
              <a:t>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26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CBC75B4-CAB3-C358-51F5-AB9FC92AEBC5}"/>
              </a:ext>
            </a:extLst>
          </p:cNvPr>
          <p:cNvSpPr txBox="1"/>
          <p:nvPr/>
        </p:nvSpPr>
        <p:spPr>
          <a:xfrm>
            <a:off x="2870187" y="1890123"/>
            <a:ext cx="4956324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/>
              <a:t>FICHA TECNICA</a:t>
            </a:r>
          </a:p>
        </p:txBody>
      </p:sp>
    </p:spTree>
    <p:extLst>
      <p:ext uri="{BB962C8B-B14F-4D97-AF65-F5344CB8AC3E}">
        <p14:creationId xmlns:p14="http://schemas.microsoft.com/office/powerpoint/2010/main" val="37691318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30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1" name="!!ghost"/>
          <p:cNvSpPr txBox="1"/>
          <p:nvPr/>
        </p:nvSpPr>
        <p:spPr>
          <a:xfrm>
            <a:off x="6900000" y="-230000"/>
            <a:ext cx="4950000" cy="200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pt-BR" sz="15000" b="0" spc="0">
                <a:solidFill>
                  <a:srgbClr val="101A2E"/>
                </a:solidFill>
                <a:latin typeface="Bahnschrift SemiBold Condensed"/>
              </a:rPr>
              <a:t>04</a:t>
            </a:r>
          </a:p>
        </p:txBody>
      </p:sp>
      <p:sp>
        <p:nvSpPr>
          <p:cNvPr id="52" name="!!tick"/>
          <p:cNvSpPr/>
          <p:nvPr/>
        </p:nvSpPr>
        <p:spPr>
          <a:xfrm>
            <a:off x="69494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3" name="!!foot_l"/>
          <p:cNvSpPr txBox="1"/>
          <p:nvPr/>
        </p:nvSpPr>
        <p:spPr>
          <a:xfrm>
            <a:off x="822960" y="6653200"/>
            <a:ext cx="6000000" cy="16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pt-BR" sz="700" b="0" spc="120">
                <a:solidFill>
                  <a:srgbClr val="58698A"/>
                </a:solidFill>
                <a:latin typeface="Consolas"/>
              </a:rPr>
              <a:t>ITAÚ QUANT AI CHALLENGE  ·  SEMIFINAL 2026</a:t>
            </a:r>
          </a:p>
        </p:txBody>
      </p:sp>
      <p:sp>
        <p:nvSpPr>
          <p:cNvPr id="54" name="!!foot_r"/>
          <p:cNvSpPr txBox="1"/>
          <p:nvPr/>
        </p:nvSpPr>
        <p:spPr>
          <a:xfrm>
            <a:off x="5365992" y="6653200"/>
            <a:ext cx="6000000" cy="16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pt-BR" sz="700" b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sp>
        <p:nvSpPr>
          <p:cNvPr id="2" name="s4_0"/>
          <p:cNvSpPr txBox="1"/>
          <p:nvPr/>
        </p:nvSpPr>
        <p:spPr>
          <a:xfrm>
            <a:off x="822960" y="426720"/>
            <a:ext cx="8229600" cy="203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spc="72">
                <a:solidFill>
                  <a:srgbClr val="8395B5"/>
                </a:solidFill>
                <a:latin typeface="Consolas"/>
              </a:rPr>
              <a:t>   A opinião (Q) vem do Polymarket</a:t>
            </a:r>
          </a:p>
        </p:txBody>
      </p:sp>
      <p:sp>
        <p:nvSpPr>
          <p:cNvPr id="3" name="s4_1"/>
          <p:cNvSpPr txBox="1"/>
          <p:nvPr/>
        </p:nvSpPr>
        <p:spPr>
          <a:xfrm>
            <a:off x="8988552" y="467359"/>
            <a:ext cx="2377440" cy="152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45">
                <a:solidFill>
                  <a:srgbClr val="8395B5"/>
                </a:solidFill>
                <a:latin typeface="Consolas"/>
              </a:rPr>
              <a:t>04</a:t>
            </a:r>
          </a:p>
        </p:txBody>
      </p:sp>
      <p:cxnSp>
        <p:nvCxnSpPr>
          <p:cNvPr id="4" name="s4_2"/>
          <p:cNvCxnSpPr/>
          <p:nvPr/>
        </p:nvCxnSpPr>
        <p:spPr>
          <a:xfrm>
            <a:off x="822960" y="704850"/>
            <a:ext cx="1054303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4_3"/>
          <p:cNvCxnSpPr/>
          <p:nvPr/>
        </p:nvCxnSpPr>
        <p:spPr>
          <a:xfrm>
            <a:off x="822960" y="3931920"/>
            <a:ext cx="1054303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4_4"/>
          <p:cNvCxnSpPr/>
          <p:nvPr/>
        </p:nvCxnSpPr>
        <p:spPr>
          <a:xfrm>
            <a:off x="822960" y="6553200"/>
            <a:ext cx="1054303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!!halo"/>
          <p:cNvSpPr/>
          <p:nvPr/>
        </p:nvSpPr>
        <p:spPr>
          <a:xfrm>
            <a:off x="3803904" y="786384"/>
            <a:ext cx="4572000" cy="1920240"/>
          </a:xfrm>
          <a:prstGeom prst="ellipse">
            <a:avLst/>
          </a:prstGeom>
          <a:solidFill>
            <a:srgbClr val="FFB531">
              <a:alpha val="17000"/>
            </a:srgbClr>
          </a:solidFill>
          <a:ln>
            <a:noFill/>
          </a:ln>
          <a:effectLst>
            <a:softEdge rad="130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nschrift SemiLight"/>
            </a:endParaRPr>
          </a:p>
        </p:txBody>
      </p:sp>
      <p:sp>
        <p:nvSpPr>
          <p:cNvPr id="9" name="!!eq"/>
          <p:cNvSpPr/>
          <p:nvPr/>
        </p:nvSpPr>
        <p:spPr>
          <a:xfrm>
            <a:off x="822960" y="1188720"/>
            <a:ext cx="3127248" cy="1115568"/>
          </a:xfrm>
          <a:prstGeom prst="roundRect">
            <a:avLst>
              <a:gd name="adj" fmla="val 11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12700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70916" tIns="0" rIns="128016" bIns="0" rtlCol="0" anchor="ctr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30">
                <a:solidFill>
                  <a:srgbClr val="F5F7FB"/>
                </a:solidFill>
                <a:latin typeface="Bahnschrift SemiBold"/>
              </a:rPr>
              <a:t>EQUILÍBRIO</a:t>
            </a:r>
          </a:p>
          <a:p>
            <a:pPr algn="l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>
                <a:solidFill>
                  <a:srgbClr val="BAC6DA"/>
                </a:solidFill>
                <a:latin typeface="Bahnschrift"/>
              </a:rPr>
              <a:t>o que o mercado já espera</a:t>
            </a:r>
          </a:p>
        </p:txBody>
      </p:sp>
      <p:sp>
        <p:nvSpPr>
          <p:cNvPr id="10" name="!!bar_eq"/>
          <p:cNvSpPr/>
          <p:nvPr/>
        </p:nvSpPr>
        <p:spPr>
          <a:xfrm>
            <a:off x="1078992" y="1456456"/>
            <a:ext cx="50292" cy="580095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4F8EF7"/>
              </a:gs>
              <a:gs pos="100000">
                <a:srgbClr val="4F8EF7">
                  <a:alpha val="35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nschrift SemiLight"/>
            </a:endParaRPr>
          </a:p>
        </p:txBody>
      </p:sp>
      <p:sp>
        <p:nvSpPr>
          <p:cNvPr id="11" name="!!q"/>
          <p:cNvSpPr/>
          <p:nvPr/>
        </p:nvSpPr>
        <p:spPr>
          <a:xfrm>
            <a:off x="4526280" y="1188720"/>
            <a:ext cx="3127248" cy="1115568"/>
          </a:xfrm>
          <a:prstGeom prst="roundRect">
            <a:avLst>
              <a:gd name="adj" fmla="val 11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12700">
            <a:solidFill>
              <a:srgbClr val="FFB531"/>
            </a:solidFill>
          </a:ln>
          <a:effectLst>
            <a:glow rad="130000">
              <a:srgbClr val="FFB531">
                <a:alpha val="32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98348" tIns="0" rIns="128016" bIns="0" rtlCol="0" anchor="ctr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00" b="0" spc="130">
                <a:solidFill>
                  <a:srgbClr val="FFB531"/>
                </a:solidFill>
                <a:latin typeface="Bahnschrift SemiBold"/>
              </a:rPr>
              <a:t>PREVISÃO</a:t>
            </a:r>
            <a:r>
              <a:rPr sz="1300" b="0" spc="130">
                <a:solidFill>
                  <a:srgbClr val="FFB531"/>
                </a:solidFill>
                <a:latin typeface="Bahnschrift SemiBold"/>
              </a:rPr>
              <a:t>    </a:t>
            </a:r>
            <a:r>
              <a:rPr lang="en-US" sz="1300" b="0" spc="130">
                <a:solidFill>
                  <a:srgbClr val="FFB531"/>
                </a:solidFill>
                <a:latin typeface="Bahnschrift SemiBold"/>
              </a:rPr>
              <a:t>(</a:t>
            </a:r>
            <a:r>
              <a:rPr sz="1300" b="0" spc="130">
                <a:solidFill>
                  <a:srgbClr val="FFB531"/>
                </a:solidFill>
                <a:latin typeface="Bahnschrift SemiBold"/>
              </a:rPr>
              <a:t>Q</a:t>
            </a:r>
            <a:r>
              <a:rPr lang="en-US" sz="1300" b="0" spc="130">
                <a:solidFill>
                  <a:srgbClr val="FFB531"/>
                </a:solidFill>
                <a:latin typeface="Bahnschrift SemiBold"/>
              </a:rPr>
              <a:t>)</a:t>
            </a:r>
            <a:endParaRPr sz="1300" b="0" spc="130">
              <a:solidFill>
                <a:srgbClr val="FFB531"/>
              </a:solidFill>
              <a:latin typeface="Bahnschrift SemiBold"/>
            </a:endParaRPr>
          </a:p>
          <a:p>
            <a:pPr algn="l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 err="1">
                <a:solidFill>
                  <a:srgbClr val="BAC6DA"/>
                </a:solidFill>
                <a:latin typeface="Bahnschrift"/>
              </a:rPr>
              <a:t>quanto</a:t>
            </a:r>
            <a:r>
              <a:rPr sz="950" b="0">
                <a:solidFill>
                  <a:srgbClr val="BAC6DA"/>
                </a:solidFill>
                <a:latin typeface="Bahnschrift"/>
              </a:rPr>
              <a:t> se </a:t>
            </a:r>
            <a:r>
              <a:rPr sz="950" b="0" err="1">
                <a:solidFill>
                  <a:srgbClr val="BAC6DA"/>
                </a:solidFill>
                <a:latin typeface="Bahnschrift"/>
              </a:rPr>
              <a:t>espera</a:t>
            </a:r>
            <a:r>
              <a:rPr sz="950" b="0">
                <a:solidFill>
                  <a:srgbClr val="BAC6DA"/>
                </a:solidFill>
                <a:latin typeface="Bahnschrift"/>
              </a:rPr>
              <a:t> render</a:t>
            </a:r>
          </a:p>
          <a:p>
            <a:pPr algn="l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>
                <a:solidFill>
                  <a:srgbClr val="FFB531"/>
                </a:solidFill>
                <a:latin typeface="Bahnschrift SemiBold"/>
              </a:rPr>
              <a:t>POLYMARKET</a:t>
            </a:r>
          </a:p>
        </p:txBody>
      </p:sp>
      <p:sp>
        <p:nvSpPr>
          <p:cNvPr id="12" name="!!bar_q"/>
          <p:cNvSpPr/>
          <p:nvPr/>
        </p:nvSpPr>
        <p:spPr>
          <a:xfrm>
            <a:off x="4782312" y="1456456"/>
            <a:ext cx="77724" cy="580095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FB531"/>
              </a:gs>
              <a:gs pos="100000">
                <a:srgbClr val="FFB531">
                  <a:alpha val="35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nschrift SemiLight"/>
            </a:endParaRPr>
          </a:p>
        </p:txBody>
      </p:sp>
      <p:sp>
        <p:nvSpPr>
          <p:cNvPr id="13" name="!!om"/>
          <p:cNvSpPr/>
          <p:nvPr/>
        </p:nvSpPr>
        <p:spPr>
          <a:xfrm>
            <a:off x="8238744" y="1188720"/>
            <a:ext cx="3127248" cy="1115568"/>
          </a:xfrm>
          <a:prstGeom prst="roundRect">
            <a:avLst>
              <a:gd name="adj" fmla="val 11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12700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70916" tIns="0" rIns="128016" bIns="0" rtlCol="0" anchor="ctr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30">
                <a:solidFill>
                  <a:srgbClr val="F5F7FB"/>
                </a:solidFill>
                <a:latin typeface="Bahnschrift SemiBold"/>
              </a:rPr>
              <a:t>CONFIANÇA    </a:t>
            </a:r>
            <a:r>
              <a:rPr lang="en-US" sz="1300" b="0" spc="130">
                <a:solidFill>
                  <a:srgbClr val="F5F7FB"/>
                </a:solidFill>
                <a:latin typeface="Bahnschrift SemiBold"/>
              </a:rPr>
              <a:t>(</a:t>
            </a:r>
            <a:r>
              <a:rPr sz="1300" b="0" spc="130">
                <a:solidFill>
                  <a:srgbClr val="F5F7FB"/>
                </a:solidFill>
                <a:latin typeface="Bahnschrift SemiBold"/>
              </a:rPr>
              <a:t>Ω</a:t>
            </a:r>
            <a:r>
              <a:rPr lang="en-US" sz="1300" b="0" spc="130">
                <a:solidFill>
                  <a:srgbClr val="F5F7FB"/>
                </a:solidFill>
                <a:latin typeface="Bahnschrift SemiBold"/>
              </a:rPr>
              <a:t>)</a:t>
            </a:r>
            <a:endParaRPr sz="1300" b="0" spc="130">
              <a:solidFill>
                <a:srgbClr val="F5F7FB"/>
              </a:solidFill>
              <a:latin typeface="Bahnschrift SemiBold"/>
            </a:endParaRPr>
          </a:p>
          <a:p>
            <a:pPr algn="l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>
                <a:solidFill>
                  <a:srgbClr val="BAC6DA"/>
                </a:solidFill>
                <a:latin typeface="Bahnschrift"/>
              </a:rPr>
              <a:t>o </a:t>
            </a:r>
            <a:r>
              <a:rPr sz="950" b="0" err="1">
                <a:solidFill>
                  <a:srgbClr val="BAC6DA"/>
                </a:solidFill>
                <a:latin typeface="Bahnschrift"/>
              </a:rPr>
              <a:t>quanto</a:t>
            </a:r>
            <a:r>
              <a:rPr sz="950" b="0">
                <a:solidFill>
                  <a:srgbClr val="BAC6DA"/>
                </a:solidFill>
                <a:latin typeface="Bahnschrift"/>
              </a:rPr>
              <a:t> </a:t>
            </a:r>
            <a:r>
              <a:rPr sz="950" b="0" err="1">
                <a:solidFill>
                  <a:srgbClr val="BAC6DA"/>
                </a:solidFill>
                <a:latin typeface="Bahnschrift"/>
              </a:rPr>
              <a:t>ela</a:t>
            </a:r>
            <a:r>
              <a:rPr sz="950" b="0">
                <a:solidFill>
                  <a:srgbClr val="BAC6DA"/>
                </a:solidFill>
                <a:latin typeface="Bahnschrift"/>
              </a:rPr>
              <a:t> </a:t>
            </a:r>
            <a:r>
              <a:rPr sz="950" b="0" err="1">
                <a:solidFill>
                  <a:srgbClr val="BAC6DA"/>
                </a:solidFill>
                <a:latin typeface="Bahnschrift"/>
              </a:rPr>
              <a:t>pesa</a:t>
            </a:r>
            <a:endParaRPr sz="950" b="0">
              <a:solidFill>
                <a:srgbClr val="BAC6DA"/>
              </a:solidFill>
              <a:latin typeface="Bahnschrift"/>
            </a:endParaRPr>
          </a:p>
          <a:p>
            <a:pPr algn="l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>
                <a:solidFill>
                  <a:srgbClr val="FFB531"/>
                </a:solidFill>
                <a:latin typeface="Bahnschrift SemiBold"/>
              </a:rPr>
              <a:t>POLYMARKET</a:t>
            </a:r>
          </a:p>
        </p:txBody>
      </p:sp>
      <p:sp>
        <p:nvSpPr>
          <p:cNvPr id="14" name="!!bar_om"/>
          <p:cNvSpPr/>
          <p:nvPr/>
        </p:nvSpPr>
        <p:spPr>
          <a:xfrm>
            <a:off x="8494776" y="1456456"/>
            <a:ext cx="50292" cy="580095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B5811C"/>
              </a:gs>
              <a:gs pos="100000">
                <a:srgbClr val="B5811C">
                  <a:alpha val="35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nschrift SemiLight"/>
            </a:endParaRPr>
          </a:p>
        </p:txBody>
      </p:sp>
      <p:sp>
        <p:nvSpPr>
          <p:cNvPr id="15" name="!!cart"/>
          <p:cNvSpPr/>
          <p:nvPr/>
        </p:nvSpPr>
        <p:spPr>
          <a:xfrm>
            <a:off x="4526280" y="2743200"/>
            <a:ext cx="3127248" cy="950976"/>
          </a:xfrm>
          <a:prstGeom prst="roundRect">
            <a:avLst>
              <a:gd name="adj" fmla="val 11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12700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70916" tIns="0" rIns="128016" bIns="0" rtlCol="0" anchor="ctr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30">
                <a:solidFill>
                  <a:srgbClr val="F5F7FB"/>
                </a:solidFill>
                <a:latin typeface="Bahnschrift SemiBold"/>
              </a:rPr>
              <a:t>CARTEIRA  BL</a:t>
            </a:r>
          </a:p>
          <a:p>
            <a:pPr algn="l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>
                <a:solidFill>
                  <a:srgbClr val="BAC6DA"/>
                </a:solidFill>
                <a:latin typeface="Bahnschrift"/>
              </a:rPr>
              <a:t>9 ETFs, os pesos do dia</a:t>
            </a:r>
          </a:p>
        </p:txBody>
      </p:sp>
      <p:sp>
        <p:nvSpPr>
          <p:cNvPr id="16" name="!!bar_cart"/>
          <p:cNvSpPr/>
          <p:nvPr/>
        </p:nvSpPr>
        <p:spPr>
          <a:xfrm>
            <a:off x="4782312" y="2971434"/>
            <a:ext cx="50292" cy="494507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FD3B0"/>
              </a:gs>
              <a:gs pos="100000">
                <a:srgbClr val="2FD3B0">
                  <a:alpha val="35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nschrift SemiLight"/>
            </a:endParaRPr>
          </a:p>
        </p:txBody>
      </p:sp>
      <p:sp>
        <p:nvSpPr>
          <p:cNvPr id="17" name="!!op_mais"/>
          <p:cNvSpPr/>
          <p:nvPr/>
        </p:nvSpPr>
        <p:spPr>
          <a:xfrm>
            <a:off x="4064507" y="1572768"/>
            <a:ext cx="347472" cy="347472"/>
          </a:xfrm>
          <a:prstGeom prst="ellipse">
            <a:avLst/>
          </a:prstGeom>
          <a:solidFill>
            <a:srgbClr val="0B1426"/>
          </a:solidFill>
          <a:ln w="9525">
            <a:solidFill>
              <a:srgbClr val="FFB531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BAC6DA"/>
                </a:solidFill>
                <a:latin typeface="Bahnschrift SemiLight"/>
              </a:rPr>
              <a:t>+</a:t>
            </a:r>
          </a:p>
        </p:txBody>
      </p:sp>
      <p:sp>
        <p:nvSpPr>
          <p:cNvPr id="18" name="!!op_vezes"/>
          <p:cNvSpPr/>
          <p:nvPr/>
        </p:nvSpPr>
        <p:spPr>
          <a:xfrm>
            <a:off x="7772400" y="1572768"/>
            <a:ext cx="347472" cy="347472"/>
          </a:xfrm>
          <a:prstGeom prst="ellipse">
            <a:avLst/>
          </a:prstGeom>
          <a:solidFill>
            <a:srgbClr val="0B1426"/>
          </a:solidFill>
          <a:ln w="9525">
            <a:solidFill>
              <a:srgbClr val="FFB531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BAC6DA"/>
                </a:solidFill>
                <a:latin typeface="Bahnschrift SemiLight"/>
              </a:rPr>
              <a:t>×</a:t>
            </a:r>
          </a:p>
        </p:txBody>
      </p:sp>
      <p:sp>
        <p:nvSpPr>
          <p:cNvPr id="19" name="!!chave"/>
          <p:cNvSpPr/>
          <p:nvPr/>
        </p:nvSpPr>
        <p:spPr>
          <a:xfrm rot="5400000">
            <a:off x="6006693" y="-2733141"/>
            <a:ext cx="175564" cy="10543032"/>
          </a:xfrm>
          <a:prstGeom prst="rightBrace">
            <a:avLst>
              <a:gd name="adj1" fmla="val 30000"/>
              <a:gd name="adj2" fmla="val 50000"/>
            </a:avLst>
          </a:prstGeom>
          <a:noFill/>
          <a:ln w="15875">
            <a:solidFill>
              <a:srgbClr val="839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nschrift SemiLight"/>
            </a:endParaRPr>
          </a:p>
        </p:txBody>
      </p:sp>
      <p:cxnSp>
        <p:nvCxnSpPr>
          <p:cNvPr id="20" name="!!seta_cart"/>
          <p:cNvCxnSpPr/>
          <p:nvPr/>
        </p:nvCxnSpPr>
        <p:spPr>
          <a:xfrm>
            <a:off x="6089904" y="2626156"/>
            <a:ext cx="0" cy="98756"/>
          </a:xfrm>
          <a:prstGeom prst="line">
            <a:avLst/>
          </a:prstGeom>
          <a:ln w="15875">
            <a:solidFill>
              <a:srgbClr val="8395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s4_19"/>
          <p:cNvSpPr txBox="1"/>
          <p:nvPr/>
        </p:nvSpPr>
        <p:spPr>
          <a:xfrm>
            <a:off x="4782312" y="4206241"/>
            <a:ext cx="676656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100">
                <a:solidFill>
                  <a:srgbClr val="FFB531"/>
                </a:solidFill>
                <a:latin typeface="Consolas"/>
              </a:rPr>
              <a:t>DE ONDE VEM O </a:t>
            </a:r>
            <a:r>
              <a:rPr lang="pt-BR" sz="950" b="1" spc="100">
                <a:solidFill>
                  <a:srgbClr val="FFB531"/>
                </a:solidFill>
                <a:latin typeface="Consolas"/>
              </a:rPr>
              <a:t>RETORNO ESPERADO POR ATIVO (Q)</a:t>
            </a:r>
            <a:endParaRPr sz="950" b="1" spc="100">
              <a:solidFill>
                <a:srgbClr val="FFB531"/>
              </a:solidFill>
              <a:latin typeface="Consola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s4_22"/>
              <p:cNvSpPr txBox="1"/>
              <p:nvPr/>
            </p:nvSpPr>
            <p:spPr>
              <a:xfrm>
                <a:off x="4782312" y="4728211"/>
                <a:ext cx="6766560" cy="269304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25000"/>
                  </a:lnSpc>
                  <a:spcBef>
                    <a:spcPts val="0"/>
                  </a:spcBef>
                  <a:spcAft>
                    <a:spcPts val="0"/>
                  </a:spcAft>
                </a:pPr>
                <a14:m>
                  <m:oMathPara xmlns:m="http://schemas.openxmlformats.org/officeDocument/2006/math">
                    <m:oMath>
                      <m:r>
                        <a:rPr lang="pt-BR" sz="1400" b="0" i="1" spc="40" dirty="0" smtClean="0">
                          <a:solidFill>
                            <a:srgbClr val="FFB531"/>
                          </a:solidFill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pt-BR" sz="1400" b="0" i="1" spc="40" dirty="0" smtClean="0">
                          <a:solidFill>
                            <a:srgbClr val="FFB531"/>
                          </a:solidFill>
                          <a:latin typeface="Cambria Math" panose="02040503050406030204" pitchFamily="18" charset="0"/>
                        </a:rPr>
                        <m:t> = (</m:t>
                      </m:r>
                      <m:r>
                        <a:rPr lang="pt-BR" sz="1400" b="0" i="1" spc="40" dirty="0" err="1">
                          <a:solidFill>
                            <a:srgbClr val="FFB531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pt-BR" sz="1400" b="0" i="1" spc="40" dirty="0" err="1">
                          <a:solidFill>
                            <a:srgbClr val="FFB531"/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pt-BR" sz="1400" b="0" i="1" spc="40" dirty="0" err="1">
                          <a:solidFill>
                            <a:srgbClr val="FFB531"/>
                          </a:solidFill>
                          <a:latin typeface="Cambria Math" panose="02040503050406030204" pitchFamily="18" charset="0"/>
                        </a:rPr>
                        <m:t>𝑝𝑜𝑙𝑦</m:t>
                      </m:r>
                      <m:r>
                        <a:rPr lang="pt-BR" sz="1400" b="0" i="1" spc="40" dirty="0">
                          <a:solidFill>
                            <a:srgbClr val="FFB531"/>
                          </a:solidFill>
                          <a:latin typeface="Cambria Math" panose="02040503050406030204" pitchFamily="18" charset="0"/>
                        </a:rPr>
                        <m:t> − </m:t>
                      </m:r>
                      <m:r>
                        <a:rPr lang="pt-BR" sz="1400" b="0" i="1" spc="40" dirty="0" err="1">
                          <a:solidFill>
                            <a:srgbClr val="FFB531"/>
                          </a:solidFill>
                          <a:latin typeface="Cambria Math" panose="02040503050406030204" pitchFamily="18" charset="0"/>
                        </a:rPr>
                        <m:t>â</m:t>
                      </m:r>
                      <m:r>
                        <a:rPr lang="pt-BR" sz="1400" b="0" i="1" spc="40" dirty="0" err="1">
                          <a:solidFill>
                            <a:srgbClr val="FFB531"/>
                          </a:solidFill>
                          <a:latin typeface="Cambria Math" panose="02040503050406030204" pitchFamily="18" charset="0"/>
                        </a:rPr>
                        <m:t>𝑛𝑐𝑜𝑟𝑎</m:t>
                      </m:r>
                      <m:r>
                        <a:rPr lang="pt-BR" sz="1400" b="0" i="1" spc="40" dirty="0">
                          <a:solidFill>
                            <a:srgbClr val="FFB531"/>
                          </a:solidFill>
                          <a:latin typeface="Cambria Math" panose="02040503050406030204" pitchFamily="18" charset="0"/>
                        </a:rPr>
                        <m:t>) · </m:t>
                      </m:r>
                      <m:r>
                        <m:rPr>
                          <m:sty m:val="p"/>
                        </m:rPr>
                        <a:rPr lang="el-GR" sz="1400" b="0" i="0" spc="40" dirty="0">
                          <a:solidFill>
                            <a:srgbClr val="FFB531"/>
                          </a:solidFill>
                          <a:latin typeface="Cambria Math" panose="02040503050406030204" pitchFamily="18" charset="0"/>
                        </a:rPr>
                        <m:t>Σ</m:t>
                      </m:r>
                      <m:r>
                        <a:rPr lang="el-GR" sz="1400" b="0" i="1" spc="40" dirty="0">
                          <a:solidFill>
                            <a:srgbClr val="FFB53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l-GR" sz="1400" b="0" i="1" spc="40" dirty="0">
                          <a:solidFill>
                            <a:srgbClr val="FFB531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pt-BR" sz="1400" b="0" i="1" spc="40" dirty="0">
                          <a:solidFill>
                            <a:srgbClr val="FFB531"/>
                          </a:solidFill>
                          <a:latin typeface="Cambria Math" panose="02040503050406030204" pitchFamily="18" charset="0"/>
                        </a:rPr>
                        <m:t>ᵢ </m:t>
                      </m:r>
                      <m:r>
                        <a:rPr lang="pt-BR" sz="1400" b="0" i="1" spc="40" dirty="0">
                          <a:solidFill>
                            <a:srgbClr val="FFB531"/>
                          </a:solidFill>
                          <a:latin typeface="Cambria Math" panose="02040503050406030204" pitchFamily="18" charset="0"/>
                        </a:rPr>
                        <m:t>𝛽</m:t>
                      </m:r>
                      <m:r>
                        <a:rPr lang="pt-BR" sz="1400" b="0" i="1" spc="40" dirty="0">
                          <a:solidFill>
                            <a:srgbClr val="FFB531"/>
                          </a:solidFill>
                          <a:latin typeface="Cambria Math" panose="02040503050406030204" pitchFamily="18" charset="0"/>
                        </a:rPr>
                        <m:t>ᵢ</m:t>
                      </m:r>
                    </m:oMath>
                  </m:oMathPara>
                </a14:m>
                <a:endParaRPr lang="pt-BR" sz="1400">
                  <a:solidFill>
                    <a:srgbClr val="FFB531"/>
                  </a:solidFill>
                  <a:latin typeface="Bahnschrift SemiLight"/>
                </a:endParaRPr>
              </a:p>
            </p:txBody>
          </p:sp>
        </mc:Choice>
        <mc:Fallback xmlns="">
          <p:sp>
            <p:nvSpPr>
              <p:cNvPr id="24" name="s4_2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82312" y="4728211"/>
                <a:ext cx="6766560" cy="269304"/>
              </a:xfrm>
              <a:prstGeom prst="rect">
                <a:avLst/>
              </a:prstGeom>
              <a:blipFill>
                <a:blip r:embed="rId3"/>
                <a:stretch>
                  <a:fillRect t="-11364" b="-3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s4_23"/>
          <p:cNvSpPr/>
          <p:nvPr/>
        </p:nvSpPr>
        <p:spPr>
          <a:xfrm>
            <a:off x="4782311" y="5358385"/>
            <a:ext cx="45721" cy="54654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FB531"/>
              </a:gs>
              <a:gs pos="100000">
                <a:srgbClr val="FFB531">
                  <a:alpha val="35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nschrift SemiLight"/>
            </a:endParaRPr>
          </a:p>
        </p:txBody>
      </p:sp>
      <p:sp>
        <p:nvSpPr>
          <p:cNvPr id="26" name="s4_24"/>
          <p:cNvSpPr txBox="1"/>
          <p:nvPr/>
        </p:nvSpPr>
        <p:spPr>
          <a:xfrm>
            <a:off x="5001768" y="5358385"/>
            <a:ext cx="6547104" cy="7814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5F7FB"/>
                </a:solidFill>
                <a:latin typeface="Bahnschrift SemiBold"/>
              </a:rPr>
              <a:t>β </a:t>
            </a:r>
            <a:r>
              <a:rPr sz="1150" b="0" err="1">
                <a:solidFill>
                  <a:srgbClr val="F5F7FB"/>
                </a:solidFill>
                <a:latin typeface="Bahnschrift SemiBold"/>
              </a:rPr>
              <a:t>medido</a:t>
            </a:r>
            <a:r>
              <a:rPr sz="1150" b="0">
                <a:solidFill>
                  <a:srgbClr val="F5F7FB"/>
                </a:solidFill>
                <a:latin typeface="Bahnschrift SemiBold"/>
              </a:rPr>
              <a:t> </a:t>
            </a:r>
            <a:r>
              <a:rPr sz="1150" b="0" err="1">
                <a:solidFill>
                  <a:srgbClr val="F5F7FB"/>
                </a:solidFill>
                <a:latin typeface="Bahnschrift SemiBold"/>
              </a:rPr>
              <a:t>em</a:t>
            </a:r>
            <a:r>
              <a:rPr sz="1150" b="0">
                <a:solidFill>
                  <a:srgbClr val="F5F7FB"/>
                </a:solidFill>
                <a:latin typeface="Bahnschrift SemiBold"/>
              </a:rPr>
              <a:t> </a:t>
            </a:r>
            <a:r>
              <a:rPr sz="1150" b="0" err="1">
                <a:solidFill>
                  <a:srgbClr val="F5F7FB"/>
                </a:solidFill>
                <a:latin typeface="Bahnschrift SemiBold"/>
              </a:rPr>
              <a:t>anúncios</a:t>
            </a:r>
            <a:r>
              <a:rPr sz="1150" b="0">
                <a:solidFill>
                  <a:srgbClr val="F5F7FB"/>
                </a:solidFill>
                <a:latin typeface="Bahnschrift SemiBold"/>
              </a:rPr>
              <a:t> passados. </a:t>
            </a:r>
            <a:r>
              <a:rPr sz="1150" b="0">
                <a:solidFill>
                  <a:srgbClr val="BAC6DA"/>
                </a:solidFill>
                <a:latin typeface="Bahnschrift SemiLight"/>
              </a:rPr>
              <a:t> </a:t>
            </a:r>
            <a:r>
              <a:rPr lang="pt-BR" sz="1150" b="0">
                <a:solidFill>
                  <a:srgbClr val="BAC6DA"/>
                </a:solidFill>
                <a:latin typeface="Bahnschrift SemiLight"/>
              </a:rPr>
              <a:t>É obtido </a:t>
            </a:r>
            <a:r>
              <a:rPr lang="pt-BR" sz="1150">
                <a:solidFill>
                  <a:srgbClr val="BAC6DA"/>
                </a:solidFill>
                <a:latin typeface="Bahnschrift SemiLight"/>
              </a:rPr>
              <a:t>por</a:t>
            </a:r>
            <a:r>
              <a:rPr sz="1150" b="0">
                <a:solidFill>
                  <a:srgbClr val="BAC6DA"/>
                </a:solidFill>
                <a:latin typeface="Bahnschrift SemiLight"/>
              </a:rPr>
              <a:t> event-study.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  <a:spcAft>
                <a:spcPts val="0"/>
              </a:spcAft>
            </a:pPr>
            <a:r>
              <a:rPr sz="1150" b="0">
                <a:solidFill>
                  <a:srgbClr val="F5F7FB"/>
                </a:solidFill>
                <a:latin typeface="Bahnschrift SemiBold"/>
              </a:rPr>
              <a:t>Em </a:t>
            </a:r>
            <a:r>
              <a:rPr sz="1150" b="0" err="1">
                <a:solidFill>
                  <a:srgbClr val="F5F7FB"/>
                </a:solidFill>
                <a:latin typeface="Bahnschrift SemiBold"/>
              </a:rPr>
              <a:t>quase</a:t>
            </a:r>
            <a:r>
              <a:rPr sz="1150" b="0">
                <a:solidFill>
                  <a:srgbClr val="F5F7FB"/>
                </a:solidFill>
                <a:latin typeface="Bahnschrift SemiBold"/>
              </a:rPr>
              <a:t> </a:t>
            </a:r>
            <a:r>
              <a:rPr sz="1150" b="0" err="1">
                <a:solidFill>
                  <a:srgbClr val="F5F7FB"/>
                </a:solidFill>
                <a:latin typeface="Bahnschrift SemiBold"/>
              </a:rPr>
              <a:t>todo</a:t>
            </a:r>
            <a:r>
              <a:rPr sz="1150" b="0">
                <a:solidFill>
                  <a:srgbClr val="F5F7FB"/>
                </a:solidFill>
                <a:latin typeface="Bahnschrift SemiBold"/>
              </a:rPr>
              <a:t> </a:t>
            </a:r>
            <a:r>
              <a:rPr sz="1150" b="0" err="1">
                <a:solidFill>
                  <a:srgbClr val="F5F7FB"/>
                </a:solidFill>
                <a:latin typeface="Bahnschrift SemiBold"/>
              </a:rPr>
              <a:t>pregão</a:t>
            </a:r>
            <a:r>
              <a:rPr sz="1150" b="0">
                <a:solidFill>
                  <a:srgbClr val="F5F7FB"/>
                </a:solidFill>
                <a:latin typeface="Bahnschrift SemiBold"/>
              </a:rPr>
              <a:t> </a:t>
            </a:r>
            <a:r>
              <a:rPr sz="1150" b="0" err="1">
                <a:solidFill>
                  <a:srgbClr val="F5F7FB"/>
                </a:solidFill>
                <a:latin typeface="Bahnschrift SemiBold"/>
              </a:rPr>
              <a:t>há</a:t>
            </a:r>
            <a:r>
              <a:rPr sz="1150" b="0">
                <a:solidFill>
                  <a:srgbClr val="F5F7FB"/>
                </a:solidFill>
                <a:latin typeface="Bahnschrift SemiBold"/>
              </a:rPr>
              <a:t> </a:t>
            </a:r>
            <a:r>
              <a:rPr sz="1150" b="0" err="1">
                <a:solidFill>
                  <a:srgbClr val="F5F7FB"/>
                </a:solidFill>
                <a:latin typeface="Bahnschrift SemiBold"/>
              </a:rPr>
              <a:t>ao</a:t>
            </a:r>
            <a:r>
              <a:rPr sz="1150" b="0">
                <a:solidFill>
                  <a:srgbClr val="F5F7FB"/>
                </a:solidFill>
                <a:latin typeface="Bahnschrift SemiBold"/>
              </a:rPr>
              <a:t> </a:t>
            </a:r>
            <a:r>
              <a:rPr sz="1150" b="0" err="1">
                <a:solidFill>
                  <a:srgbClr val="F5F7FB"/>
                </a:solidFill>
                <a:latin typeface="Bahnschrift SemiBold"/>
              </a:rPr>
              <a:t>menos</a:t>
            </a:r>
            <a:r>
              <a:rPr sz="1150" b="0">
                <a:solidFill>
                  <a:srgbClr val="F5F7FB"/>
                </a:solidFill>
                <a:latin typeface="Bahnschrift SemiBold"/>
              </a:rPr>
              <a:t> </a:t>
            </a:r>
            <a:r>
              <a:rPr sz="1150" b="0" err="1">
                <a:solidFill>
                  <a:srgbClr val="F5F7FB"/>
                </a:solidFill>
                <a:latin typeface="Bahnschrift SemiBold"/>
              </a:rPr>
              <a:t>uma</a:t>
            </a:r>
            <a:r>
              <a:rPr sz="1150" b="0">
                <a:solidFill>
                  <a:srgbClr val="F5F7FB"/>
                </a:solidFill>
                <a:latin typeface="Bahnschrift SemiBold"/>
              </a:rPr>
              <a:t> view </a:t>
            </a:r>
            <a:r>
              <a:rPr sz="1150" b="0" err="1">
                <a:solidFill>
                  <a:srgbClr val="F5F7FB"/>
                </a:solidFill>
                <a:latin typeface="Bahnschrift SemiBold"/>
              </a:rPr>
              <a:t>ativa</a:t>
            </a:r>
            <a:r>
              <a:rPr sz="1150" b="0">
                <a:solidFill>
                  <a:srgbClr val="F5F7FB"/>
                </a:solidFill>
                <a:latin typeface="Bahnschrift SemiBold"/>
              </a:rPr>
              <a:t>. </a:t>
            </a:r>
            <a:r>
              <a:rPr sz="1150" b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150" b="0" err="1">
                <a:solidFill>
                  <a:srgbClr val="BAC6DA"/>
                </a:solidFill>
                <a:latin typeface="Bahnschrift SemiLight"/>
              </a:rPr>
              <a:t>Não</a:t>
            </a:r>
            <a:r>
              <a:rPr sz="1150" b="0">
                <a:solidFill>
                  <a:srgbClr val="BAC6DA"/>
                </a:solidFill>
                <a:latin typeface="Bahnschrift SemiLight"/>
              </a:rPr>
              <a:t> é </a:t>
            </a:r>
            <a:r>
              <a:rPr sz="1150" b="0" err="1">
                <a:solidFill>
                  <a:srgbClr val="BAC6DA"/>
                </a:solidFill>
                <a:latin typeface="Bahnschrift SemiLight"/>
              </a:rPr>
              <a:t>preciso</a:t>
            </a:r>
            <a:r>
              <a:rPr sz="1150" b="0">
                <a:solidFill>
                  <a:srgbClr val="BAC6DA"/>
                </a:solidFill>
                <a:latin typeface="Bahnschrift SemiLight"/>
              </a:rPr>
              <a:t> ter </a:t>
            </a:r>
            <a:r>
              <a:rPr sz="1150" b="0" err="1">
                <a:solidFill>
                  <a:srgbClr val="BAC6DA"/>
                </a:solidFill>
                <a:latin typeface="Bahnschrift SemiLight"/>
              </a:rPr>
              <a:t>opinião</a:t>
            </a:r>
            <a:r>
              <a:rPr sz="1150" b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150" b="0" err="1">
                <a:solidFill>
                  <a:srgbClr val="BAC6DA"/>
                </a:solidFill>
                <a:latin typeface="Bahnschrift SemiLight"/>
              </a:rPr>
              <a:t>sobre</a:t>
            </a:r>
            <a:r>
              <a:rPr sz="1150" b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150" b="0" err="1">
                <a:solidFill>
                  <a:srgbClr val="BAC6DA"/>
                </a:solidFill>
                <a:latin typeface="Bahnschrift SemiLight"/>
              </a:rPr>
              <a:t>tudo</a:t>
            </a:r>
            <a:r>
              <a:rPr sz="1150" b="0">
                <a:solidFill>
                  <a:srgbClr val="BAC6DA"/>
                </a:solidFill>
                <a:latin typeface="Bahnschrift SemiLight"/>
              </a:rPr>
              <a:t>, sempre.</a:t>
            </a:r>
          </a:p>
        </p:txBody>
      </p:sp>
      <p:sp>
        <p:nvSpPr>
          <p:cNvPr id="7" name="s4_25">
            <a:extLst>
              <a:ext uri="{FF2B5EF4-FFF2-40B4-BE49-F238E27FC236}">
                <a16:creationId xmlns:a16="http://schemas.microsoft.com/office/drawing/2014/main" id="{F60D46C7-C1DE-7A4B-85FE-4D7557E984C5}"/>
              </a:ext>
            </a:extLst>
          </p:cNvPr>
          <p:cNvSpPr txBox="1"/>
          <p:nvPr/>
        </p:nvSpPr>
        <p:spPr>
          <a:xfrm>
            <a:off x="850000" y="4005073"/>
            <a:ext cx="356616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100">
                <a:solidFill>
                  <a:srgbClr val="FFB531"/>
                </a:solidFill>
                <a:latin typeface="Consolas"/>
              </a:rPr>
              <a:t>AS QUATRO VIEWS</a:t>
            </a:r>
          </a:p>
        </p:txBody>
      </p:sp>
      <p:sp>
        <p:nvSpPr>
          <p:cNvPr id="22" name="s4_26">
            <a:extLst>
              <a:ext uri="{FF2B5EF4-FFF2-40B4-BE49-F238E27FC236}">
                <a16:creationId xmlns:a16="http://schemas.microsoft.com/office/drawing/2014/main" id="{58EB0012-3C7F-260D-0CAB-D37580219C0D}"/>
              </a:ext>
            </a:extLst>
          </p:cNvPr>
          <p:cNvSpPr txBox="1"/>
          <p:nvPr/>
        </p:nvSpPr>
        <p:spPr>
          <a:xfrm>
            <a:off x="847969" y="4315969"/>
            <a:ext cx="21844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100">
                <a:solidFill>
                  <a:srgbClr val="8395B5"/>
                </a:solidFill>
                <a:latin typeface="Consolas"/>
              </a:rPr>
              <a:t>VIEW</a:t>
            </a:r>
          </a:p>
        </p:txBody>
      </p:sp>
      <p:sp>
        <p:nvSpPr>
          <p:cNvPr id="23" name="s4_27">
            <a:extLst>
              <a:ext uri="{FF2B5EF4-FFF2-40B4-BE49-F238E27FC236}">
                <a16:creationId xmlns:a16="http://schemas.microsoft.com/office/drawing/2014/main" id="{1A4607F5-C980-FC46-E7EE-BDB6A3A26FCD}"/>
              </a:ext>
            </a:extLst>
          </p:cNvPr>
          <p:cNvSpPr txBox="1"/>
          <p:nvPr/>
        </p:nvSpPr>
        <p:spPr>
          <a:xfrm>
            <a:off x="3032369" y="4315969"/>
            <a:ext cx="6096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100">
                <a:solidFill>
                  <a:srgbClr val="8395B5"/>
                </a:solidFill>
                <a:latin typeface="Consolas"/>
              </a:rPr>
              <a:t>ATIVA</a:t>
            </a:r>
          </a:p>
        </p:txBody>
      </p:sp>
      <p:sp>
        <p:nvSpPr>
          <p:cNvPr id="55" name="s4_28">
            <a:extLst>
              <a:ext uri="{FF2B5EF4-FFF2-40B4-BE49-F238E27FC236}">
                <a16:creationId xmlns:a16="http://schemas.microsoft.com/office/drawing/2014/main" id="{D1DBB287-1AA4-34A9-20FF-30AB91FDD0C7}"/>
              </a:ext>
            </a:extLst>
          </p:cNvPr>
          <p:cNvSpPr txBox="1"/>
          <p:nvPr/>
        </p:nvSpPr>
        <p:spPr>
          <a:xfrm>
            <a:off x="3692769" y="4315969"/>
            <a:ext cx="723900" cy="1418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800" b="0" spc="100">
                <a:solidFill>
                  <a:srgbClr val="8395B5"/>
                </a:solidFill>
                <a:latin typeface="Consolas"/>
              </a:rPr>
              <a:t>APOSTA</a:t>
            </a:r>
            <a:endParaRPr sz="800" b="0" spc="100">
              <a:solidFill>
                <a:srgbClr val="8395B5"/>
              </a:solidFill>
              <a:latin typeface="Consolas"/>
            </a:endParaRPr>
          </a:p>
        </p:txBody>
      </p:sp>
      <p:cxnSp>
        <p:nvCxnSpPr>
          <p:cNvPr id="56" name="s4_29">
            <a:extLst>
              <a:ext uri="{FF2B5EF4-FFF2-40B4-BE49-F238E27FC236}">
                <a16:creationId xmlns:a16="http://schemas.microsoft.com/office/drawing/2014/main" id="{559C376B-F670-B2E6-D500-3CA75751AF4D}"/>
              </a:ext>
            </a:extLst>
          </p:cNvPr>
          <p:cNvCxnSpPr/>
          <p:nvPr/>
        </p:nvCxnSpPr>
        <p:spPr>
          <a:xfrm>
            <a:off x="850000" y="4572001"/>
            <a:ext cx="3566161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s4_30">
            <a:extLst>
              <a:ext uri="{FF2B5EF4-FFF2-40B4-BE49-F238E27FC236}">
                <a16:creationId xmlns:a16="http://schemas.microsoft.com/office/drawing/2014/main" id="{2B96FF80-3550-D015-1C40-DB4B0353BC33}"/>
              </a:ext>
            </a:extLst>
          </p:cNvPr>
          <p:cNvSpPr txBox="1"/>
          <p:nvPr/>
        </p:nvSpPr>
        <p:spPr>
          <a:xfrm>
            <a:off x="847969" y="4672584"/>
            <a:ext cx="2184400" cy="1560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BAC6DA"/>
                </a:solidFill>
                <a:latin typeface="Bahnschrift"/>
              </a:rPr>
              <a:t>2.3  </a:t>
            </a:r>
            <a:r>
              <a:rPr sz="900" b="0" err="1">
                <a:solidFill>
                  <a:srgbClr val="BAC6DA"/>
                </a:solidFill>
                <a:latin typeface="Bahnschrift"/>
              </a:rPr>
              <a:t>decisão</a:t>
            </a:r>
            <a:r>
              <a:rPr sz="900" b="0">
                <a:solidFill>
                  <a:srgbClr val="BAC6DA"/>
                </a:solidFill>
                <a:latin typeface="Bahnschrift"/>
              </a:rPr>
              <a:t> do Fed</a:t>
            </a:r>
          </a:p>
        </p:txBody>
      </p:sp>
      <p:sp>
        <p:nvSpPr>
          <p:cNvPr id="58" name="s4_31">
            <a:extLst>
              <a:ext uri="{FF2B5EF4-FFF2-40B4-BE49-F238E27FC236}">
                <a16:creationId xmlns:a16="http://schemas.microsoft.com/office/drawing/2014/main" id="{10705984-2DF2-7755-0DE3-8A34C1F9DEFC}"/>
              </a:ext>
            </a:extLst>
          </p:cNvPr>
          <p:cNvSpPr txBox="1"/>
          <p:nvPr/>
        </p:nvSpPr>
        <p:spPr>
          <a:xfrm>
            <a:off x="3032369" y="4672584"/>
            <a:ext cx="609600" cy="1560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5F7FB"/>
                </a:solidFill>
                <a:latin typeface="Consolas"/>
              </a:rPr>
              <a:t>312/374</a:t>
            </a:r>
          </a:p>
        </p:txBody>
      </p:sp>
      <p:sp>
        <p:nvSpPr>
          <p:cNvPr id="59" name="s4_32">
            <a:extLst>
              <a:ext uri="{FF2B5EF4-FFF2-40B4-BE49-F238E27FC236}">
                <a16:creationId xmlns:a16="http://schemas.microsoft.com/office/drawing/2014/main" id="{900EC5B4-897E-AEA0-7953-C5BF61279047}"/>
              </a:ext>
            </a:extLst>
          </p:cNvPr>
          <p:cNvSpPr txBox="1"/>
          <p:nvPr/>
        </p:nvSpPr>
        <p:spPr>
          <a:xfrm>
            <a:off x="3692769" y="4672584"/>
            <a:ext cx="723900" cy="1560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err="1">
                <a:solidFill>
                  <a:srgbClr val="8395B5"/>
                </a:solidFill>
                <a:latin typeface="Bahnschrift"/>
              </a:rPr>
              <a:t>neutra</a:t>
            </a:r>
            <a:endParaRPr sz="900" b="0">
              <a:solidFill>
                <a:srgbClr val="8395B5"/>
              </a:solidFill>
              <a:latin typeface="Bahnschrift"/>
            </a:endParaRPr>
          </a:p>
        </p:txBody>
      </p:sp>
      <p:cxnSp>
        <p:nvCxnSpPr>
          <p:cNvPr id="60" name="s4_33">
            <a:extLst>
              <a:ext uri="{FF2B5EF4-FFF2-40B4-BE49-F238E27FC236}">
                <a16:creationId xmlns:a16="http://schemas.microsoft.com/office/drawing/2014/main" id="{649220C1-AC9A-0537-B2FB-FAFA641DF12B}"/>
              </a:ext>
            </a:extLst>
          </p:cNvPr>
          <p:cNvCxnSpPr/>
          <p:nvPr/>
        </p:nvCxnSpPr>
        <p:spPr>
          <a:xfrm>
            <a:off x="850000" y="4882897"/>
            <a:ext cx="3566161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s4_34">
            <a:extLst>
              <a:ext uri="{FF2B5EF4-FFF2-40B4-BE49-F238E27FC236}">
                <a16:creationId xmlns:a16="http://schemas.microsoft.com/office/drawing/2014/main" id="{FA451905-6436-C060-B2DD-776E4ACF03A0}"/>
              </a:ext>
            </a:extLst>
          </p:cNvPr>
          <p:cNvSpPr txBox="1"/>
          <p:nvPr/>
        </p:nvSpPr>
        <p:spPr>
          <a:xfrm>
            <a:off x="847969" y="4983480"/>
            <a:ext cx="2184400" cy="1560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BAC6DA"/>
                </a:solidFill>
                <a:latin typeface="Bahnschrift"/>
              </a:rPr>
              <a:t>2.2  </a:t>
            </a:r>
            <a:r>
              <a:rPr sz="900" b="0" err="1">
                <a:solidFill>
                  <a:srgbClr val="BAC6DA"/>
                </a:solidFill>
                <a:latin typeface="Bahnschrift"/>
              </a:rPr>
              <a:t>inflação</a:t>
            </a:r>
            <a:r>
              <a:rPr sz="900" b="0">
                <a:solidFill>
                  <a:srgbClr val="BAC6DA"/>
                </a:solidFill>
                <a:latin typeface="Bahnschrift"/>
              </a:rPr>
              <a:t> do </a:t>
            </a:r>
            <a:r>
              <a:rPr sz="900" b="0" err="1">
                <a:solidFill>
                  <a:srgbClr val="BAC6DA"/>
                </a:solidFill>
                <a:latin typeface="Bahnschrift"/>
              </a:rPr>
              <a:t>mês</a:t>
            </a:r>
            <a:endParaRPr sz="900" b="0">
              <a:solidFill>
                <a:srgbClr val="BAC6DA"/>
              </a:solidFill>
              <a:latin typeface="Bahnschrift"/>
            </a:endParaRPr>
          </a:p>
        </p:txBody>
      </p:sp>
      <p:sp>
        <p:nvSpPr>
          <p:cNvPr id="62" name="s4_35">
            <a:extLst>
              <a:ext uri="{FF2B5EF4-FFF2-40B4-BE49-F238E27FC236}">
                <a16:creationId xmlns:a16="http://schemas.microsoft.com/office/drawing/2014/main" id="{2625AB82-39B7-909C-F746-C94C630A155E}"/>
              </a:ext>
            </a:extLst>
          </p:cNvPr>
          <p:cNvSpPr txBox="1"/>
          <p:nvPr/>
        </p:nvSpPr>
        <p:spPr>
          <a:xfrm>
            <a:off x="3032369" y="4983480"/>
            <a:ext cx="609600" cy="1560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5F7FB"/>
                </a:solidFill>
                <a:latin typeface="Consolas"/>
              </a:rPr>
              <a:t>253/374</a:t>
            </a:r>
          </a:p>
        </p:txBody>
      </p:sp>
      <p:sp>
        <p:nvSpPr>
          <p:cNvPr id="63" name="s4_36">
            <a:extLst>
              <a:ext uri="{FF2B5EF4-FFF2-40B4-BE49-F238E27FC236}">
                <a16:creationId xmlns:a16="http://schemas.microsoft.com/office/drawing/2014/main" id="{E0843B20-5E74-8F3D-337B-7098ABED9E64}"/>
              </a:ext>
            </a:extLst>
          </p:cNvPr>
          <p:cNvSpPr txBox="1"/>
          <p:nvPr/>
        </p:nvSpPr>
        <p:spPr>
          <a:xfrm>
            <a:off x="3692769" y="4983480"/>
            <a:ext cx="723900" cy="1560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395B5"/>
                </a:solidFill>
                <a:latin typeface="Bahnschrift"/>
              </a:rPr>
              <a:t>neutra</a:t>
            </a:r>
          </a:p>
        </p:txBody>
      </p:sp>
      <p:cxnSp>
        <p:nvCxnSpPr>
          <p:cNvPr id="64" name="s4_37">
            <a:extLst>
              <a:ext uri="{FF2B5EF4-FFF2-40B4-BE49-F238E27FC236}">
                <a16:creationId xmlns:a16="http://schemas.microsoft.com/office/drawing/2014/main" id="{E5046253-F423-69C6-FDEE-9A2612EDBC31}"/>
              </a:ext>
            </a:extLst>
          </p:cNvPr>
          <p:cNvCxnSpPr/>
          <p:nvPr/>
        </p:nvCxnSpPr>
        <p:spPr>
          <a:xfrm>
            <a:off x="850000" y="5193793"/>
            <a:ext cx="3566161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s4_38">
            <a:extLst>
              <a:ext uri="{FF2B5EF4-FFF2-40B4-BE49-F238E27FC236}">
                <a16:creationId xmlns:a16="http://schemas.microsoft.com/office/drawing/2014/main" id="{EA930F14-E4B7-CFFF-6FD9-62C010ED15FB}"/>
              </a:ext>
            </a:extLst>
          </p:cNvPr>
          <p:cNvSpPr txBox="1"/>
          <p:nvPr/>
        </p:nvSpPr>
        <p:spPr>
          <a:xfrm>
            <a:off x="847969" y="5294376"/>
            <a:ext cx="2184400" cy="1560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BAC6DA"/>
                </a:solidFill>
                <a:latin typeface="Bahnschrift"/>
              </a:rPr>
              <a:t>B  taxa </a:t>
            </a:r>
            <a:r>
              <a:rPr lang="pt-BR" sz="900" b="0">
                <a:solidFill>
                  <a:srgbClr val="BAC6DA"/>
                </a:solidFill>
                <a:latin typeface="Bahnschrift"/>
              </a:rPr>
              <a:t>de juros </a:t>
            </a:r>
            <a:r>
              <a:rPr sz="900" b="0">
                <a:solidFill>
                  <a:srgbClr val="BAC6DA"/>
                </a:solidFill>
                <a:latin typeface="Bahnschrift"/>
              </a:rPr>
              <a:t>no </a:t>
            </a:r>
            <a:r>
              <a:rPr sz="900" b="0" err="1">
                <a:solidFill>
                  <a:srgbClr val="BAC6DA"/>
                </a:solidFill>
                <a:latin typeface="Bahnschrift"/>
              </a:rPr>
              <a:t>fim</a:t>
            </a:r>
            <a:r>
              <a:rPr sz="900" b="0">
                <a:solidFill>
                  <a:srgbClr val="BAC6DA"/>
                </a:solidFill>
                <a:latin typeface="Bahnschrift"/>
              </a:rPr>
              <a:t> do </a:t>
            </a:r>
            <a:r>
              <a:rPr sz="900" b="0" err="1">
                <a:solidFill>
                  <a:srgbClr val="BAC6DA"/>
                </a:solidFill>
                <a:latin typeface="Bahnschrift"/>
              </a:rPr>
              <a:t>ano</a:t>
            </a:r>
            <a:endParaRPr sz="900" b="0">
              <a:solidFill>
                <a:srgbClr val="BAC6DA"/>
              </a:solidFill>
              <a:latin typeface="Bahnschrift"/>
            </a:endParaRPr>
          </a:p>
        </p:txBody>
      </p:sp>
      <p:sp>
        <p:nvSpPr>
          <p:cNvPr id="66" name="s4_39">
            <a:extLst>
              <a:ext uri="{FF2B5EF4-FFF2-40B4-BE49-F238E27FC236}">
                <a16:creationId xmlns:a16="http://schemas.microsoft.com/office/drawing/2014/main" id="{6719DCE1-BC0F-232A-E7F9-C06A8E142DF5}"/>
              </a:ext>
            </a:extLst>
          </p:cNvPr>
          <p:cNvSpPr txBox="1"/>
          <p:nvPr/>
        </p:nvSpPr>
        <p:spPr>
          <a:xfrm>
            <a:off x="3032369" y="5294376"/>
            <a:ext cx="609600" cy="1560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5F7FB"/>
                </a:solidFill>
                <a:latin typeface="Consolas"/>
              </a:rPr>
              <a:t>154/374</a:t>
            </a:r>
          </a:p>
        </p:txBody>
      </p:sp>
      <p:sp>
        <p:nvSpPr>
          <p:cNvPr id="67" name="s4_40">
            <a:extLst>
              <a:ext uri="{FF2B5EF4-FFF2-40B4-BE49-F238E27FC236}">
                <a16:creationId xmlns:a16="http://schemas.microsoft.com/office/drawing/2014/main" id="{299212D2-4177-00BC-E9E2-0630CE64E421}"/>
              </a:ext>
            </a:extLst>
          </p:cNvPr>
          <p:cNvSpPr txBox="1"/>
          <p:nvPr/>
        </p:nvSpPr>
        <p:spPr>
          <a:xfrm>
            <a:off x="3692769" y="5294376"/>
            <a:ext cx="723900" cy="1560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395B5"/>
                </a:solidFill>
                <a:latin typeface="Bahnschrift"/>
              </a:rPr>
              <a:t>neutra</a:t>
            </a:r>
          </a:p>
        </p:txBody>
      </p:sp>
      <p:cxnSp>
        <p:nvCxnSpPr>
          <p:cNvPr id="68" name="s4_41">
            <a:extLst>
              <a:ext uri="{FF2B5EF4-FFF2-40B4-BE49-F238E27FC236}">
                <a16:creationId xmlns:a16="http://schemas.microsoft.com/office/drawing/2014/main" id="{923A7B40-FAC8-AE83-BA9E-082747A0F59E}"/>
              </a:ext>
            </a:extLst>
          </p:cNvPr>
          <p:cNvCxnSpPr/>
          <p:nvPr/>
        </p:nvCxnSpPr>
        <p:spPr>
          <a:xfrm>
            <a:off x="850000" y="5504689"/>
            <a:ext cx="3566161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s4_42">
            <a:extLst>
              <a:ext uri="{FF2B5EF4-FFF2-40B4-BE49-F238E27FC236}">
                <a16:creationId xmlns:a16="http://schemas.microsoft.com/office/drawing/2014/main" id="{58CC961E-EB52-F989-D7FA-558CC3B55BFF}"/>
              </a:ext>
            </a:extLst>
          </p:cNvPr>
          <p:cNvSpPr txBox="1"/>
          <p:nvPr/>
        </p:nvSpPr>
        <p:spPr>
          <a:xfrm>
            <a:off x="847969" y="5605272"/>
            <a:ext cx="2184400" cy="32912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BAC6DA"/>
                </a:solidFill>
                <a:latin typeface="Bahnschrift"/>
              </a:rPr>
              <a:t>15b  </a:t>
            </a:r>
            <a:r>
              <a:rPr sz="900" b="0" err="1">
                <a:solidFill>
                  <a:srgbClr val="BAC6DA"/>
                </a:solidFill>
                <a:latin typeface="Bahnschrift"/>
              </a:rPr>
              <a:t>dúvida</a:t>
            </a:r>
            <a:r>
              <a:rPr sz="900" b="0">
                <a:solidFill>
                  <a:srgbClr val="BAC6DA"/>
                </a:solidFill>
                <a:latin typeface="Bahnschrift"/>
              </a:rPr>
              <a:t> </a:t>
            </a:r>
            <a:r>
              <a:rPr lang="pt-BR" sz="900" b="0">
                <a:solidFill>
                  <a:srgbClr val="BAC6DA"/>
                </a:solidFill>
                <a:latin typeface="Bahnschrift"/>
              </a:rPr>
              <a:t>antes de grandes anúncios</a:t>
            </a:r>
            <a:endParaRPr sz="900" b="0">
              <a:solidFill>
                <a:srgbClr val="BAC6DA"/>
              </a:solidFill>
              <a:latin typeface="Bahnschrift"/>
            </a:endParaRPr>
          </a:p>
        </p:txBody>
      </p:sp>
      <p:sp>
        <p:nvSpPr>
          <p:cNvPr id="70" name="s4_43">
            <a:extLst>
              <a:ext uri="{FF2B5EF4-FFF2-40B4-BE49-F238E27FC236}">
                <a16:creationId xmlns:a16="http://schemas.microsoft.com/office/drawing/2014/main" id="{E2810580-30F4-26F8-C748-DE38F53CE96E}"/>
              </a:ext>
            </a:extLst>
          </p:cNvPr>
          <p:cNvSpPr txBox="1"/>
          <p:nvPr/>
        </p:nvSpPr>
        <p:spPr>
          <a:xfrm>
            <a:off x="3032369" y="5605272"/>
            <a:ext cx="609600" cy="1560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5F7FB"/>
                </a:solidFill>
                <a:latin typeface="Consolas"/>
              </a:rPr>
              <a:t>26/374</a:t>
            </a:r>
          </a:p>
        </p:txBody>
      </p:sp>
      <p:sp>
        <p:nvSpPr>
          <p:cNvPr id="71" name="s4_44">
            <a:extLst>
              <a:ext uri="{FF2B5EF4-FFF2-40B4-BE49-F238E27FC236}">
                <a16:creationId xmlns:a16="http://schemas.microsoft.com/office/drawing/2014/main" id="{B15D4373-5149-B375-CE01-EB8FF7121BDA}"/>
              </a:ext>
            </a:extLst>
          </p:cNvPr>
          <p:cNvSpPr txBox="1"/>
          <p:nvPr/>
        </p:nvSpPr>
        <p:spPr>
          <a:xfrm>
            <a:off x="3692769" y="5605272"/>
            <a:ext cx="723900" cy="1560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395B5"/>
                </a:solidFill>
                <a:latin typeface="Bahnschrift"/>
              </a:rPr>
              <a:t>direc.</a:t>
            </a:r>
          </a:p>
        </p:txBody>
      </p:sp>
      <p:cxnSp>
        <p:nvCxnSpPr>
          <p:cNvPr id="72" name="s4_45">
            <a:extLst>
              <a:ext uri="{FF2B5EF4-FFF2-40B4-BE49-F238E27FC236}">
                <a16:creationId xmlns:a16="http://schemas.microsoft.com/office/drawing/2014/main" id="{3372723B-460D-2E45-C40C-3008A6012632}"/>
              </a:ext>
            </a:extLst>
          </p:cNvPr>
          <p:cNvCxnSpPr/>
          <p:nvPr/>
        </p:nvCxnSpPr>
        <p:spPr>
          <a:xfrm>
            <a:off x="850000" y="5815584"/>
            <a:ext cx="3566161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s4_46">
            <a:extLst>
              <a:ext uri="{FF2B5EF4-FFF2-40B4-BE49-F238E27FC236}">
                <a16:creationId xmlns:a16="http://schemas.microsoft.com/office/drawing/2014/main" id="{E4D05711-99B4-431E-2A86-B69912B8339E}"/>
              </a:ext>
            </a:extLst>
          </p:cNvPr>
          <p:cNvSpPr txBox="1"/>
          <p:nvPr/>
        </p:nvSpPr>
        <p:spPr>
          <a:xfrm>
            <a:off x="850000" y="6016753"/>
            <a:ext cx="3566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5F7FB"/>
                </a:solidFill>
                <a:latin typeface="Bahnschrift SemiBold"/>
              </a:rPr>
              <a:t>745 view-dias em 374 pregões.</a:t>
            </a:r>
            <a:r>
              <a:rPr sz="1000" b="0">
                <a:solidFill>
                  <a:srgbClr val="BAC6DA"/>
                </a:solidFill>
                <a:latin typeface="Bahnschrift"/>
              </a:rPr>
              <a:t> Nenhum dia depende de uma view só.</a:t>
            </a:r>
          </a:p>
        </p:txBody>
      </p:sp>
    </p:spTree>
    <p:extLst>
      <p:ext uri="{BB962C8B-B14F-4D97-AF65-F5344CB8AC3E}">
        <p14:creationId xmlns:p14="http://schemas.microsoft.com/office/powerpoint/2010/main" val="29713070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9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189843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F41A7A3-C771-0B4A-A16D-C3A311A0D6D0}"/>
              </a:ext>
            </a:extLst>
          </p:cNvPr>
          <p:cNvSpPr txBox="1"/>
          <p:nvPr/>
        </p:nvSpPr>
        <p:spPr>
          <a:xfrm>
            <a:off x="3192208" y="1638107"/>
            <a:ext cx="6566429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err="1"/>
              <a:t>Colocar</a:t>
            </a:r>
            <a:r>
              <a:rPr lang="en-US"/>
              <a:t> </a:t>
            </a:r>
            <a:r>
              <a:rPr lang="en-US" err="1"/>
              <a:t>processo</a:t>
            </a:r>
            <a:r>
              <a:rPr lang="en-US"/>
              <a:t> </a:t>
            </a:r>
            <a:r>
              <a:rPr lang="en-US" err="1"/>
              <a:t>especifico</a:t>
            </a:r>
            <a:r>
              <a:rPr lang="en-US"/>
              <a:t> das views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5903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!!glow_tl"/>
          <p:cNvSpPr/>
          <p:nvPr/>
        </p:nvSpPr>
        <p:spPr>
          <a:xfrm>
            <a:off x="-2345704" y="-1867611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8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30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9" name="!!ghost"/>
          <p:cNvSpPr txBox="1"/>
          <p:nvPr/>
        </p:nvSpPr>
        <p:spPr>
          <a:xfrm>
            <a:off x="6900000" y="-230000"/>
            <a:ext cx="4950000" cy="200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pt-BR" sz="15000" b="0" spc="0">
                <a:solidFill>
                  <a:srgbClr val="101A2E"/>
                </a:solidFill>
                <a:latin typeface="Bahnschrift SemiBold Condensed"/>
              </a:rPr>
              <a:t>05</a:t>
            </a:r>
          </a:p>
        </p:txBody>
      </p:sp>
      <p:sp>
        <p:nvSpPr>
          <p:cNvPr id="50" name="!!tick"/>
          <p:cNvSpPr/>
          <p:nvPr/>
        </p:nvSpPr>
        <p:spPr>
          <a:xfrm>
            <a:off x="69494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1" name="!!foot_l"/>
          <p:cNvSpPr txBox="1"/>
          <p:nvPr/>
        </p:nvSpPr>
        <p:spPr>
          <a:xfrm>
            <a:off x="822960" y="6653200"/>
            <a:ext cx="6000000" cy="16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pt-BR" sz="700" b="0" spc="120">
                <a:solidFill>
                  <a:srgbClr val="58698A"/>
                </a:solidFill>
                <a:latin typeface="Consolas"/>
              </a:rPr>
              <a:t>ITAÚ QUANT AI CHALLENGE  ·  SEMIFINAL 2026</a:t>
            </a:r>
          </a:p>
        </p:txBody>
      </p:sp>
      <p:sp>
        <p:nvSpPr>
          <p:cNvPr id="52" name="!!foot_r"/>
          <p:cNvSpPr txBox="1"/>
          <p:nvPr/>
        </p:nvSpPr>
        <p:spPr>
          <a:xfrm>
            <a:off x="5365992" y="6653200"/>
            <a:ext cx="6000000" cy="16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pt-BR" sz="700" b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sp>
        <p:nvSpPr>
          <p:cNvPr id="2" name="s5_0"/>
          <p:cNvSpPr txBox="1"/>
          <p:nvPr/>
        </p:nvSpPr>
        <p:spPr>
          <a:xfrm>
            <a:off x="822960" y="426720"/>
            <a:ext cx="8229600" cy="203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spc="72">
                <a:solidFill>
                  <a:srgbClr val="8395B5"/>
                </a:solidFill>
                <a:latin typeface="Consolas"/>
              </a:rPr>
              <a:t>   A confiança (Ω) é medida, não declarada</a:t>
            </a:r>
          </a:p>
        </p:txBody>
      </p:sp>
      <p:sp>
        <p:nvSpPr>
          <p:cNvPr id="3" name="s5_1"/>
          <p:cNvSpPr txBox="1"/>
          <p:nvPr/>
        </p:nvSpPr>
        <p:spPr>
          <a:xfrm>
            <a:off x="8988552" y="467359"/>
            <a:ext cx="2377440" cy="152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45">
                <a:solidFill>
                  <a:srgbClr val="8395B5"/>
                </a:solidFill>
                <a:latin typeface="Consolas"/>
              </a:rPr>
              <a:t>05</a:t>
            </a:r>
          </a:p>
        </p:txBody>
      </p:sp>
      <p:cxnSp>
        <p:nvCxnSpPr>
          <p:cNvPr id="4" name="s5_2"/>
          <p:cNvCxnSpPr/>
          <p:nvPr/>
        </p:nvCxnSpPr>
        <p:spPr>
          <a:xfrm>
            <a:off x="822960" y="704850"/>
            <a:ext cx="1054303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5_3"/>
          <p:cNvCxnSpPr/>
          <p:nvPr/>
        </p:nvCxnSpPr>
        <p:spPr>
          <a:xfrm>
            <a:off x="822960" y="3931920"/>
            <a:ext cx="1054303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5_4"/>
          <p:cNvCxnSpPr/>
          <p:nvPr/>
        </p:nvCxnSpPr>
        <p:spPr>
          <a:xfrm>
            <a:off x="822960" y="6553200"/>
            <a:ext cx="1054303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!!halo"/>
          <p:cNvSpPr/>
          <p:nvPr/>
        </p:nvSpPr>
        <p:spPr>
          <a:xfrm>
            <a:off x="7516368" y="786384"/>
            <a:ext cx="4572000" cy="1920240"/>
          </a:xfrm>
          <a:prstGeom prst="ellipse">
            <a:avLst/>
          </a:prstGeom>
          <a:solidFill>
            <a:srgbClr val="FFB531">
              <a:alpha val="17000"/>
            </a:srgbClr>
          </a:solidFill>
          <a:ln>
            <a:noFill/>
          </a:ln>
          <a:effectLst>
            <a:softEdge rad="130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nschrift SemiLight"/>
            </a:endParaRPr>
          </a:p>
        </p:txBody>
      </p:sp>
      <p:sp>
        <p:nvSpPr>
          <p:cNvPr id="9" name="!!eq"/>
          <p:cNvSpPr/>
          <p:nvPr/>
        </p:nvSpPr>
        <p:spPr>
          <a:xfrm>
            <a:off x="822960" y="1188720"/>
            <a:ext cx="3127248" cy="1115568"/>
          </a:xfrm>
          <a:prstGeom prst="roundRect">
            <a:avLst>
              <a:gd name="adj" fmla="val 11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12700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70916" tIns="0" rIns="128016" bIns="0" rtlCol="0" anchor="ctr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30">
                <a:solidFill>
                  <a:srgbClr val="F5F7FB"/>
                </a:solidFill>
                <a:latin typeface="Bahnschrift SemiBold"/>
              </a:rPr>
              <a:t>EQUILÍBRIO</a:t>
            </a:r>
          </a:p>
          <a:p>
            <a:pPr algn="l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>
                <a:solidFill>
                  <a:srgbClr val="BAC6DA"/>
                </a:solidFill>
                <a:latin typeface="Bahnschrift"/>
              </a:rPr>
              <a:t>o que o mercado já espera</a:t>
            </a:r>
          </a:p>
        </p:txBody>
      </p:sp>
      <p:sp>
        <p:nvSpPr>
          <p:cNvPr id="10" name="!!bar_eq"/>
          <p:cNvSpPr/>
          <p:nvPr/>
        </p:nvSpPr>
        <p:spPr>
          <a:xfrm>
            <a:off x="1078992" y="1456456"/>
            <a:ext cx="50292" cy="580095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4F8EF7"/>
              </a:gs>
              <a:gs pos="100000">
                <a:srgbClr val="4F8EF7">
                  <a:alpha val="35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nschrift SemiLight"/>
            </a:endParaRPr>
          </a:p>
        </p:txBody>
      </p:sp>
      <p:sp>
        <p:nvSpPr>
          <p:cNvPr id="11" name="!!q"/>
          <p:cNvSpPr/>
          <p:nvPr/>
        </p:nvSpPr>
        <p:spPr>
          <a:xfrm>
            <a:off x="4526280" y="1188720"/>
            <a:ext cx="3127248" cy="1115568"/>
          </a:xfrm>
          <a:prstGeom prst="roundRect">
            <a:avLst>
              <a:gd name="adj" fmla="val 11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12700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70916" tIns="0" rIns="128016" bIns="0" rtlCol="0" anchor="ctr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00" b="0" spc="130">
                <a:solidFill>
                  <a:srgbClr val="F5F7FB"/>
                </a:solidFill>
                <a:latin typeface="Bahnschrift SemiBold"/>
              </a:rPr>
              <a:t>PREVISÃO</a:t>
            </a:r>
            <a:r>
              <a:rPr sz="1300" b="0" spc="130">
                <a:solidFill>
                  <a:srgbClr val="F5F7FB"/>
                </a:solidFill>
                <a:latin typeface="Bahnschrift SemiBold"/>
              </a:rPr>
              <a:t>    </a:t>
            </a:r>
            <a:r>
              <a:rPr lang="en-US" sz="1300" b="0" spc="130">
                <a:solidFill>
                  <a:srgbClr val="F5F7FB"/>
                </a:solidFill>
                <a:latin typeface="Bahnschrift SemiBold"/>
              </a:rPr>
              <a:t>(</a:t>
            </a:r>
            <a:r>
              <a:rPr sz="1300" b="0" spc="130">
                <a:solidFill>
                  <a:srgbClr val="F5F7FB"/>
                </a:solidFill>
                <a:latin typeface="Bahnschrift SemiBold"/>
              </a:rPr>
              <a:t>Q</a:t>
            </a:r>
            <a:r>
              <a:rPr lang="en-US" sz="1300" spc="130">
                <a:solidFill>
                  <a:srgbClr val="F5F7FB"/>
                </a:solidFill>
                <a:latin typeface="Bahnschrift SemiBold"/>
              </a:rPr>
              <a:t>)</a:t>
            </a:r>
            <a:endParaRPr sz="1300" b="0" spc="130">
              <a:solidFill>
                <a:srgbClr val="F5F7FB"/>
              </a:solidFill>
              <a:latin typeface="Bahnschrift SemiBold"/>
            </a:endParaRPr>
          </a:p>
          <a:p>
            <a:pPr algn="l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 err="1">
                <a:solidFill>
                  <a:srgbClr val="BAC6DA"/>
                </a:solidFill>
                <a:latin typeface="Bahnschrift"/>
              </a:rPr>
              <a:t>quanto</a:t>
            </a:r>
            <a:r>
              <a:rPr sz="950" b="0">
                <a:solidFill>
                  <a:srgbClr val="BAC6DA"/>
                </a:solidFill>
                <a:latin typeface="Bahnschrift"/>
              </a:rPr>
              <a:t> se </a:t>
            </a:r>
            <a:r>
              <a:rPr sz="950" b="0" err="1">
                <a:solidFill>
                  <a:srgbClr val="BAC6DA"/>
                </a:solidFill>
                <a:latin typeface="Bahnschrift"/>
              </a:rPr>
              <a:t>espera</a:t>
            </a:r>
            <a:r>
              <a:rPr sz="950" b="0">
                <a:solidFill>
                  <a:srgbClr val="BAC6DA"/>
                </a:solidFill>
                <a:latin typeface="Bahnschrift"/>
              </a:rPr>
              <a:t> render</a:t>
            </a:r>
          </a:p>
          <a:p>
            <a:pPr algn="l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>
                <a:solidFill>
                  <a:srgbClr val="FFB531"/>
                </a:solidFill>
                <a:latin typeface="Bahnschrift SemiBold"/>
              </a:rPr>
              <a:t>POLYMARKET</a:t>
            </a:r>
          </a:p>
        </p:txBody>
      </p:sp>
      <p:sp>
        <p:nvSpPr>
          <p:cNvPr id="12" name="!!bar_q"/>
          <p:cNvSpPr/>
          <p:nvPr/>
        </p:nvSpPr>
        <p:spPr>
          <a:xfrm>
            <a:off x="4782312" y="1456456"/>
            <a:ext cx="50292" cy="580095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B5811C"/>
              </a:gs>
              <a:gs pos="100000">
                <a:srgbClr val="B5811C">
                  <a:alpha val="35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nschrift SemiLight"/>
            </a:endParaRPr>
          </a:p>
        </p:txBody>
      </p:sp>
      <p:sp>
        <p:nvSpPr>
          <p:cNvPr id="13" name="!!om"/>
          <p:cNvSpPr/>
          <p:nvPr/>
        </p:nvSpPr>
        <p:spPr>
          <a:xfrm>
            <a:off x="8238744" y="1188720"/>
            <a:ext cx="3127248" cy="1115568"/>
          </a:xfrm>
          <a:prstGeom prst="roundRect">
            <a:avLst>
              <a:gd name="adj" fmla="val 11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12700">
            <a:solidFill>
              <a:srgbClr val="FFB531"/>
            </a:solidFill>
          </a:ln>
          <a:effectLst>
            <a:glow rad="130000">
              <a:srgbClr val="FFB531">
                <a:alpha val="32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98348" tIns="0" rIns="128016" bIns="0" rtlCol="0" anchor="ctr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30">
                <a:solidFill>
                  <a:srgbClr val="FFB531"/>
                </a:solidFill>
                <a:latin typeface="Bahnschrift SemiBold"/>
              </a:rPr>
              <a:t>CONFIANÇA    </a:t>
            </a:r>
            <a:r>
              <a:rPr lang="en-US" sz="1300" b="0" spc="130">
                <a:solidFill>
                  <a:srgbClr val="FFB531"/>
                </a:solidFill>
                <a:latin typeface="Bahnschrift SemiBold"/>
              </a:rPr>
              <a:t>(</a:t>
            </a:r>
            <a:r>
              <a:rPr sz="1300" b="0" spc="130">
                <a:solidFill>
                  <a:srgbClr val="FFB531"/>
                </a:solidFill>
                <a:latin typeface="Bahnschrift SemiBold"/>
              </a:rPr>
              <a:t>Ω</a:t>
            </a:r>
            <a:r>
              <a:rPr lang="en-US" sz="1300" spc="130">
                <a:solidFill>
                  <a:srgbClr val="FFB531"/>
                </a:solidFill>
                <a:latin typeface="Bahnschrift SemiBold"/>
              </a:rPr>
              <a:t>)</a:t>
            </a:r>
            <a:endParaRPr sz="1300" b="0" spc="130">
              <a:solidFill>
                <a:srgbClr val="FFB531"/>
              </a:solidFill>
              <a:latin typeface="Bahnschrift SemiBold"/>
            </a:endParaRPr>
          </a:p>
          <a:p>
            <a:pPr algn="l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>
                <a:solidFill>
                  <a:srgbClr val="BAC6DA"/>
                </a:solidFill>
                <a:latin typeface="Bahnschrift"/>
              </a:rPr>
              <a:t>o </a:t>
            </a:r>
            <a:r>
              <a:rPr sz="950" b="0" err="1">
                <a:solidFill>
                  <a:srgbClr val="BAC6DA"/>
                </a:solidFill>
                <a:latin typeface="Bahnschrift"/>
              </a:rPr>
              <a:t>quanto</a:t>
            </a:r>
            <a:r>
              <a:rPr sz="950" b="0">
                <a:solidFill>
                  <a:srgbClr val="BAC6DA"/>
                </a:solidFill>
                <a:latin typeface="Bahnschrift"/>
              </a:rPr>
              <a:t> </a:t>
            </a:r>
            <a:r>
              <a:rPr sz="950" b="0" err="1">
                <a:solidFill>
                  <a:srgbClr val="BAC6DA"/>
                </a:solidFill>
                <a:latin typeface="Bahnschrift"/>
              </a:rPr>
              <a:t>ela</a:t>
            </a:r>
            <a:r>
              <a:rPr sz="950" b="0">
                <a:solidFill>
                  <a:srgbClr val="BAC6DA"/>
                </a:solidFill>
                <a:latin typeface="Bahnschrift"/>
              </a:rPr>
              <a:t> </a:t>
            </a:r>
            <a:r>
              <a:rPr sz="950" b="0" err="1">
                <a:solidFill>
                  <a:srgbClr val="BAC6DA"/>
                </a:solidFill>
                <a:latin typeface="Bahnschrift"/>
              </a:rPr>
              <a:t>pesa</a:t>
            </a:r>
            <a:endParaRPr sz="950" b="0">
              <a:solidFill>
                <a:srgbClr val="BAC6DA"/>
              </a:solidFill>
              <a:latin typeface="Bahnschrift"/>
            </a:endParaRPr>
          </a:p>
          <a:p>
            <a:pPr algn="l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>
                <a:solidFill>
                  <a:srgbClr val="FFB531"/>
                </a:solidFill>
                <a:latin typeface="Bahnschrift SemiBold"/>
              </a:rPr>
              <a:t>POLYMARKET</a:t>
            </a:r>
          </a:p>
        </p:txBody>
      </p:sp>
      <p:sp>
        <p:nvSpPr>
          <p:cNvPr id="14" name="!!bar_om"/>
          <p:cNvSpPr/>
          <p:nvPr/>
        </p:nvSpPr>
        <p:spPr>
          <a:xfrm>
            <a:off x="8494776" y="1456456"/>
            <a:ext cx="77724" cy="580095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FB531"/>
              </a:gs>
              <a:gs pos="100000">
                <a:srgbClr val="FFB531">
                  <a:alpha val="35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nschrift SemiLight"/>
            </a:endParaRPr>
          </a:p>
        </p:txBody>
      </p:sp>
      <p:sp>
        <p:nvSpPr>
          <p:cNvPr id="15" name="!!cart"/>
          <p:cNvSpPr/>
          <p:nvPr/>
        </p:nvSpPr>
        <p:spPr>
          <a:xfrm>
            <a:off x="4526280" y="2743200"/>
            <a:ext cx="3127248" cy="950976"/>
          </a:xfrm>
          <a:prstGeom prst="roundRect">
            <a:avLst>
              <a:gd name="adj" fmla="val 11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12700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70916" tIns="0" rIns="128016" bIns="0" rtlCol="0" anchor="ctr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30">
                <a:solidFill>
                  <a:srgbClr val="F5F7FB"/>
                </a:solidFill>
                <a:latin typeface="Bahnschrift SemiBold"/>
              </a:rPr>
              <a:t>CARTEIRA  BL</a:t>
            </a:r>
          </a:p>
          <a:p>
            <a:pPr algn="l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>
                <a:solidFill>
                  <a:srgbClr val="BAC6DA"/>
                </a:solidFill>
                <a:latin typeface="Bahnschrift"/>
              </a:rPr>
              <a:t>9 ETFs, os pesos do dia</a:t>
            </a:r>
          </a:p>
        </p:txBody>
      </p:sp>
      <p:sp>
        <p:nvSpPr>
          <p:cNvPr id="16" name="!!bar_cart"/>
          <p:cNvSpPr/>
          <p:nvPr/>
        </p:nvSpPr>
        <p:spPr>
          <a:xfrm>
            <a:off x="4782312" y="2971434"/>
            <a:ext cx="50292" cy="494507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FD3B0"/>
              </a:gs>
              <a:gs pos="100000">
                <a:srgbClr val="2FD3B0">
                  <a:alpha val="35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nschrift SemiLight"/>
            </a:endParaRPr>
          </a:p>
        </p:txBody>
      </p:sp>
      <p:sp>
        <p:nvSpPr>
          <p:cNvPr id="17" name="!!op_mais"/>
          <p:cNvSpPr/>
          <p:nvPr/>
        </p:nvSpPr>
        <p:spPr>
          <a:xfrm>
            <a:off x="4064507" y="1572768"/>
            <a:ext cx="347472" cy="347472"/>
          </a:xfrm>
          <a:prstGeom prst="ellipse">
            <a:avLst/>
          </a:prstGeom>
          <a:solidFill>
            <a:srgbClr val="0B1426"/>
          </a:solidFill>
          <a:ln w="9525">
            <a:solidFill>
              <a:srgbClr val="FFB531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BAC6DA"/>
                </a:solidFill>
                <a:latin typeface="Bahnschrift SemiLight"/>
              </a:rPr>
              <a:t>+</a:t>
            </a:r>
          </a:p>
        </p:txBody>
      </p:sp>
      <p:sp>
        <p:nvSpPr>
          <p:cNvPr id="18" name="!!op_vezes"/>
          <p:cNvSpPr/>
          <p:nvPr/>
        </p:nvSpPr>
        <p:spPr>
          <a:xfrm>
            <a:off x="7772400" y="1572768"/>
            <a:ext cx="347472" cy="347472"/>
          </a:xfrm>
          <a:prstGeom prst="ellipse">
            <a:avLst/>
          </a:prstGeom>
          <a:solidFill>
            <a:srgbClr val="0B1426"/>
          </a:solidFill>
          <a:ln w="9525">
            <a:solidFill>
              <a:srgbClr val="FFB531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BAC6DA"/>
                </a:solidFill>
                <a:latin typeface="Bahnschrift SemiLight"/>
              </a:rPr>
              <a:t>×</a:t>
            </a:r>
          </a:p>
        </p:txBody>
      </p:sp>
      <p:sp>
        <p:nvSpPr>
          <p:cNvPr id="19" name="!!chave"/>
          <p:cNvSpPr/>
          <p:nvPr/>
        </p:nvSpPr>
        <p:spPr>
          <a:xfrm rot="5400000">
            <a:off x="6006693" y="-2733141"/>
            <a:ext cx="175564" cy="10543032"/>
          </a:xfrm>
          <a:prstGeom prst="rightBrace">
            <a:avLst>
              <a:gd name="adj1" fmla="val 30000"/>
              <a:gd name="adj2" fmla="val 50000"/>
            </a:avLst>
          </a:prstGeom>
          <a:noFill/>
          <a:ln w="15875">
            <a:solidFill>
              <a:srgbClr val="839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nschrift SemiLight"/>
            </a:endParaRPr>
          </a:p>
        </p:txBody>
      </p:sp>
      <p:cxnSp>
        <p:nvCxnSpPr>
          <p:cNvPr id="20" name="!!seta_cart"/>
          <p:cNvCxnSpPr/>
          <p:nvPr/>
        </p:nvCxnSpPr>
        <p:spPr>
          <a:xfrm>
            <a:off x="6089904" y="2626156"/>
            <a:ext cx="0" cy="98756"/>
          </a:xfrm>
          <a:prstGeom prst="line">
            <a:avLst/>
          </a:prstGeom>
          <a:ln w="15875">
            <a:solidFill>
              <a:srgbClr val="8395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s5_19"/>
          <p:cNvSpPr txBox="1"/>
          <p:nvPr/>
        </p:nvSpPr>
        <p:spPr>
          <a:xfrm>
            <a:off x="822960" y="4041648"/>
            <a:ext cx="676656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100">
                <a:solidFill>
                  <a:srgbClr val="FFB531"/>
                </a:solidFill>
                <a:latin typeface="Consolas"/>
              </a:rPr>
              <a:t>O QUE DECIDE SE A VIEW ENTRA</a:t>
            </a:r>
          </a:p>
        </p:txBody>
      </p:sp>
      <p:sp>
        <p:nvSpPr>
          <p:cNvPr id="22" name="s5_20"/>
          <p:cNvSpPr txBox="1"/>
          <p:nvPr/>
        </p:nvSpPr>
        <p:spPr>
          <a:xfrm>
            <a:off x="822960" y="4352544"/>
            <a:ext cx="6766560" cy="7821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err="1">
                <a:solidFill>
                  <a:srgbClr val="F5F7FB"/>
                </a:solidFill>
                <a:latin typeface="Bahnschrift SemiBold"/>
              </a:rPr>
              <a:t>Estabilidade</a:t>
            </a:r>
            <a:r>
              <a:rPr sz="1150" b="0">
                <a:solidFill>
                  <a:srgbClr val="F5F7FB"/>
                </a:solidFill>
                <a:latin typeface="Bahnschrift SemiBold"/>
              </a:rPr>
              <a:t> da </a:t>
            </a:r>
            <a:r>
              <a:rPr sz="1150" b="0" err="1">
                <a:solidFill>
                  <a:srgbClr val="F5F7FB"/>
                </a:solidFill>
                <a:latin typeface="Bahnschrift SemiBold"/>
              </a:rPr>
              <a:t>distribuição</a:t>
            </a:r>
            <a:r>
              <a:rPr sz="1150" b="0">
                <a:solidFill>
                  <a:srgbClr val="F5F7FB"/>
                </a:solidFill>
                <a:latin typeface="Bahnschrift SemiBold"/>
              </a:rPr>
              <a:t>. </a:t>
            </a:r>
            <a:r>
              <a:rPr sz="1150" b="0">
                <a:solidFill>
                  <a:srgbClr val="BAC6DA"/>
                </a:solidFill>
                <a:latin typeface="Bahnschrift SemiLight"/>
              </a:rPr>
              <a:t> Quanto a </a:t>
            </a:r>
            <a:r>
              <a:rPr sz="1150" b="0" err="1">
                <a:solidFill>
                  <a:srgbClr val="BAC6DA"/>
                </a:solidFill>
                <a:latin typeface="Bahnschrift SemiLight"/>
              </a:rPr>
              <a:t>probabilidade</a:t>
            </a:r>
            <a:r>
              <a:rPr sz="1150" b="0">
                <a:solidFill>
                  <a:srgbClr val="BAC6DA"/>
                </a:solidFill>
                <a:latin typeface="Bahnschrift SemiLight"/>
              </a:rPr>
              <a:t> se </a:t>
            </a:r>
            <a:r>
              <a:rPr sz="1150" b="0" err="1">
                <a:solidFill>
                  <a:srgbClr val="BAC6DA"/>
                </a:solidFill>
                <a:latin typeface="Bahnschrift SemiLight"/>
              </a:rPr>
              <a:t>moveu</a:t>
            </a:r>
            <a:r>
              <a:rPr sz="1150" b="0">
                <a:solidFill>
                  <a:srgbClr val="BAC6DA"/>
                </a:solidFill>
                <a:latin typeface="Bahnschrift SemiLight"/>
              </a:rPr>
              <a:t> antes de a </a:t>
            </a:r>
            <a:r>
              <a:rPr sz="1150" b="0" err="1">
                <a:solidFill>
                  <a:srgbClr val="BAC6DA"/>
                </a:solidFill>
                <a:latin typeface="Bahnschrift SemiLight"/>
              </a:rPr>
              <a:t>gente</a:t>
            </a:r>
            <a:r>
              <a:rPr sz="1150" b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150" b="0" err="1">
                <a:solidFill>
                  <a:srgbClr val="BAC6DA"/>
                </a:solidFill>
                <a:latin typeface="Bahnschrift SemiLight"/>
              </a:rPr>
              <a:t>olhar</a:t>
            </a:r>
            <a:r>
              <a:rPr sz="1150" b="0">
                <a:solidFill>
                  <a:srgbClr val="BAC6DA"/>
                </a:solidFill>
                <a:latin typeface="Bahnschrift SemiLight"/>
              </a:rPr>
              <a:t> para </a:t>
            </a:r>
            <a:r>
              <a:rPr sz="1150" b="0" err="1">
                <a:solidFill>
                  <a:srgbClr val="BAC6DA"/>
                </a:solidFill>
                <a:latin typeface="Bahnschrift SemiLight"/>
              </a:rPr>
              <a:t>ela</a:t>
            </a:r>
            <a:r>
              <a:rPr sz="1150" b="0">
                <a:solidFill>
                  <a:srgbClr val="BAC6DA"/>
                </a:solidFill>
                <a:latin typeface="Bahnschrift SemiLight"/>
              </a:rPr>
              <a:t>.</a:t>
            </a:r>
          </a:p>
          <a:p>
            <a:pPr>
              <a:spcBef>
                <a:spcPts val="800"/>
              </a:spcBef>
            </a:pPr>
            <a:r>
              <a:rPr lang="pt-BR" sz="1150" b="0">
                <a:solidFill>
                  <a:schemeClr val="bg1"/>
                </a:solidFill>
                <a:latin typeface="Bahnschrift SemiBold" panose="020B0502040204020203" pitchFamily="34" charset="0"/>
                <a:cs typeface="Bahnschrift SemiBold" panose="020B0502040204020203" pitchFamily="34" charset="0"/>
              </a:rPr>
              <a:t>Coerência do mercado.</a:t>
            </a:r>
            <a:r>
              <a:rPr lang="pt-BR" sz="1150">
                <a:solidFill>
                  <a:schemeClr val="bg1"/>
                </a:solidFill>
                <a:latin typeface="Bahnschrift SemiLight" panose="020B0502040204020203" pitchFamily="34" charset="0"/>
                <a:cs typeface="Bahnschrift SemiLight" panose="020B0502040204020203" pitchFamily="34" charset="0"/>
              </a:rPr>
              <a:t> </a:t>
            </a:r>
            <a:r>
              <a:rPr lang="pt-BR" sz="1150">
                <a:solidFill>
                  <a:srgbClr val="BAC6DA"/>
                </a:solidFill>
                <a:latin typeface="Bahnschrift SemiLight" panose="020B0502040204020203" pitchFamily="34" charset="0"/>
                <a:cs typeface="Bahnschrift SemiLight" panose="020B0502040204020203" pitchFamily="34" charset="0"/>
              </a:rPr>
              <a:t>Os preços de todos os resultados têm de somar 100%. </a:t>
            </a:r>
          </a:p>
          <a:p>
            <a:pPr>
              <a:spcBef>
                <a:spcPts val="800"/>
              </a:spcBef>
            </a:pPr>
            <a:r>
              <a:rPr lang="pt-BR" sz="1150" b="0">
                <a:solidFill>
                  <a:srgbClr val="F5F7FB"/>
                </a:solidFill>
                <a:latin typeface="Bahnschrift SemiBold"/>
              </a:rPr>
              <a:t>Liquidez de mercado. </a:t>
            </a:r>
            <a:r>
              <a:rPr sz="1150" b="0">
                <a:solidFill>
                  <a:srgbClr val="BAC6DA"/>
                </a:solidFill>
                <a:latin typeface="Bahnschrift SemiLight"/>
              </a:rPr>
              <a:t>Mercado </a:t>
            </a:r>
            <a:r>
              <a:rPr sz="1150" b="0" err="1">
                <a:solidFill>
                  <a:srgbClr val="BAC6DA"/>
                </a:solidFill>
                <a:latin typeface="Bahnschrift SemiLight"/>
              </a:rPr>
              <a:t>ilíquido</a:t>
            </a:r>
            <a:r>
              <a:rPr sz="1150" b="0">
                <a:solidFill>
                  <a:srgbClr val="BAC6DA"/>
                </a:solidFill>
                <a:latin typeface="Bahnschrift SemiLight"/>
              </a:rPr>
              <a:t> é </a:t>
            </a:r>
            <a:r>
              <a:rPr sz="1150" b="0" err="1">
                <a:solidFill>
                  <a:srgbClr val="BAC6DA"/>
                </a:solidFill>
                <a:latin typeface="Bahnschrift SemiLight"/>
              </a:rPr>
              <a:t>vetado</a:t>
            </a:r>
            <a:r>
              <a:rPr sz="1150" b="0">
                <a:solidFill>
                  <a:srgbClr val="BAC6DA"/>
                </a:solidFill>
                <a:latin typeface="Bahnschrift SemiLight"/>
              </a:rPr>
              <a:t>.</a:t>
            </a:r>
          </a:p>
        </p:txBody>
      </p:sp>
      <p:sp>
        <p:nvSpPr>
          <p:cNvPr id="23" name="s5_21"/>
          <p:cNvSpPr/>
          <p:nvPr/>
        </p:nvSpPr>
        <p:spPr>
          <a:xfrm>
            <a:off x="772160" y="5559552"/>
            <a:ext cx="45720" cy="347472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FB531"/>
              </a:gs>
              <a:gs pos="100000">
                <a:srgbClr val="FFB531">
                  <a:alpha val="35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nschrift SemiLight"/>
            </a:endParaRPr>
          </a:p>
        </p:txBody>
      </p:sp>
      <p:sp>
        <p:nvSpPr>
          <p:cNvPr id="24" name="s5_22"/>
          <p:cNvSpPr txBox="1"/>
          <p:nvPr/>
        </p:nvSpPr>
        <p:spPr>
          <a:xfrm>
            <a:off x="971296" y="5563616"/>
            <a:ext cx="6547104" cy="2059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5F7FB"/>
                </a:solidFill>
                <a:latin typeface="Bahnschrift SemiBold"/>
              </a:rPr>
              <a:t>c ≥ 1, sempre. </a:t>
            </a:r>
            <a:r>
              <a:rPr sz="1150" b="0">
                <a:solidFill>
                  <a:srgbClr val="BAC6DA"/>
                </a:solidFill>
                <a:latin typeface="Bahnschrift SemiLight"/>
              </a:rPr>
              <a:t> O Black-Litterman clássico é o teto da confiança, nunca o piso.</a:t>
            </a:r>
          </a:p>
        </p:txBody>
      </p:sp>
      <p:sp>
        <p:nvSpPr>
          <p:cNvPr id="25" name="s5_23"/>
          <p:cNvSpPr txBox="1"/>
          <p:nvPr/>
        </p:nvSpPr>
        <p:spPr>
          <a:xfrm>
            <a:off x="7799831" y="4041648"/>
            <a:ext cx="356616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100">
                <a:solidFill>
                  <a:srgbClr val="FFB531"/>
                </a:solidFill>
                <a:latin typeface="Consolas"/>
              </a:rPr>
              <a:t>A RÉGUA DO Ω</a:t>
            </a:r>
          </a:p>
        </p:txBody>
      </p:sp>
      <p:sp>
        <p:nvSpPr>
          <p:cNvPr id="26" name="s5_24"/>
          <p:cNvSpPr txBox="1"/>
          <p:nvPr/>
        </p:nvSpPr>
        <p:spPr>
          <a:xfrm>
            <a:off x="7799831" y="4420000"/>
            <a:ext cx="3566160" cy="3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B531"/>
                </a:solidFill>
                <a:latin typeface="Bahnschrift SemiBold"/>
              </a:rPr>
              <a:t>c</a:t>
            </a:r>
            <a:r>
              <a:rPr sz="1800" b="0">
                <a:solidFill>
                  <a:srgbClr val="F5F7FB"/>
                </a:solidFill>
                <a:latin typeface="Bahnschrift SemiBold"/>
              </a:rPr>
              <a:t> = ( (1 + v̄ ) · (1 + |Σp − 1|) )</a:t>
            </a:r>
            <a:r>
              <a:rPr sz="1100" b="0" baseline="30000">
                <a:solidFill>
                  <a:srgbClr val="F5F7FB"/>
                </a:solidFill>
                <a:latin typeface="Bahnschrift SemiBold"/>
              </a:rPr>
              <a:t>nível</a:t>
            </a:r>
          </a:p>
        </p:txBody>
      </p:sp>
      <p:sp>
        <p:nvSpPr>
          <p:cNvPr id="27" name="s5_25"/>
          <p:cNvSpPr txBox="1"/>
          <p:nvPr/>
        </p:nvSpPr>
        <p:spPr>
          <a:xfrm>
            <a:off x="7799831" y="4980000"/>
            <a:ext cx="3566160" cy="2059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5F7FB"/>
                </a:solidFill>
                <a:latin typeface="Bahnschrift SemiBold"/>
              </a:rPr>
              <a:t>v̄ </a:t>
            </a:r>
            <a:r>
              <a:rPr sz="1000" b="0">
                <a:solidFill>
                  <a:srgbClr val="BAC6DA"/>
                </a:solidFill>
                <a:latin typeface="Bahnschrift"/>
              </a:rPr>
              <a:t> — quanto a distribuição se moveu nas últimas leituras.</a:t>
            </a:r>
          </a:p>
        </p:txBody>
      </p:sp>
      <p:sp>
        <p:nvSpPr>
          <p:cNvPr id="28" name="s5_26"/>
          <p:cNvSpPr txBox="1"/>
          <p:nvPr/>
        </p:nvSpPr>
        <p:spPr>
          <a:xfrm>
            <a:off x="7799831" y="5300000"/>
            <a:ext cx="3566160" cy="2059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5F7FB"/>
                </a:solidFill>
                <a:latin typeface="Bahnschrift SemiBold"/>
              </a:rPr>
              <a:t>Σp − 1</a:t>
            </a:r>
            <a:r>
              <a:rPr sz="1000" b="0">
                <a:solidFill>
                  <a:srgbClr val="BAC6DA"/>
                </a:solidFill>
                <a:latin typeface="Bahnschrift"/>
              </a:rPr>
              <a:t> — o quanto o livro não fecha como distribuição.</a:t>
            </a:r>
          </a:p>
        </p:txBody>
      </p:sp>
      <p:sp>
        <p:nvSpPr>
          <p:cNvPr id="29" name="s5_27"/>
          <p:cNvSpPr txBox="1"/>
          <p:nvPr/>
        </p:nvSpPr>
        <p:spPr>
          <a:xfrm>
            <a:off x="7799831" y="5620000"/>
            <a:ext cx="3566160" cy="2059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5F7FB"/>
                </a:solidFill>
                <a:latin typeface="Bahnschrift SemiBold"/>
              </a:rPr>
              <a:t>nível</a:t>
            </a:r>
            <a:r>
              <a:rPr sz="1000" b="0">
                <a:solidFill>
                  <a:srgbClr val="BAC6DA"/>
                </a:solidFill>
                <a:latin typeface="Bahnschrift"/>
              </a:rPr>
              <a:t> — expoente que dosa a régua; decisão de risco.</a:t>
            </a:r>
          </a:p>
        </p:txBody>
      </p:sp>
      <p:sp>
        <p:nvSpPr>
          <p:cNvPr id="46" name="s5_44"/>
          <p:cNvSpPr txBox="1"/>
          <p:nvPr/>
        </p:nvSpPr>
        <p:spPr>
          <a:xfrm>
            <a:off x="7799831" y="6053328"/>
            <a:ext cx="3566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5F7FB"/>
                </a:solidFill>
                <a:latin typeface="Bahnschrift SemiBold"/>
              </a:rPr>
              <a:t>185 de 2.795 views </a:t>
            </a:r>
            <a:r>
              <a:rPr lang="en-US" sz="1000" b="0" err="1">
                <a:solidFill>
                  <a:srgbClr val="F5F7FB"/>
                </a:solidFill>
                <a:latin typeface="Bahnschrift SemiBold"/>
              </a:rPr>
              <a:t>vetadas</a:t>
            </a:r>
            <a:r>
              <a:rPr sz="1000" b="0">
                <a:solidFill>
                  <a:srgbClr val="BAC6DA"/>
                </a:solidFill>
                <a:latin typeface="Bahnschrift"/>
              </a:rPr>
              <a:t> pela </a:t>
            </a:r>
            <a:r>
              <a:rPr lang="en-US" sz="1000" b="0" err="1">
                <a:solidFill>
                  <a:srgbClr val="BAC6DA"/>
                </a:solidFill>
                <a:latin typeface="Bahnschrift"/>
              </a:rPr>
              <a:t>régua</a:t>
            </a:r>
            <a:r>
              <a:rPr sz="1000" b="0">
                <a:solidFill>
                  <a:srgbClr val="BAC6DA"/>
                </a:solidFill>
                <a:latin typeface="Bahnschrift"/>
              </a:rPr>
              <a:t>, </a:t>
            </a:r>
            <a:r>
              <a:rPr lang="en-US" sz="1000" b="0" err="1">
                <a:solidFill>
                  <a:srgbClr val="BAC6DA"/>
                </a:solidFill>
                <a:latin typeface="Bahnschrift"/>
              </a:rPr>
              <a:t>sem</a:t>
            </a:r>
            <a:r>
              <a:rPr sz="1000" b="0">
                <a:solidFill>
                  <a:srgbClr val="BAC6DA"/>
                </a:solidFill>
                <a:latin typeface="Bahnschrift"/>
              </a:rPr>
              <a:t> </a:t>
            </a:r>
            <a:r>
              <a:rPr lang="en-US" sz="1000" b="0" err="1">
                <a:solidFill>
                  <a:srgbClr val="BAC6DA"/>
                </a:solidFill>
                <a:latin typeface="Bahnschrift"/>
              </a:rPr>
              <a:t>nenhuma</a:t>
            </a:r>
            <a:r>
              <a:rPr sz="1000" b="0">
                <a:solidFill>
                  <a:srgbClr val="BAC6DA"/>
                </a:solidFill>
                <a:latin typeface="Bahnschrift"/>
              </a:rPr>
              <a:t> </a:t>
            </a:r>
            <a:r>
              <a:rPr lang="en-US" sz="1000" b="0" err="1">
                <a:solidFill>
                  <a:srgbClr val="BAC6DA"/>
                </a:solidFill>
                <a:latin typeface="Bahnschrift"/>
              </a:rPr>
              <a:t>decisão</a:t>
            </a:r>
            <a:r>
              <a:rPr sz="1000" b="0">
                <a:solidFill>
                  <a:srgbClr val="BAC6DA"/>
                </a:solidFill>
                <a:latin typeface="Bahnschrift"/>
              </a:rPr>
              <a:t> </a:t>
            </a:r>
            <a:r>
              <a:rPr lang="en-US" sz="1000" b="0" err="1">
                <a:solidFill>
                  <a:srgbClr val="BAC6DA"/>
                </a:solidFill>
                <a:latin typeface="Bahnschrift"/>
              </a:rPr>
              <a:t>discricionária</a:t>
            </a:r>
            <a:r>
              <a:rPr sz="1000" b="0">
                <a:solidFill>
                  <a:srgbClr val="BAC6DA"/>
                </a:solidFill>
                <a:latin typeface="Bahnschrift"/>
              </a:rPr>
              <a:t>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9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txBody>
          <a:bodyPr/>
          <a:lstStyle/>
          <a:p>
            <a:r>
              <a:rPr lang="en-US"/>
              <a:t> </a:t>
            </a:r>
            <a:endParaRPr/>
          </a:p>
        </p:txBody>
      </p:sp>
      <p:sp>
        <p:nvSpPr>
          <p:cNvPr id="40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30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1" name="!!ghost"/>
          <p:cNvSpPr txBox="1"/>
          <p:nvPr/>
        </p:nvSpPr>
        <p:spPr>
          <a:xfrm>
            <a:off x="6900000" y="-230000"/>
            <a:ext cx="4950000" cy="200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pt-BR" sz="15000" b="0" spc="0">
                <a:solidFill>
                  <a:srgbClr val="101A2E"/>
                </a:solidFill>
                <a:latin typeface="Bahnschrift SemiBold Condensed"/>
              </a:rPr>
              <a:t>06</a:t>
            </a:r>
          </a:p>
        </p:txBody>
      </p:sp>
      <p:sp>
        <p:nvSpPr>
          <p:cNvPr id="42" name="!!tick"/>
          <p:cNvSpPr/>
          <p:nvPr/>
        </p:nvSpPr>
        <p:spPr>
          <a:xfrm>
            <a:off x="69494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3" name="!!foot_l"/>
          <p:cNvSpPr txBox="1"/>
          <p:nvPr/>
        </p:nvSpPr>
        <p:spPr>
          <a:xfrm>
            <a:off x="822960" y="6653200"/>
            <a:ext cx="6000000" cy="16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pt-BR" sz="700" b="0" spc="120">
                <a:solidFill>
                  <a:srgbClr val="58698A"/>
                </a:solidFill>
                <a:latin typeface="Consolas"/>
              </a:rPr>
              <a:t>ITAÚ QUANT AI CHALLENGE  ·  SEMIFINAL 2026</a:t>
            </a:r>
          </a:p>
        </p:txBody>
      </p:sp>
      <p:sp>
        <p:nvSpPr>
          <p:cNvPr id="44" name="!!foot_r"/>
          <p:cNvSpPr txBox="1"/>
          <p:nvPr/>
        </p:nvSpPr>
        <p:spPr>
          <a:xfrm>
            <a:off x="5365992" y="6653200"/>
            <a:ext cx="6000000" cy="16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pt-BR" sz="700" b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sp>
        <p:nvSpPr>
          <p:cNvPr id="2" name="s6_0"/>
          <p:cNvSpPr txBox="1"/>
          <p:nvPr/>
        </p:nvSpPr>
        <p:spPr>
          <a:xfrm>
            <a:off x="822960" y="426720"/>
            <a:ext cx="8229600" cy="203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spc="72">
                <a:solidFill>
                  <a:srgbClr val="8395B5"/>
                </a:solidFill>
                <a:latin typeface="Consolas"/>
              </a:rPr>
              <a:t>   A camada tática e o teto de risco</a:t>
            </a:r>
          </a:p>
        </p:txBody>
      </p:sp>
      <p:sp>
        <p:nvSpPr>
          <p:cNvPr id="3" name="s6_1"/>
          <p:cNvSpPr txBox="1"/>
          <p:nvPr/>
        </p:nvSpPr>
        <p:spPr>
          <a:xfrm>
            <a:off x="8988552" y="467359"/>
            <a:ext cx="2377440" cy="152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45">
                <a:solidFill>
                  <a:srgbClr val="8395B5"/>
                </a:solidFill>
                <a:latin typeface="Consolas"/>
              </a:rPr>
              <a:t>06</a:t>
            </a:r>
          </a:p>
        </p:txBody>
      </p:sp>
      <p:cxnSp>
        <p:nvCxnSpPr>
          <p:cNvPr id="4" name="s6_2"/>
          <p:cNvCxnSpPr/>
          <p:nvPr/>
        </p:nvCxnSpPr>
        <p:spPr>
          <a:xfrm>
            <a:off x="822960" y="704850"/>
            <a:ext cx="1054303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6_3"/>
          <p:cNvCxnSpPr/>
          <p:nvPr/>
        </p:nvCxnSpPr>
        <p:spPr>
          <a:xfrm>
            <a:off x="822960" y="3931920"/>
            <a:ext cx="1054303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6_4"/>
          <p:cNvCxnSpPr/>
          <p:nvPr/>
        </p:nvCxnSpPr>
        <p:spPr>
          <a:xfrm>
            <a:off x="822960" y="6553200"/>
            <a:ext cx="1054303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!!halo"/>
          <p:cNvSpPr/>
          <p:nvPr/>
        </p:nvSpPr>
        <p:spPr>
          <a:xfrm>
            <a:off x="996696" y="2468880"/>
            <a:ext cx="5303520" cy="1335024"/>
          </a:xfrm>
          <a:prstGeom prst="ellipse">
            <a:avLst/>
          </a:prstGeom>
          <a:solidFill>
            <a:srgbClr val="FFB531">
              <a:alpha val="15000"/>
            </a:srgbClr>
          </a:solidFill>
          <a:ln>
            <a:noFill/>
          </a:ln>
          <a:effectLst>
            <a:softEdge rad="130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nschrift SemiLight"/>
            </a:endParaRPr>
          </a:p>
        </p:txBody>
      </p:sp>
      <p:sp>
        <p:nvSpPr>
          <p:cNvPr id="9" name="!!eq"/>
          <p:cNvSpPr/>
          <p:nvPr/>
        </p:nvSpPr>
        <p:spPr>
          <a:xfrm>
            <a:off x="822960" y="1133856"/>
            <a:ext cx="1700784" cy="548640"/>
          </a:xfrm>
          <a:prstGeom prst="roundRect">
            <a:avLst>
              <a:gd name="adj" fmla="val 11000"/>
            </a:avLst>
          </a:prstGeom>
          <a:solidFill>
            <a:srgbClr val="0B1426"/>
          </a:solidFill>
          <a:ln w="12700">
            <a:solidFill>
              <a:srgbClr val="1C2B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38328" tIns="0" rIns="128016" bIns="0" rtlCol="0" anchor="ctr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50">
                <a:solidFill>
                  <a:srgbClr val="BAC6DA"/>
                </a:solidFill>
                <a:latin typeface="Consolas"/>
              </a:rPr>
              <a:t>EQUILÍBRIO</a:t>
            </a:r>
          </a:p>
        </p:txBody>
      </p:sp>
      <p:sp>
        <p:nvSpPr>
          <p:cNvPr id="10" name="!!bar_eq"/>
          <p:cNvSpPr/>
          <p:nvPr/>
        </p:nvSpPr>
        <p:spPr>
          <a:xfrm>
            <a:off x="1005840" y="1265529"/>
            <a:ext cx="45720" cy="285292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D4F84"/>
              </a:gs>
              <a:gs pos="100000">
                <a:srgbClr val="2D4F84">
                  <a:alpha val="35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nschrift SemiLight"/>
            </a:endParaRPr>
          </a:p>
        </p:txBody>
      </p:sp>
      <p:sp>
        <p:nvSpPr>
          <p:cNvPr id="11" name="!!q"/>
          <p:cNvSpPr/>
          <p:nvPr/>
        </p:nvSpPr>
        <p:spPr>
          <a:xfrm>
            <a:off x="2798064" y="1133856"/>
            <a:ext cx="1700784" cy="548640"/>
          </a:xfrm>
          <a:prstGeom prst="roundRect">
            <a:avLst>
              <a:gd name="adj" fmla="val 11000"/>
            </a:avLst>
          </a:prstGeom>
          <a:solidFill>
            <a:srgbClr val="0B1426"/>
          </a:solidFill>
          <a:ln w="12700">
            <a:solidFill>
              <a:srgbClr val="1C2B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38328" tIns="0" rIns="128016" bIns="0" rtlCol="0" anchor="ctr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850" b="1" spc="50">
                <a:solidFill>
                  <a:srgbClr val="BAC6DA"/>
                </a:solidFill>
                <a:latin typeface="Consolas"/>
              </a:rPr>
              <a:t>PREVISÃO</a:t>
            </a:r>
            <a:r>
              <a:rPr sz="850" b="1" spc="50">
                <a:solidFill>
                  <a:srgbClr val="BAC6DA"/>
                </a:solidFill>
                <a:latin typeface="Consolas"/>
              </a:rPr>
              <a:t>    </a:t>
            </a:r>
            <a:r>
              <a:rPr lang="en-US" sz="850" b="1" spc="50">
                <a:solidFill>
                  <a:srgbClr val="BAC6DA"/>
                </a:solidFill>
                <a:latin typeface="Consolas"/>
              </a:rPr>
              <a:t>(</a:t>
            </a:r>
            <a:r>
              <a:rPr sz="850" b="1" spc="50">
                <a:solidFill>
                  <a:srgbClr val="BAC6DA"/>
                </a:solidFill>
                <a:latin typeface="Consolas"/>
              </a:rPr>
              <a:t>Q</a:t>
            </a:r>
            <a:r>
              <a:rPr lang="en-US" sz="850" b="1" spc="50">
                <a:solidFill>
                  <a:srgbClr val="BAC6DA"/>
                </a:solidFill>
                <a:latin typeface="Consolas"/>
              </a:rPr>
              <a:t>)</a:t>
            </a:r>
            <a:endParaRPr sz="850" b="1" spc="50">
              <a:solidFill>
                <a:srgbClr val="BAC6DA"/>
              </a:solidFill>
              <a:latin typeface="Consolas"/>
            </a:endParaRPr>
          </a:p>
        </p:txBody>
      </p:sp>
      <p:sp>
        <p:nvSpPr>
          <p:cNvPr id="12" name="!!bar_q"/>
          <p:cNvSpPr/>
          <p:nvPr/>
        </p:nvSpPr>
        <p:spPr>
          <a:xfrm>
            <a:off x="2980944" y="1265529"/>
            <a:ext cx="45720" cy="285292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6E5220"/>
              </a:gs>
              <a:gs pos="100000">
                <a:srgbClr val="6E5220">
                  <a:alpha val="35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nschrift SemiLight"/>
            </a:endParaRPr>
          </a:p>
        </p:txBody>
      </p:sp>
      <p:sp>
        <p:nvSpPr>
          <p:cNvPr id="13" name="!!om"/>
          <p:cNvSpPr/>
          <p:nvPr/>
        </p:nvSpPr>
        <p:spPr>
          <a:xfrm>
            <a:off x="4773168" y="1133856"/>
            <a:ext cx="1700784" cy="548640"/>
          </a:xfrm>
          <a:prstGeom prst="roundRect">
            <a:avLst>
              <a:gd name="adj" fmla="val 11000"/>
            </a:avLst>
          </a:prstGeom>
          <a:solidFill>
            <a:srgbClr val="0B1426"/>
          </a:solidFill>
          <a:ln w="12700">
            <a:solidFill>
              <a:srgbClr val="1C2B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38328" tIns="0" rIns="128016" bIns="0" rtlCol="0" anchor="ctr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50">
                <a:solidFill>
                  <a:srgbClr val="BAC6DA"/>
                </a:solidFill>
                <a:latin typeface="Consolas"/>
              </a:rPr>
              <a:t>CONFIANÇA    </a:t>
            </a:r>
            <a:r>
              <a:rPr lang="en-US" sz="850" b="1" spc="50">
                <a:solidFill>
                  <a:srgbClr val="BAC6DA"/>
                </a:solidFill>
                <a:latin typeface="Consolas"/>
              </a:rPr>
              <a:t>(</a:t>
            </a:r>
            <a:r>
              <a:rPr sz="850" b="1" spc="50">
                <a:solidFill>
                  <a:srgbClr val="BAC6DA"/>
                </a:solidFill>
                <a:latin typeface="Consolas"/>
              </a:rPr>
              <a:t>Ω</a:t>
            </a:r>
            <a:r>
              <a:rPr lang="en-US" sz="850" b="1" spc="50">
                <a:solidFill>
                  <a:srgbClr val="BAC6DA"/>
                </a:solidFill>
                <a:latin typeface="Consolas"/>
              </a:rPr>
              <a:t>)</a:t>
            </a:r>
            <a:endParaRPr sz="850" b="1" spc="50">
              <a:solidFill>
                <a:srgbClr val="BAC6DA"/>
              </a:solidFill>
              <a:latin typeface="Consolas"/>
            </a:endParaRPr>
          </a:p>
        </p:txBody>
      </p:sp>
      <p:sp>
        <p:nvSpPr>
          <p:cNvPr id="14" name="!!bar_om"/>
          <p:cNvSpPr/>
          <p:nvPr/>
        </p:nvSpPr>
        <p:spPr>
          <a:xfrm>
            <a:off x="4956048" y="1265529"/>
            <a:ext cx="45720" cy="285292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6E5220"/>
              </a:gs>
              <a:gs pos="100000">
                <a:srgbClr val="6E5220">
                  <a:alpha val="35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nschrift SemiLight"/>
            </a:endParaRPr>
          </a:p>
        </p:txBody>
      </p:sp>
      <p:sp>
        <p:nvSpPr>
          <p:cNvPr id="15" name="!!cart"/>
          <p:cNvSpPr/>
          <p:nvPr/>
        </p:nvSpPr>
        <p:spPr>
          <a:xfrm>
            <a:off x="2798064" y="2011680"/>
            <a:ext cx="1700784" cy="512064"/>
          </a:xfrm>
          <a:prstGeom prst="roundRect">
            <a:avLst>
              <a:gd name="adj" fmla="val 11000"/>
            </a:avLst>
          </a:prstGeom>
          <a:solidFill>
            <a:srgbClr val="0B1426"/>
          </a:solidFill>
          <a:ln w="12700">
            <a:solidFill>
              <a:srgbClr val="1C2B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38328" tIns="0" rIns="128016" bIns="0" rtlCol="0" anchor="ctr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50">
                <a:solidFill>
                  <a:srgbClr val="BAC6DA"/>
                </a:solidFill>
                <a:latin typeface="Consolas"/>
              </a:rPr>
              <a:t>CARTEIRA  BL</a:t>
            </a:r>
          </a:p>
        </p:txBody>
      </p:sp>
      <p:sp>
        <p:nvSpPr>
          <p:cNvPr id="16" name="!!bar_cart"/>
          <p:cNvSpPr/>
          <p:nvPr/>
        </p:nvSpPr>
        <p:spPr>
          <a:xfrm>
            <a:off x="2980944" y="2134575"/>
            <a:ext cx="45720" cy="266273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1E5C52"/>
              </a:gs>
              <a:gs pos="100000">
                <a:srgbClr val="1E5C52">
                  <a:alpha val="35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nschrift SemiLight"/>
            </a:endParaRPr>
          </a:p>
        </p:txBody>
      </p:sp>
      <p:sp>
        <p:nvSpPr>
          <p:cNvPr id="17" name="!!op_mais"/>
          <p:cNvSpPr/>
          <p:nvPr/>
        </p:nvSpPr>
        <p:spPr>
          <a:xfrm>
            <a:off x="2560320" y="1307592"/>
            <a:ext cx="201168" cy="201168"/>
          </a:xfrm>
          <a:prstGeom prst="ellipse">
            <a:avLst/>
          </a:prstGeom>
          <a:solidFill>
            <a:srgbClr val="080D18"/>
          </a:solidFill>
          <a:ln w="9525">
            <a:solidFill>
              <a:srgbClr val="1C2B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395B5"/>
                </a:solidFill>
                <a:latin typeface="Bahnschrift"/>
              </a:rPr>
              <a:t>+</a:t>
            </a:r>
          </a:p>
        </p:txBody>
      </p:sp>
      <p:sp>
        <p:nvSpPr>
          <p:cNvPr id="18" name="!!op_vezes"/>
          <p:cNvSpPr/>
          <p:nvPr/>
        </p:nvSpPr>
        <p:spPr>
          <a:xfrm>
            <a:off x="4535424" y="1307592"/>
            <a:ext cx="201168" cy="201168"/>
          </a:xfrm>
          <a:prstGeom prst="ellipse">
            <a:avLst/>
          </a:prstGeom>
          <a:solidFill>
            <a:srgbClr val="080D18"/>
          </a:solidFill>
          <a:ln w="9525">
            <a:solidFill>
              <a:srgbClr val="1C2B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395B5"/>
                </a:solidFill>
                <a:latin typeface="Bahnschrift"/>
              </a:rPr>
              <a:t>×</a:t>
            </a:r>
          </a:p>
        </p:txBody>
      </p:sp>
      <p:sp>
        <p:nvSpPr>
          <p:cNvPr id="19" name="!!chave"/>
          <p:cNvSpPr/>
          <p:nvPr/>
        </p:nvSpPr>
        <p:spPr>
          <a:xfrm rot="5400000">
            <a:off x="3577132" y="-980236"/>
            <a:ext cx="142646" cy="5650992"/>
          </a:xfrm>
          <a:prstGeom prst="rightBrace">
            <a:avLst>
              <a:gd name="adj1" fmla="val 30000"/>
              <a:gd name="adj2" fmla="val 50000"/>
            </a:avLst>
          </a:prstGeom>
          <a:noFill/>
          <a:ln w="15875">
            <a:solidFill>
              <a:srgbClr val="4760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nschrift SemiLight"/>
            </a:endParaRPr>
          </a:p>
        </p:txBody>
      </p:sp>
      <p:cxnSp>
        <p:nvCxnSpPr>
          <p:cNvPr id="20" name="!!seta_cart"/>
          <p:cNvCxnSpPr/>
          <p:nvPr/>
        </p:nvCxnSpPr>
        <p:spPr>
          <a:xfrm>
            <a:off x="3648456" y="1916582"/>
            <a:ext cx="0" cy="76810"/>
          </a:xfrm>
          <a:prstGeom prst="line">
            <a:avLst/>
          </a:prstGeom>
          <a:ln w="15875">
            <a:solidFill>
              <a:srgbClr val="47608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s6_19"/>
          <p:cNvSpPr txBox="1"/>
          <p:nvPr/>
        </p:nvSpPr>
        <p:spPr>
          <a:xfrm>
            <a:off x="822960" y="859536"/>
            <a:ext cx="54864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00">
                <a:solidFill>
                  <a:srgbClr val="8395B5"/>
                </a:solidFill>
                <a:latin typeface="Consolas"/>
              </a:rPr>
              <a:t>CAMADA ESTRUTURAL  ·  LÊ O NÍVEL</a:t>
            </a:r>
          </a:p>
        </p:txBody>
      </p:sp>
      <p:sp>
        <p:nvSpPr>
          <p:cNvPr id="22" name="!!tat"/>
          <p:cNvSpPr/>
          <p:nvPr/>
        </p:nvSpPr>
        <p:spPr>
          <a:xfrm>
            <a:off x="822960" y="2798064"/>
            <a:ext cx="5650992" cy="658368"/>
          </a:xfrm>
          <a:prstGeom prst="roundRect">
            <a:avLst>
              <a:gd name="adj" fmla="val 11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12700">
            <a:solidFill>
              <a:srgbClr val="FFB531"/>
            </a:solidFill>
          </a:ln>
          <a:effectLst>
            <a:glow rad="110000">
              <a:srgbClr val="FFB531">
                <a:alpha val="26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0" rIns="109728" bIns="0" rtlCol="0" anchor="ctr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30">
                <a:solidFill>
                  <a:srgbClr val="FFB531"/>
                </a:solidFill>
                <a:latin typeface="Bahnschrift SemiBold"/>
              </a:rPr>
              <a:t>CAMADA TÁTICA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>
                <a:solidFill>
                  <a:srgbClr val="BAC6DA"/>
                </a:solidFill>
                <a:latin typeface="Bahnschrift"/>
              </a:rPr>
              <a:t>lê o movimento da probabilidade</a:t>
            </a:r>
          </a:p>
        </p:txBody>
      </p:sp>
      <p:sp>
        <p:nvSpPr>
          <p:cNvPr id="23" name="!!tat_bar"/>
          <p:cNvSpPr/>
          <p:nvPr/>
        </p:nvSpPr>
        <p:spPr>
          <a:xfrm>
            <a:off x="1042416" y="2956072"/>
            <a:ext cx="77724" cy="342351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FB531"/>
              </a:gs>
              <a:gs pos="100000">
                <a:srgbClr val="FFB531">
                  <a:alpha val="35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nschrift SemiLight"/>
            </a:endParaRPr>
          </a:p>
        </p:txBody>
      </p:sp>
      <p:sp>
        <p:nvSpPr>
          <p:cNvPr id="24" name="!!teto"/>
          <p:cNvSpPr/>
          <p:nvPr/>
        </p:nvSpPr>
        <p:spPr>
          <a:xfrm>
            <a:off x="7223760" y="2048256"/>
            <a:ext cx="1874519" cy="786384"/>
          </a:xfrm>
          <a:prstGeom prst="roundRect">
            <a:avLst>
              <a:gd name="adj" fmla="val 11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12700">
            <a:solidFill>
              <a:srgbClr val="FFB531"/>
            </a:solidFill>
          </a:ln>
          <a:effectLst>
            <a:glow rad="110000">
              <a:srgbClr val="FFB531">
                <a:alpha val="26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4048" tIns="0" rIns="109728" bIns="0" rtlCol="0" anchor="ctr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80">
                <a:solidFill>
                  <a:srgbClr val="FFB531"/>
                </a:solidFill>
                <a:latin typeface="Bahnschrift SemiBold"/>
              </a:rPr>
              <a:t>TETO DE RISCO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850" b="0">
                <a:solidFill>
                  <a:srgbClr val="BAC6DA"/>
                </a:solidFill>
                <a:latin typeface="Bahnschrift"/>
              </a:rPr>
              <a:t>divide o espaço entre as duas</a:t>
            </a:r>
          </a:p>
        </p:txBody>
      </p:sp>
      <p:sp>
        <p:nvSpPr>
          <p:cNvPr id="25" name="!!teto_bar"/>
          <p:cNvSpPr/>
          <p:nvPr/>
        </p:nvSpPr>
        <p:spPr>
          <a:xfrm>
            <a:off x="7443216" y="2236988"/>
            <a:ext cx="77724" cy="408919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FB531"/>
              </a:gs>
              <a:gs pos="100000">
                <a:srgbClr val="FFB531">
                  <a:alpha val="35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nschrift SemiLight"/>
            </a:endParaRPr>
          </a:p>
        </p:txBody>
      </p:sp>
      <p:sp>
        <p:nvSpPr>
          <p:cNvPr id="26" name="!!final"/>
          <p:cNvSpPr/>
          <p:nvPr/>
        </p:nvSpPr>
        <p:spPr>
          <a:xfrm>
            <a:off x="9491472" y="2048256"/>
            <a:ext cx="1874519" cy="786384"/>
          </a:xfrm>
          <a:prstGeom prst="roundRect">
            <a:avLst>
              <a:gd name="adj" fmla="val 11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12700">
            <a:solidFill>
              <a:srgbClr val="2FD3B0"/>
            </a:solidFill>
          </a:ln>
          <a:effectLst>
            <a:glow rad="110000">
              <a:srgbClr val="2FD3B0">
                <a:alpha val="26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4048" tIns="0" rIns="109728" bIns="0" rtlCol="0" anchor="ctr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80">
                <a:solidFill>
                  <a:srgbClr val="2FD3B0"/>
                </a:solidFill>
                <a:latin typeface="Bahnschrift SemiBold"/>
              </a:rPr>
              <a:t>CARTEIRA DO DIA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850" b="0">
                <a:solidFill>
                  <a:srgbClr val="BAC6DA"/>
                </a:solidFill>
                <a:latin typeface="Bahnschrift"/>
              </a:rPr>
              <a:t>9 ETFs, uma alocação só</a:t>
            </a:r>
          </a:p>
        </p:txBody>
      </p:sp>
      <p:sp>
        <p:nvSpPr>
          <p:cNvPr id="27" name="!!final_bar"/>
          <p:cNvSpPr/>
          <p:nvPr/>
        </p:nvSpPr>
        <p:spPr>
          <a:xfrm>
            <a:off x="9710928" y="2236988"/>
            <a:ext cx="77724" cy="408919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FD3B0"/>
              </a:gs>
              <a:gs pos="100000">
                <a:srgbClr val="2FD3B0">
                  <a:alpha val="35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nschrift SemiLight"/>
            </a:endParaRPr>
          </a:p>
        </p:txBody>
      </p:sp>
      <p:cxnSp>
        <p:nvCxnSpPr>
          <p:cNvPr id="28" name="s6_26"/>
          <p:cNvCxnSpPr/>
          <p:nvPr/>
        </p:nvCxnSpPr>
        <p:spPr>
          <a:xfrm>
            <a:off x="4498848" y="2267712"/>
            <a:ext cx="2724912" cy="173736"/>
          </a:xfrm>
          <a:prstGeom prst="curvedConnector3">
            <a:avLst/>
          </a:prstGeom>
          <a:ln w="15875">
            <a:solidFill>
              <a:srgbClr val="BAC6D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6_27"/>
          <p:cNvCxnSpPr/>
          <p:nvPr/>
        </p:nvCxnSpPr>
        <p:spPr>
          <a:xfrm flipV="1">
            <a:off x="6473952" y="2441448"/>
            <a:ext cx="749808" cy="685800"/>
          </a:xfrm>
          <a:prstGeom prst="curvedConnector3">
            <a:avLst/>
          </a:prstGeom>
          <a:ln w="15875">
            <a:solidFill>
              <a:srgbClr val="BAC6D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6_28"/>
          <p:cNvCxnSpPr/>
          <p:nvPr/>
        </p:nvCxnSpPr>
        <p:spPr>
          <a:xfrm>
            <a:off x="9098280" y="2441448"/>
            <a:ext cx="356616" cy="0"/>
          </a:xfrm>
          <a:prstGeom prst="line">
            <a:avLst/>
          </a:prstGeom>
          <a:ln w="15875">
            <a:solidFill>
              <a:srgbClr val="BAC6D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s6_29"/>
          <p:cNvSpPr txBox="1"/>
          <p:nvPr/>
        </p:nvSpPr>
        <p:spPr>
          <a:xfrm>
            <a:off x="822960" y="4041648"/>
            <a:ext cx="39319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100">
                <a:solidFill>
                  <a:srgbClr val="FFB531"/>
                </a:solidFill>
                <a:latin typeface="Consolas"/>
              </a:rPr>
              <a:t>O QUE A CAMADA TÁTICA NEGOCIA</a:t>
            </a:r>
          </a:p>
        </p:txBody>
      </p:sp>
      <p:sp>
        <p:nvSpPr>
          <p:cNvPr id="32" name="s6_30"/>
          <p:cNvSpPr txBox="1"/>
          <p:nvPr/>
        </p:nvSpPr>
        <p:spPr>
          <a:xfrm>
            <a:off x="1005840" y="4352544"/>
            <a:ext cx="3931920" cy="7462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1150" b="0">
                <a:solidFill>
                  <a:srgbClr val="F5F7FB"/>
                </a:solidFill>
                <a:latin typeface="Bahnschrift SemiBold"/>
              </a:rPr>
              <a:t>Se prepara para mudanças rápidas </a:t>
            </a:r>
            <a:endParaRPr sz="1150" b="0">
              <a:solidFill>
                <a:srgbClr val="BAC6DA"/>
              </a:solidFill>
              <a:latin typeface="Bahnschrift SemiLight"/>
            </a:endParaRPr>
          </a:p>
          <a:p>
            <a:pPr algn="l">
              <a:lnSpc>
                <a:spcPct val="126000"/>
              </a:lnSpc>
              <a:spcBef>
                <a:spcPts val="800"/>
              </a:spcBef>
              <a:spcAft>
                <a:spcPts val="0"/>
              </a:spcAft>
            </a:pPr>
            <a:r>
              <a:rPr sz="1150" b="0" err="1">
                <a:solidFill>
                  <a:srgbClr val="F5F7FB"/>
                </a:solidFill>
                <a:latin typeface="Bahnschrift SemiBold"/>
              </a:rPr>
              <a:t>Maioria</a:t>
            </a:r>
            <a:r>
              <a:rPr sz="1150" b="0">
                <a:solidFill>
                  <a:srgbClr val="F5F7FB"/>
                </a:solidFill>
                <a:latin typeface="Bahnschrift SemiBold"/>
              </a:rPr>
              <a:t> </a:t>
            </a:r>
            <a:r>
              <a:rPr sz="1150" b="0" err="1">
                <a:solidFill>
                  <a:srgbClr val="F5F7FB"/>
                </a:solidFill>
                <a:latin typeface="Bahnschrift SemiBold"/>
              </a:rPr>
              <a:t>na</a:t>
            </a:r>
            <a:r>
              <a:rPr sz="1150" b="0">
                <a:solidFill>
                  <a:srgbClr val="F5F7FB"/>
                </a:solidFill>
                <a:latin typeface="Bahnschrift SemiBold"/>
              </a:rPr>
              <a:t> Câmara. </a:t>
            </a:r>
            <a:r>
              <a:rPr sz="1150" b="0">
                <a:solidFill>
                  <a:srgbClr val="BAC6DA"/>
                </a:solidFill>
                <a:latin typeface="Bahnschrift SemiLight"/>
              </a:rPr>
              <a:t> </a:t>
            </a:r>
            <a:r>
              <a:rPr lang="pt-BR" sz="1150" b="0">
                <a:solidFill>
                  <a:srgbClr val="BAC6DA"/>
                </a:solidFill>
                <a:latin typeface="Bahnschrift SemiLight"/>
              </a:rPr>
              <a:t>A mesma compra e venda de setores, agora seguindo a aposta eleitoral.</a:t>
            </a:r>
          </a:p>
        </p:txBody>
      </p:sp>
      <p:sp>
        <p:nvSpPr>
          <p:cNvPr id="33" name="s6_31"/>
          <p:cNvSpPr txBox="1"/>
          <p:nvPr/>
        </p:nvSpPr>
        <p:spPr>
          <a:xfrm>
            <a:off x="5120640" y="4041648"/>
            <a:ext cx="30175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100">
                <a:solidFill>
                  <a:srgbClr val="FFB531"/>
                </a:solidFill>
                <a:latin typeface="Consolas"/>
              </a:rPr>
              <a:t>ABRIL DE 2025</a:t>
            </a:r>
          </a:p>
        </p:txBody>
      </p:sp>
      <p:sp>
        <p:nvSpPr>
          <p:cNvPr id="34" name="s6_32"/>
          <p:cNvSpPr/>
          <p:nvPr/>
        </p:nvSpPr>
        <p:spPr>
          <a:xfrm>
            <a:off x="5120640" y="4389120"/>
            <a:ext cx="45720" cy="1389888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FB531"/>
              </a:gs>
              <a:gs pos="100000">
                <a:srgbClr val="FFB531">
                  <a:alpha val="35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nschrift SemiLight"/>
            </a:endParaRPr>
          </a:p>
        </p:txBody>
      </p:sp>
      <p:sp>
        <p:nvSpPr>
          <p:cNvPr id="35" name="s6_33"/>
          <p:cNvSpPr txBox="1"/>
          <p:nvPr/>
        </p:nvSpPr>
        <p:spPr>
          <a:xfrm>
            <a:off x="5340096" y="4352544"/>
            <a:ext cx="2798063" cy="147476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5F7FB"/>
                </a:solidFill>
                <a:latin typeface="Bahnschrift SemiBold"/>
              </a:rPr>
              <a:t>De 37% para 65% </a:t>
            </a:r>
            <a:r>
              <a:rPr lang="pt-BR" sz="1150" b="0">
                <a:solidFill>
                  <a:srgbClr val="F5F7FB"/>
                </a:solidFill>
                <a:latin typeface="Bahnschrift SemiBold"/>
              </a:rPr>
              <a:t>em</a:t>
            </a:r>
            <a:r>
              <a:rPr sz="1150" b="0">
                <a:solidFill>
                  <a:srgbClr val="F5F7FB"/>
                </a:solidFill>
                <a:latin typeface="Bahnschrift SemiBold"/>
              </a:rPr>
              <a:t> </a:t>
            </a:r>
            <a:r>
              <a:rPr lang="pt-BR" sz="1150" b="0">
                <a:solidFill>
                  <a:srgbClr val="F5F7FB"/>
                </a:solidFill>
                <a:latin typeface="Bahnschrift SemiBold"/>
              </a:rPr>
              <a:t>uma</a:t>
            </a:r>
            <a:r>
              <a:rPr sz="1150" b="0">
                <a:solidFill>
                  <a:srgbClr val="F5F7FB"/>
                </a:solidFill>
                <a:latin typeface="Bahnschrift SemiBold"/>
              </a:rPr>
              <a:t> </a:t>
            </a:r>
            <a:r>
              <a:rPr lang="pt-BR" sz="1150" b="0">
                <a:solidFill>
                  <a:srgbClr val="F5F7FB"/>
                </a:solidFill>
                <a:latin typeface="Bahnschrift SemiBold"/>
              </a:rPr>
              <a:t>semana</a:t>
            </a:r>
            <a:r>
              <a:rPr sz="1150" b="0">
                <a:solidFill>
                  <a:srgbClr val="F5F7FB"/>
                </a:solidFill>
                <a:latin typeface="Bahnschrift SemiBold"/>
              </a:rPr>
              <a:t>. </a:t>
            </a:r>
            <a:r>
              <a:rPr sz="1150" b="0">
                <a:solidFill>
                  <a:srgbClr val="BAC6DA"/>
                </a:solidFill>
                <a:latin typeface="Bahnschrift SemiLight"/>
              </a:rPr>
              <a:t> É o </a:t>
            </a:r>
            <a:r>
              <a:rPr lang="pt-BR" sz="1150" b="0">
                <a:solidFill>
                  <a:srgbClr val="BAC6DA"/>
                </a:solidFill>
                <a:latin typeface="Bahnschrift SemiLight"/>
              </a:rPr>
              <a:t>salto</a:t>
            </a:r>
            <a:r>
              <a:rPr sz="1150" b="0">
                <a:solidFill>
                  <a:srgbClr val="BAC6DA"/>
                </a:solidFill>
                <a:latin typeface="Bahnschrift SemiLight"/>
              </a:rPr>
              <a:t> da chance de </a:t>
            </a:r>
            <a:r>
              <a:rPr lang="pt-BR" sz="1150" b="0">
                <a:solidFill>
                  <a:srgbClr val="BAC6DA"/>
                </a:solidFill>
                <a:latin typeface="Bahnschrift SemiLight"/>
              </a:rPr>
              <a:t>recessão</a:t>
            </a:r>
            <a:r>
              <a:rPr sz="1150" b="0">
                <a:solidFill>
                  <a:srgbClr val="BAC6DA"/>
                </a:solidFill>
                <a:latin typeface="Bahnschrift SemiLight"/>
              </a:rPr>
              <a:t> no </a:t>
            </a:r>
            <a:r>
              <a:rPr lang="pt-BR" sz="1150" b="0" err="1">
                <a:solidFill>
                  <a:srgbClr val="BAC6DA"/>
                </a:solidFill>
                <a:latin typeface="Bahnschrift SemiLight"/>
              </a:rPr>
              <a:t>Polymarket</a:t>
            </a:r>
            <a:r>
              <a:rPr sz="1150" b="0">
                <a:solidFill>
                  <a:srgbClr val="BAC6DA"/>
                </a:solidFill>
                <a:latin typeface="Bahnschrift SemiLight"/>
              </a:rPr>
              <a:t>.</a:t>
            </a:r>
          </a:p>
          <a:p>
            <a:pPr>
              <a:lnSpc>
                <a:spcPct val="130000"/>
              </a:lnSpc>
              <a:spcBef>
                <a:spcPts val="900"/>
              </a:spcBef>
            </a:pPr>
            <a:r>
              <a:rPr sz="1150" b="0">
                <a:solidFill>
                  <a:srgbClr val="F5F7FB"/>
                </a:solidFill>
                <a:latin typeface="Bahnschrift SemiBold"/>
              </a:rPr>
              <a:t>Compra o </a:t>
            </a:r>
            <a:r>
              <a:rPr sz="1150" b="0" err="1">
                <a:solidFill>
                  <a:srgbClr val="F5F7FB"/>
                </a:solidFill>
                <a:latin typeface="Bahnschrift SemiBold"/>
              </a:rPr>
              <a:t>defensivo</a:t>
            </a:r>
            <a:r>
              <a:rPr sz="1150" b="0">
                <a:solidFill>
                  <a:srgbClr val="F5F7FB"/>
                </a:solidFill>
                <a:latin typeface="Bahnschrift SemiBold"/>
              </a:rPr>
              <a:t>, </a:t>
            </a:r>
            <a:r>
              <a:rPr sz="1150" b="0" err="1">
                <a:solidFill>
                  <a:srgbClr val="F5F7FB"/>
                </a:solidFill>
                <a:latin typeface="Bahnschrift SemiBold"/>
              </a:rPr>
              <a:t>vende</a:t>
            </a:r>
            <a:r>
              <a:rPr sz="1150" b="0">
                <a:solidFill>
                  <a:srgbClr val="F5F7FB"/>
                </a:solidFill>
                <a:latin typeface="Bahnschrift SemiBold"/>
              </a:rPr>
              <a:t> o </a:t>
            </a:r>
            <a:r>
              <a:rPr sz="1150" b="0" err="1">
                <a:solidFill>
                  <a:srgbClr val="F5F7FB"/>
                </a:solidFill>
                <a:latin typeface="Bahnschrift SemiBold"/>
              </a:rPr>
              <a:t>cíclico</a:t>
            </a:r>
            <a:r>
              <a:rPr sz="1150" b="0">
                <a:solidFill>
                  <a:srgbClr val="F5F7FB"/>
                </a:solidFill>
                <a:latin typeface="Bahnschrift SemiBold"/>
              </a:rPr>
              <a:t>. </a:t>
            </a:r>
            <a:r>
              <a:rPr sz="1150" b="0">
                <a:solidFill>
                  <a:srgbClr val="BAC6DA"/>
                </a:solidFill>
                <a:latin typeface="Bahnschrift SemiLight"/>
              </a:rPr>
              <a:t> No </a:t>
            </a:r>
            <a:r>
              <a:rPr sz="1150" b="0" err="1">
                <a:solidFill>
                  <a:srgbClr val="BAC6DA"/>
                </a:solidFill>
                <a:latin typeface="Bahnschrift SemiLight"/>
              </a:rPr>
              <a:t>dia</a:t>
            </a:r>
            <a:r>
              <a:rPr sz="1150" b="0">
                <a:solidFill>
                  <a:srgbClr val="BAC6DA"/>
                </a:solidFill>
                <a:latin typeface="Bahnschrift SemiLight"/>
              </a:rPr>
              <a:t> 3 de </a:t>
            </a:r>
            <a:r>
              <a:rPr sz="1150" b="0" err="1">
                <a:solidFill>
                  <a:srgbClr val="BAC6DA"/>
                </a:solidFill>
                <a:latin typeface="Bahnschrift SemiLight"/>
              </a:rPr>
              <a:t>abril</a:t>
            </a:r>
            <a:r>
              <a:rPr sz="1150" b="0">
                <a:solidFill>
                  <a:srgbClr val="BAC6DA"/>
                </a:solidFill>
                <a:latin typeface="Bahnschrift SemiLight"/>
              </a:rPr>
              <a:t> a </a:t>
            </a:r>
            <a:r>
              <a:rPr sz="1150" b="0" err="1">
                <a:solidFill>
                  <a:srgbClr val="BAC6DA"/>
                </a:solidFill>
                <a:latin typeface="Bahnschrift SemiLight"/>
              </a:rPr>
              <a:t>bolsa</a:t>
            </a:r>
            <a:r>
              <a:rPr sz="1150" b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150" b="0" err="1">
                <a:solidFill>
                  <a:srgbClr val="BAC6DA"/>
                </a:solidFill>
                <a:latin typeface="Bahnschrift SemiLight"/>
              </a:rPr>
              <a:t>cai</a:t>
            </a:r>
            <a:r>
              <a:rPr sz="1150" b="0">
                <a:solidFill>
                  <a:srgbClr val="BAC6DA"/>
                </a:solidFill>
                <a:latin typeface="Bahnschrift SemiLight"/>
              </a:rPr>
              <a:t> 5%</a:t>
            </a:r>
            <a:r>
              <a:rPr lang="en-US" sz="1150">
                <a:solidFill>
                  <a:srgbClr val="BAC6DA"/>
                </a:solidFill>
                <a:latin typeface="Bahnschrift SemiLight"/>
              </a:rPr>
              <a:t> </a:t>
            </a:r>
            <a:r>
              <a:rPr sz="1150" b="0">
                <a:solidFill>
                  <a:srgbClr val="BAC6DA"/>
                </a:solidFill>
                <a:latin typeface="Bahnschrift SemiLight"/>
              </a:rPr>
              <a:t>e a </a:t>
            </a:r>
            <a:r>
              <a:rPr sz="1150" b="0" err="1">
                <a:solidFill>
                  <a:srgbClr val="BAC6DA"/>
                </a:solidFill>
                <a:latin typeface="Bahnschrift SemiLight"/>
              </a:rPr>
              <a:t>camada</a:t>
            </a:r>
            <a:r>
              <a:rPr sz="1150" b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150" b="0" err="1">
                <a:solidFill>
                  <a:srgbClr val="BAC6DA"/>
                </a:solidFill>
                <a:latin typeface="Bahnschrift SemiLight"/>
              </a:rPr>
              <a:t>ganha</a:t>
            </a:r>
            <a:r>
              <a:rPr sz="1150" b="0">
                <a:solidFill>
                  <a:srgbClr val="BAC6DA"/>
                </a:solidFill>
                <a:latin typeface="Bahnschrift SemiLight"/>
              </a:rPr>
              <a:t>.</a:t>
            </a:r>
            <a:endParaRPr sz="1150" b="0">
              <a:solidFill>
                <a:srgbClr val="BAC6DA"/>
              </a:solidFill>
              <a:latin typeface="Bahnschrift SemiLight"/>
              <a:cs typeface="Bahnschrift SemiLight"/>
            </a:endParaRPr>
          </a:p>
        </p:txBody>
      </p:sp>
      <p:sp>
        <p:nvSpPr>
          <p:cNvPr id="36" name="s6_34"/>
          <p:cNvSpPr txBox="1"/>
          <p:nvPr/>
        </p:nvSpPr>
        <p:spPr>
          <a:xfrm>
            <a:off x="8503920" y="4041648"/>
            <a:ext cx="2862072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100">
                <a:solidFill>
                  <a:srgbClr val="FFB531"/>
                </a:solidFill>
                <a:latin typeface="Consolas"/>
              </a:rPr>
              <a:t>O TETO DE RISCO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s6_35"/>
              <p:cNvSpPr txBox="1"/>
              <p:nvPr/>
            </p:nvSpPr>
            <p:spPr>
              <a:xfrm>
                <a:off x="8503920" y="4297680"/>
                <a:ext cx="2862072" cy="276999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14:m>
                  <m:oMathPara xmlns:m="http://schemas.openxmlformats.org/officeDocument/2006/math">
                    <m:oMath>
                      <m:r>
                        <a:rPr lang="pt-BR" b="1" i="0" dirty="0" smtClean="0">
                          <a:solidFill>
                            <a:srgbClr val="FFB531"/>
                          </a:solidFill>
                          <a:latin typeface="Cambria Math" panose="02040503050406030204" pitchFamily="18" charset="0"/>
                        </a:rPr>
                        <m:t>𝚺</m:t>
                      </m:r>
                      <m:r>
                        <a:rPr lang="pt-BR" b="1" i="1" dirty="0">
                          <a:solidFill>
                            <a:srgbClr val="FFB531"/>
                          </a:solidFill>
                          <a:latin typeface="Cambria Math" panose="02040503050406030204" pitchFamily="18" charset="0"/>
                        </a:rPr>
                        <m:t> | </m:t>
                      </m:r>
                      <m:r>
                        <a:rPr lang="pt-BR" b="1" i="1" dirty="0">
                          <a:solidFill>
                            <a:srgbClr val="FFB531"/>
                          </a:solidFill>
                          <a:latin typeface="Cambria Math" panose="02040503050406030204" pitchFamily="18" charset="0"/>
                        </a:rPr>
                        <m:t>𝒘</m:t>
                      </m:r>
                      <m:r>
                        <a:rPr lang="pt-BR" b="1" i="1" dirty="0">
                          <a:solidFill>
                            <a:srgbClr val="FFB531"/>
                          </a:solidFill>
                          <a:latin typeface="Cambria Math" panose="02040503050406030204" pitchFamily="18" charset="0"/>
                        </a:rPr>
                        <m:t> − </m:t>
                      </m:r>
                      <m:r>
                        <a:rPr lang="pt-BR" b="1" i="1" dirty="0" err="1">
                          <a:solidFill>
                            <a:srgbClr val="FFB531"/>
                          </a:solidFill>
                          <a:latin typeface="Cambria Math" panose="02040503050406030204" pitchFamily="18" charset="0"/>
                        </a:rPr>
                        <m:t>𝒘</m:t>
                      </m:r>
                      <m:r>
                        <a:rPr lang="pt-BR" b="1" i="1" dirty="0" err="1">
                          <a:solidFill>
                            <a:srgbClr val="FFB531"/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pt-BR" b="1" i="1" dirty="0" err="1">
                          <a:solidFill>
                            <a:srgbClr val="FFB531"/>
                          </a:solidFill>
                          <a:latin typeface="Cambria Math" panose="02040503050406030204" pitchFamily="18" charset="0"/>
                        </a:rPr>
                        <m:t>𝒎𝒌𝒕</m:t>
                      </m:r>
                      <m:r>
                        <a:rPr lang="pt-BR" b="1" i="1" dirty="0">
                          <a:solidFill>
                            <a:srgbClr val="FFB531"/>
                          </a:solidFill>
                          <a:latin typeface="Cambria Math" panose="02040503050406030204" pitchFamily="18" charset="0"/>
                        </a:rPr>
                        <m:t> |  ≤  </m:t>
                      </m:r>
                      <m:r>
                        <a:rPr lang="pt-BR" b="1" i="1" dirty="0">
                          <a:solidFill>
                            <a:srgbClr val="FFB531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pt-BR">
                  <a:latin typeface="Bahnschrift SemiLight"/>
                </a:endParaRPr>
              </a:p>
            </p:txBody>
          </p:sp>
        </mc:Choice>
        <mc:Fallback xmlns="">
          <p:sp>
            <p:nvSpPr>
              <p:cNvPr id="37" name="s6_3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3920" y="4297680"/>
                <a:ext cx="2862072" cy="276999"/>
              </a:xfrm>
              <a:prstGeom prst="rect">
                <a:avLst/>
              </a:prstGeom>
              <a:blipFill>
                <a:blip r:embed="rId3"/>
                <a:stretch>
                  <a:fillRect t="-26667" b="-5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s6_36"/>
          <p:cNvSpPr txBox="1"/>
          <p:nvPr/>
        </p:nvSpPr>
        <p:spPr>
          <a:xfrm>
            <a:off x="8503920" y="4773168"/>
            <a:ext cx="2862072" cy="4390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900"/>
              </a:spcBef>
              <a:spcAft>
                <a:spcPts val="0"/>
              </a:spcAft>
            </a:pPr>
            <a:r>
              <a:rPr sz="1150" b="0">
                <a:solidFill>
                  <a:srgbClr val="F5F7FB"/>
                </a:solidFill>
                <a:latin typeface="Bahnschrift SemiBold"/>
              </a:rPr>
              <a:t>O Ω </a:t>
            </a:r>
            <a:r>
              <a:rPr lang="pt-BR" sz="1150" b="0" err="1">
                <a:solidFill>
                  <a:srgbClr val="F5F7FB"/>
                </a:solidFill>
                <a:latin typeface="Bahnschrift SemiBold"/>
              </a:rPr>
              <a:t>diz</a:t>
            </a:r>
            <a:r>
              <a:rPr sz="1150" b="0">
                <a:solidFill>
                  <a:srgbClr val="F5F7FB"/>
                </a:solidFill>
                <a:latin typeface="Bahnschrift SemiBold"/>
              </a:rPr>
              <a:t> quanta </a:t>
            </a:r>
            <a:r>
              <a:rPr lang="pt-BR" sz="1150" b="0" err="1">
                <a:solidFill>
                  <a:srgbClr val="F5F7FB"/>
                </a:solidFill>
                <a:latin typeface="Bahnschrift SemiBold"/>
              </a:rPr>
              <a:t>confiança</a:t>
            </a:r>
            <a:r>
              <a:rPr sz="1150" b="0">
                <a:solidFill>
                  <a:srgbClr val="F5F7FB"/>
                </a:solidFill>
                <a:latin typeface="Bahnschrift SemiBold"/>
              </a:rPr>
              <a:t>;</a:t>
            </a:r>
            <a:r>
              <a:rPr sz="1150" b="0">
                <a:solidFill>
                  <a:srgbClr val="BAC6DA"/>
                </a:solidFill>
                <a:latin typeface="Bahnschrift SemiLight"/>
              </a:rPr>
              <a:t> o </a:t>
            </a:r>
            <a:r>
              <a:rPr lang="pt-BR" sz="1150" b="0" err="1">
                <a:solidFill>
                  <a:srgbClr val="BAC6DA"/>
                </a:solidFill>
                <a:latin typeface="Bahnschrift SemiLight"/>
              </a:rPr>
              <a:t>teto</a:t>
            </a:r>
            <a:r>
              <a:rPr sz="1150" b="0">
                <a:solidFill>
                  <a:srgbClr val="BAC6DA"/>
                </a:solidFill>
                <a:latin typeface="Bahnschrift SemiLight"/>
              </a:rPr>
              <a:t> </a:t>
            </a:r>
            <a:r>
              <a:rPr lang="pt-BR" sz="1150" b="0" err="1">
                <a:solidFill>
                  <a:srgbClr val="BAC6DA"/>
                </a:solidFill>
                <a:latin typeface="Bahnschrift SemiLight"/>
              </a:rPr>
              <a:t>diz</a:t>
            </a:r>
            <a:r>
              <a:rPr sz="1150" b="0">
                <a:solidFill>
                  <a:srgbClr val="BAC6DA"/>
                </a:solidFill>
                <a:latin typeface="Bahnschrift SemiLight"/>
              </a:rPr>
              <a:t> </a:t>
            </a:r>
            <a:r>
              <a:rPr lang="pt-BR" sz="1150" b="0" err="1">
                <a:solidFill>
                  <a:srgbClr val="BAC6DA"/>
                </a:solidFill>
                <a:latin typeface="Bahnschrift SemiLight"/>
              </a:rPr>
              <a:t>quanto</a:t>
            </a:r>
            <a:r>
              <a:rPr sz="1150" b="0">
                <a:solidFill>
                  <a:srgbClr val="BAC6DA"/>
                </a:solidFill>
                <a:latin typeface="Bahnschrift SemiLight"/>
              </a:rPr>
              <a:t> </a:t>
            </a:r>
            <a:r>
              <a:rPr lang="pt-BR" sz="1150" b="0" err="1">
                <a:solidFill>
                  <a:srgbClr val="BAC6DA"/>
                </a:solidFill>
                <a:latin typeface="Bahnschrift SemiLight"/>
              </a:rPr>
              <a:t>espaço</a:t>
            </a:r>
            <a:r>
              <a:rPr sz="1150" b="0">
                <a:solidFill>
                  <a:srgbClr val="BAC6DA"/>
                </a:solidFill>
                <a:latin typeface="Bahnschrift SemiLight"/>
              </a:rPr>
              <a:t> </a:t>
            </a:r>
            <a:r>
              <a:rPr lang="pt-BR" sz="1150" b="0" err="1">
                <a:solidFill>
                  <a:srgbClr val="BAC6DA"/>
                </a:solidFill>
                <a:latin typeface="Bahnschrift SemiLight"/>
              </a:rPr>
              <a:t>cada</a:t>
            </a:r>
            <a:r>
              <a:rPr sz="1150" b="0">
                <a:solidFill>
                  <a:srgbClr val="BAC6DA"/>
                </a:solidFill>
                <a:latin typeface="Bahnschrift SemiLight"/>
              </a:rPr>
              <a:t> </a:t>
            </a:r>
            <a:r>
              <a:rPr lang="pt-BR" sz="1150" b="0" err="1">
                <a:solidFill>
                  <a:srgbClr val="BAC6DA"/>
                </a:solidFill>
                <a:latin typeface="Bahnschrift SemiLight"/>
              </a:rPr>
              <a:t>camada</a:t>
            </a:r>
            <a:r>
              <a:rPr sz="1150" b="0">
                <a:solidFill>
                  <a:srgbClr val="BAC6DA"/>
                </a:solidFill>
                <a:latin typeface="Bahnschrift SemiLight"/>
              </a:rPr>
              <a:t> </a:t>
            </a:r>
            <a:r>
              <a:rPr lang="pt-BR" sz="1150" b="0" err="1">
                <a:solidFill>
                  <a:srgbClr val="BAC6DA"/>
                </a:solidFill>
                <a:latin typeface="Bahnschrift SemiLight"/>
              </a:rPr>
              <a:t>ocupa</a:t>
            </a:r>
            <a:r>
              <a:rPr sz="1150" b="0">
                <a:solidFill>
                  <a:srgbClr val="BAC6DA"/>
                </a:solidFill>
                <a:latin typeface="Bahnschrift SemiLight"/>
              </a:rPr>
              <a:t>.</a:t>
            </a:r>
          </a:p>
        </p:txBody>
      </p:sp>
      <p:sp>
        <p:nvSpPr>
          <p:cNvPr id="45" name="s6_32">
            <a:extLst>
              <a:ext uri="{FF2B5EF4-FFF2-40B4-BE49-F238E27FC236}">
                <a16:creationId xmlns:a16="http://schemas.microsoft.com/office/drawing/2014/main" id="{C40C90AD-EF42-9A63-8D84-666CA8306616}"/>
              </a:ext>
            </a:extLst>
          </p:cNvPr>
          <p:cNvSpPr/>
          <p:nvPr/>
        </p:nvSpPr>
        <p:spPr>
          <a:xfrm>
            <a:off x="832104" y="4373128"/>
            <a:ext cx="45720" cy="1389888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FB531"/>
              </a:gs>
              <a:gs pos="100000">
                <a:srgbClr val="FFB531">
                  <a:alpha val="35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nschrift SemiLight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9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C463D1-FB9D-F9FF-810C-4260F19DD7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A61010C-A210-1F41-D3F5-2DC1DBD88FD2}"/>
              </a:ext>
            </a:extLst>
          </p:cNvPr>
          <p:cNvSpPr txBox="1"/>
          <p:nvPr/>
        </p:nvSpPr>
        <p:spPr>
          <a:xfrm>
            <a:off x="3234936" y="1663744"/>
            <a:ext cx="6566429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/>
              <a:t>SETUP de IA</a:t>
            </a:r>
          </a:p>
          <a:p>
            <a:r>
              <a:rPr lang="en-US"/>
              <a:t> - </a:t>
            </a:r>
            <a:r>
              <a:rPr lang="en-US" err="1"/>
              <a:t>Colocar</a:t>
            </a:r>
            <a:r>
              <a:rPr lang="en-US"/>
              <a:t> Segundo </a:t>
            </a:r>
            <a:r>
              <a:rPr lang="en-US" err="1"/>
              <a:t>cérebro</a:t>
            </a:r>
            <a:endParaRPr lang="en-US"/>
          </a:p>
          <a:p>
            <a:r>
              <a:rPr lang="en-US"/>
              <a:t> - </a:t>
            </a:r>
            <a:r>
              <a:rPr lang="en-US" err="1"/>
              <a:t>Mostrar</a:t>
            </a:r>
            <a:r>
              <a:rPr lang="en-US"/>
              <a:t> as </a:t>
            </a:r>
            <a:r>
              <a:rPr lang="en-US" err="1"/>
              <a:t>celulas</a:t>
            </a:r>
            <a:r>
              <a:rPr lang="en-US"/>
              <a:t> </a:t>
            </a:r>
            <a:r>
              <a:rPr lang="en-US" err="1"/>
              <a:t>ativando</a:t>
            </a:r>
            <a:r>
              <a:rPr lang="en-US"/>
              <a:t> com um prompt 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79868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2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30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3" name="!!ghost"/>
          <p:cNvSpPr txBox="1"/>
          <p:nvPr/>
        </p:nvSpPr>
        <p:spPr>
          <a:xfrm>
            <a:off x="6900000" y="-230000"/>
            <a:ext cx="4950000" cy="200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pt-BR" sz="15000" b="0" spc="0">
                <a:solidFill>
                  <a:srgbClr val="101A2E"/>
                </a:solidFill>
                <a:latin typeface="Bahnschrift SemiBold Condensed"/>
              </a:rPr>
              <a:t>07</a:t>
            </a:r>
          </a:p>
        </p:txBody>
      </p:sp>
      <p:sp>
        <p:nvSpPr>
          <p:cNvPr id="44" name="!!tick"/>
          <p:cNvSpPr/>
          <p:nvPr/>
        </p:nvSpPr>
        <p:spPr>
          <a:xfrm>
            <a:off x="69494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5" name="!!foot_l"/>
          <p:cNvSpPr txBox="1"/>
          <p:nvPr/>
        </p:nvSpPr>
        <p:spPr>
          <a:xfrm>
            <a:off x="822960" y="6653200"/>
            <a:ext cx="6000000" cy="16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pt-BR" sz="700" b="0" spc="120">
                <a:solidFill>
                  <a:srgbClr val="58698A"/>
                </a:solidFill>
                <a:latin typeface="Consolas"/>
              </a:rPr>
              <a:t>ITAÚ QUANT AI CHALLENGE  ·  SEMIFINAL 2026</a:t>
            </a:r>
          </a:p>
        </p:txBody>
      </p:sp>
      <p:sp>
        <p:nvSpPr>
          <p:cNvPr id="46" name="!!foot_r"/>
          <p:cNvSpPr txBox="1"/>
          <p:nvPr/>
        </p:nvSpPr>
        <p:spPr>
          <a:xfrm>
            <a:off x="5365992" y="6653200"/>
            <a:ext cx="6000000" cy="16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pt-BR" sz="700" b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sp>
        <p:nvSpPr>
          <p:cNvPr id="2" name="s7_0"/>
          <p:cNvSpPr txBox="1"/>
          <p:nvPr/>
        </p:nvSpPr>
        <p:spPr>
          <a:xfrm>
            <a:off x="822960" y="426720"/>
            <a:ext cx="8229600" cy="203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>
              <a:lnSpc>
                <a:spcPct val="125000"/>
              </a:lnSpc>
            </a:pPr>
            <a:r>
              <a:rPr sz="1200" b="1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spc="72">
                <a:solidFill>
                  <a:srgbClr val="8395B5"/>
                </a:solidFill>
                <a:latin typeface="Consolas"/>
              </a:rPr>
              <a:t>   </a:t>
            </a:r>
            <a:r>
              <a:rPr lang="pt-BR" sz="1100" b="0" spc="72">
                <a:solidFill>
                  <a:srgbClr val="8395B5"/>
                </a:solidFill>
                <a:latin typeface="Consolas"/>
              </a:rPr>
              <a:t>IA e Pesquisa</a:t>
            </a:r>
            <a:endParaRPr lang="pt-BR">
              <a:latin typeface="Bahnschrift SemiLight"/>
            </a:endParaRPr>
          </a:p>
        </p:txBody>
      </p:sp>
      <p:sp>
        <p:nvSpPr>
          <p:cNvPr id="3" name="s7_1"/>
          <p:cNvSpPr txBox="1"/>
          <p:nvPr/>
        </p:nvSpPr>
        <p:spPr>
          <a:xfrm>
            <a:off x="8988552" y="467359"/>
            <a:ext cx="2377440" cy="152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45">
                <a:solidFill>
                  <a:srgbClr val="8395B5"/>
                </a:solidFill>
                <a:latin typeface="Consolas"/>
              </a:rPr>
              <a:t>07</a:t>
            </a:r>
          </a:p>
        </p:txBody>
      </p:sp>
      <p:cxnSp>
        <p:nvCxnSpPr>
          <p:cNvPr id="4" name="s7_2"/>
          <p:cNvCxnSpPr/>
          <p:nvPr/>
        </p:nvCxnSpPr>
        <p:spPr>
          <a:xfrm>
            <a:off x="822960" y="704850"/>
            <a:ext cx="1054303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7_3"/>
          <p:cNvCxnSpPr/>
          <p:nvPr/>
        </p:nvCxnSpPr>
        <p:spPr>
          <a:xfrm>
            <a:off x="822960" y="6553200"/>
            <a:ext cx="1054303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7_5"/>
          <p:cNvCxnSpPr/>
          <p:nvPr/>
        </p:nvCxnSpPr>
        <p:spPr>
          <a:xfrm>
            <a:off x="6355080" y="896112"/>
            <a:ext cx="0" cy="530352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7_6"/>
          <p:cNvSpPr txBox="1"/>
          <p:nvPr/>
        </p:nvSpPr>
        <p:spPr>
          <a:xfrm>
            <a:off x="822960" y="859536"/>
            <a:ext cx="1278255" cy="168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50" b="1" spc="100">
                <a:solidFill>
                  <a:srgbClr val="FFB531"/>
                </a:solidFill>
                <a:latin typeface="Consolas"/>
              </a:rPr>
              <a:t>SEGUNDO CÉREBRO</a:t>
            </a:r>
            <a:endParaRPr sz="950" b="1" spc="100">
              <a:solidFill>
                <a:srgbClr val="FFB531"/>
              </a:solidFill>
              <a:latin typeface="Consolas"/>
            </a:endParaRPr>
          </a:p>
        </p:txBody>
      </p:sp>
      <p:sp>
        <p:nvSpPr>
          <p:cNvPr id="9" name="s7_7"/>
          <p:cNvSpPr txBox="1"/>
          <p:nvPr/>
        </p:nvSpPr>
        <p:spPr>
          <a:xfrm>
            <a:off x="694944" y="849088"/>
            <a:ext cx="54406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F5F7FB"/>
                </a:solidFill>
                <a:latin typeface="Bahnschrift SemiBold"/>
              </a:rPr>
              <a:t>200 </a:t>
            </a:r>
            <a:r>
              <a:rPr sz="950" b="0" err="1">
                <a:solidFill>
                  <a:srgbClr val="F5F7FB"/>
                </a:solidFill>
                <a:latin typeface="Bahnschrift SemiBold"/>
              </a:rPr>
              <a:t>arquivos</a:t>
            </a:r>
            <a:r>
              <a:rPr sz="950" b="0">
                <a:solidFill>
                  <a:srgbClr val="8395B5"/>
                </a:solidFill>
                <a:latin typeface="Bahnschrift"/>
              </a:rPr>
              <a:t>  ·  665 </a:t>
            </a:r>
            <a:r>
              <a:rPr sz="950" b="0" err="1">
                <a:solidFill>
                  <a:srgbClr val="8395B5"/>
                </a:solidFill>
                <a:latin typeface="Bahnschrift"/>
              </a:rPr>
              <a:t>ligações</a:t>
            </a:r>
            <a:endParaRPr sz="950" b="0">
              <a:solidFill>
                <a:srgbClr val="8395B5"/>
              </a:solidFill>
              <a:latin typeface="Bahnschrift"/>
            </a:endParaRPr>
          </a:p>
        </p:txBody>
      </p:sp>
      <p:sp>
        <p:nvSpPr>
          <p:cNvPr id="10" name="s7_8"/>
          <p:cNvSpPr/>
          <p:nvPr/>
        </p:nvSpPr>
        <p:spPr>
          <a:xfrm>
            <a:off x="822960" y="1129284"/>
            <a:ext cx="77724" cy="77724"/>
          </a:xfrm>
          <a:prstGeom prst="ellipse">
            <a:avLst/>
          </a:prstGeom>
          <a:solidFill>
            <a:srgbClr val="FFB5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nschrift SemiLight"/>
            </a:endParaRPr>
          </a:p>
        </p:txBody>
      </p:sp>
      <p:sp>
        <p:nvSpPr>
          <p:cNvPr id="11" name="s7_9"/>
          <p:cNvSpPr txBox="1"/>
          <p:nvPr/>
        </p:nvSpPr>
        <p:spPr>
          <a:xfrm>
            <a:off x="950595" y="1097280"/>
            <a:ext cx="1828800" cy="150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5000"/>
              </a:lnSpc>
            </a:pPr>
            <a:r>
              <a:rPr lang="pt-BR" sz="850">
                <a:solidFill>
                  <a:srgbClr val="BAC6DA"/>
                </a:solidFill>
                <a:latin typeface="Bahnschrift"/>
              </a:rPr>
              <a:t>Arquivo interno</a:t>
            </a:r>
            <a:endParaRPr lang="pt-BR">
              <a:latin typeface="Bahnschrift SemiLight"/>
            </a:endParaRPr>
          </a:p>
        </p:txBody>
      </p:sp>
      <p:sp>
        <p:nvSpPr>
          <p:cNvPr id="12" name="s7_10"/>
          <p:cNvSpPr/>
          <p:nvPr/>
        </p:nvSpPr>
        <p:spPr>
          <a:xfrm>
            <a:off x="1861820" y="1138809"/>
            <a:ext cx="77724" cy="77724"/>
          </a:xfrm>
          <a:prstGeom prst="ellipse">
            <a:avLst/>
          </a:prstGeom>
          <a:solidFill>
            <a:srgbClr val="2FD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nschrift SemiLight"/>
            </a:endParaRPr>
          </a:p>
        </p:txBody>
      </p:sp>
      <p:sp>
        <p:nvSpPr>
          <p:cNvPr id="13" name="s7_11"/>
          <p:cNvSpPr txBox="1"/>
          <p:nvPr/>
        </p:nvSpPr>
        <p:spPr>
          <a:xfrm>
            <a:off x="2008505" y="1087755"/>
            <a:ext cx="1828800" cy="1473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5000"/>
              </a:lnSpc>
            </a:pPr>
            <a:r>
              <a:rPr lang="pt-BR" sz="850">
                <a:solidFill>
                  <a:srgbClr val="BAC6DA"/>
                </a:solidFill>
                <a:latin typeface="Bahnschrift"/>
              </a:rPr>
              <a:t>Arquivo de análise</a:t>
            </a:r>
            <a:endParaRPr lang="pt-BR" sz="850" b="0">
              <a:solidFill>
                <a:srgbClr val="BAC6DA"/>
              </a:solidFill>
              <a:latin typeface="Bahnschrift"/>
              <a:cs typeface="Bahnschrift"/>
            </a:endParaRPr>
          </a:p>
        </p:txBody>
      </p:sp>
      <p:sp>
        <p:nvSpPr>
          <p:cNvPr id="14" name="s7_12"/>
          <p:cNvSpPr/>
          <p:nvPr/>
        </p:nvSpPr>
        <p:spPr>
          <a:xfrm>
            <a:off x="2974657" y="1138809"/>
            <a:ext cx="77724" cy="77724"/>
          </a:xfrm>
          <a:prstGeom prst="ellipse">
            <a:avLst/>
          </a:prstGeom>
          <a:solidFill>
            <a:srgbClr val="4F8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nschrift SemiLight"/>
            </a:endParaRPr>
          </a:p>
        </p:txBody>
      </p:sp>
      <p:sp>
        <p:nvSpPr>
          <p:cNvPr id="15" name="s7_13"/>
          <p:cNvSpPr txBox="1"/>
          <p:nvPr/>
        </p:nvSpPr>
        <p:spPr>
          <a:xfrm>
            <a:off x="3111817" y="1087755"/>
            <a:ext cx="1828800" cy="1473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850">
                <a:solidFill>
                  <a:srgbClr val="BAC6DA"/>
                </a:solidFill>
                <a:latin typeface="Bahnschrift"/>
              </a:rPr>
              <a:t>Código</a:t>
            </a:r>
            <a:endParaRPr lang="pt-BR" sz="850" b="0">
              <a:solidFill>
                <a:srgbClr val="BAC6DA"/>
              </a:solidFill>
              <a:latin typeface="Bahnschrift"/>
              <a:cs typeface="Bahnschrift"/>
            </a:endParaRPr>
          </a:p>
        </p:txBody>
      </p:sp>
      <p:sp>
        <p:nvSpPr>
          <p:cNvPr id="16" name="s7_14"/>
          <p:cNvSpPr/>
          <p:nvPr/>
        </p:nvSpPr>
        <p:spPr>
          <a:xfrm>
            <a:off x="3542347" y="1138809"/>
            <a:ext cx="77724" cy="77724"/>
          </a:xfrm>
          <a:prstGeom prst="ellipse">
            <a:avLst/>
          </a:prstGeom>
          <a:solidFill>
            <a:srgbClr val="839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nschrift SemiLight"/>
            </a:endParaRPr>
          </a:p>
        </p:txBody>
      </p:sp>
      <p:sp>
        <p:nvSpPr>
          <p:cNvPr id="17" name="s7_15"/>
          <p:cNvSpPr txBox="1"/>
          <p:nvPr/>
        </p:nvSpPr>
        <p:spPr>
          <a:xfrm>
            <a:off x="3708082" y="1087755"/>
            <a:ext cx="1828800" cy="150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5000"/>
              </a:lnSpc>
            </a:pPr>
            <a:r>
              <a:rPr lang="pt-BR" sz="850">
                <a:solidFill>
                  <a:srgbClr val="BAC6DA"/>
                </a:solidFill>
                <a:latin typeface="Bahnschrift"/>
              </a:rPr>
              <a:t>Arquivo de entrega</a:t>
            </a:r>
            <a:endParaRPr lang="pt-BR">
              <a:latin typeface="Bahnschrift SemiLight"/>
            </a:endParaRPr>
          </a:p>
        </p:txBody>
      </p:sp>
      <p:pic>
        <p:nvPicPr>
          <p:cNvPr id="19" name="s7_17" descr="s7_graf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815" y="1103573"/>
            <a:ext cx="3703320" cy="3744837"/>
          </a:xfrm>
          <a:prstGeom prst="rect">
            <a:avLst/>
          </a:prstGeom>
        </p:spPr>
      </p:pic>
      <p:sp>
        <p:nvSpPr>
          <p:cNvPr id="21" name="s7_19"/>
          <p:cNvSpPr txBox="1"/>
          <p:nvPr/>
        </p:nvSpPr>
        <p:spPr>
          <a:xfrm>
            <a:off x="775335" y="5178933"/>
            <a:ext cx="1325880" cy="1213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750" b="0" spc="80">
                <a:solidFill>
                  <a:srgbClr val="8395B5"/>
                </a:solidFill>
                <a:latin typeface="Consolas"/>
              </a:rPr>
              <a:t>SESSÕES</a:t>
            </a:r>
            <a:r>
              <a:rPr lang="pt-BR" sz="750" spc="80">
                <a:solidFill>
                  <a:srgbClr val="8395B5"/>
                </a:solidFill>
                <a:latin typeface="Consolas"/>
              </a:rPr>
              <a:t> </a:t>
            </a:r>
            <a:r>
              <a:rPr sz="750" b="0" spc="80">
                <a:solidFill>
                  <a:srgbClr val="8395B5"/>
                </a:solidFill>
                <a:latin typeface="Consolas"/>
              </a:rPr>
              <a:t>DE IA</a:t>
            </a:r>
          </a:p>
        </p:txBody>
      </p:sp>
      <p:sp>
        <p:nvSpPr>
          <p:cNvPr id="22" name="s7_20"/>
          <p:cNvSpPr txBox="1"/>
          <p:nvPr/>
        </p:nvSpPr>
        <p:spPr>
          <a:xfrm>
            <a:off x="813435" y="5338191"/>
            <a:ext cx="132588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25" b="0">
                <a:solidFill>
                  <a:srgbClr val="FFB531"/>
                </a:solidFill>
                <a:latin typeface="Bahnschrift SemiBold Condensed"/>
              </a:rPr>
              <a:t>91</a:t>
            </a:r>
          </a:p>
        </p:txBody>
      </p:sp>
      <p:sp>
        <p:nvSpPr>
          <p:cNvPr id="24" name="s7_22"/>
          <p:cNvSpPr txBox="1"/>
          <p:nvPr/>
        </p:nvSpPr>
        <p:spPr>
          <a:xfrm>
            <a:off x="2175891" y="5140833"/>
            <a:ext cx="1325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80">
                <a:solidFill>
                  <a:srgbClr val="8395B5"/>
                </a:solidFill>
                <a:latin typeface="Consolas"/>
              </a:rPr>
              <a:t>TOKENS POR SESSÃO</a:t>
            </a:r>
          </a:p>
        </p:txBody>
      </p:sp>
      <p:sp>
        <p:nvSpPr>
          <p:cNvPr id="25" name="s7_23"/>
          <p:cNvSpPr txBox="1"/>
          <p:nvPr/>
        </p:nvSpPr>
        <p:spPr>
          <a:xfrm>
            <a:off x="2175891" y="5338191"/>
            <a:ext cx="132588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25" b="0">
                <a:solidFill>
                  <a:srgbClr val="FFB531"/>
                </a:solidFill>
                <a:latin typeface="Bahnschrift SemiBold Condensed"/>
              </a:rPr>
              <a:t>232k</a:t>
            </a:r>
          </a:p>
        </p:txBody>
      </p:sp>
      <p:sp>
        <p:nvSpPr>
          <p:cNvPr id="26" name="s7_24"/>
          <p:cNvSpPr txBox="1"/>
          <p:nvPr/>
        </p:nvSpPr>
        <p:spPr>
          <a:xfrm>
            <a:off x="2175891" y="5740527"/>
            <a:ext cx="1325880" cy="132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BAC6DA"/>
                </a:solidFill>
                <a:latin typeface="Bahnschrift"/>
              </a:rPr>
              <a:t>19,7M no total</a:t>
            </a:r>
          </a:p>
        </p:txBody>
      </p:sp>
      <p:sp>
        <p:nvSpPr>
          <p:cNvPr id="27" name="s7_25"/>
          <p:cNvSpPr txBox="1"/>
          <p:nvPr/>
        </p:nvSpPr>
        <p:spPr>
          <a:xfrm>
            <a:off x="3509772" y="5140833"/>
            <a:ext cx="1325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80">
                <a:solidFill>
                  <a:srgbClr val="8395B5"/>
                </a:solidFill>
                <a:latin typeface="Consolas"/>
              </a:rPr>
              <a:t>DECISÕES REGISTRADAS</a:t>
            </a:r>
          </a:p>
        </p:txBody>
      </p:sp>
      <p:sp>
        <p:nvSpPr>
          <p:cNvPr id="28" name="s7_26"/>
          <p:cNvSpPr txBox="1"/>
          <p:nvPr/>
        </p:nvSpPr>
        <p:spPr>
          <a:xfrm>
            <a:off x="3538347" y="5338191"/>
            <a:ext cx="132588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25" b="0">
                <a:solidFill>
                  <a:srgbClr val="FFB531"/>
                </a:solidFill>
                <a:latin typeface="Bahnschrift SemiBold Condensed"/>
              </a:rPr>
              <a:t>81</a:t>
            </a:r>
          </a:p>
        </p:txBody>
      </p:sp>
      <p:sp>
        <p:nvSpPr>
          <p:cNvPr id="30" name="s7_28"/>
          <p:cNvSpPr txBox="1"/>
          <p:nvPr/>
        </p:nvSpPr>
        <p:spPr>
          <a:xfrm>
            <a:off x="4872228" y="5140833"/>
            <a:ext cx="1325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80">
                <a:solidFill>
                  <a:srgbClr val="8395B5"/>
                </a:solidFill>
                <a:latin typeface="Consolas"/>
              </a:rPr>
              <a:t>RECORREÇÃO</a:t>
            </a:r>
          </a:p>
        </p:txBody>
      </p:sp>
      <p:sp>
        <p:nvSpPr>
          <p:cNvPr id="31" name="s7_29"/>
          <p:cNvSpPr txBox="1"/>
          <p:nvPr/>
        </p:nvSpPr>
        <p:spPr>
          <a:xfrm>
            <a:off x="4900803" y="5338191"/>
            <a:ext cx="132588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25" b="0">
                <a:solidFill>
                  <a:srgbClr val="FFB531"/>
                </a:solidFill>
                <a:latin typeface="Bahnschrift SemiBold Condensed"/>
              </a:rPr>
              <a:t>37%</a:t>
            </a:r>
          </a:p>
        </p:txBody>
      </p:sp>
      <p:sp>
        <p:nvSpPr>
          <p:cNvPr id="32" name="s7_30"/>
          <p:cNvSpPr txBox="1"/>
          <p:nvPr/>
        </p:nvSpPr>
        <p:spPr>
          <a:xfrm>
            <a:off x="4900803" y="5740527"/>
            <a:ext cx="1325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BAC6DA"/>
                </a:solidFill>
                <a:latin typeface="Bahnschrift"/>
              </a:rPr>
              <a:t>das </a:t>
            </a:r>
            <a:r>
              <a:rPr sz="800" b="0" err="1">
                <a:solidFill>
                  <a:srgbClr val="BAC6DA"/>
                </a:solidFill>
                <a:latin typeface="Bahnschrift"/>
              </a:rPr>
              <a:t>sessões</a:t>
            </a:r>
            <a:r>
              <a:rPr sz="800" b="0">
                <a:solidFill>
                  <a:srgbClr val="BAC6DA"/>
                </a:solidFill>
                <a:latin typeface="Bahnschrift"/>
              </a:rPr>
              <a:t> </a:t>
            </a:r>
            <a:r>
              <a:rPr sz="800" b="0" err="1">
                <a:solidFill>
                  <a:srgbClr val="BAC6DA"/>
                </a:solidFill>
                <a:latin typeface="Bahnschrift"/>
              </a:rPr>
              <a:t>pediram</a:t>
            </a:r>
            <a:r>
              <a:rPr sz="800" b="0">
                <a:solidFill>
                  <a:srgbClr val="BAC6DA"/>
                </a:solidFill>
                <a:latin typeface="Bahnschrift"/>
              </a:rPr>
              <a:t> 2ª </a:t>
            </a:r>
            <a:r>
              <a:rPr sz="800" b="0" err="1">
                <a:solidFill>
                  <a:srgbClr val="BAC6DA"/>
                </a:solidFill>
                <a:latin typeface="Bahnschrift"/>
              </a:rPr>
              <a:t>rodada</a:t>
            </a:r>
            <a:endParaRPr sz="800" b="0">
              <a:solidFill>
                <a:srgbClr val="BAC6DA"/>
              </a:solidFill>
              <a:latin typeface="Bahnschrift"/>
            </a:endParaRPr>
          </a:p>
        </p:txBody>
      </p:sp>
      <p:sp>
        <p:nvSpPr>
          <p:cNvPr id="33" name="s7_31"/>
          <p:cNvSpPr txBox="1"/>
          <p:nvPr/>
        </p:nvSpPr>
        <p:spPr>
          <a:xfrm>
            <a:off x="6598920" y="859536"/>
            <a:ext cx="4690872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100">
                <a:solidFill>
                  <a:srgbClr val="FFB531"/>
                </a:solidFill>
                <a:latin typeface="Consolas"/>
              </a:rPr>
              <a:t>AS REGRAS, ESCRITAS ANTES</a:t>
            </a:r>
          </a:p>
        </p:txBody>
      </p:sp>
      <p:sp>
        <p:nvSpPr>
          <p:cNvPr id="34" name="s7_32"/>
          <p:cNvSpPr txBox="1"/>
          <p:nvPr/>
        </p:nvSpPr>
        <p:spPr>
          <a:xfrm>
            <a:off x="6675120" y="1170432"/>
            <a:ext cx="4690872" cy="11744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just">
              <a:lnSpc>
                <a:spcPct val="126000"/>
              </a:lnSpc>
              <a:spcBef>
                <a:spcPts val="800"/>
              </a:spcBef>
            </a:pPr>
            <a:r>
              <a:rPr lang="pt-BR" sz="1150" b="0">
                <a:solidFill>
                  <a:srgbClr val="F5F7FB"/>
                </a:solidFill>
                <a:latin typeface="Bahnschrift SemiBold"/>
                <a:cs typeface="Bahnschrift SemiBold"/>
              </a:rPr>
              <a:t>CLAUDE.md. </a:t>
            </a:r>
            <a:r>
              <a:rPr lang="pt-BR" sz="1150">
                <a:solidFill>
                  <a:srgbClr val="BAC6DA"/>
                </a:solidFill>
                <a:latin typeface="Bahnschrift SemiLight"/>
              </a:rPr>
              <a:t>Arquivo lido no começo de cada sessão. Ideia e regras</a:t>
            </a:r>
          </a:p>
          <a:p>
            <a:pPr algn="just">
              <a:lnSpc>
                <a:spcPct val="126000"/>
              </a:lnSpc>
              <a:spcBef>
                <a:spcPts val="800"/>
              </a:spcBef>
            </a:pPr>
            <a:r>
              <a:rPr lang="pt-BR" sz="1150" err="1">
                <a:solidFill>
                  <a:srgbClr val="F5F7FB"/>
                </a:solidFill>
                <a:latin typeface="Bahnschrift SemiBold"/>
              </a:rPr>
              <a:t>Auto-documentação</a:t>
            </a:r>
            <a:r>
              <a:rPr lang="pt-BR" sz="1150">
                <a:solidFill>
                  <a:srgbClr val="F5F7FB"/>
                </a:solidFill>
                <a:latin typeface="Bahnschrift SemiBold"/>
              </a:rPr>
              <a:t>. </a:t>
            </a:r>
            <a:r>
              <a:rPr lang="pt-BR" sz="1150">
                <a:solidFill>
                  <a:srgbClr val="BAC6DA"/>
                </a:solidFill>
                <a:latin typeface="Bahnschrift SemiLight"/>
              </a:rPr>
              <a:t> Em formato de texto com referencias a outros</a:t>
            </a:r>
          </a:p>
          <a:p>
            <a:pPr algn="just">
              <a:lnSpc>
                <a:spcPct val="126000"/>
              </a:lnSpc>
              <a:spcBef>
                <a:spcPts val="800"/>
              </a:spcBef>
            </a:pPr>
            <a:r>
              <a:rPr sz="1150" b="0">
                <a:solidFill>
                  <a:srgbClr val="F5F7FB"/>
                </a:solidFill>
                <a:latin typeface="Bahnschrift SemiBold"/>
              </a:rPr>
              <a:t>Ritual </a:t>
            </a:r>
            <a:r>
              <a:rPr lang="pt-BR" sz="1150" b="0">
                <a:solidFill>
                  <a:srgbClr val="F5F7FB"/>
                </a:solidFill>
                <a:latin typeface="Bahnschrift SemiBold"/>
              </a:rPr>
              <a:t>de final de sessão</a:t>
            </a:r>
            <a:r>
              <a:rPr sz="1150" b="0">
                <a:solidFill>
                  <a:srgbClr val="F5F7FB"/>
                </a:solidFill>
                <a:latin typeface="Bahnschrift SemiBold"/>
              </a:rPr>
              <a:t>. </a:t>
            </a:r>
            <a:r>
              <a:rPr sz="1150" b="0">
                <a:solidFill>
                  <a:srgbClr val="BAC6DA"/>
                </a:solidFill>
                <a:latin typeface="Bahnschrift SemiLight"/>
              </a:rPr>
              <a:t> </a:t>
            </a:r>
            <a:r>
              <a:rPr lang="pt-BR" sz="1150">
                <a:solidFill>
                  <a:srgbClr val="BAC6DA"/>
                </a:solidFill>
                <a:latin typeface="Bahnschrift SemiLight"/>
              </a:rPr>
              <a:t>Levantamento de número</a:t>
            </a:r>
            <a:endParaRPr lang="pt-BR" sz="1150">
              <a:solidFill>
                <a:srgbClr val="BAC6DA"/>
              </a:solidFill>
              <a:latin typeface="Bahnschrift SemiLight"/>
              <a:ea typeface="Calibri"/>
              <a:cs typeface="Bahnschrift SemiLight"/>
            </a:endParaRPr>
          </a:p>
          <a:p>
            <a:pPr algn="just">
              <a:lnSpc>
                <a:spcPct val="126000"/>
              </a:lnSpc>
              <a:spcBef>
                <a:spcPts val="800"/>
              </a:spcBef>
            </a:pPr>
            <a:endParaRPr lang="pt-BR" sz="1150">
              <a:solidFill>
                <a:srgbClr val="BAC6DA"/>
              </a:solidFill>
              <a:latin typeface="Bahnschrift SemiLight"/>
              <a:cs typeface="Bahnschrift SemiLight"/>
            </a:endParaRPr>
          </a:p>
        </p:txBody>
      </p:sp>
      <p:sp>
        <p:nvSpPr>
          <p:cNvPr id="35" name="s7_33"/>
          <p:cNvSpPr txBox="1"/>
          <p:nvPr/>
        </p:nvSpPr>
        <p:spPr>
          <a:xfrm>
            <a:off x="6646545" y="2198370"/>
            <a:ext cx="4690872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100">
                <a:solidFill>
                  <a:srgbClr val="FFB531"/>
                </a:solidFill>
                <a:latin typeface="Consolas"/>
              </a:rPr>
              <a:t>CONTEXTO POR DIA  ·  DECISÕES ACUMULADAS</a:t>
            </a:r>
          </a:p>
        </p:txBody>
      </p:sp>
      <p:pic>
        <p:nvPicPr>
          <p:cNvPr id="36" name="s7_34" descr="p5_timeline.png"/>
          <p:cNvPicPr>
            <a:picLocks noChangeAspect="1"/>
          </p:cNvPicPr>
          <p:nvPr/>
        </p:nvPicPr>
        <p:blipFill>
          <a:blip r:embed="rId4"/>
          <a:srcRect l="-2299" t="-1339" r="2490" b="1786"/>
          <a:stretch>
            <a:fillRect/>
          </a:stretch>
        </p:blipFill>
        <p:spPr>
          <a:xfrm>
            <a:off x="6733392" y="2370583"/>
            <a:ext cx="4949995" cy="2211218"/>
          </a:xfrm>
          <a:prstGeom prst="rect">
            <a:avLst/>
          </a:prstGeom>
        </p:spPr>
      </p:pic>
      <p:sp>
        <p:nvSpPr>
          <p:cNvPr id="37" name="s7_35"/>
          <p:cNvSpPr/>
          <p:nvPr/>
        </p:nvSpPr>
        <p:spPr>
          <a:xfrm>
            <a:off x="6608995" y="4507706"/>
            <a:ext cx="45719" cy="158115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FB531"/>
              </a:gs>
              <a:gs pos="100000">
                <a:srgbClr val="FFB531">
                  <a:alpha val="35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nschrift SemiLight"/>
            </a:endParaRPr>
          </a:p>
        </p:txBody>
      </p:sp>
      <p:sp>
        <p:nvSpPr>
          <p:cNvPr id="40" name="CaixaDeTexto 39">
            <a:extLst>
              <a:ext uri="{FF2B5EF4-FFF2-40B4-BE49-F238E27FC236}">
                <a16:creationId xmlns:a16="http://schemas.microsoft.com/office/drawing/2014/main" id="{C7823DF2-EABB-5A20-390E-1B4985E2BEE1}"/>
              </a:ext>
            </a:extLst>
          </p:cNvPr>
          <p:cNvSpPr txBox="1"/>
          <p:nvPr/>
        </p:nvSpPr>
        <p:spPr>
          <a:xfrm>
            <a:off x="6640195" y="4448175"/>
            <a:ext cx="5416550" cy="218521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200" b="0">
                <a:solidFill>
                  <a:srgbClr val="FFB531"/>
                </a:solidFill>
                <a:latin typeface="Bahnschrift SemiBold"/>
              </a:rPr>
              <a:t>PESQUISA</a:t>
            </a:r>
            <a:endParaRPr lang="pt-BR" sz="1200">
              <a:latin typeface="Bahnschrift SemiLight"/>
            </a:endParaRPr>
          </a:p>
          <a:p>
            <a:endParaRPr lang="en-US" sz="1200">
              <a:solidFill>
                <a:schemeClr val="bg1"/>
              </a:solidFill>
              <a:latin typeface="Bahnschrift"/>
              <a:cs typeface="Bahnschrift"/>
            </a:endParaRPr>
          </a:p>
          <a:p>
            <a:pPr marL="171450" indent="-171450">
              <a:buFont typeface="Arial"/>
              <a:buChar char="•"/>
            </a:pPr>
            <a:r>
              <a:rPr lang="en-US" sz="1200" err="1">
                <a:solidFill>
                  <a:schemeClr val="bg1"/>
                </a:solidFill>
                <a:latin typeface="Bahnschrift"/>
                <a:ea typeface="Calibri"/>
                <a:cs typeface="Bahnschrift"/>
              </a:rPr>
              <a:t>Feita</a:t>
            </a:r>
            <a:r>
              <a:rPr lang="en-US" sz="1200">
                <a:solidFill>
                  <a:schemeClr val="bg1"/>
                </a:solidFill>
                <a:latin typeface="Bahnschrift"/>
                <a:ea typeface="Calibri"/>
                <a:cs typeface="Bahnschrift"/>
              </a:rPr>
              <a:t> com </a:t>
            </a:r>
            <a:r>
              <a:rPr lang="en-US" sz="1200" err="1">
                <a:solidFill>
                  <a:schemeClr val="bg1"/>
                </a:solidFill>
                <a:latin typeface="Bahnschrift"/>
                <a:ea typeface="Calibri"/>
                <a:cs typeface="Bahnschrift"/>
              </a:rPr>
              <a:t>auxilio</a:t>
            </a:r>
            <a:r>
              <a:rPr lang="en-US" sz="1200">
                <a:solidFill>
                  <a:schemeClr val="bg1"/>
                </a:solidFill>
                <a:latin typeface="Bahnschrift"/>
                <a:ea typeface="Calibri"/>
                <a:cs typeface="Bahnschrift"/>
              </a:rPr>
              <a:t> de </a:t>
            </a:r>
            <a:r>
              <a:rPr lang="en-US" sz="1200" b="0">
                <a:solidFill>
                  <a:schemeClr val="bg1"/>
                </a:solidFill>
                <a:latin typeface="Bahnschrift SemiBold"/>
                <a:ea typeface="Calibri"/>
                <a:cs typeface="Bahnschrift SemiBold"/>
              </a:rPr>
              <a:t>IA</a:t>
            </a:r>
          </a:p>
          <a:p>
            <a:pPr marL="171450" indent="-171450">
              <a:buFont typeface="Arial"/>
              <a:buChar char="•"/>
            </a:pPr>
            <a:endParaRPr lang="en-US" sz="1200">
              <a:solidFill>
                <a:schemeClr val="bg1"/>
              </a:solidFill>
              <a:latin typeface="Bahnschrift"/>
              <a:ea typeface="Calibri"/>
              <a:cs typeface="Bahnschrift"/>
            </a:endParaRPr>
          </a:p>
          <a:p>
            <a:pPr marL="171450" indent="-171450">
              <a:buFont typeface="Arial"/>
              <a:buChar char="•"/>
            </a:pPr>
            <a:r>
              <a:rPr lang="en-US" sz="1200">
                <a:solidFill>
                  <a:schemeClr val="bg1"/>
                </a:solidFill>
                <a:latin typeface="Bahnschrift"/>
                <a:ea typeface="Calibri"/>
                <a:cs typeface="Bahnschrift"/>
              </a:rPr>
              <a:t>De </a:t>
            </a:r>
            <a:r>
              <a:rPr lang="en-US" sz="1200" b="0">
                <a:solidFill>
                  <a:schemeClr val="bg1"/>
                </a:solidFill>
                <a:latin typeface="Bahnschrift SemiBold"/>
                <a:ea typeface="Calibri"/>
                <a:cs typeface="Bahnschrift SemiBold"/>
              </a:rPr>
              <a:t>13 </a:t>
            </a:r>
            <a:r>
              <a:rPr lang="en-US" sz="1200" err="1">
                <a:solidFill>
                  <a:schemeClr val="bg1"/>
                </a:solidFill>
                <a:latin typeface="Bahnschrift"/>
                <a:ea typeface="Calibri"/>
                <a:cs typeface="Bahnschrift"/>
              </a:rPr>
              <a:t>ideias</a:t>
            </a:r>
            <a:r>
              <a:rPr lang="en-US" sz="1200">
                <a:solidFill>
                  <a:schemeClr val="bg1"/>
                </a:solidFill>
                <a:latin typeface="Bahnschrift"/>
                <a:ea typeface="Calibri"/>
                <a:cs typeface="Bahnschrift"/>
              </a:rPr>
              <a:t> de </a:t>
            </a:r>
            <a:r>
              <a:rPr lang="en-US" sz="1200" err="1">
                <a:solidFill>
                  <a:schemeClr val="bg1"/>
                </a:solidFill>
                <a:latin typeface="Bahnschrift"/>
                <a:ea typeface="Calibri"/>
                <a:cs typeface="Bahnschrift"/>
              </a:rPr>
              <a:t>sinal</a:t>
            </a:r>
            <a:r>
              <a:rPr lang="en-US" sz="1200">
                <a:solidFill>
                  <a:schemeClr val="bg1"/>
                </a:solidFill>
                <a:latin typeface="Bahnschrift"/>
                <a:ea typeface="Calibri"/>
                <a:cs typeface="Bahnschrift"/>
              </a:rPr>
              <a:t>, </a:t>
            </a:r>
            <a:r>
              <a:rPr lang="en-US" sz="1200" err="1">
                <a:solidFill>
                  <a:schemeClr val="bg1"/>
                </a:solidFill>
                <a:latin typeface="Bahnschrift"/>
                <a:ea typeface="Calibri"/>
                <a:cs typeface="Bahnschrift"/>
              </a:rPr>
              <a:t>passou</a:t>
            </a:r>
            <a:r>
              <a:rPr lang="en-US" sz="1200">
                <a:solidFill>
                  <a:schemeClr val="bg1"/>
                </a:solidFill>
                <a:latin typeface="Bahnschrift"/>
                <a:ea typeface="Calibri"/>
                <a:cs typeface="Bahnschrift"/>
              </a:rPr>
              <a:t> </a:t>
            </a:r>
            <a:r>
              <a:rPr lang="en-US" sz="1200" err="1">
                <a:solidFill>
                  <a:schemeClr val="bg1"/>
                </a:solidFill>
                <a:latin typeface="Bahnschrift"/>
                <a:ea typeface="Calibri"/>
                <a:cs typeface="Bahnschrift"/>
              </a:rPr>
              <a:t>apenas</a:t>
            </a:r>
            <a:r>
              <a:rPr lang="en-US" sz="1200">
                <a:solidFill>
                  <a:schemeClr val="bg1"/>
                </a:solidFill>
                <a:latin typeface="Bahnschrift"/>
                <a:ea typeface="Calibri"/>
                <a:cs typeface="Bahnschrift"/>
              </a:rPr>
              <a:t> </a:t>
            </a:r>
            <a:r>
              <a:rPr lang="en-US" sz="1200" b="0">
                <a:solidFill>
                  <a:schemeClr val="bg1"/>
                </a:solidFill>
                <a:latin typeface="Bahnschrift SemiBold"/>
                <a:ea typeface="Calibri"/>
                <a:cs typeface="Bahnschrift SemiBold"/>
              </a:rPr>
              <a:t>1</a:t>
            </a:r>
          </a:p>
          <a:p>
            <a:pPr marL="171450" indent="-171450">
              <a:buFont typeface="Arial"/>
              <a:buChar char="•"/>
            </a:pPr>
            <a:endParaRPr lang="en-US" sz="1200">
              <a:solidFill>
                <a:schemeClr val="bg1"/>
              </a:solidFill>
              <a:latin typeface="Bahnschrift"/>
              <a:ea typeface="Calibri"/>
              <a:cs typeface="Bahnschrift"/>
            </a:endParaRPr>
          </a:p>
          <a:p>
            <a:pPr marL="171450" indent="-171450">
              <a:buFont typeface="Arial"/>
              <a:buChar char="•"/>
            </a:pPr>
            <a:r>
              <a:rPr lang="en-US" sz="1200">
                <a:solidFill>
                  <a:schemeClr val="bg1"/>
                </a:solidFill>
                <a:latin typeface="Bahnschrift"/>
                <a:ea typeface="Calibri"/>
                <a:cs typeface="Bahnschrift"/>
              </a:rPr>
              <a:t>De </a:t>
            </a:r>
            <a:r>
              <a:rPr lang="en-US" sz="1200" b="0">
                <a:solidFill>
                  <a:schemeClr val="bg1"/>
                </a:solidFill>
                <a:latin typeface="Bahnschrift SemiBold"/>
                <a:ea typeface="Calibri"/>
                <a:cs typeface="Bahnschrift SemiBold"/>
              </a:rPr>
              <a:t>4 </a:t>
            </a:r>
            <a:r>
              <a:rPr lang="en-US" sz="1200" err="1">
                <a:solidFill>
                  <a:schemeClr val="bg1"/>
                </a:solidFill>
                <a:latin typeface="Bahnschrift"/>
                <a:ea typeface="Calibri"/>
                <a:cs typeface="Bahnschrift"/>
              </a:rPr>
              <a:t>critérios</a:t>
            </a:r>
            <a:r>
              <a:rPr lang="en-US" sz="1200">
                <a:solidFill>
                  <a:schemeClr val="bg1"/>
                </a:solidFill>
                <a:latin typeface="Bahnschrift"/>
                <a:ea typeface="Calibri"/>
                <a:cs typeface="Bahnschrift"/>
              </a:rPr>
              <a:t> para </a:t>
            </a:r>
            <a:r>
              <a:rPr lang="en-US" sz="1200" err="1">
                <a:solidFill>
                  <a:schemeClr val="bg1"/>
                </a:solidFill>
                <a:latin typeface="Bahnschrift"/>
                <a:ea typeface="Calibri"/>
                <a:cs typeface="Bahnschrift"/>
              </a:rPr>
              <a:t>Confiança</a:t>
            </a:r>
            <a:r>
              <a:rPr lang="en-US" sz="1200">
                <a:solidFill>
                  <a:schemeClr val="bg1"/>
                </a:solidFill>
                <a:latin typeface="Bahnschrift"/>
                <a:ea typeface="Calibri"/>
                <a:cs typeface="Bahnschrift"/>
              </a:rPr>
              <a:t>, </a:t>
            </a:r>
            <a:r>
              <a:rPr lang="en-US" sz="1200" err="1">
                <a:solidFill>
                  <a:schemeClr val="bg1"/>
                </a:solidFill>
                <a:latin typeface="Bahnschrift"/>
                <a:ea typeface="Calibri"/>
                <a:cs typeface="Bahnschrift"/>
              </a:rPr>
              <a:t>apenas</a:t>
            </a:r>
            <a:r>
              <a:rPr lang="en-US" sz="1200">
                <a:solidFill>
                  <a:schemeClr val="bg1"/>
                </a:solidFill>
                <a:latin typeface="Bahnschrift"/>
                <a:ea typeface="Calibri"/>
                <a:cs typeface="Bahnschrift"/>
              </a:rPr>
              <a:t> </a:t>
            </a:r>
            <a:r>
              <a:rPr lang="en-US" sz="1200" b="0">
                <a:solidFill>
                  <a:schemeClr val="bg1"/>
                </a:solidFill>
                <a:latin typeface="Bahnschrift SemiBold"/>
                <a:ea typeface="Calibri"/>
                <a:cs typeface="Bahnschrift SemiBold"/>
              </a:rPr>
              <a:t>2 </a:t>
            </a:r>
            <a:r>
              <a:rPr lang="en-US" sz="1200" err="1">
                <a:solidFill>
                  <a:schemeClr val="bg1"/>
                </a:solidFill>
                <a:latin typeface="Bahnschrift"/>
                <a:ea typeface="Calibri"/>
                <a:cs typeface="Bahnschrift"/>
              </a:rPr>
              <a:t>passaram</a:t>
            </a:r>
            <a:endParaRPr lang="en-US" sz="1200">
              <a:solidFill>
                <a:schemeClr val="bg1"/>
              </a:solidFill>
              <a:latin typeface="Bahnschrift"/>
              <a:ea typeface="Calibri"/>
              <a:cs typeface="Bahnschrift"/>
            </a:endParaRPr>
          </a:p>
          <a:p>
            <a:pPr marL="171450" indent="-171450">
              <a:buFont typeface="Arial"/>
              <a:buChar char="•"/>
            </a:pPr>
            <a:endParaRPr lang="en-US" sz="1200">
              <a:solidFill>
                <a:schemeClr val="bg1"/>
              </a:solidFill>
              <a:latin typeface="Bahnschrift"/>
              <a:ea typeface="Calibri"/>
              <a:cs typeface="Bahnschrift"/>
            </a:endParaRPr>
          </a:p>
          <a:p>
            <a:pPr marL="171450" indent="-171450">
              <a:buFont typeface="Arial"/>
              <a:buChar char="•"/>
            </a:pPr>
            <a:r>
              <a:rPr lang="en-US" sz="1200">
                <a:solidFill>
                  <a:schemeClr val="bg1"/>
                </a:solidFill>
                <a:latin typeface="Bahnschrift"/>
                <a:ea typeface="Calibri"/>
                <a:cs typeface="Bahnschrift"/>
              </a:rPr>
              <a:t>O </a:t>
            </a:r>
            <a:r>
              <a:rPr lang="en-US" sz="1200" err="1">
                <a:solidFill>
                  <a:schemeClr val="bg1"/>
                </a:solidFill>
                <a:latin typeface="Bahnschrift"/>
                <a:ea typeface="Calibri"/>
                <a:cs typeface="Bahnschrift"/>
              </a:rPr>
              <a:t>resultado</a:t>
            </a:r>
            <a:r>
              <a:rPr lang="en-US" sz="1200">
                <a:solidFill>
                  <a:schemeClr val="bg1"/>
                </a:solidFill>
                <a:latin typeface="Bahnschrift"/>
                <a:ea typeface="Calibri"/>
                <a:cs typeface="Bahnschrift"/>
              </a:rPr>
              <a:t> das </a:t>
            </a:r>
            <a:r>
              <a:rPr lang="en-US" sz="1200" err="1">
                <a:solidFill>
                  <a:schemeClr val="bg1"/>
                </a:solidFill>
                <a:latin typeface="Bahnschrift"/>
                <a:ea typeface="Calibri"/>
                <a:cs typeface="Bahnschrift"/>
              </a:rPr>
              <a:t>pesquisas</a:t>
            </a:r>
            <a:r>
              <a:rPr lang="en-US" sz="1200">
                <a:solidFill>
                  <a:schemeClr val="bg1"/>
                </a:solidFill>
                <a:latin typeface="Bahnschrift"/>
                <a:ea typeface="Calibri"/>
                <a:cs typeface="Bahnschrift"/>
              </a:rPr>
              <a:t> </a:t>
            </a:r>
            <a:r>
              <a:rPr lang="en-US" sz="1200" err="1">
                <a:solidFill>
                  <a:schemeClr val="bg1"/>
                </a:solidFill>
                <a:latin typeface="Bahnschrift"/>
                <a:ea typeface="Calibri"/>
                <a:cs typeface="Bahnschrift"/>
              </a:rPr>
              <a:t>ficou</a:t>
            </a:r>
            <a:r>
              <a:rPr lang="en-US" sz="1200">
                <a:solidFill>
                  <a:schemeClr val="bg1"/>
                </a:solidFill>
                <a:latin typeface="Bahnschrift"/>
                <a:ea typeface="Calibri"/>
                <a:cs typeface="Bahnschrift"/>
              </a:rPr>
              <a:t> </a:t>
            </a:r>
            <a:r>
              <a:rPr lang="en-US" sz="1200" err="1">
                <a:solidFill>
                  <a:schemeClr val="bg1"/>
                </a:solidFill>
                <a:latin typeface="Bahnschrift"/>
                <a:ea typeface="Calibri"/>
                <a:cs typeface="Bahnschrift"/>
              </a:rPr>
              <a:t>guardado</a:t>
            </a:r>
            <a:r>
              <a:rPr lang="en-US" sz="1200">
                <a:solidFill>
                  <a:schemeClr val="bg1"/>
                </a:solidFill>
                <a:latin typeface="Bahnschrift"/>
                <a:ea typeface="Calibri"/>
                <a:cs typeface="Bahnschrift"/>
              </a:rPr>
              <a:t> </a:t>
            </a:r>
            <a:r>
              <a:rPr lang="en-US" sz="1200" err="1">
                <a:solidFill>
                  <a:schemeClr val="bg1"/>
                </a:solidFill>
                <a:latin typeface="Bahnschrift"/>
                <a:ea typeface="Calibri"/>
                <a:cs typeface="Bahnschrift"/>
              </a:rPr>
              <a:t>como</a:t>
            </a:r>
            <a:r>
              <a:rPr lang="en-US" sz="1200">
                <a:solidFill>
                  <a:schemeClr val="bg1"/>
                </a:solidFill>
                <a:latin typeface="Bahnschrift"/>
                <a:ea typeface="Calibri"/>
                <a:cs typeface="Bahnschrift"/>
              </a:rPr>
              <a:t> </a:t>
            </a:r>
            <a:r>
              <a:rPr lang="en-US" sz="1200" err="1">
                <a:solidFill>
                  <a:schemeClr val="bg1"/>
                </a:solidFill>
                <a:latin typeface="Bahnschrift"/>
                <a:ea typeface="Calibri"/>
                <a:cs typeface="Bahnschrift"/>
              </a:rPr>
              <a:t>arquivos</a:t>
            </a:r>
            <a:r>
              <a:rPr lang="en-US" sz="1200">
                <a:solidFill>
                  <a:schemeClr val="bg1"/>
                </a:solidFill>
                <a:latin typeface="Bahnschrift"/>
                <a:ea typeface="Calibri"/>
                <a:cs typeface="Bahnschrift"/>
              </a:rPr>
              <a:t> .md</a:t>
            </a:r>
          </a:p>
          <a:p>
            <a:pPr marL="171450" indent="-171450">
              <a:buFont typeface="Arial"/>
              <a:buChar char="•"/>
            </a:pPr>
            <a:endParaRPr lang="en-US" sz="1200" b="0">
              <a:solidFill>
                <a:srgbClr val="FFB531"/>
              </a:solidFill>
              <a:latin typeface="Bahnschrift SemiBold"/>
              <a:ea typeface="Calibri"/>
              <a:cs typeface="Bahnschrift SemiBold"/>
            </a:endParaRPr>
          </a:p>
          <a:p>
            <a:pPr marL="171450" indent="-171450">
              <a:buFont typeface="Arial"/>
              <a:buChar char="•"/>
            </a:pPr>
            <a:endParaRPr lang="en-US" sz="1600" b="0">
              <a:solidFill>
                <a:srgbClr val="FFB531"/>
              </a:solidFill>
              <a:latin typeface="Bahnschrift SemiBold"/>
              <a:ea typeface="Calibri"/>
              <a:cs typeface="Bahnschrift SemiBold"/>
            </a:endParaRPr>
          </a:p>
        </p:txBody>
      </p:sp>
      <p:sp>
        <p:nvSpPr>
          <p:cNvPr id="18" name="TextBox 1">
            <a:extLst>
              <a:ext uri="{FF2B5EF4-FFF2-40B4-BE49-F238E27FC236}">
                <a16:creationId xmlns:a16="http://schemas.microsoft.com/office/drawing/2014/main" id="{8C1132E1-7B15-74A9-4126-A2E501E8E693}"/>
              </a:ext>
            </a:extLst>
          </p:cNvPr>
          <p:cNvSpPr txBox="1"/>
          <p:nvPr/>
        </p:nvSpPr>
        <p:spPr>
          <a:xfrm>
            <a:off x="3234936" y="1663744"/>
            <a:ext cx="6566429" cy="175432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1"/>
                </a:solidFill>
              </a:rPr>
              <a:t>Numeros </a:t>
            </a:r>
          </a:p>
          <a:p>
            <a:r>
              <a:rPr lang="en-US" err="1">
                <a:solidFill>
                  <a:schemeClr val="bg1"/>
                </a:solidFill>
              </a:rPr>
              <a:t>Colocar</a:t>
            </a:r>
            <a:r>
              <a:rPr lang="en-US">
                <a:solidFill>
                  <a:schemeClr val="bg1"/>
                </a:solidFill>
              </a:rPr>
              <a:t> as analyses </a:t>
            </a:r>
            <a:r>
              <a:rPr lang="en-US" err="1">
                <a:solidFill>
                  <a:schemeClr val="bg1"/>
                </a:solidFill>
              </a:rPr>
              <a:t>numericas</a:t>
            </a:r>
            <a:endParaRPr lang="en-US">
              <a:solidFill>
                <a:schemeClr val="bg1"/>
              </a:solidFill>
            </a:endParaRPr>
          </a:p>
          <a:p>
            <a:r>
              <a:rPr lang="en-US">
                <a:solidFill>
                  <a:schemeClr val="bg1"/>
                </a:solidFill>
              </a:rPr>
              <a:t>Usar </a:t>
            </a:r>
            <a:r>
              <a:rPr lang="en-US" err="1">
                <a:solidFill>
                  <a:schemeClr val="bg1"/>
                </a:solidFill>
              </a:rPr>
              <a:t>uma</a:t>
            </a:r>
            <a:r>
              <a:rPr lang="en-US">
                <a:solidFill>
                  <a:schemeClr val="bg1"/>
                </a:solidFill>
              </a:rPr>
              <a:t> </a:t>
            </a:r>
            <a:r>
              <a:rPr lang="en-US" err="1">
                <a:solidFill>
                  <a:schemeClr val="bg1"/>
                </a:solidFill>
              </a:rPr>
              <a:t>penca</a:t>
            </a:r>
            <a:r>
              <a:rPr lang="en-US">
                <a:solidFill>
                  <a:schemeClr val="bg1"/>
                </a:solidFill>
              </a:rPr>
              <a:t> de </a:t>
            </a:r>
            <a:r>
              <a:rPr lang="en-US" err="1">
                <a:solidFill>
                  <a:schemeClr val="bg1"/>
                </a:solidFill>
              </a:rPr>
              <a:t>exemplo</a:t>
            </a:r>
            <a:r>
              <a:rPr lang="en-US">
                <a:solidFill>
                  <a:schemeClr val="bg1"/>
                </a:solidFill>
              </a:rPr>
              <a:t> – </a:t>
            </a:r>
            <a:r>
              <a:rPr lang="en-US" err="1">
                <a:solidFill>
                  <a:schemeClr val="bg1"/>
                </a:solidFill>
              </a:rPr>
              <a:t>analise</a:t>
            </a:r>
            <a:r>
              <a:rPr lang="en-US">
                <a:solidFill>
                  <a:schemeClr val="bg1"/>
                </a:solidFill>
              </a:rPr>
              <a:t> de </a:t>
            </a:r>
            <a:r>
              <a:rPr lang="en-US" err="1">
                <a:solidFill>
                  <a:schemeClr val="bg1"/>
                </a:solidFill>
              </a:rPr>
              <a:t>usos</a:t>
            </a:r>
            <a:r>
              <a:rPr lang="en-US">
                <a:solidFill>
                  <a:schemeClr val="bg1"/>
                </a:solidFill>
              </a:rPr>
              <a:t> </a:t>
            </a:r>
            <a:r>
              <a:rPr lang="en-US" err="1">
                <a:solidFill>
                  <a:schemeClr val="bg1"/>
                </a:solidFill>
              </a:rPr>
              <a:t>práticos</a:t>
            </a:r>
            <a:r>
              <a:rPr lang="en-US">
                <a:solidFill>
                  <a:schemeClr val="bg1"/>
                </a:solidFill>
              </a:rPr>
              <a:t> de IA</a:t>
            </a:r>
          </a:p>
          <a:p>
            <a:r>
              <a:rPr lang="en-US" err="1">
                <a:solidFill>
                  <a:schemeClr val="bg1"/>
                </a:solidFill>
              </a:rPr>
              <a:t>Metade</a:t>
            </a:r>
            <a:r>
              <a:rPr lang="en-US">
                <a:solidFill>
                  <a:schemeClr val="bg1"/>
                </a:solidFill>
              </a:rPr>
              <a:t> para </a:t>
            </a:r>
            <a:r>
              <a:rPr lang="en-US" err="1">
                <a:solidFill>
                  <a:schemeClr val="bg1"/>
                </a:solidFill>
              </a:rPr>
              <a:t>pesquisa</a:t>
            </a:r>
            <a:r>
              <a:rPr lang="en-US">
                <a:solidFill>
                  <a:schemeClr val="bg1"/>
                </a:solidFill>
              </a:rPr>
              <a:t>. </a:t>
            </a:r>
            <a:r>
              <a:rPr lang="en-US" err="1">
                <a:solidFill>
                  <a:schemeClr val="bg1"/>
                </a:solidFill>
              </a:rPr>
              <a:t>Explicar</a:t>
            </a:r>
            <a:r>
              <a:rPr lang="en-US">
                <a:solidFill>
                  <a:schemeClr val="bg1"/>
                </a:solidFill>
              </a:rPr>
              <a:t> </a:t>
            </a:r>
            <a:r>
              <a:rPr lang="en-US" err="1">
                <a:solidFill>
                  <a:schemeClr val="bg1"/>
                </a:solidFill>
              </a:rPr>
              <a:t>em</a:t>
            </a:r>
            <a:r>
              <a:rPr lang="en-US">
                <a:solidFill>
                  <a:schemeClr val="bg1"/>
                </a:solidFill>
              </a:rPr>
              <a:t> </a:t>
            </a:r>
            <a:r>
              <a:rPr lang="en-US" err="1">
                <a:solidFill>
                  <a:schemeClr val="bg1"/>
                </a:solidFill>
              </a:rPr>
              <a:t>muitos</a:t>
            </a:r>
            <a:r>
              <a:rPr lang="en-US">
                <a:solidFill>
                  <a:schemeClr val="bg1"/>
                </a:solidFill>
              </a:rPr>
              <a:t> </a:t>
            </a:r>
            <a:r>
              <a:rPr lang="en-US" err="1">
                <a:solidFill>
                  <a:schemeClr val="bg1"/>
                </a:solidFill>
              </a:rPr>
              <a:t>detalhes</a:t>
            </a:r>
            <a:r>
              <a:rPr lang="en-US">
                <a:solidFill>
                  <a:schemeClr val="bg1"/>
                </a:solidFill>
              </a:rPr>
              <a:t> o </a:t>
            </a:r>
            <a:r>
              <a:rPr lang="en-US" err="1">
                <a:solidFill>
                  <a:schemeClr val="bg1"/>
                </a:solidFill>
              </a:rPr>
              <a:t>metodo</a:t>
            </a:r>
            <a:r>
              <a:rPr lang="en-US">
                <a:solidFill>
                  <a:schemeClr val="bg1"/>
                </a:solidFill>
              </a:rPr>
              <a:t>, </a:t>
            </a:r>
            <a:r>
              <a:rPr lang="en-US" err="1">
                <a:solidFill>
                  <a:schemeClr val="bg1"/>
                </a:solidFill>
              </a:rPr>
              <a:t>exemplo</a:t>
            </a:r>
            <a:r>
              <a:rPr lang="en-US">
                <a:solidFill>
                  <a:schemeClr val="bg1"/>
                </a:solidFill>
              </a:rPr>
              <a:t> de </a:t>
            </a:r>
            <a:r>
              <a:rPr lang="en-US" err="1">
                <a:solidFill>
                  <a:schemeClr val="bg1"/>
                </a:solidFill>
              </a:rPr>
              <a:t>coisa</a:t>
            </a:r>
            <a:r>
              <a:rPr lang="en-US">
                <a:solidFill>
                  <a:schemeClr val="bg1"/>
                </a:solidFill>
              </a:rPr>
              <a:t> para </a:t>
            </a:r>
            <a:r>
              <a:rPr lang="en-US" err="1">
                <a:solidFill>
                  <a:schemeClr val="bg1"/>
                </a:solidFill>
              </a:rPr>
              <a:t>cair</a:t>
            </a:r>
            <a:r>
              <a:rPr lang="en-US">
                <a:solidFill>
                  <a:schemeClr val="bg1"/>
                </a:solidFill>
              </a:rPr>
              <a:t>, </a:t>
            </a:r>
            <a:r>
              <a:rPr lang="en-US" err="1">
                <a:solidFill>
                  <a:schemeClr val="bg1"/>
                </a:solidFill>
              </a:rPr>
              <a:t>alguma</a:t>
            </a:r>
            <a:r>
              <a:rPr lang="en-US">
                <a:solidFill>
                  <a:schemeClr val="bg1"/>
                </a:solidFill>
              </a:rPr>
              <a:t> </a:t>
            </a:r>
            <a:r>
              <a:rPr lang="en-US" err="1">
                <a:solidFill>
                  <a:schemeClr val="bg1"/>
                </a:solidFill>
              </a:rPr>
              <a:t>estatistica</a:t>
            </a:r>
            <a:r>
              <a:rPr lang="en-US">
                <a:solidFill>
                  <a:schemeClr val="bg1"/>
                </a:solidFill>
              </a:rPr>
              <a:t> </a:t>
            </a:r>
            <a:r>
              <a:rPr lang="en-US" err="1">
                <a:solidFill>
                  <a:schemeClr val="bg1"/>
                </a:solidFill>
              </a:rPr>
              <a:t>numérica</a:t>
            </a:r>
            <a:r>
              <a:rPr lang="en-US">
                <a:solidFill>
                  <a:schemeClr val="bg1"/>
                </a:solidFill>
              </a:rPr>
              <a:t>. </a:t>
            </a:r>
          </a:p>
          <a:p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30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" name="!!ghost"/>
          <p:cNvSpPr txBox="1"/>
          <p:nvPr/>
        </p:nvSpPr>
        <p:spPr>
          <a:xfrm>
            <a:off x="6900000" y="-230000"/>
            <a:ext cx="4950000" cy="200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pt-BR" sz="15000" b="0" spc="0">
                <a:solidFill>
                  <a:srgbClr val="101A2E"/>
                </a:solidFill>
                <a:latin typeface="Bahnschrift SemiBold Condensed"/>
              </a:rPr>
              <a:t>09</a:t>
            </a:r>
          </a:p>
        </p:txBody>
      </p:sp>
      <p:sp>
        <p:nvSpPr>
          <p:cNvPr id="62" name="!!tick"/>
          <p:cNvSpPr/>
          <p:nvPr/>
        </p:nvSpPr>
        <p:spPr>
          <a:xfrm>
            <a:off x="4384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3" name="!!foot_l"/>
          <p:cNvSpPr txBox="1"/>
          <p:nvPr/>
        </p:nvSpPr>
        <p:spPr>
          <a:xfrm>
            <a:off x="571500" y="6653200"/>
            <a:ext cx="6000000" cy="16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pt-BR" sz="700" b="0" spc="120">
                <a:solidFill>
                  <a:srgbClr val="58698A"/>
                </a:solidFill>
                <a:latin typeface="Consolas"/>
              </a:rPr>
              <a:t>ITAÚ QUANT AI CHALLENGE  ·  SEMIFINAL 2026</a:t>
            </a:r>
          </a:p>
        </p:txBody>
      </p:sp>
      <p:sp>
        <p:nvSpPr>
          <p:cNvPr id="64" name="!!foot_r"/>
          <p:cNvSpPr txBox="1"/>
          <p:nvPr/>
        </p:nvSpPr>
        <p:spPr>
          <a:xfrm>
            <a:off x="5620500" y="6653200"/>
            <a:ext cx="6000000" cy="16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pt-BR" sz="700" b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566420" y="426720"/>
            <a:ext cx="838200" cy="203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0" b="1" spc="300">
                <a:solidFill>
                  <a:srgbClr val="FFB531"/>
                </a:solidFill>
                <a:latin typeface="Consolas"/>
              </a:rPr>
              <a:t>KAIROS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70660" y="426720"/>
            <a:ext cx="3810000" cy="203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0" spc="72">
                <a:solidFill>
                  <a:srgbClr val="8395B5"/>
                </a:solidFill>
                <a:latin typeface="Consolas"/>
              </a:rPr>
              <a:t>Backtest e resultados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50500" y="467359"/>
            <a:ext cx="1270000" cy="152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900" b="0" spc="45">
                <a:solidFill>
                  <a:srgbClr val="8395B5"/>
                </a:solidFill>
                <a:latin typeface="Consolas"/>
              </a:rPr>
              <a:t>09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704850"/>
            <a:ext cx="11049000" cy="9525"/>
          </a:xfrm>
          <a:prstGeom prst="rect">
            <a:avLst/>
          </a:prstGeom>
          <a:gradFill rotWithShape="1">
            <a:gsLst>
              <a:gs pos="0">
                <a:srgbClr val="FFB531"/>
              </a:gs>
              <a:gs pos="30000">
                <a:srgbClr val="2A3F63"/>
              </a:gs>
              <a:gs pos="100000">
                <a:srgbClr val="2A3F63">
                  <a:alpha val="30000"/>
                </a:srgbClr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>
              <a:latin typeface="Bahnschrift SemiLight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66420" y="850900"/>
            <a:ext cx="4445000" cy="3048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000" b="0">
                <a:solidFill>
                  <a:srgbClr val="F5F7FB"/>
                </a:solidFill>
                <a:latin typeface="Bahnschrift SemiBold"/>
              </a:rPr>
              <a:t>+3,0 pp sobre o SPY, ao mesmo risco</a:t>
            </a:r>
          </a:p>
        </p:txBody>
      </p:sp>
      <p:sp>
        <p:nvSpPr>
          <p:cNvPr id="9" name="Rectangle 8"/>
          <p:cNvSpPr/>
          <p:nvPr/>
        </p:nvSpPr>
        <p:spPr>
          <a:xfrm>
            <a:off x="3505200" y="1295400"/>
            <a:ext cx="10160" cy="5118100"/>
          </a:xfrm>
          <a:prstGeom prst="rect">
            <a:avLst/>
          </a:prstGeom>
          <a:gradFill rotWithShape="1">
            <a:gsLst>
              <a:gs pos="0">
                <a:srgbClr val="2A3F63"/>
              </a:gs>
              <a:gs pos="100000">
                <a:srgbClr val="2A3F63">
                  <a:alpha val="35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>
              <a:latin typeface="Bahnschrift SemiLight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66420" y="1295400"/>
            <a:ext cx="2768600" cy="152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00" b="1" spc="144">
                <a:solidFill>
                  <a:srgbClr val="FFB531"/>
                </a:solidFill>
                <a:latin typeface="Consolas"/>
              </a:rPr>
              <a:t>PLACAR DE ENTREGA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420" y="1511300"/>
            <a:ext cx="1742440" cy="127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720" b="0" spc="50">
                <a:solidFill>
                  <a:srgbClr val="8395B5"/>
                </a:solidFill>
                <a:latin typeface="Consolas"/>
              </a:rPr>
              <a:t>MÉTRICA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420" y="1511300"/>
            <a:ext cx="2108200" cy="127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720" b="0" spc="50">
                <a:solidFill>
                  <a:srgbClr val="8395B5"/>
                </a:solidFill>
                <a:latin typeface="Consolas"/>
              </a:rPr>
              <a:t>KAIROS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420" y="1511300"/>
            <a:ext cx="2768600" cy="127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720" b="0" spc="50">
                <a:solidFill>
                  <a:srgbClr val="8395B5"/>
                </a:solidFill>
                <a:latin typeface="Consolas"/>
              </a:rPr>
              <a:t>SPY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420" y="1676400"/>
            <a:ext cx="2768600" cy="9525"/>
          </a:xfrm>
          <a:prstGeom prst="rect">
            <a:avLst/>
          </a:prstGeom>
          <a:solidFill>
            <a:srgbClr val="2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>
              <a:latin typeface="Bahnschrift SemiLight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66420" y="1714500"/>
            <a:ext cx="1742440" cy="2095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40" b="0">
                <a:solidFill>
                  <a:srgbClr val="BAC6DA"/>
                </a:solidFill>
                <a:latin typeface="Bahnschrift"/>
              </a:rPr>
              <a:t>Retorno líquido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420" y="1714500"/>
            <a:ext cx="2108200" cy="2095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840" b="1">
                <a:solidFill>
                  <a:srgbClr val="F5F7FB"/>
                </a:solidFill>
                <a:latin typeface="Consolas"/>
              </a:rPr>
              <a:t>+33,2%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420" y="1714500"/>
            <a:ext cx="2768600" cy="2095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840" b="0">
                <a:solidFill>
                  <a:srgbClr val="8395B5"/>
                </a:solidFill>
                <a:latin typeface="Consolas"/>
              </a:rPr>
              <a:t>+30,1%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420" y="1918970"/>
            <a:ext cx="2768600" cy="6350"/>
          </a:xfrm>
          <a:prstGeom prst="rect">
            <a:avLst/>
          </a:prstGeom>
          <a:solidFill>
            <a:srgbClr val="2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>
              <a:latin typeface="Bahnschrift SemiLight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566420" y="1924050"/>
            <a:ext cx="1742440" cy="2095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40" b="0">
                <a:solidFill>
                  <a:srgbClr val="BAC6DA"/>
                </a:solidFill>
                <a:latin typeface="Bahnschrift"/>
              </a:rPr>
              <a:t>Vol. anualizada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420" y="1924050"/>
            <a:ext cx="2108200" cy="2095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840" b="1">
                <a:solidFill>
                  <a:srgbClr val="F5F7FB"/>
                </a:solidFill>
                <a:latin typeface="Consolas"/>
              </a:rPr>
              <a:t>17,6%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420" y="1924050"/>
            <a:ext cx="2768600" cy="2095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840" b="0">
                <a:solidFill>
                  <a:srgbClr val="8395B5"/>
                </a:solidFill>
                <a:latin typeface="Consolas"/>
              </a:rPr>
              <a:t>17,9%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420" y="2128520"/>
            <a:ext cx="2768600" cy="6350"/>
          </a:xfrm>
          <a:prstGeom prst="rect">
            <a:avLst/>
          </a:prstGeom>
          <a:solidFill>
            <a:srgbClr val="2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>
              <a:latin typeface="Bahnschrift SemiLight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566420" y="2133600"/>
            <a:ext cx="1742440" cy="2095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40" b="0">
                <a:solidFill>
                  <a:srgbClr val="BAC6DA"/>
                </a:solidFill>
                <a:latin typeface="Bahnschrift"/>
              </a:rPr>
              <a:t>Sharpe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420" y="2133600"/>
            <a:ext cx="2108200" cy="2095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840" b="1">
                <a:solidFill>
                  <a:srgbClr val="F5F7FB"/>
                </a:solidFill>
                <a:latin typeface="Consolas"/>
              </a:rPr>
              <a:t>1,18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420" y="2133600"/>
            <a:ext cx="2768600" cy="2095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840" b="0">
                <a:solidFill>
                  <a:srgbClr val="8395B5"/>
                </a:solidFill>
                <a:latin typeface="Consolas"/>
              </a:rPr>
              <a:t>1,08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420" y="2338070"/>
            <a:ext cx="2768600" cy="6350"/>
          </a:xfrm>
          <a:prstGeom prst="rect">
            <a:avLst/>
          </a:prstGeom>
          <a:solidFill>
            <a:srgbClr val="2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>
              <a:latin typeface="Bahnschrift SemiLight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566420" y="2343150"/>
            <a:ext cx="1742440" cy="2095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40" b="0">
                <a:solidFill>
                  <a:srgbClr val="BAC6DA"/>
                </a:solidFill>
                <a:latin typeface="Bahnschrift"/>
              </a:rPr>
              <a:t>Máx. drawdown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420" y="2343150"/>
            <a:ext cx="2108200" cy="2095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840" b="1">
                <a:solidFill>
                  <a:srgbClr val="F5F7FB"/>
                </a:solidFill>
                <a:latin typeface="Consolas"/>
              </a:rPr>
              <a:t>−19,6%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420" y="2343150"/>
            <a:ext cx="2768600" cy="2095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840" b="0">
                <a:solidFill>
                  <a:srgbClr val="8395B5"/>
                </a:solidFill>
                <a:latin typeface="Consolas"/>
              </a:rPr>
              <a:t>−18,8%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420" y="2547620"/>
            <a:ext cx="2768600" cy="6350"/>
          </a:xfrm>
          <a:prstGeom prst="rect">
            <a:avLst/>
          </a:prstGeom>
          <a:solidFill>
            <a:srgbClr val="2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>
              <a:latin typeface="Bahnschrift SemiLight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566420" y="2552700"/>
            <a:ext cx="1742440" cy="2095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40" b="0">
                <a:solidFill>
                  <a:srgbClr val="BAC6DA"/>
                </a:solidFill>
                <a:latin typeface="Bahnschrift"/>
              </a:rPr>
              <a:t>Alpha anual.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420" y="2552700"/>
            <a:ext cx="2108200" cy="2095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840" b="1">
                <a:solidFill>
                  <a:srgbClr val="F5F7FB"/>
                </a:solidFill>
                <a:latin typeface="Consolas"/>
              </a:rPr>
              <a:t>+2,57%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420" y="2552700"/>
            <a:ext cx="2768600" cy="2095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840" b="0">
                <a:solidFill>
                  <a:srgbClr val="8395B5"/>
                </a:solidFill>
                <a:latin typeface="Bahnschrift"/>
              </a:rPr>
              <a:t>—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420" y="2757170"/>
            <a:ext cx="2768600" cy="6350"/>
          </a:xfrm>
          <a:prstGeom prst="rect">
            <a:avLst/>
          </a:prstGeom>
          <a:solidFill>
            <a:srgbClr val="2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>
              <a:latin typeface="Bahnschrift SemiLight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566420" y="2762250"/>
            <a:ext cx="1742440" cy="2095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40" b="0">
                <a:solidFill>
                  <a:srgbClr val="BAC6DA"/>
                </a:solidFill>
                <a:latin typeface="Bahnschrift"/>
              </a:rPr>
              <a:t>Beta vs SPY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420" y="2762250"/>
            <a:ext cx="2108200" cy="2095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840" b="1">
                <a:solidFill>
                  <a:srgbClr val="F5F7FB"/>
                </a:solidFill>
                <a:latin typeface="Consolas"/>
              </a:rPr>
              <a:t>0,95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420" y="2762250"/>
            <a:ext cx="2768600" cy="2095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840" b="0">
                <a:solidFill>
                  <a:srgbClr val="8395B5"/>
                </a:solidFill>
                <a:latin typeface="Consolas"/>
              </a:rPr>
              <a:t>1,00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420" y="2966720"/>
            <a:ext cx="2768600" cy="6350"/>
          </a:xfrm>
          <a:prstGeom prst="rect">
            <a:avLst/>
          </a:prstGeom>
          <a:solidFill>
            <a:srgbClr val="2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>
              <a:latin typeface="Bahnschrift SemiLight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566420" y="2971800"/>
            <a:ext cx="1742440" cy="2095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40" b="0">
                <a:solidFill>
                  <a:srgbClr val="BAC6DA"/>
                </a:solidFill>
                <a:latin typeface="Bahnschrift"/>
              </a:rPr>
              <a:t>Σ|w| média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420" y="2971800"/>
            <a:ext cx="2108200" cy="2095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840" b="1">
                <a:solidFill>
                  <a:srgbClr val="F5F7FB"/>
                </a:solidFill>
                <a:latin typeface="Consolas"/>
              </a:rPr>
              <a:t>1,91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420" y="2971800"/>
            <a:ext cx="2768600" cy="2095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840" b="0">
                <a:solidFill>
                  <a:srgbClr val="8395B5"/>
                </a:solidFill>
                <a:latin typeface="Consolas"/>
              </a:rPr>
              <a:t>1,00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66420" y="3176270"/>
            <a:ext cx="2768600" cy="6350"/>
          </a:xfrm>
          <a:prstGeom prst="rect">
            <a:avLst/>
          </a:prstGeom>
          <a:solidFill>
            <a:srgbClr val="2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>
              <a:latin typeface="Bahnschrift SemiLight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566420" y="3181350"/>
            <a:ext cx="1742440" cy="2095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40" b="0">
                <a:solidFill>
                  <a:srgbClr val="BAC6DA"/>
                </a:solidFill>
                <a:latin typeface="Bahnschrift"/>
              </a:rPr>
              <a:t>Giro diário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420" y="3181350"/>
            <a:ext cx="2108200" cy="2095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840" b="1">
                <a:solidFill>
                  <a:srgbClr val="F5F7FB"/>
                </a:solidFill>
                <a:latin typeface="Consolas"/>
              </a:rPr>
              <a:t>0,40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420" y="3181350"/>
            <a:ext cx="2768600" cy="2095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840" b="0">
                <a:solidFill>
                  <a:srgbClr val="8395B5"/>
                </a:solidFill>
                <a:latin typeface="Bahnschrift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420" y="3594100"/>
            <a:ext cx="2768600" cy="152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00" b="1" spc="144">
                <a:solidFill>
                  <a:srgbClr val="FFB531"/>
                </a:solidFill>
                <a:latin typeface="Consolas"/>
              </a:rPr>
              <a:t>DE ONDE VEM O RESULTADO</a:t>
            </a:r>
          </a:p>
        </p:txBody>
      </p:sp>
      <p:pic>
        <p:nvPicPr>
          <p:cNvPr id="47" name="Picture 46" descr="p9_atribuica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420" y="3810000"/>
            <a:ext cx="2933700" cy="193040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566420" y="5842000"/>
            <a:ext cx="2768600" cy="50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940"/>
              </a:lnSpc>
            </a:pPr>
            <a:r>
              <a:rPr sz="720" b="0">
                <a:solidFill>
                  <a:srgbClr val="F5F7FB"/>
                </a:solidFill>
                <a:latin typeface="Bahnschrift"/>
              </a:rPr>
              <a:t>Soma dos retornos diários, não capitalização</a:t>
            </a:r>
            <a:r>
              <a:rPr sz="720" b="0">
                <a:solidFill>
                  <a:srgbClr val="8395B5"/>
                </a:solidFill>
                <a:latin typeface="Bahnschrift"/>
              </a:rPr>
              <a:t> — daí +30,9 pp aqui e +33,2% na curva.</a:t>
            </a:r>
          </a:p>
          <a:p>
            <a:pPr algn="l">
              <a:lnSpc>
                <a:spcPts val="940"/>
              </a:lnSpc>
            </a:pPr>
            <a:r>
              <a:rPr sz="720" b="0">
                <a:solidFill>
                  <a:srgbClr val="F5F7FB"/>
                </a:solidFill>
                <a:latin typeface="Bahnschrift"/>
              </a:rPr>
              <a:t>E sem juros:</a:t>
            </a:r>
            <a:r>
              <a:rPr sz="720" b="0">
                <a:solidFill>
                  <a:srgbClr val="8395B5"/>
                </a:solidFill>
                <a:latin typeface="Bahnschrift"/>
              </a:rPr>
              <a:t> o caixa não é remunerado e o Sharpe usa taxa livre de risco zero, igual para Kairos e SPY.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83000" y="1295400"/>
            <a:ext cx="3556000" cy="152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00" b="1" spc="144">
                <a:solidFill>
                  <a:srgbClr val="FFB531"/>
                </a:solidFill>
                <a:latin typeface="Consolas"/>
              </a:rPr>
              <a:t>CURVA ACUMULADA E DRAWDOWN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614920" y="1488439"/>
            <a:ext cx="4000500" cy="1524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740" b="0">
                <a:solidFill>
                  <a:srgbClr val="8395B5"/>
                </a:solidFill>
                <a:latin typeface="Consolas"/>
              </a:rPr>
              <a:t>374 </a:t>
            </a:r>
            <a:r>
              <a:rPr sz="740" b="0" err="1">
                <a:solidFill>
                  <a:srgbClr val="8395B5"/>
                </a:solidFill>
                <a:latin typeface="Bahnschrift"/>
              </a:rPr>
              <a:t>pregões</a:t>
            </a:r>
            <a:r>
              <a:rPr sz="740" b="0">
                <a:solidFill>
                  <a:srgbClr val="8395B5"/>
                </a:solidFill>
                <a:latin typeface="Bahnschrift"/>
              </a:rPr>
              <a:t> · 10/02/2025 a 06/08/2026 · </a:t>
            </a:r>
            <a:r>
              <a:rPr sz="740" b="0" err="1">
                <a:solidFill>
                  <a:srgbClr val="8395B5"/>
                </a:solidFill>
                <a:latin typeface="Bahnschrift"/>
              </a:rPr>
              <a:t>líquido</a:t>
            </a:r>
            <a:r>
              <a:rPr sz="740" b="0">
                <a:solidFill>
                  <a:srgbClr val="8395B5"/>
                </a:solidFill>
                <a:latin typeface="Bahnschrift"/>
              </a:rPr>
              <a:t> de </a:t>
            </a:r>
            <a:r>
              <a:rPr sz="740" b="0" err="1">
                <a:solidFill>
                  <a:srgbClr val="8395B5"/>
                </a:solidFill>
                <a:latin typeface="Bahnschrift"/>
              </a:rPr>
              <a:t>custo</a:t>
            </a:r>
            <a:endParaRPr sz="740" b="0">
              <a:solidFill>
                <a:srgbClr val="8395B5"/>
              </a:solidFill>
              <a:latin typeface="Bahnschrift"/>
            </a:endParaRPr>
          </a:p>
        </p:txBody>
      </p:sp>
      <p:pic>
        <p:nvPicPr>
          <p:cNvPr id="51" name="Picture 50" descr="p9_curv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77920" y="1667510"/>
            <a:ext cx="7937500" cy="4446270"/>
          </a:xfrm>
          <a:prstGeom prst="rect">
            <a:avLst/>
          </a:prstGeom>
        </p:spPr>
      </p:pic>
      <p:sp>
        <p:nvSpPr>
          <p:cNvPr id="58" name="Rectangle 57"/>
          <p:cNvSpPr/>
          <p:nvPr/>
        </p:nvSpPr>
        <p:spPr>
          <a:xfrm>
            <a:off x="571500" y="6553200"/>
            <a:ext cx="11049000" cy="9525"/>
          </a:xfrm>
          <a:prstGeom prst="rect">
            <a:avLst/>
          </a:prstGeom>
          <a:solidFill>
            <a:srgbClr val="2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>
              <a:latin typeface="Bahnschrift SemiLight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B1A8FF-BF37-4702-3430-D3284905E3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6815393-A439-23D9-B546-C45A49E7F7A5}"/>
              </a:ext>
            </a:extLst>
          </p:cNvPr>
          <p:cNvSpPr txBox="1"/>
          <p:nvPr/>
        </p:nvSpPr>
        <p:spPr>
          <a:xfrm>
            <a:off x="3064020" y="1629561"/>
            <a:ext cx="6566429" cy="147732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err="1"/>
              <a:t>Análise</a:t>
            </a:r>
            <a:r>
              <a:rPr lang="en-US"/>
              <a:t> </a:t>
            </a:r>
            <a:r>
              <a:rPr lang="en-US" err="1"/>
              <a:t>critica</a:t>
            </a:r>
            <a:r>
              <a:rPr lang="en-US"/>
              <a:t> dos </a:t>
            </a:r>
            <a:r>
              <a:rPr lang="en-US" err="1"/>
              <a:t>resultados</a:t>
            </a:r>
            <a:r>
              <a:rPr lang="en-US"/>
              <a:t>  e da </a:t>
            </a:r>
            <a:r>
              <a:rPr lang="en-US" err="1"/>
              <a:t>estratégia</a:t>
            </a:r>
            <a:endParaRPr lang="en-US"/>
          </a:p>
          <a:p>
            <a:pPr marL="285750" indent="-285750">
              <a:buFontTx/>
              <a:buChar char="-"/>
            </a:pPr>
            <a:r>
              <a:rPr lang="en-US" err="1"/>
              <a:t>Entrar</a:t>
            </a:r>
            <a:r>
              <a:rPr lang="en-US"/>
              <a:t> </a:t>
            </a:r>
            <a:r>
              <a:rPr lang="en-US" err="1"/>
              <a:t>em</a:t>
            </a:r>
            <a:r>
              <a:rPr lang="en-US"/>
              <a:t> </a:t>
            </a:r>
            <a:r>
              <a:rPr lang="en-US" err="1"/>
              <a:t>detalhes</a:t>
            </a:r>
            <a:r>
              <a:rPr lang="en-US"/>
              <a:t> </a:t>
            </a:r>
            <a:r>
              <a:rPr lang="en-US" err="1"/>
              <a:t>nos</a:t>
            </a:r>
            <a:r>
              <a:rPr lang="en-US"/>
              <a:t> </a:t>
            </a:r>
            <a:r>
              <a:rPr lang="en-US" err="1"/>
              <a:t>nossos</a:t>
            </a:r>
            <a:r>
              <a:rPr lang="en-US"/>
              <a:t> </a:t>
            </a:r>
            <a:r>
              <a:rPr lang="en-US" err="1"/>
              <a:t>pontos</a:t>
            </a:r>
            <a:r>
              <a:rPr lang="en-US"/>
              <a:t> </a:t>
            </a:r>
            <a:r>
              <a:rPr lang="en-US" err="1"/>
              <a:t>fracos</a:t>
            </a:r>
            <a:r>
              <a:rPr lang="en-US"/>
              <a:t> e fortes.</a:t>
            </a:r>
          </a:p>
          <a:p>
            <a:pPr marL="285750" indent="-285750">
              <a:buFontTx/>
              <a:buChar char="-"/>
            </a:pPr>
            <a:r>
              <a:rPr lang="en-US"/>
              <a:t>O </a:t>
            </a:r>
            <a:r>
              <a:rPr lang="en-US" err="1"/>
              <a:t>que</a:t>
            </a:r>
            <a:r>
              <a:rPr lang="en-US"/>
              <a:t> </a:t>
            </a:r>
            <a:r>
              <a:rPr lang="en-US" err="1"/>
              <a:t>faria</a:t>
            </a:r>
            <a:r>
              <a:rPr lang="en-US"/>
              <a:t> </a:t>
            </a:r>
            <a:r>
              <a:rPr lang="en-US" err="1"/>
              <a:t>diferente</a:t>
            </a:r>
            <a:r>
              <a:rPr lang="en-US"/>
              <a:t> o </a:t>
            </a:r>
            <a:r>
              <a:rPr lang="en-US" err="1"/>
              <a:t>que</a:t>
            </a:r>
            <a:r>
              <a:rPr lang="en-US"/>
              <a:t> </a:t>
            </a:r>
            <a:r>
              <a:rPr lang="en-US" err="1"/>
              <a:t>eu</a:t>
            </a:r>
            <a:r>
              <a:rPr lang="en-US"/>
              <a:t> </a:t>
            </a:r>
            <a:r>
              <a:rPr lang="en-US" err="1"/>
              <a:t>faria</a:t>
            </a:r>
            <a:r>
              <a:rPr lang="en-US"/>
              <a:t> </a:t>
            </a:r>
            <a:r>
              <a:rPr lang="en-US" err="1"/>
              <a:t>igual</a:t>
            </a:r>
            <a:r>
              <a:rPr lang="en-US"/>
              <a:t> </a:t>
            </a:r>
          </a:p>
          <a:p>
            <a:pPr marL="285750" indent="-285750">
              <a:buFontTx/>
              <a:buChar char="-"/>
            </a:pPr>
            <a:r>
              <a:rPr lang="en-US" err="1"/>
              <a:t>Análise</a:t>
            </a:r>
            <a:r>
              <a:rPr lang="en-US"/>
              <a:t> </a:t>
            </a:r>
            <a:r>
              <a:rPr lang="en-US" err="1"/>
              <a:t>como</a:t>
            </a:r>
            <a:r>
              <a:rPr lang="en-US"/>
              <a:t> um </a:t>
            </a:r>
            <a:r>
              <a:rPr lang="en-US" err="1"/>
              <a:t>fundo</a:t>
            </a:r>
            <a:r>
              <a:rPr lang="en-US"/>
              <a:t> 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619994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0C9EDF-D15A-9D0E-42E8-86AD54CFED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88722F5-3B81-E86C-69AE-51456E3046A0}"/>
              </a:ext>
            </a:extLst>
          </p:cNvPr>
          <p:cNvSpPr txBox="1"/>
          <p:nvPr/>
        </p:nvSpPr>
        <p:spPr>
          <a:xfrm>
            <a:off x="3064020" y="1629561"/>
            <a:ext cx="6566429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/>
              <a:t>Analise </a:t>
            </a:r>
            <a:r>
              <a:rPr lang="en-US" err="1"/>
              <a:t>estatistica</a:t>
            </a:r>
            <a:r>
              <a:rPr lang="en-US"/>
              <a:t> do valor do </a:t>
            </a:r>
            <a:r>
              <a:rPr lang="en-US" err="1"/>
              <a:t>polymarket</a:t>
            </a:r>
            <a:r>
              <a:rPr lang="en-US"/>
              <a:t> </a:t>
            </a:r>
            <a:r>
              <a:rPr lang="en-US" err="1"/>
              <a:t>como</a:t>
            </a:r>
            <a:r>
              <a:rPr lang="en-US"/>
              <a:t> </a:t>
            </a:r>
            <a:r>
              <a:rPr lang="en-US" err="1"/>
              <a:t>fonte</a:t>
            </a:r>
            <a:r>
              <a:rPr lang="en-US"/>
              <a:t> de dados 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00078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36CA4CB-FC8F-E7CE-BF85-D20C627AA7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!!halo_robo"/>
          <p:cNvSpPr/>
          <p:nvPr/>
        </p:nvSpPr>
        <p:spPr>
          <a:xfrm>
            <a:off x="5322792" y="326358"/>
            <a:ext cx="6600000" cy="6600000"/>
          </a:xfrm>
          <a:prstGeom prst="ellipse">
            <a:avLst/>
          </a:prstGeom>
          <a:gradFill rotWithShape="1">
            <a:gsLst>
              <a:gs pos="0">
                <a:srgbClr val="FFB531">
                  <a:alpha val="11000"/>
                </a:srgbClr>
              </a:gs>
              <a:gs pos="35000">
                <a:srgbClr val="FFB531">
                  <a:alpha val="4500"/>
                </a:srgbClr>
              </a:gs>
              <a:gs pos="65000">
                <a:srgbClr val="FFB531">
                  <a:alpha val="1500"/>
                </a:srgbClr>
              </a:gs>
              <a:gs pos="85000">
                <a:srgbClr val="FFB531">
                  <a:alpha val="5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4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5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30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6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7" name="!!foot_l"/>
          <p:cNvSpPr txBox="1"/>
          <p:nvPr/>
        </p:nvSpPr>
        <p:spPr>
          <a:xfrm>
            <a:off x="731520" y="6653200"/>
            <a:ext cx="6000000" cy="16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pt-BR" sz="700" b="0" spc="120">
                <a:solidFill>
                  <a:srgbClr val="58698A"/>
                </a:solidFill>
                <a:latin typeface="Consolas"/>
              </a:rPr>
              <a:t>ITAÚ QUANT AI CHALLENGE  ·  SEMIFINAL 2026</a:t>
            </a:r>
          </a:p>
        </p:txBody>
      </p:sp>
      <p:sp>
        <p:nvSpPr>
          <p:cNvPr id="28" name="!!foot_r"/>
          <p:cNvSpPr txBox="1"/>
          <p:nvPr/>
        </p:nvSpPr>
        <p:spPr>
          <a:xfrm>
            <a:off x="5457432" y="6653200"/>
            <a:ext cx="6000000" cy="16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pt-BR" sz="700" b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sp>
        <p:nvSpPr>
          <p:cNvPr id="30" name="!!risca"/>
          <p:cNvSpPr/>
          <p:nvPr/>
        </p:nvSpPr>
        <p:spPr>
          <a:xfrm>
            <a:off x="731520" y="3230000"/>
            <a:ext cx="1005840" cy="36576"/>
          </a:xfrm>
          <a:prstGeom prst="rect">
            <a:avLst/>
          </a:prstGeom>
          <a:gradFill rotWithShape="1">
            <a:gsLst>
              <a:gs pos="0">
                <a:srgbClr val="FFB531"/>
              </a:gs>
              <a:gs pos="100000">
                <a:srgbClr val="FFB531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D2AEB71-E81B-F9D0-B1D6-9F0DF9E870EB}"/>
              </a:ext>
            </a:extLst>
          </p:cNvPr>
          <p:cNvSpPr txBox="1"/>
          <p:nvPr/>
        </p:nvSpPr>
        <p:spPr>
          <a:xfrm>
            <a:off x="731520" y="426720"/>
            <a:ext cx="7315200" cy="203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1200" b="1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spc="72">
                <a:solidFill>
                  <a:srgbClr val="8395B5"/>
                </a:solidFill>
                <a:latin typeface="Consolas"/>
              </a:rPr>
              <a:t>   </a:t>
            </a:r>
            <a:r>
              <a:rPr sz="1100" b="0" spc="72" err="1">
                <a:solidFill>
                  <a:srgbClr val="8395B5"/>
                </a:solidFill>
                <a:latin typeface="Consolas"/>
              </a:rPr>
              <a:t>Fechamento</a:t>
            </a:r>
            <a:endParaRPr sz="1000" b="0" spc="50">
              <a:solidFill>
                <a:srgbClr val="BAC6DA"/>
              </a:solidFill>
              <a:latin typeface="Consola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68F7E83-1878-C6AE-87BA-2472312350CC}"/>
              </a:ext>
            </a:extLst>
          </p:cNvPr>
          <p:cNvSpPr txBox="1"/>
          <p:nvPr/>
        </p:nvSpPr>
        <p:spPr>
          <a:xfrm>
            <a:off x="0" y="467359"/>
            <a:ext cx="11457432" cy="152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900" b="0" spc="45">
                <a:solidFill>
                  <a:srgbClr val="8395B5"/>
                </a:solidFill>
                <a:latin typeface="Consolas"/>
              </a:rPr>
              <a:t>10</a:t>
            </a:r>
          </a:p>
        </p:txBody>
      </p:sp>
      <p:cxnSp>
        <p:nvCxnSpPr>
          <p:cNvPr id="4" name="Connector 3">
            <a:extLst>
              <a:ext uri="{FF2B5EF4-FFF2-40B4-BE49-F238E27FC236}">
                <a16:creationId xmlns:a16="http://schemas.microsoft.com/office/drawing/2014/main" id="{3A137472-E872-EFA6-A9AC-37E1822B6C24}"/>
              </a:ext>
            </a:extLst>
          </p:cNvPr>
          <p:cNvCxnSpPr/>
          <p:nvPr/>
        </p:nvCxnSpPr>
        <p:spPr>
          <a:xfrm>
            <a:off x="731520" y="704850"/>
            <a:ext cx="10725912" cy="0"/>
          </a:xfrm>
          <a:prstGeom prst="bentConnector3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4B599A72-77AC-8217-4D08-A8B49FEEE24E}"/>
              </a:ext>
            </a:extLst>
          </p:cNvPr>
          <p:cNvSpPr txBox="1"/>
          <p:nvPr/>
        </p:nvSpPr>
        <p:spPr>
          <a:xfrm>
            <a:off x="731520" y="1750000"/>
            <a:ext cx="5788152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2000" b="0" spc="500">
                <a:solidFill>
                  <a:srgbClr val="FFB531"/>
                </a:solidFill>
                <a:latin typeface="Bahnschrift SemiBold Condensed"/>
              </a:rPr>
              <a:t>KAIROS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B5290D6-2EB0-BB5D-D448-220E46A92B64}"/>
              </a:ext>
            </a:extLst>
          </p:cNvPr>
          <p:cNvSpPr txBox="1"/>
          <p:nvPr/>
        </p:nvSpPr>
        <p:spPr>
          <a:xfrm>
            <a:off x="731520" y="3420000"/>
            <a:ext cx="578815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200" b="0" spc="20">
                <a:solidFill>
                  <a:srgbClr val="F5F7FB"/>
                </a:solidFill>
                <a:latin typeface="Bahnschrift SemiBold"/>
              </a:rPr>
              <a:t>A opinião vem de quem tem dinheiro em risco. A medida vem do Black-Litterman.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52231AA-A8C0-C4DA-F7CD-E18C762D8673}"/>
              </a:ext>
            </a:extLst>
          </p:cNvPr>
          <p:cNvSpPr txBox="1"/>
          <p:nvPr/>
        </p:nvSpPr>
        <p:spPr>
          <a:xfrm>
            <a:off x="731520" y="4600000"/>
            <a:ext cx="5788152" cy="5232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800" b="1" i="1" err="1">
                <a:solidFill>
                  <a:srgbClr val="FFB531"/>
                </a:solidFill>
                <a:latin typeface="Georgia"/>
              </a:rPr>
              <a:t>Kairós</a:t>
            </a:r>
            <a:r>
              <a:rPr sz="1800" b="0" i="1">
                <a:solidFill>
                  <a:srgbClr val="BAC6DA"/>
                </a:solidFill>
                <a:latin typeface="Georgia"/>
              </a:rPr>
              <a:t>: a </a:t>
            </a:r>
            <a:r>
              <a:rPr sz="1800" b="0" i="1" err="1">
                <a:solidFill>
                  <a:srgbClr val="BAC6DA"/>
                </a:solidFill>
                <a:latin typeface="Georgia"/>
              </a:rPr>
              <a:t>carteira</a:t>
            </a:r>
            <a:r>
              <a:rPr sz="1800" b="0" i="1">
                <a:solidFill>
                  <a:srgbClr val="BAC6DA"/>
                </a:solidFill>
                <a:latin typeface="Georgia"/>
              </a:rPr>
              <a:t> </a:t>
            </a:r>
            <a:r>
              <a:rPr sz="1800" b="0" i="1" err="1">
                <a:solidFill>
                  <a:srgbClr val="BAC6DA"/>
                </a:solidFill>
                <a:latin typeface="Georgia"/>
              </a:rPr>
              <a:t>só</a:t>
            </a:r>
            <a:r>
              <a:rPr sz="1800" b="0" i="1">
                <a:solidFill>
                  <a:srgbClr val="BAC6DA"/>
                </a:solidFill>
                <a:latin typeface="Georgia"/>
              </a:rPr>
              <a:t> se move </a:t>
            </a:r>
            <a:r>
              <a:rPr sz="1800" b="0" i="1" err="1">
                <a:solidFill>
                  <a:srgbClr val="BAC6DA"/>
                </a:solidFill>
                <a:latin typeface="Georgia"/>
              </a:rPr>
              <a:t>quando</a:t>
            </a:r>
            <a:r>
              <a:rPr sz="1800" b="0" i="1">
                <a:solidFill>
                  <a:srgbClr val="BAC6DA"/>
                </a:solidFill>
                <a:latin typeface="Georgia"/>
              </a:rPr>
              <a:t> a </a:t>
            </a:r>
            <a:r>
              <a:rPr sz="1800" b="0" i="1" err="1">
                <a:solidFill>
                  <a:srgbClr val="BAC6DA"/>
                </a:solidFill>
                <a:latin typeface="Georgia"/>
              </a:rPr>
              <a:t>probabilidade</a:t>
            </a:r>
            <a:r>
              <a:rPr sz="1800" b="0" i="1">
                <a:solidFill>
                  <a:srgbClr val="BAC6DA"/>
                </a:solidFill>
                <a:latin typeface="Georgia"/>
              </a:rPr>
              <a:t> se move. </a:t>
            </a:r>
            <a:r>
              <a:rPr sz="1800" b="0" i="1" err="1">
                <a:solidFill>
                  <a:srgbClr val="BAC6DA"/>
                </a:solidFill>
                <a:latin typeface="Georgia"/>
              </a:rPr>
              <a:t>Obrigado</a:t>
            </a:r>
            <a:r>
              <a:rPr sz="1800" b="0" i="1">
                <a:solidFill>
                  <a:srgbClr val="BAC6DA"/>
                </a:solidFill>
                <a:latin typeface="Georgia"/>
              </a:rPr>
              <a:t> pela </a:t>
            </a:r>
            <a:r>
              <a:rPr sz="1800" b="0" i="1" err="1">
                <a:solidFill>
                  <a:srgbClr val="BAC6DA"/>
                </a:solidFill>
                <a:latin typeface="Georgia"/>
              </a:rPr>
              <a:t>oportunidade</a:t>
            </a:r>
            <a:r>
              <a:rPr sz="1800" b="0" i="1">
                <a:solidFill>
                  <a:srgbClr val="BAC6DA"/>
                </a:solidFill>
                <a:latin typeface="Georgia"/>
              </a:rPr>
              <a:t>.</a:t>
            </a:r>
          </a:p>
        </p:txBody>
      </p:sp>
      <p:cxnSp>
        <p:nvCxnSpPr>
          <p:cNvPr id="20" name="Connector 19">
            <a:extLst>
              <a:ext uri="{FF2B5EF4-FFF2-40B4-BE49-F238E27FC236}">
                <a16:creationId xmlns:a16="http://schemas.microsoft.com/office/drawing/2014/main" id="{CCB5ED1E-9847-784C-70E6-939D37736474}"/>
              </a:ext>
            </a:extLst>
          </p:cNvPr>
          <p:cNvCxnSpPr/>
          <p:nvPr/>
        </p:nvCxnSpPr>
        <p:spPr>
          <a:xfrm>
            <a:off x="731520" y="6553200"/>
            <a:ext cx="10725912" cy="0"/>
          </a:xfrm>
          <a:prstGeom prst="bentConnector3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3" name="Picture 22">
            <a:extLst>
              <a:ext uri="{FF2B5EF4-FFF2-40B4-BE49-F238E27FC236}">
                <a16:creationId xmlns:a16="http://schemas.microsoft.com/office/drawing/2014/main" id="{881CF7BA-CCFB-7A3B-4C58-E2143E1F305E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5728716" y="732282"/>
            <a:ext cx="5788152" cy="5788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527209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E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A1_0"/>
          <p:cNvSpPr txBox="1"/>
          <p:nvPr/>
        </p:nvSpPr>
        <p:spPr>
          <a:xfrm>
            <a:off x="822960" y="292608"/>
            <a:ext cx="82296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spc="80">
                <a:solidFill>
                  <a:srgbClr val="F5A623"/>
                </a:solidFill>
                <a:latin typeface="Segoe UI"/>
              </a:rPr>
              <a:t>KAIRÓS</a:t>
            </a:r>
            <a:r>
              <a:rPr sz="1500" b="0" spc="80">
                <a:solidFill>
                  <a:srgbClr val="E8EDF2"/>
                </a:solidFill>
                <a:latin typeface="Segoe UI"/>
              </a:rPr>
              <a:t>   Apêndice · a conta inteira</a:t>
            </a:r>
          </a:p>
        </p:txBody>
      </p:sp>
      <p:sp>
        <p:nvSpPr>
          <p:cNvPr id="3" name="sA1_1"/>
          <p:cNvSpPr txBox="1"/>
          <p:nvPr/>
        </p:nvSpPr>
        <p:spPr>
          <a:xfrm>
            <a:off x="8988552" y="347472"/>
            <a:ext cx="23774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8299"/>
                </a:solidFill>
                <a:latin typeface="Segoe UI"/>
              </a:rPr>
              <a:t>A1</a:t>
            </a:r>
          </a:p>
        </p:txBody>
      </p:sp>
      <p:cxnSp>
        <p:nvCxnSpPr>
          <p:cNvPr id="4" name="sA1_2"/>
          <p:cNvCxnSpPr/>
          <p:nvPr/>
        </p:nvCxnSpPr>
        <p:spPr>
          <a:xfrm>
            <a:off x="822960" y="768096"/>
            <a:ext cx="10543032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A1_3"/>
          <p:cNvCxnSpPr/>
          <p:nvPr/>
        </p:nvCxnSpPr>
        <p:spPr>
          <a:xfrm>
            <a:off x="822960" y="3931920"/>
            <a:ext cx="10543032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A1_4"/>
          <p:cNvCxnSpPr/>
          <p:nvPr/>
        </p:nvCxnSpPr>
        <p:spPr>
          <a:xfrm>
            <a:off x="822960" y="6291072"/>
            <a:ext cx="10543032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sA1_5"/>
          <p:cNvSpPr txBox="1"/>
          <p:nvPr/>
        </p:nvSpPr>
        <p:spPr>
          <a:xfrm>
            <a:off x="822960" y="6382512"/>
            <a:ext cx="1054303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8299"/>
                </a:solidFill>
                <a:latin typeface="Segoe UI"/>
              </a:rPr>
              <a:t>Apêndice — fora dos 6 minutos, mostrado só se perguntarem.   </a:t>
            </a:r>
            <a:r>
              <a:rPr sz="850" b="0">
                <a:solidFill>
                  <a:srgbClr val="9BAEC0"/>
                </a:solidFill>
                <a:latin typeface="Segoe UI"/>
              </a:rPr>
              <a:t>scripts/slides_apendice_pptx.py</a:t>
            </a:r>
          </a:p>
        </p:txBody>
      </p:sp>
      <p:sp>
        <p:nvSpPr>
          <p:cNvPr id="8" name="sA1_6"/>
          <p:cNvSpPr/>
          <p:nvPr/>
        </p:nvSpPr>
        <p:spPr>
          <a:xfrm>
            <a:off x="822960" y="969264"/>
            <a:ext cx="2450592" cy="2724912"/>
          </a:xfrm>
          <a:prstGeom prst="roundRect">
            <a:avLst>
              <a:gd name="adj" fmla="val 11000"/>
            </a:avLst>
          </a:prstGeom>
          <a:gradFill rotWithShape="1">
            <a:gsLst>
              <a:gs pos="0">
                <a:srgbClr val="1B2D40"/>
              </a:gs>
              <a:gs pos="100000">
                <a:srgbClr val="0C1824"/>
              </a:gs>
            </a:gsLst>
            <a:lin ang="5400000" scaled="0"/>
          </a:gradFill>
          <a:ln w="12700">
            <a:solidFill>
              <a:srgbClr val="23384C"/>
            </a:solidFill>
          </a:ln>
          <a:effectLst>
            <a:outerShdw blurRad="170000" dist="44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sA1_7"/>
          <p:cNvSpPr txBox="1"/>
          <p:nvPr/>
        </p:nvSpPr>
        <p:spPr>
          <a:xfrm>
            <a:off x="1042416" y="1188720"/>
            <a:ext cx="2084832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00">
                <a:solidFill>
                  <a:srgbClr val="F5A623"/>
                </a:solidFill>
                <a:latin typeface="Segoe UI"/>
              </a:rPr>
              <a:t>1 · EQUILÍBRIO</a:t>
            </a:r>
          </a:p>
        </p:txBody>
      </p:sp>
      <p:sp>
        <p:nvSpPr>
          <p:cNvPr id="10" name="sA1_8"/>
          <p:cNvSpPr txBox="1"/>
          <p:nvPr/>
        </p:nvSpPr>
        <p:spPr>
          <a:xfrm>
            <a:off x="1042416" y="1517904"/>
            <a:ext cx="2084832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8EDF2"/>
                </a:solidFill>
                <a:latin typeface="Consolas"/>
              </a:rPr>
              <a:t>π = δ · Σ · w_mkt</a:t>
            </a:r>
          </a:p>
        </p:txBody>
      </p:sp>
      <p:sp>
        <p:nvSpPr>
          <p:cNvPr id="11" name="sA1_9"/>
          <p:cNvSpPr txBox="1"/>
          <p:nvPr/>
        </p:nvSpPr>
        <p:spPr>
          <a:xfrm>
            <a:off x="1042416" y="1993392"/>
            <a:ext cx="2084832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3A9BC"/>
                </a:solidFill>
                <a:latin typeface="Segoe UI"/>
              </a:rPr>
              <a:t>Em vez de perguntar quais pesos são os melhores, perguntamos o contrário: que retornos fariam a carteira do mercado ser a ótima? É o ponto de partida, e não precisa de previsão nenhuma.</a:t>
            </a:r>
          </a:p>
        </p:txBody>
      </p:sp>
      <p:sp>
        <p:nvSpPr>
          <p:cNvPr id="12" name="sA1_10"/>
          <p:cNvSpPr/>
          <p:nvPr/>
        </p:nvSpPr>
        <p:spPr>
          <a:xfrm>
            <a:off x="3520440" y="969264"/>
            <a:ext cx="2450592" cy="2724912"/>
          </a:xfrm>
          <a:prstGeom prst="roundRect">
            <a:avLst>
              <a:gd name="adj" fmla="val 11000"/>
            </a:avLst>
          </a:prstGeom>
          <a:gradFill rotWithShape="1">
            <a:gsLst>
              <a:gs pos="0">
                <a:srgbClr val="1B2D40"/>
              </a:gs>
              <a:gs pos="100000">
                <a:srgbClr val="0C1824"/>
              </a:gs>
            </a:gsLst>
            <a:lin ang="5400000" scaled="0"/>
          </a:gradFill>
          <a:ln w="12700">
            <a:solidFill>
              <a:srgbClr val="23384C"/>
            </a:solidFill>
          </a:ln>
          <a:effectLst>
            <a:outerShdw blurRad="170000" dist="44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sA1_11"/>
          <p:cNvSpPr txBox="1"/>
          <p:nvPr/>
        </p:nvSpPr>
        <p:spPr>
          <a:xfrm>
            <a:off x="3739896" y="1188720"/>
            <a:ext cx="2084832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00">
                <a:solidFill>
                  <a:srgbClr val="F5A623"/>
                </a:solidFill>
                <a:latin typeface="Segoe UI"/>
              </a:rPr>
              <a:t>2 · A OPINIÃO</a:t>
            </a:r>
          </a:p>
        </p:txBody>
      </p:sp>
      <p:sp>
        <p:nvSpPr>
          <p:cNvPr id="14" name="sA1_12"/>
          <p:cNvSpPr txBox="1"/>
          <p:nvPr/>
        </p:nvSpPr>
        <p:spPr>
          <a:xfrm>
            <a:off x="3739896" y="1517904"/>
            <a:ext cx="2084832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E8EDF2"/>
                </a:solidFill>
                <a:latin typeface="Consolas"/>
              </a:rPr>
              <a:t>P[i] = 2·(β_i − β_SPY) / Σ|β − β_SPY|</a:t>
            </a:r>
          </a:p>
        </p:txBody>
      </p:sp>
      <p:sp>
        <p:nvSpPr>
          <p:cNvPr id="15" name="sA1_13"/>
          <p:cNvSpPr txBox="1"/>
          <p:nvPr/>
        </p:nvSpPr>
        <p:spPr>
          <a:xfrm>
            <a:off x="3739896" y="2084831"/>
            <a:ext cx="2084832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8EDF2"/>
                </a:solidFill>
                <a:latin typeface="Consolas"/>
              </a:rPr>
              <a:t>Q  = (Σ P·β) × surpresa</a:t>
            </a:r>
          </a:p>
        </p:txBody>
      </p:sp>
      <p:sp>
        <p:nvSpPr>
          <p:cNvPr id="16" name="sA1_14"/>
          <p:cNvSpPr txBox="1"/>
          <p:nvPr/>
        </p:nvSpPr>
        <p:spPr>
          <a:xfrm>
            <a:off x="3739896" y="2560320"/>
            <a:ext cx="2084832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3A9BC"/>
                </a:solidFill>
                <a:latin typeface="Segoe UI"/>
              </a:rPr>
              <a:t>P diz quem compra e quem vende, na proporção da sensibilidade medida. Q é essa sensibilidade vezes a surpresa de hoje: o Polymarket menos o que a bolsa já embutiu.</a:t>
            </a:r>
          </a:p>
        </p:txBody>
      </p:sp>
      <p:sp>
        <p:nvSpPr>
          <p:cNvPr id="17" name="sA1_15"/>
          <p:cNvSpPr/>
          <p:nvPr/>
        </p:nvSpPr>
        <p:spPr>
          <a:xfrm>
            <a:off x="6217920" y="969264"/>
            <a:ext cx="2450592" cy="2724912"/>
          </a:xfrm>
          <a:prstGeom prst="roundRect">
            <a:avLst>
              <a:gd name="adj" fmla="val 11000"/>
            </a:avLst>
          </a:prstGeom>
          <a:gradFill rotWithShape="1">
            <a:gsLst>
              <a:gs pos="0">
                <a:srgbClr val="1B2D40"/>
              </a:gs>
              <a:gs pos="100000">
                <a:srgbClr val="0C1824"/>
              </a:gs>
            </a:gsLst>
            <a:lin ang="5400000" scaled="0"/>
          </a:gradFill>
          <a:ln w="12700">
            <a:solidFill>
              <a:srgbClr val="23384C"/>
            </a:solidFill>
          </a:ln>
          <a:effectLst>
            <a:outerShdw blurRad="170000" dist="44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sA1_16"/>
          <p:cNvSpPr txBox="1"/>
          <p:nvPr/>
        </p:nvSpPr>
        <p:spPr>
          <a:xfrm>
            <a:off x="6437376" y="1188720"/>
            <a:ext cx="2084832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00">
                <a:solidFill>
                  <a:srgbClr val="F5A623"/>
                </a:solidFill>
                <a:latin typeface="Segoe UI"/>
              </a:rPr>
              <a:t>3 · A MISTURA</a:t>
            </a:r>
          </a:p>
        </p:txBody>
      </p:sp>
      <p:sp>
        <p:nvSpPr>
          <p:cNvPr id="19" name="sA1_17"/>
          <p:cNvSpPr txBox="1"/>
          <p:nvPr/>
        </p:nvSpPr>
        <p:spPr>
          <a:xfrm>
            <a:off x="6437376" y="1517904"/>
            <a:ext cx="2084832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8EDF2"/>
                </a:solidFill>
                <a:latin typeface="Consolas"/>
              </a:rPr>
              <a:t>μ = π + peso · (Q − P·π)</a:t>
            </a:r>
          </a:p>
        </p:txBody>
      </p:sp>
      <p:sp>
        <p:nvSpPr>
          <p:cNvPr id="20" name="sA1_18"/>
          <p:cNvSpPr txBox="1"/>
          <p:nvPr/>
        </p:nvSpPr>
        <p:spPr>
          <a:xfrm>
            <a:off x="6437376" y="1993392"/>
            <a:ext cx="2084832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3A9BC"/>
                </a:solidFill>
                <a:latin typeface="Segoe UI"/>
              </a:rPr>
              <a:t>Só a discordância move a carteira: se a opinião concordar com o equilíbrio, nada muda. O peso vem do Ω — a confiança medida, que está no slide 5.</a:t>
            </a:r>
          </a:p>
        </p:txBody>
      </p:sp>
      <p:sp>
        <p:nvSpPr>
          <p:cNvPr id="21" name="sA1_19"/>
          <p:cNvSpPr/>
          <p:nvPr/>
        </p:nvSpPr>
        <p:spPr>
          <a:xfrm>
            <a:off x="8915400" y="969264"/>
            <a:ext cx="2450592" cy="2724912"/>
          </a:xfrm>
          <a:prstGeom prst="roundRect">
            <a:avLst>
              <a:gd name="adj" fmla="val 11000"/>
            </a:avLst>
          </a:prstGeom>
          <a:gradFill rotWithShape="1">
            <a:gsLst>
              <a:gs pos="0">
                <a:srgbClr val="1B2D40"/>
              </a:gs>
              <a:gs pos="100000">
                <a:srgbClr val="0C1824"/>
              </a:gs>
            </a:gsLst>
            <a:lin ang="5400000" scaled="0"/>
          </a:gradFill>
          <a:ln w="12700">
            <a:solidFill>
              <a:srgbClr val="23384C"/>
            </a:solidFill>
          </a:ln>
          <a:effectLst>
            <a:outerShdw blurRad="170000" dist="44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sA1_20"/>
          <p:cNvSpPr txBox="1"/>
          <p:nvPr/>
        </p:nvSpPr>
        <p:spPr>
          <a:xfrm>
            <a:off x="9134856" y="1188720"/>
            <a:ext cx="2084832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00">
                <a:solidFill>
                  <a:srgbClr val="F5A623"/>
                </a:solidFill>
                <a:latin typeface="Segoe UI"/>
              </a:rPr>
              <a:t>4 · A CARTEIRA</a:t>
            </a:r>
          </a:p>
        </p:txBody>
      </p:sp>
      <p:sp>
        <p:nvSpPr>
          <p:cNvPr id="23" name="sA1_21"/>
          <p:cNvSpPr txBox="1"/>
          <p:nvPr/>
        </p:nvSpPr>
        <p:spPr>
          <a:xfrm>
            <a:off x="9134856" y="1517904"/>
            <a:ext cx="2084832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8EDF2"/>
                </a:solidFill>
                <a:latin typeface="Consolas"/>
              </a:rPr>
              <a:t>w = inv(δ · Σ) · μ</a:t>
            </a:r>
          </a:p>
        </p:txBody>
      </p:sp>
      <p:sp>
        <p:nvSpPr>
          <p:cNvPr id="24" name="sA1_22"/>
          <p:cNvSpPr txBox="1"/>
          <p:nvPr/>
        </p:nvSpPr>
        <p:spPr>
          <a:xfrm>
            <a:off x="9134856" y="1847088"/>
            <a:ext cx="2084832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8EDF2"/>
                </a:solidFill>
                <a:latin typeface="Consolas"/>
              </a:rPr>
              <a:t>Σ|w − w_mkt| ≤ 1</a:t>
            </a:r>
          </a:p>
        </p:txBody>
      </p:sp>
      <p:sp>
        <p:nvSpPr>
          <p:cNvPr id="25" name="sA1_23"/>
          <p:cNvSpPr txBox="1"/>
          <p:nvPr/>
        </p:nvSpPr>
        <p:spPr>
          <a:xfrm>
            <a:off x="9134856" y="2322576"/>
            <a:ext cx="2084832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3A9BC"/>
                </a:solidFill>
                <a:latin typeface="Segoe UI"/>
              </a:rPr>
              <a:t>A conta clássica de carteira ótima, sem restrição de sinal — é o que permite comprar um setor e vender outro. O teto limita o desvio contra o mercado, não o tamanho da carteira.</a:t>
            </a:r>
          </a:p>
        </p:txBody>
      </p:sp>
      <p:sp>
        <p:nvSpPr>
          <p:cNvPr id="26" name="sA1_24"/>
          <p:cNvSpPr txBox="1"/>
          <p:nvPr/>
        </p:nvSpPr>
        <p:spPr>
          <a:xfrm>
            <a:off x="822960" y="4041648"/>
            <a:ext cx="512064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100">
                <a:solidFill>
                  <a:srgbClr val="F5A623"/>
                </a:solidFill>
                <a:latin typeface="Segoe UI"/>
              </a:rPr>
              <a:t>O QUE CADA SÍMBOLO É</a:t>
            </a:r>
          </a:p>
        </p:txBody>
      </p:sp>
      <p:sp>
        <p:nvSpPr>
          <p:cNvPr id="27" name="sA1_25"/>
          <p:cNvSpPr txBox="1"/>
          <p:nvPr/>
        </p:nvSpPr>
        <p:spPr>
          <a:xfrm>
            <a:off x="822960" y="4352544"/>
            <a:ext cx="512064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5A623"/>
                </a:solidFill>
                <a:latin typeface="Segoe UI"/>
              </a:rPr>
              <a:t>δ   </a:t>
            </a:r>
            <a:r>
              <a:rPr sz="1050" b="0">
                <a:solidFill>
                  <a:srgbClr val="93A9BC"/>
                </a:solidFill>
                <a:latin typeface="Segoe UI"/>
              </a:rPr>
              <a:t>o quanto o investidor típico odeia risco — medido no S&amp;P 500 em 22 anos.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0"/>
              </a:spcAft>
            </a:pPr>
            <a:r>
              <a:rPr sz="1050" b="1">
                <a:solidFill>
                  <a:srgbClr val="F5A623"/>
                </a:solidFill>
                <a:latin typeface="Segoe UI"/>
              </a:rPr>
              <a:t>Σ   </a:t>
            </a:r>
            <a:r>
              <a:rPr sz="1050" b="0">
                <a:solidFill>
                  <a:srgbClr val="93A9BC"/>
                </a:solidFill>
                <a:latin typeface="Segoe UI"/>
              </a:rPr>
              <a:t>como os nove fundos se mexem juntos — dois anos de histórico, até a véspera.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0"/>
              </a:spcAft>
            </a:pPr>
            <a:r>
              <a:rPr sz="1050" b="1">
                <a:solidFill>
                  <a:srgbClr val="F5A623"/>
                </a:solidFill>
                <a:latin typeface="Segoe UI"/>
              </a:rPr>
              <a:t>w_mkt   </a:t>
            </a:r>
            <a:r>
              <a:rPr sz="1050" b="0">
                <a:solidFill>
                  <a:srgbClr val="93A9BC"/>
                </a:solidFill>
                <a:latin typeface="Segoe UI"/>
              </a:rPr>
              <a:t>a carteira do mercado: 100% no S&amp;P 500, porque os setores já estão dentro dele.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0"/>
              </a:spcAft>
            </a:pPr>
            <a:r>
              <a:rPr sz="1050" b="1">
                <a:solidFill>
                  <a:srgbClr val="F5A623"/>
                </a:solidFill>
                <a:latin typeface="Segoe UI"/>
              </a:rPr>
              <a:t>β   </a:t>
            </a:r>
            <a:r>
              <a:rPr sz="1050" b="0">
                <a:solidFill>
                  <a:srgbClr val="93A9BC"/>
                </a:solidFill>
                <a:latin typeface="Segoe UI"/>
              </a:rPr>
              <a:t>quanto cada fundo anda quando o evento surpreende — sai de regressão, nunca de palpite.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0"/>
              </a:spcAft>
            </a:pPr>
            <a:r>
              <a:rPr sz="1050" b="1">
                <a:solidFill>
                  <a:srgbClr val="F5A623"/>
                </a:solidFill>
                <a:latin typeface="Segoe UI"/>
              </a:rPr>
              <a:t>μ   </a:t>
            </a:r>
            <a:r>
              <a:rPr sz="1050" b="0">
                <a:solidFill>
                  <a:srgbClr val="93A9BC"/>
                </a:solidFill>
                <a:latin typeface="Segoe UI"/>
              </a:rPr>
              <a:t>o retorno esperado final, já misturando equilíbrio e opinião.</a:t>
            </a:r>
          </a:p>
        </p:txBody>
      </p:sp>
      <p:sp>
        <p:nvSpPr>
          <p:cNvPr id="28" name="sA1_26"/>
          <p:cNvSpPr/>
          <p:nvPr/>
        </p:nvSpPr>
        <p:spPr>
          <a:xfrm>
            <a:off x="6245352" y="4078224"/>
            <a:ext cx="45720" cy="1024127"/>
          </a:xfrm>
          <a:prstGeom prst="roundRect">
            <a:avLst>
              <a:gd name="adj" fmla="val 50000"/>
            </a:avLst>
          </a:prstGeom>
          <a:solidFill>
            <a:srgbClr val="4FC3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sA1_27"/>
          <p:cNvSpPr txBox="1"/>
          <p:nvPr/>
        </p:nvSpPr>
        <p:spPr>
          <a:xfrm>
            <a:off x="6464808" y="4041648"/>
            <a:ext cx="4901183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EDF2"/>
                </a:solidFill>
                <a:latin typeface="Segoe UI"/>
              </a:rPr>
              <a:t>A prova de que a conta está certa. </a:t>
            </a:r>
            <a:r>
              <a:rPr sz="1150" b="0">
                <a:solidFill>
                  <a:srgbClr val="93A9BC"/>
                </a:solidFill>
                <a:latin typeface="Segoe UI"/>
              </a:rPr>
              <a:t>Sem nenhuma opinião ativa, ela devolve exatamente a carteira do mercado — sem sobra e sem resíduo. O caso extremo é testado automaticamente.</a:t>
            </a:r>
          </a:p>
        </p:txBody>
      </p:sp>
      <p:sp>
        <p:nvSpPr>
          <p:cNvPr id="30" name="sA1_28"/>
          <p:cNvSpPr/>
          <p:nvPr/>
        </p:nvSpPr>
        <p:spPr>
          <a:xfrm>
            <a:off x="6245352" y="5321807"/>
            <a:ext cx="45720" cy="841248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sA1_29"/>
          <p:cNvSpPr txBox="1"/>
          <p:nvPr/>
        </p:nvSpPr>
        <p:spPr>
          <a:xfrm>
            <a:off x="6464808" y="5285231"/>
            <a:ext cx="4901183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EDF2"/>
                </a:solidFill>
                <a:latin typeface="Segoe UI"/>
              </a:rPr>
              <a:t>A confiança (Ω) não está aqui de propósito. </a:t>
            </a:r>
            <a:r>
              <a:rPr sz="1150" b="0">
                <a:solidFill>
                  <a:srgbClr val="93A9BC"/>
                </a:solidFill>
                <a:latin typeface="Segoe UI"/>
              </a:rPr>
              <a:t>A fórmula dela é o slide 5: a régua de coerência e estabilidade do próprio mercado.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E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A2_0"/>
          <p:cNvSpPr txBox="1"/>
          <p:nvPr/>
        </p:nvSpPr>
        <p:spPr>
          <a:xfrm>
            <a:off x="822960" y="292608"/>
            <a:ext cx="82296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spc="80">
                <a:solidFill>
                  <a:srgbClr val="F5A623"/>
                </a:solidFill>
                <a:latin typeface="Segoe UI"/>
              </a:rPr>
              <a:t>KAIRÓS</a:t>
            </a:r>
            <a:r>
              <a:rPr sz="1500" b="0" spc="80">
                <a:solidFill>
                  <a:srgbClr val="E8EDF2"/>
                </a:solidFill>
                <a:latin typeface="Segoe UI"/>
              </a:rPr>
              <a:t>   Apêndice · o teto de risco, e as 8 configurações</a:t>
            </a:r>
          </a:p>
        </p:txBody>
      </p:sp>
      <p:sp>
        <p:nvSpPr>
          <p:cNvPr id="3" name="sA2_1"/>
          <p:cNvSpPr txBox="1"/>
          <p:nvPr/>
        </p:nvSpPr>
        <p:spPr>
          <a:xfrm>
            <a:off x="8988552" y="347472"/>
            <a:ext cx="23774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8299"/>
                </a:solidFill>
                <a:latin typeface="Segoe UI"/>
              </a:rPr>
              <a:t>A2</a:t>
            </a:r>
          </a:p>
        </p:txBody>
      </p:sp>
      <p:cxnSp>
        <p:nvCxnSpPr>
          <p:cNvPr id="4" name="sA2_2"/>
          <p:cNvCxnSpPr/>
          <p:nvPr/>
        </p:nvCxnSpPr>
        <p:spPr>
          <a:xfrm>
            <a:off x="822960" y="768096"/>
            <a:ext cx="10543032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A2_3"/>
          <p:cNvCxnSpPr/>
          <p:nvPr/>
        </p:nvCxnSpPr>
        <p:spPr>
          <a:xfrm>
            <a:off x="822960" y="3931920"/>
            <a:ext cx="10543032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A2_4"/>
          <p:cNvCxnSpPr/>
          <p:nvPr/>
        </p:nvCxnSpPr>
        <p:spPr>
          <a:xfrm>
            <a:off x="822960" y="6291072"/>
            <a:ext cx="10543032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sA2_5"/>
          <p:cNvSpPr txBox="1"/>
          <p:nvPr/>
        </p:nvSpPr>
        <p:spPr>
          <a:xfrm>
            <a:off x="822960" y="6382512"/>
            <a:ext cx="1054303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8299"/>
                </a:solidFill>
                <a:latin typeface="Segoe UI"/>
              </a:rPr>
              <a:t>Apêndice — fora dos 6 minutos, mostrado só se perguntarem.   </a:t>
            </a:r>
            <a:r>
              <a:rPr sz="850" b="0">
                <a:solidFill>
                  <a:srgbClr val="9BAEC0"/>
                </a:solidFill>
                <a:latin typeface="Segoe UI"/>
              </a:rPr>
              <a:t>scripts/slides_apendice_pptx.py</a:t>
            </a:r>
          </a:p>
        </p:txBody>
      </p:sp>
      <p:sp>
        <p:nvSpPr>
          <p:cNvPr id="8" name="sA2_6"/>
          <p:cNvSpPr txBox="1"/>
          <p:nvPr/>
        </p:nvSpPr>
        <p:spPr>
          <a:xfrm>
            <a:off x="822960" y="1042415"/>
            <a:ext cx="48463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100">
                <a:solidFill>
                  <a:srgbClr val="F5A623"/>
                </a:solidFill>
                <a:latin typeface="Segoe UI"/>
              </a:rPr>
              <a:t>ENCOLHENDO A CARTEIRA INTEIRA</a:t>
            </a:r>
          </a:p>
        </p:txBody>
      </p:sp>
      <p:sp>
        <p:nvSpPr>
          <p:cNvPr id="9" name="sA2_7"/>
          <p:cNvSpPr txBox="1"/>
          <p:nvPr/>
        </p:nvSpPr>
        <p:spPr>
          <a:xfrm>
            <a:off x="822960" y="1389888"/>
            <a:ext cx="250545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100">
                <a:solidFill>
                  <a:srgbClr val="6B8299"/>
                </a:solidFill>
                <a:latin typeface="Segoe UI"/>
              </a:rPr>
              <a:t>LIMITE</a:t>
            </a:r>
          </a:p>
        </p:txBody>
      </p:sp>
      <p:sp>
        <p:nvSpPr>
          <p:cNvPr id="10" name="sA2_8"/>
          <p:cNvSpPr txBox="1"/>
          <p:nvPr/>
        </p:nvSpPr>
        <p:spPr>
          <a:xfrm>
            <a:off x="3328415" y="1389888"/>
            <a:ext cx="117043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100">
                <a:solidFill>
                  <a:srgbClr val="6B8299"/>
                </a:solidFill>
                <a:latin typeface="Segoe UI"/>
              </a:rPr>
              <a:t>RETORNO</a:t>
            </a:r>
          </a:p>
        </p:txBody>
      </p:sp>
      <p:sp>
        <p:nvSpPr>
          <p:cNvPr id="11" name="sA2_9"/>
          <p:cNvSpPr txBox="1"/>
          <p:nvPr/>
        </p:nvSpPr>
        <p:spPr>
          <a:xfrm>
            <a:off x="4498848" y="1389888"/>
            <a:ext cx="117043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100">
                <a:solidFill>
                  <a:srgbClr val="6B8299"/>
                </a:solidFill>
                <a:latin typeface="Segoe UI"/>
              </a:rPr>
              <a:t>VS ÍNDICE</a:t>
            </a:r>
          </a:p>
        </p:txBody>
      </p:sp>
      <p:cxnSp>
        <p:nvCxnSpPr>
          <p:cNvPr id="12" name="sA2_10"/>
          <p:cNvCxnSpPr/>
          <p:nvPr/>
        </p:nvCxnSpPr>
        <p:spPr>
          <a:xfrm>
            <a:off x="822960" y="1609344"/>
            <a:ext cx="4846320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sA2_11"/>
          <p:cNvSpPr txBox="1"/>
          <p:nvPr/>
        </p:nvSpPr>
        <p:spPr>
          <a:xfrm>
            <a:off x="822960" y="1700784"/>
            <a:ext cx="250545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9BAEC0"/>
                </a:solidFill>
                <a:latin typeface="Segoe UI"/>
              </a:rPr>
              <a:t>teto 1</a:t>
            </a:r>
          </a:p>
        </p:txBody>
      </p:sp>
      <p:sp>
        <p:nvSpPr>
          <p:cNvPr id="14" name="sA2_12"/>
          <p:cNvSpPr txBox="1"/>
          <p:nvPr/>
        </p:nvSpPr>
        <p:spPr>
          <a:xfrm>
            <a:off x="3328415" y="1700784"/>
            <a:ext cx="11704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8EDF2"/>
                </a:solidFill>
                <a:latin typeface="Segoe UI"/>
              </a:rPr>
              <a:t>+15,3%</a:t>
            </a:r>
          </a:p>
        </p:txBody>
      </p:sp>
      <p:sp>
        <p:nvSpPr>
          <p:cNvPr id="15" name="sA2_13"/>
          <p:cNvSpPr txBox="1"/>
          <p:nvPr/>
        </p:nvSpPr>
        <p:spPr>
          <a:xfrm>
            <a:off x="4498848" y="1700784"/>
            <a:ext cx="11704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8299"/>
                </a:solidFill>
                <a:latin typeface="Segoe UI"/>
              </a:rPr>
              <a:t>−14,9 pp</a:t>
            </a:r>
          </a:p>
        </p:txBody>
      </p:sp>
      <p:cxnSp>
        <p:nvCxnSpPr>
          <p:cNvPr id="16" name="sA2_14"/>
          <p:cNvCxnSpPr/>
          <p:nvPr/>
        </p:nvCxnSpPr>
        <p:spPr>
          <a:xfrm>
            <a:off x="822960" y="1883664"/>
            <a:ext cx="4846320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sA2_15"/>
          <p:cNvSpPr txBox="1"/>
          <p:nvPr/>
        </p:nvSpPr>
        <p:spPr>
          <a:xfrm>
            <a:off x="822960" y="1975104"/>
            <a:ext cx="250545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9BAEC0"/>
                </a:solidFill>
                <a:latin typeface="Segoe UI"/>
              </a:rPr>
              <a:t>teto 2</a:t>
            </a:r>
          </a:p>
        </p:txBody>
      </p:sp>
      <p:sp>
        <p:nvSpPr>
          <p:cNvPr id="18" name="sA2_16"/>
          <p:cNvSpPr txBox="1"/>
          <p:nvPr/>
        </p:nvSpPr>
        <p:spPr>
          <a:xfrm>
            <a:off x="3328415" y="1975104"/>
            <a:ext cx="11704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8EDF2"/>
                </a:solidFill>
                <a:latin typeface="Segoe UI"/>
              </a:rPr>
              <a:t>+18,8%</a:t>
            </a:r>
          </a:p>
        </p:txBody>
      </p:sp>
      <p:sp>
        <p:nvSpPr>
          <p:cNvPr id="19" name="sA2_17"/>
          <p:cNvSpPr txBox="1"/>
          <p:nvPr/>
        </p:nvSpPr>
        <p:spPr>
          <a:xfrm>
            <a:off x="4498848" y="1975104"/>
            <a:ext cx="11704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8299"/>
                </a:solidFill>
                <a:latin typeface="Segoe UI"/>
              </a:rPr>
              <a:t>−11,4 pp</a:t>
            </a:r>
          </a:p>
        </p:txBody>
      </p:sp>
      <p:cxnSp>
        <p:nvCxnSpPr>
          <p:cNvPr id="20" name="sA2_18"/>
          <p:cNvCxnSpPr/>
          <p:nvPr/>
        </p:nvCxnSpPr>
        <p:spPr>
          <a:xfrm>
            <a:off x="822960" y="2157984"/>
            <a:ext cx="4846320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sA2_19"/>
          <p:cNvSpPr txBox="1"/>
          <p:nvPr/>
        </p:nvSpPr>
        <p:spPr>
          <a:xfrm>
            <a:off x="822960" y="2249424"/>
            <a:ext cx="250545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9BAEC0"/>
                </a:solidFill>
                <a:latin typeface="Segoe UI"/>
              </a:rPr>
              <a:t>teto 3</a:t>
            </a:r>
          </a:p>
        </p:txBody>
      </p:sp>
      <p:sp>
        <p:nvSpPr>
          <p:cNvPr id="22" name="sA2_20"/>
          <p:cNvSpPr txBox="1"/>
          <p:nvPr/>
        </p:nvSpPr>
        <p:spPr>
          <a:xfrm>
            <a:off x="3328415" y="2249424"/>
            <a:ext cx="11704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8EDF2"/>
                </a:solidFill>
                <a:latin typeface="Segoe UI"/>
              </a:rPr>
              <a:t>+23,8%</a:t>
            </a:r>
          </a:p>
        </p:txBody>
      </p:sp>
      <p:sp>
        <p:nvSpPr>
          <p:cNvPr id="23" name="sA2_21"/>
          <p:cNvSpPr txBox="1"/>
          <p:nvPr/>
        </p:nvSpPr>
        <p:spPr>
          <a:xfrm>
            <a:off x="4498848" y="2249424"/>
            <a:ext cx="11704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8299"/>
                </a:solidFill>
                <a:latin typeface="Segoe UI"/>
              </a:rPr>
              <a:t>−6,4 pp</a:t>
            </a:r>
          </a:p>
        </p:txBody>
      </p:sp>
      <p:cxnSp>
        <p:nvCxnSpPr>
          <p:cNvPr id="24" name="sA2_22"/>
          <p:cNvCxnSpPr/>
          <p:nvPr/>
        </p:nvCxnSpPr>
        <p:spPr>
          <a:xfrm>
            <a:off x="822960" y="2432303"/>
            <a:ext cx="4846320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sA2_23"/>
          <p:cNvSpPr txBox="1"/>
          <p:nvPr/>
        </p:nvSpPr>
        <p:spPr>
          <a:xfrm>
            <a:off x="822960" y="2523744"/>
            <a:ext cx="250545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9BAEC0"/>
                </a:solidFill>
                <a:latin typeface="Segoe UI"/>
              </a:rPr>
              <a:t>teto 5</a:t>
            </a:r>
          </a:p>
        </p:txBody>
      </p:sp>
      <p:sp>
        <p:nvSpPr>
          <p:cNvPr id="26" name="sA2_24"/>
          <p:cNvSpPr txBox="1"/>
          <p:nvPr/>
        </p:nvSpPr>
        <p:spPr>
          <a:xfrm>
            <a:off x="3328415" y="2523744"/>
            <a:ext cx="11704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8EDF2"/>
                </a:solidFill>
                <a:latin typeface="Segoe UI"/>
              </a:rPr>
              <a:t>+28,3%</a:t>
            </a:r>
          </a:p>
        </p:txBody>
      </p:sp>
      <p:sp>
        <p:nvSpPr>
          <p:cNvPr id="27" name="sA2_25"/>
          <p:cNvSpPr txBox="1"/>
          <p:nvPr/>
        </p:nvSpPr>
        <p:spPr>
          <a:xfrm>
            <a:off x="4498848" y="2523744"/>
            <a:ext cx="11704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8299"/>
                </a:solidFill>
                <a:latin typeface="Segoe UI"/>
              </a:rPr>
              <a:t>−1,8 pp</a:t>
            </a:r>
          </a:p>
        </p:txBody>
      </p:sp>
      <p:cxnSp>
        <p:nvCxnSpPr>
          <p:cNvPr id="28" name="sA2_26"/>
          <p:cNvCxnSpPr/>
          <p:nvPr/>
        </p:nvCxnSpPr>
        <p:spPr>
          <a:xfrm>
            <a:off x="822960" y="2706623"/>
            <a:ext cx="4846320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sA2_27"/>
          <p:cNvSpPr txBox="1"/>
          <p:nvPr/>
        </p:nvSpPr>
        <p:spPr>
          <a:xfrm>
            <a:off x="822960" y="3017520"/>
            <a:ext cx="48463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3A9BC"/>
                </a:solidFill>
                <a:latin typeface="Segoe UI"/>
              </a:rPr>
              <a:t>Corta tudo pelo mesmo fator, inclusive a parte que é mercado. Num ano em que o índice subiu 30%, vender índice custa caro sozinho — sem ter nada a ver com a qualidade das apostas.</a:t>
            </a:r>
          </a:p>
        </p:txBody>
      </p:sp>
      <p:sp>
        <p:nvSpPr>
          <p:cNvPr id="30" name="sA2_28"/>
          <p:cNvSpPr txBox="1"/>
          <p:nvPr/>
        </p:nvSpPr>
        <p:spPr>
          <a:xfrm>
            <a:off x="6519672" y="1042415"/>
            <a:ext cx="48463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100">
                <a:solidFill>
                  <a:srgbClr val="4FC3A1"/>
                </a:solidFill>
                <a:latin typeface="Segoe UI"/>
              </a:rPr>
              <a:t>ENCOLHENDO SÓ O DESVIO  ·  A NOSSA</a:t>
            </a:r>
          </a:p>
        </p:txBody>
      </p:sp>
      <p:sp>
        <p:nvSpPr>
          <p:cNvPr id="31" name="sA2_29"/>
          <p:cNvSpPr txBox="1"/>
          <p:nvPr/>
        </p:nvSpPr>
        <p:spPr>
          <a:xfrm>
            <a:off x="6519672" y="1389888"/>
            <a:ext cx="250545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100">
                <a:solidFill>
                  <a:srgbClr val="6B8299"/>
                </a:solidFill>
                <a:latin typeface="Segoe UI"/>
              </a:rPr>
              <a:t>LIMITE</a:t>
            </a:r>
          </a:p>
        </p:txBody>
      </p:sp>
      <p:sp>
        <p:nvSpPr>
          <p:cNvPr id="32" name="sA2_30"/>
          <p:cNvSpPr txBox="1"/>
          <p:nvPr/>
        </p:nvSpPr>
        <p:spPr>
          <a:xfrm>
            <a:off x="9025128" y="1389888"/>
            <a:ext cx="117043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100">
                <a:solidFill>
                  <a:srgbClr val="6B8299"/>
                </a:solidFill>
                <a:latin typeface="Segoe UI"/>
              </a:rPr>
              <a:t>RETORNO</a:t>
            </a:r>
          </a:p>
        </p:txBody>
      </p:sp>
      <p:sp>
        <p:nvSpPr>
          <p:cNvPr id="33" name="sA2_31"/>
          <p:cNvSpPr txBox="1"/>
          <p:nvPr/>
        </p:nvSpPr>
        <p:spPr>
          <a:xfrm>
            <a:off x="10195559" y="1389888"/>
            <a:ext cx="117043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100">
                <a:solidFill>
                  <a:srgbClr val="6B8299"/>
                </a:solidFill>
                <a:latin typeface="Segoe UI"/>
              </a:rPr>
              <a:t>VS ÍNDICE</a:t>
            </a:r>
          </a:p>
        </p:txBody>
      </p:sp>
      <p:cxnSp>
        <p:nvCxnSpPr>
          <p:cNvPr id="34" name="sA2_32"/>
          <p:cNvCxnSpPr/>
          <p:nvPr/>
        </p:nvCxnSpPr>
        <p:spPr>
          <a:xfrm>
            <a:off x="6519672" y="1609344"/>
            <a:ext cx="4846320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sA2_33"/>
          <p:cNvSpPr txBox="1"/>
          <p:nvPr/>
        </p:nvSpPr>
        <p:spPr>
          <a:xfrm>
            <a:off x="6519672" y="1700784"/>
            <a:ext cx="250545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4FC3A1"/>
                </a:solidFill>
                <a:latin typeface="Segoe UI"/>
              </a:rPr>
              <a:t>teto 1</a:t>
            </a:r>
          </a:p>
        </p:txBody>
      </p:sp>
      <p:sp>
        <p:nvSpPr>
          <p:cNvPr id="36" name="sA2_34"/>
          <p:cNvSpPr txBox="1"/>
          <p:nvPr/>
        </p:nvSpPr>
        <p:spPr>
          <a:xfrm>
            <a:off x="9025128" y="1700784"/>
            <a:ext cx="11704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4FC3A1"/>
                </a:solidFill>
                <a:latin typeface="Segoe UI"/>
              </a:rPr>
              <a:t>+33,2%</a:t>
            </a:r>
          </a:p>
        </p:txBody>
      </p:sp>
      <p:sp>
        <p:nvSpPr>
          <p:cNvPr id="37" name="sA2_35"/>
          <p:cNvSpPr txBox="1"/>
          <p:nvPr/>
        </p:nvSpPr>
        <p:spPr>
          <a:xfrm>
            <a:off x="10195559" y="1700784"/>
            <a:ext cx="11704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4FC3A1"/>
                </a:solidFill>
                <a:latin typeface="Segoe UI"/>
              </a:rPr>
              <a:t>+3,0 pp</a:t>
            </a:r>
          </a:p>
        </p:txBody>
      </p:sp>
      <p:cxnSp>
        <p:nvCxnSpPr>
          <p:cNvPr id="38" name="sA2_36"/>
          <p:cNvCxnSpPr/>
          <p:nvPr/>
        </p:nvCxnSpPr>
        <p:spPr>
          <a:xfrm>
            <a:off x="6519672" y="1883664"/>
            <a:ext cx="4846320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sA2_37"/>
          <p:cNvSpPr txBox="1"/>
          <p:nvPr/>
        </p:nvSpPr>
        <p:spPr>
          <a:xfrm>
            <a:off x="6519672" y="1975104"/>
            <a:ext cx="250545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9BAEC0"/>
                </a:solidFill>
                <a:latin typeface="Segoe UI"/>
              </a:rPr>
              <a:t>teto 2</a:t>
            </a:r>
          </a:p>
        </p:txBody>
      </p:sp>
      <p:sp>
        <p:nvSpPr>
          <p:cNvPr id="40" name="sA2_38"/>
          <p:cNvSpPr txBox="1"/>
          <p:nvPr/>
        </p:nvSpPr>
        <p:spPr>
          <a:xfrm>
            <a:off x="9025128" y="1975104"/>
            <a:ext cx="11704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8EDF2"/>
                </a:solidFill>
                <a:latin typeface="Segoe UI"/>
              </a:rPr>
              <a:t>+36,5%</a:t>
            </a:r>
          </a:p>
        </p:txBody>
      </p:sp>
      <p:sp>
        <p:nvSpPr>
          <p:cNvPr id="41" name="sA2_39"/>
          <p:cNvSpPr txBox="1"/>
          <p:nvPr/>
        </p:nvSpPr>
        <p:spPr>
          <a:xfrm>
            <a:off x="10195559" y="1975104"/>
            <a:ext cx="11704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8299"/>
                </a:solidFill>
                <a:latin typeface="Segoe UI"/>
              </a:rPr>
              <a:t>+6,4 pp</a:t>
            </a:r>
          </a:p>
        </p:txBody>
      </p:sp>
      <p:cxnSp>
        <p:nvCxnSpPr>
          <p:cNvPr id="42" name="sA2_40"/>
          <p:cNvCxnSpPr/>
          <p:nvPr/>
        </p:nvCxnSpPr>
        <p:spPr>
          <a:xfrm>
            <a:off x="6519672" y="2157984"/>
            <a:ext cx="4846320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sA2_41"/>
          <p:cNvSpPr txBox="1"/>
          <p:nvPr/>
        </p:nvSpPr>
        <p:spPr>
          <a:xfrm>
            <a:off x="6519672" y="2249424"/>
            <a:ext cx="250545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9BAEC0"/>
                </a:solidFill>
                <a:latin typeface="Segoe UI"/>
              </a:rPr>
              <a:t>teto 3</a:t>
            </a:r>
          </a:p>
        </p:txBody>
      </p:sp>
      <p:sp>
        <p:nvSpPr>
          <p:cNvPr id="44" name="sA2_42"/>
          <p:cNvSpPr txBox="1"/>
          <p:nvPr/>
        </p:nvSpPr>
        <p:spPr>
          <a:xfrm>
            <a:off x="9025128" y="2249424"/>
            <a:ext cx="11704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8EDF2"/>
                </a:solidFill>
                <a:latin typeface="Segoe UI"/>
              </a:rPr>
              <a:t>+38,9%</a:t>
            </a:r>
          </a:p>
        </p:txBody>
      </p:sp>
      <p:sp>
        <p:nvSpPr>
          <p:cNvPr id="45" name="sA2_43"/>
          <p:cNvSpPr txBox="1"/>
          <p:nvPr/>
        </p:nvSpPr>
        <p:spPr>
          <a:xfrm>
            <a:off x="10195559" y="2249424"/>
            <a:ext cx="11704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8299"/>
                </a:solidFill>
                <a:latin typeface="Segoe UI"/>
              </a:rPr>
              <a:t>+8,8 pp</a:t>
            </a:r>
          </a:p>
        </p:txBody>
      </p:sp>
      <p:cxnSp>
        <p:nvCxnSpPr>
          <p:cNvPr id="46" name="sA2_44"/>
          <p:cNvCxnSpPr/>
          <p:nvPr/>
        </p:nvCxnSpPr>
        <p:spPr>
          <a:xfrm>
            <a:off x="6519672" y="2432303"/>
            <a:ext cx="4846320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sA2_45"/>
          <p:cNvSpPr txBox="1"/>
          <p:nvPr/>
        </p:nvSpPr>
        <p:spPr>
          <a:xfrm>
            <a:off x="6519672" y="2523744"/>
            <a:ext cx="250545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9BAEC0"/>
                </a:solidFill>
                <a:latin typeface="Segoe UI"/>
              </a:rPr>
              <a:t>teto 5</a:t>
            </a:r>
          </a:p>
        </p:txBody>
      </p:sp>
      <p:sp>
        <p:nvSpPr>
          <p:cNvPr id="48" name="sA2_46"/>
          <p:cNvSpPr txBox="1"/>
          <p:nvPr/>
        </p:nvSpPr>
        <p:spPr>
          <a:xfrm>
            <a:off x="9025128" y="2523744"/>
            <a:ext cx="11704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8EDF2"/>
                </a:solidFill>
                <a:latin typeface="Segoe UI"/>
              </a:rPr>
              <a:t>+45,8%</a:t>
            </a:r>
          </a:p>
        </p:txBody>
      </p:sp>
      <p:sp>
        <p:nvSpPr>
          <p:cNvPr id="49" name="sA2_47"/>
          <p:cNvSpPr txBox="1"/>
          <p:nvPr/>
        </p:nvSpPr>
        <p:spPr>
          <a:xfrm>
            <a:off x="10195559" y="2523744"/>
            <a:ext cx="11704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8299"/>
                </a:solidFill>
                <a:latin typeface="Segoe UI"/>
              </a:rPr>
              <a:t>+15,7 pp</a:t>
            </a:r>
          </a:p>
        </p:txBody>
      </p:sp>
      <p:cxnSp>
        <p:nvCxnSpPr>
          <p:cNvPr id="50" name="sA2_48"/>
          <p:cNvCxnSpPr/>
          <p:nvPr/>
        </p:nvCxnSpPr>
        <p:spPr>
          <a:xfrm>
            <a:off x="6519672" y="2706623"/>
            <a:ext cx="4846320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sA2_49"/>
          <p:cNvSpPr txBox="1"/>
          <p:nvPr/>
        </p:nvSpPr>
        <p:spPr>
          <a:xfrm>
            <a:off x="6519672" y="3017520"/>
            <a:ext cx="48463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3A9BC"/>
                </a:solidFill>
                <a:latin typeface="Segoe UI"/>
              </a:rPr>
              <a:t>Limita só o quanto a carteira se afasta do índice e entrega a perna de mercado inteira. É o escopo da entrega — e a linha que usamos é a MAIS APERTADA da tabela, não a de melhor número.</a:t>
            </a:r>
          </a:p>
        </p:txBody>
      </p:sp>
      <p:sp>
        <p:nvSpPr>
          <p:cNvPr id="52" name="sA2_50"/>
          <p:cNvSpPr txBox="1"/>
          <p:nvPr/>
        </p:nvSpPr>
        <p:spPr>
          <a:xfrm>
            <a:off x="822960" y="4041648"/>
            <a:ext cx="512064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100">
                <a:solidFill>
                  <a:srgbClr val="F5A623"/>
                </a:solidFill>
                <a:latin typeface="Segoe UI"/>
              </a:rPr>
              <a:t>POR QUE ISSO NÃO É ESCOLHER O QUE FICOU BOM</a:t>
            </a:r>
          </a:p>
        </p:txBody>
      </p:sp>
      <p:sp>
        <p:nvSpPr>
          <p:cNvPr id="53" name="sA2_51"/>
          <p:cNvSpPr txBox="1"/>
          <p:nvPr/>
        </p:nvSpPr>
        <p:spPr>
          <a:xfrm>
            <a:off x="822960" y="4352544"/>
            <a:ext cx="512064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8EDF2"/>
                </a:solidFill>
                <a:latin typeface="Segoe UI"/>
              </a:rPr>
              <a:t>A regra veio antes.</a:t>
            </a:r>
            <a:r>
              <a:rPr sz="1050" b="0">
                <a:solidFill>
                  <a:srgbClr val="93A9BC"/>
                </a:solidFill>
                <a:latin typeface="Segoe UI"/>
              </a:rPr>
              <a:t> O escopo e o nível foram fixados antes de rodar o backtest, com plano B escrito. Nenhuma linha desta tabela foi escolhida depois.</a:t>
            </a:r>
          </a:p>
          <a:p>
            <a:pPr algn="l">
              <a:lnSpc>
                <a:spcPct val="126000"/>
              </a:lnSpc>
              <a:spcBef>
                <a:spcPts val="800"/>
              </a:spcBef>
              <a:spcAft>
                <a:spcPts val="0"/>
              </a:spcAft>
            </a:pPr>
            <a:r>
              <a:rPr sz="1050" b="1">
                <a:solidFill>
                  <a:srgbClr val="E8EDF2"/>
                </a:solidFill>
                <a:latin typeface="Segoe UI"/>
              </a:rPr>
              <a:t>Publicamos as oito.</a:t>
            </a:r>
            <a:r>
              <a:rPr sz="1050" b="0">
                <a:solidFill>
                  <a:srgbClr val="93A9BC"/>
                </a:solidFill>
                <a:latin typeface="Segoe UI"/>
              </a:rPr>
              <a:t> A alternativa honesta a escolher uma configuração é mostrar a grade inteira — inclusive as quatro em que perdemos do índice.</a:t>
            </a:r>
          </a:p>
          <a:p>
            <a:pPr algn="l">
              <a:lnSpc>
                <a:spcPct val="126000"/>
              </a:lnSpc>
              <a:spcBef>
                <a:spcPts val="800"/>
              </a:spcBef>
              <a:spcAft>
                <a:spcPts val="0"/>
              </a:spcAft>
            </a:pPr>
            <a:r>
              <a:rPr sz="1050" b="1">
                <a:solidFill>
                  <a:srgbClr val="E8EDF2"/>
                </a:solidFill>
                <a:latin typeface="Segoe UI"/>
              </a:rPr>
              <a:t>E ficamos na mais apertada.</a:t>
            </a:r>
            <a:r>
              <a:rPr sz="1050" b="0">
                <a:solidFill>
                  <a:srgbClr val="93A9BC"/>
                </a:solidFill>
                <a:latin typeface="Segoe UI"/>
              </a:rPr>
              <a:t> Afrouxar o limite melhoraria o número em toda a coluna. Não afrouxamos.</a:t>
            </a:r>
          </a:p>
        </p:txBody>
      </p:sp>
      <p:sp>
        <p:nvSpPr>
          <p:cNvPr id="54" name="sA2_52"/>
          <p:cNvSpPr/>
          <p:nvPr/>
        </p:nvSpPr>
        <p:spPr>
          <a:xfrm>
            <a:off x="6245352" y="4078224"/>
            <a:ext cx="45720" cy="1389888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sA2_53"/>
          <p:cNvSpPr txBox="1"/>
          <p:nvPr/>
        </p:nvSpPr>
        <p:spPr>
          <a:xfrm>
            <a:off x="6464808" y="4041648"/>
            <a:ext cx="4901183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EDF2"/>
                </a:solidFill>
                <a:latin typeface="Segoe UI"/>
              </a:rPr>
              <a:t>O escopo vale 18 pontos, e é mecânico. </a:t>
            </a:r>
            <a:r>
              <a:rPr sz="1150" b="0">
                <a:solidFill>
                  <a:srgbClr val="93A9BC"/>
                </a:solidFill>
                <a:latin typeface="Segoe UI"/>
              </a:rPr>
              <a:t>A diferença entre as duas tabelas no mesmo limite não vem das apostas: vem de uma delas vender índice e a outra não. Por ser uma escolha tão pesada, ela é a que mais precisava ser fixada antes.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E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A3_0"/>
          <p:cNvSpPr txBox="1"/>
          <p:nvPr/>
        </p:nvSpPr>
        <p:spPr>
          <a:xfrm>
            <a:off x="822960" y="292608"/>
            <a:ext cx="82296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spc="80">
                <a:solidFill>
                  <a:srgbClr val="F5A623"/>
                </a:solidFill>
                <a:latin typeface="Segoe UI"/>
              </a:rPr>
              <a:t>KAIRÓS</a:t>
            </a:r>
            <a:r>
              <a:rPr sz="1500" b="0" spc="80">
                <a:solidFill>
                  <a:srgbClr val="E8EDF2"/>
                </a:solidFill>
                <a:latin typeface="Segoe UI"/>
              </a:rPr>
              <a:t>   Apêndice · a camada tática por dentro</a:t>
            </a:r>
          </a:p>
        </p:txBody>
      </p:sp>
      <p:sp>
        <p:nvSpPr>
          <p:cNvPr id="3" name="sA3_1"/>
          <p:cNvSpPr txBox="1"/>
          <p:nvPr/>
        </p:nvSpPr>
        <p:spPr>
          <a:xfrm>
            <a:off x="8988552" y="347472"/>
            <a:ext cx="23774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8299"/>
                </a:solidFill>
                <a:latin typeface="Segoe UI"/>
              </a:rPr>
              <a:t>A3</a:t>
            </a:r>
          </a:p>
        </p:txBody>
      </p:sp>
      <p:cxnSp>
        <p:nvCxnSpPr>
          <p:cNvPr id="4" name="sA3_2"/>
          <p:cNvCxnSpPr/>
          <p:nvPr/>
        </p:nvCxnSpPr>
        <p:spPr>
          <a:xfrm>
            <a:off x="822960" y="768096"/>
            <a:ext cx="10543032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A3_3"/>
          <p:cNvCxnSpPr/>
          <p:nvPr/>
        </p:nvCxnSpPr>
        <p:spPr>
          <a:xfrm>
            <a:off x="822960" y="3931920"/>
            <a:ext cx="10543032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A3_4"/>
          <p:cNvCxnSpPr/>
          <p:nvPr/>
        </p:nvCxnSpPr>
        <p:spPr>
          <a:xfrm>
            <a:off x="822960" y="6291072"/>
            <a:ext cx="10543032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sA3_5"/>
          <p:cNvSpPr txBox="1"/>
          <p:nvPr/>
        </p:nvSpPr>
        <p:spPr>
          <a:xfrm>
            <a:off x="822960" y="6382512"/>
            <a:ext cx="1054303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8299"/>
                </a:solidFill>
                <a:latin typeface="Segoe UI"/>
              </a:rPr>
              <a:t>Apêndice — fora dos 6 minutos, mostrado só se perguntarem.   </a:t>
            </a:r>
            <a:r>
              <a:rPr sz="850" b="0">
                <a:solidFill>
                  <a:srgbClr val="9BAEC0"/>
                </a:solidFill>
                <a:latin typeface="Segoe UI"/>
              </a:rPr>
              <a:t>scripts/slides_apendice_pptx.py</a:t>
            </a:r>
          </a:p>
        </p:txBody>
      </p:sp>
      <p:sp>
        <p:nvSpPr>
          <p:cNvPr id="8" name="sA3_6"/>
          <p:cNvSpPr/>
          <p:nvPr/>
        </p:nvSpPr>
        <p:spPr>
          <a:xfrm>
            <a:off x="822960" y="1005840"/>
            <a:ext cx="3291840" cy="1691640"/>
          </a:xfrm>
          <a:prstGeom prst="roundRect">
            <a:avLst>
              <a:gd name="adj" fmla="val 11000"/>
            </a:avLst>
          </a:prstGeom>
          <a:gradFill rotWithShape="1">
            <a:gsLst>
              <a:gs pos="0">
                <a:srgbClr val="1B2D40"/>
              </a:gs>
              <a:gs pos="100000">
                <a:srgbClr val="0C1824"/>
              </a:gs>
            </a:gsLst>
            <a:lin ang="5400000" scaled="0"/>
          </a:gradFill>
          <a:ln w="12700">
            <a:solidFill>
              <a:srgbClr val="23384C"/>
            </a:solidFill>
          </a:ln>
          <a:effectLst>
            <a:outerShdw blurRad="170000" dist="44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sA3_7"/>
          <p:cNvSpPr/>
          <p:nvPr/>
        </p:nvSpPr>
        <p:spPr>
          <a:xfrm>
            <a:off x="1005840" y="1207008"/>
            <a:ext cx="45720" cy="1289304"/>
          </a:xfrm>
          <a:prstGeom prst="roundRect">
            <a:avLst>
              <a:gd name="adj" fmla="val 50000"/>
            </a:avLst>
          </a:prstGeom>
          <a:solidFill>
            <a:srgbClr val="4FC3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sA3_8"/>
          <p:cNvSpPr txBox="1"/>
          <p:nvPr/>
        </p:nvSpPr>
        <p:spPr>
          <a:xfrm>
            <a:off x="1225296" y="1207008"/>
            <a:ext cx="270662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4FC3A1"/>
                </a:solidFill>
                <a:latin typeface="Segoe UI"/>
              </a:rPr>
              <a:t>+42,6 pp</a:t>
            </a:r>
          </a:p>
        </p:txBody>
      </p:sp>
      <p:sp>
        <p:nvSpPr>
          <p:cNvPr id="11" name="sA3_9"/>
          <p:cNvSpPr txBox="1"/>
          <p:nvPr/>
        </p:nvSpPr>
        <p:spPr>
          <a:xfrm>
            <a:off x="1225296" y="1755648"/>
            <a:ext cx="270662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8EDF2"/>
                </a:solidFill>
                <a:latin typeface="Segoe UI"/>
              </a:rPr>
              <a:t>Sozinha, fora da carteira</a:t>
            </a:r>
          </a:p>
          <a:p>
            <a:pPr algn="l">
              <a:lnSpc>
                <a:spcPct val="122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>
                <a:solidFill>
                  <a:srgbClr val="93A9BC"/>
                </a:solidFill>
                <a:latin typeface="Segoe UI"/>
              </a:rPr>
              <a:t>327 pregões ativos · acerta a direção em 54% deles · e sem os três melhores dias sobe para +64 pp</a:t>
            </a:r>
          </a:p>
        </p:txBody>
      </p:sp>
      <p:sp>
        <p:nvSpPr>
          <p:cNvPr id="12" name="sA3_10"/>
          <p:cNvSpPr/>
          <p:nvPr/>
        </p:nvSpPr>
        <p:spPr>
          <a:xfrm>
            <a:off x="4343400" y="1005840"/>
            <a:ext cx="3291840" cy="1691640"/>
          </a:xfrm>
          <a:prstGeom prst="roundRect">
            <a:avLst>
              <a:gd name="adj" fmla="val 11000"/>
            </a:avLst>
          </a:prstGeom>
          <a:gradFill rotWithShape="1">
            <a:gsLst>
              <a:gs pos="0">
                <a:srgbClr val="1B2D40"/>
              </a:gs>
              <a:gs pos="100000">
                <a:srgbClr val="0C1824"/>
              </a:gs>
            </a:gsLst>
            <a:lin ang="5400000" scaled="0"/>
          </a:gradFill>
          <a:ln w="12700">
            <a:solidFill>
              <a:srgbClr val="23384C"/>
            </a:solidFill>
          </a:ln>
          <a:effectLst>
            <a:outerShdw blurRad="170000" dist="44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sA3_11"/>
          <p:cNvSpPr/>
          <p:nvPr/>
        </p:nvSpPr>
        <p:spPr>
          <a:xfrm>
            <a:off x="4526280" y="1207008"/>
            <a:ext cx="45720" cy="1289304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sA3_12"/>
          <p:cNvSpPr txBox="1"/>
          <p:nvPr/>
        </p:nvSpPr>
        <p:spPr>
          <a:xfrm>
            <a:off x="4745736" y="1207008"/>
            <a:ext cx="270662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−2,9 pp</a:t>
            </a:r>
          </a:p>
        </p:txBody>
      </p:sp>
      <p:sp>
        <p:nvSpPr>
          <p:cNvPr id="15" name="sA3_13"/>
          <p:cNvSpPr txBox="1"/>
          <p:nvPr/>
        </p:nvSpPr>
        <p:spPr>
          <a:xfrm>
            <a:off x="4745736" y="1755648"/>
            <a:ext cx="270662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8EDF2"/>
                </a:solidFill>
                <a:latin typeface="Segoe UI"/>
              </a:rPr>
              <a:t>Ao entrar na carteira</a:t>
            </a:r>
          </a:p>
          <a:p>
            <a:pPr algn="l">
              <a:lnSpc>
                <a:spcPct val="122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>
                <a:solidFill>
                  <a:srgbClr val="93A9BC"/>
                </a:solidFill>
                <a:latin typeface="Segoe UI"/>
              </a:rPr>
              <a:t>O excesso sobre o índice cai de +6,0 pp para +3,0 pp. Não é contradição — é divisão de um orçamento fixo de risco.</a:t>
            </a:r>
          </a:p>
        </p:txBody>
      </p:sp>
      <p:sp>
        <p:nvSpPr>
          <p:cNvPr id="16" name="sA3_14"/>
          <p:cNvSpPr/>
          <p:nvPr/>
        </p:nvSpPr>
        <p:spPr>
          <a:xfrm>
            <a:off x="822960" y="2980944"/>
            <a:ext cx="45720" cy="749808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sA3_15"/>
          <p:cNvSpPr txBox="1"/>
          <p:nvPr/>
        </p:nvSpPr>
        <p:spPr>
          <a:xfrm>
            <a:off x="1042416" y="2944368"/>
            <a:ext cx="6592824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EDF2"/>
                </a:solidFill>
                <a:latin typeface="Segoe UI"/>
              </a:rPr>
              <a:t>Diga assim, se perguntarem: </a:t>
            </a:r>
            <a:r>
              <a:rPr sz="1150" b="0">
                <a:solidFill>
                  <a:srgbClr val="93A9BC"/>
                </a:solidFill>
                <a:latin typeface="Segoe UI"/>
              </a:rPr>
              <a:t>“o limite de risco é fixo. Quando a camada tática entra, ela não soma — ela divide. Nessa janela, o que ela deslocou valia um pouco mais do que o que ela trouxe.”</a:t>
            </a:r>
          </a:p>
        </p:txBody>
      </p:sp>
      <p:sp>
        <p:nvSpPr>
          <p:cNvPr id="18" name="sA3_16"/>
          <p:cNvSpPr txBox="1"/>
          <p:nvPr/>
        </p:nvSpPr>
        <p:spPr>
          <a:xfrm>
            <a:off x="8074152" y="1005840"/>
            <a:ext cx="329184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100">
                <a:solidFill>
                  <a:srgbClr val="F5A623"/>
                </a:solidFill>
                <a:latin typeface="Segoe UI"/>
              </a:rPr>
              <a:t>POR QUE ELA NÃO CABE</a:t>
            </a:r>
          </a:p>
        </p:txBody>
      </p:sp>
      <p:sp>
        <p:nvSpPr>
          <p:cNvPr id="19" name="sA3_17"/>
          <p:cNvSpPr txBox="1"/>
          <p:nvPr/>
        </p:nvSpPr>
        <p:spPr>
          <a:xfrm>
            <a:off x="8074152" y="1389888"/>
            <a:ext cx="32918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93A9BC"/>
                </a:solidFill>
                <a:latin typeface="Segoe UI"/>
              </a:rPr>
              <a:t>O limite de risco da carteira inteira</a:t>
            </a:r>
          </a:p>
        </p:txBody>
      </p:sp>
      <p:sp>
        <p:nvSpPr>
          <p:cNvPr id="20" name="sA3_18"/>
          <p:cNvSpPr/>
          <p:nvPr/>
        </p:nvSpPr>
        <p:spPr>
          <a:xfrm>
            <a:off x="8074152" y="1627632"/>
            <a:ext cx="3291840" cy="201168"/>
          </a:xfrm>
          <a:prstGeom prst="roundRect">
            <a:avLst>
              <a:gd name="adj" fmla="val 11000"/>
            </a:avLst>
          </a:prstGeom>
          <a:solidFill>
            <a:srgbClr val="6B8299"/>
          </a:solidFill>
          <a:ln w="12700">
            <a:solidFill>
              <a:srgbClr val="23384C"/>
            </a:solidFill>
          </a:ln>
          <a:effectLst>
            <a:outerShdw blurRad="170000" dist="44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sA3_19"/>
          <p:cNvSpPr/>
          <p:nvPr/>
        </p:nvSpPr>
        <p:spPr>
          <a:xfrm>
            <a:off x="8074152" y="1627632"/>
            <a:ext cx="1296000" cy="201168"/>
          </a:xfrm>
          <a:prstGeom prst="roundRect">
            <a:avLst>
              <a:gd name="adj" fmla="val 11000"/>
            </a:avLst>
          </a:prstGeom>
          <a:solidFill>
            <a:srgbClr val="9BAEC0"/>
          </a:solidFill>
          <a:ln w="12700">
            <a:solidFill>
              <a:srgbClr val="23384C"/>
            </a:solidFill>
          </a:ln>
          <a:effectLst>
            <a:outerShdw blurRad="170000" dist="44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sA3_20"/>
          <p:cNvSpPr txBox="1"/>
          <p:nvPr/>
        </p:nvSpPr>
        <p:spPr>
          <a:xfrm>
            <a:off x="8074152" y="1883664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9BAEC0"/>
                </a:solidFill>
                <a:latin typeface="Segoe UI"/>
              </a:rPr>
              <a:t>1,0</a:t>
            </a:r>
          </a:p>
        </p:txBody>
      </p:sp>
      <p:sp>
        <p:nvSpPr>
          <p:cNvPr id="23" name="sA3_21"/>
          <p:cNvSpPr txBox="1"/>
          <p:nvPr/>
        </p:nvSpPr>
        <p:spPr>
          <a:xfrm>
            <a:off x="8074152" y="2121408"/>
            <a:ext cx="32918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93A9BC"/>
                </a:solidFill>
                <a:latin typeface="Segoe UI"/>
              </a:rPr>
              <a:t>O que a camada tática pede sozinha</a:t>
            </a:r>
          </a:p>
        </p:txBody>
      </p:sp>
      <p:sp>
        <p:nvSpPr>
          <p:cNvPr id="24" name="sA3_22"/>
          <p:cNvSpPr/>
          <p:nvPr/>
        </p:nvSpPr>
        <p:spPr>
          <a:xfrm>
            <a:off x="8074152" y="2359152"/>
            <a:ext cx="3291840" cy="201168"/>
          </a:xfrm>
          <a:prstGeom prst="roundRect">
            <a:avLst>
              <a:gd name="adj" fmla="val 11000"/>
            </a:avLst>
          </a:prstGeom>
          <a:solidFill>
            <a:srgbClr val="6B8299"/>
          </a:solidFill>
          <a:ln w="12700">
            <a:solidFill>
              <a:srgbClr val="23384C"/>
            </a:solidFill>
          </a:ln>
          <a:effectLst>
            <a:outerShdw blurRad="170000" dist="44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sA3_23"/>
          <p:cNvSpPr/>
          <p:nvPr/>
        </p:nvSpPr>
        <p:spPr>
          <a:xfrm>
            <a:off x="8074152" y="2359152"/>
            <a:ext cx="3291840" cy="201168"/>
          </a:xfrm>
          <a:prstGeom prst="roundRect">
            <a:avLst>
              <a:gd name="adj" fmla="val 11000"/>
            </a:avLst>
          </a:prstGeom>
          <a:solidFill>
            <a:srgbClr val="F5A623"/>
          </a:solidFill>
          <a:ln w="12700">
            <a:solidFill>
              <a:srgbClr val="23384C"/>
            </a:solidFill>
          </a:ln>
          <a:effectLst>
            <a:outerShdw blurRad="170000" dist="44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sA3_24"/>
          <p:cNvSpPr txBox="1"/>
          <p:nvPr/>
        </p:nvSpPr>
        <p:spPr>
          <a:xfrm>
            <a:off x="8074152" y="2615184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5A623"/>
                </a:solidFill>
                <a:latin typeface="Segoe UI"/>
              </a:rPr>
              <a:t>2,54</a:t>
            </a:r>
          </a:p>
        </p:txBody>
      </p:sp>
      <p:sp>
        <p:nvSpPr>
          <p:cNvPr id="27" name="sA3_25"/>
          <p:cNvSpPr txBox="1"/>
          <p:nvPr/>
        </p:nvSpPr>
        <p:spPr>
          <a:xfrm>
            <a:off x="8074152" y="2834640"/>
            <a:ext cx="32918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3A9BC"/>
                </a:solidFill>
                <a:latin typeface="Segoe UI"/>
              </a:rPr>
              <a:t>Em 80% dos dias ativos o pedido dela sozinho já não cabe — então o corte encolhe também as outras apostas.</a:t>
            </a:r>
          </a:p>
        </p:txBody>
      </p:sp>
      <p:sp>
        <p:nvSpPr>
          <p:cNvPr id="28" name="sA3_26"/>
          <p:cNvSpPr txBox="1"/>
          <p:nvPr/>
        </p:nvSpPr>
        <p:spPr>
          <a:xfrm>
            <a:off x="822960" y="4041648"/>
            <a:ext cx="512064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100">
                <a:solidFill>
                  <a:srgbClr val="F5A623"/>
                </a:solidFill>
                <a:latin typeface="Segoe UI"/>
              </a:rPr>
              <a:t>E AFROUXAR O LIMITE RESOLVERIA? NÃO</a:t>
            </a:r>
          </a:p>
        </p:txBody>
      </p:sp>
      <p:sp>
        <p:nvSpPr>
          <p:cNvPr id="29" name="sA3_27"/>
          <p:cNvSpPr txBox="1"/>
          <p:nvPr/>
        </p:nvSpPr>
        <p:spPr>
          <a:xfrm>
            <a:off x="822960" y="4297680"/>
            <a:ext cx="277977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100">
                <a:solidFill>
                  <a:srgbClr val="6B8299"/>
                </a:solidFill>
                <a:latin typeface="Segoe UI"/>
              </a:rPr>
              <a:t>LIMITE DE RISCO</a:t>
            </a:r>
          </a:p>
        </p:txBody>
      </p:sp>
      <p:sp>
        <p:nvSpPr>
          <p:cNvPr id="30" name="sA3_28"/>
          <p:cNvSpPr txBox="1"/>
          <p:nvPr/>
        </p:nvSpPr>
        <p:spPr>
          <a:xfrm>
            <a:off x="3602735" y="4297680"/>
            <a:ext cx="117043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100">
                <a:solidFill>
                  <a:srgbClr val="6B8299"/>
                </a:solidFill>
                <a:latin typeface="Segoe UI"/>
              </a:rPr>
              <a:t>EFEITO</a:t>
            </a:r>
          </a:p>
        </p:txBody>
      </p:sp>
      <p:sp>
        <p:nvSpPr>
          <p:cNvPr id="31" name="sA3_29"/>
          <p:cNvSpPr txBox="1"/>
          <p:nvPr/>
        </p:nvSpPr>
        <p:spPr>
          <a:xfrm>
            <a:off x="4773168" y="4297680"/>
            <a:ext cx="117043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cxnSp>
        <p:nvCxnSpPr>
          <p:cNvPr id="32" name="sA3_30"/>
          <p:cNvCxnSpPr/>
          <p:nvPr/>
        </p:nvCxnSpPr>
        <p:spPr>
          <a:xfrm>
            <a:off x="822960" y="4498848"/>
            <a:ext cx="5120640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sA3_31"/>
          <p:cNvSpPr txBox="1"/>
          <p:nvPr/>
        </p:nvSpPr>
        <p:spPr>
          <a:xfrm>
            <a:off x="822960" y="4590288"/>
            <a:ext cx="2779775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9BAEC0"/>
                </a:solidFill>
                <a:latin typeface="Segoe UI"/>
              </a:rPr>
              <a:t>teto 1</a:t>
            </a:r>
          </a:p>
        </p:txBody>
      </p:sp>
      <p:sp>
        <p:nvSpPr>
          <p:cNvPr id="34" name="sA3_32"/>
          <p:cNvSpPr txBox="1"/>
          <p:nvPr/>
        </p:nvSpPr>
        <p:spPr>
          <a:xfrm>
            <a:off x="3602735" y="4590288"/>
            <a:ext cx="117043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8EDF2"/>
                </a:solidFill>
                <a:latin typeface="Segoe UI"/>
              </a:rPr>
              <a:t>−2,94 pp</a:t>
            </a:r>
          </a:p>
        </p:txBody>
      </p:sp>
      <p:sp>
        <p:nvSpPr>
          <p:cNvPr id="35" name="sA3_33"/>
          <p:cNvSpPr txBox="1"/>
          <p:nvPr/>
        </p:nvSpPr>
        <p:spPr>
          <a:xfrm>
            <a:off x="4773168" y="4590288"/>
            <a:ext cx="117043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cxnSp>
        <p:nvCxnSpPr>
          <p:cNvPr id="36" name="sA3_34"/>
          <p:cNvCxnSpPr/>
          <p:nvPr/>
        </p:nvCxnSpPr>
        <p:spPr>
          <a:xfrm>
            <a:off x="822960" y="4754880"/>
            <a:ext cx="5120640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sA3_35"/>
          <p:cNvSpPr txBox="1"/>
          <p:nvPr/>
        </p:nvSpPr>
        <p:spPr>
          <a:xfrm>
            <a:off x="822960" y="4846320"/>
            <a:ext cx="2779775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9BAEC0"/>
                </a:solidFill>
                <a:latin typeface="Segoe UI"/>
              </a:rPr>
              <a:t>teto 2</a:t>
            </a:r>
          </a:p>
        </p:txBody>
      </p:sp>
      <p:sp>
        <p:nvSpPr>
          <p:cNvPr id="38" name="sA3_36"/>
          <p:cNvSpPr txBox="1"/>
          <p:nvPr/>
        </p:nvSpPr>
        <p:spPr>
          <a:xfrm>
            <a:off x="3602735" y="4846320"/>
            <a:ext cx="117043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8EDF2"/>
                </a:solidFill>
                <a:latin typeface="Segoe UI"/>
              </a:rPr>
              <a:t>−6,75 pp</a:t>
            </a:r>
          </a:p>
        </p:txBody>
      </p:sp>
      <p:sp>
        <p:nvSpPr>
          <p:cNvPr id="39" name="sA3_37"/>
          <p:cNvSpPr txBox="1"/>
          <p:nvPr/>
        </p:nvSpPr>
        <p:spPr>
          <a:xfrm>
            <a:off x="4773168" y="4846320"/>
            <a:ext cx="117043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cxnSp>
        <p:nvCxnSpPr>
          <p:cNvPr id="40" name="sA3_38"/>
          <p:cNvCxnSpPr/>
          <p:nvPr/>
        </p:nvCxnSpPr>
        <p:spPr>
          <a:xfrm>
            <a:off x="822960" y="5010912"/>
            <a:ext cx="5120640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sA3_39"/>
          <p:cNvSpPr txBox="1"/>
          <p:nvPr/>
        </p:nvSpPr>
        <p:spPr>
          <a:xfrm>
            <a:off x="822960" y="5102352"/>
            <a:ext cx="2779775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9BAEC0"/>
                </a:solidFill>
                <a:latin typeface="Segoe UI"/>
              </a:rPr>
              <a:t>teto 3</a:t>
            </a:r>
          </a:p>
        </p:txBody>
      </p:sp>
      <p:sp>
        <p:nvSpPr>
          <p:cNvPr id="42" name="sA3_40"/>
          <p:cNvSpPr txBox="1"/>
          <p:nvPr/>
        </p:nvSpPr>
        <p:spPr>
          <a:xfrm>
            <a:off x="3602735" y="5102352"/>
            <a:ext cx="117043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8EDF2"/>
                </a:solidFill>
                <a:latin typeface="Segoe UI"/>
              </a:rPr>
              <a:t>−8,90 pp</a:t>
            </a:r>
          </a:p>
        </p:txBody>
      </p:sp>
      <p:sp>
        <p:nvSpPr>
          <p:cNvPr id="43" name="sA3_41"/>
          <p:cNvSpPr txBox="1"/>
          <p:nvPr/>
        </p:nvSpPr>
        <p:spPr>
          <a:xfrm>
            <a:off x="4773168" y="5102352"/>
            <a:ext cx="117043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cxnSp>
        <p:nvCxnSpPr>
          <p:cNvPr id="44" name="sA3_42"/>
          <p:cNvCxnSpPr/>
          <p:nvPr/>
        </p:nvCxnSpPr>
        <p:spPr>
          <a:xfrm>
            <a:off x="822960" y="5266944"/>
            <a:ext cx="5120640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sA3_43"/>
          <p:cNvSpPr txBox="1"/>
          <p:nvPr/>
        </p:nvSpPr>
        <p:spPr>
          <a:xfrm>
            <a:off x="822960" y="5358384"/>
            <a:ext cx="2779775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9BAEC0"/>
                </a:solidFill>
                <a:latin typeface="Segoe UI"/>
              </a:rPr>
              <a:t>teto 5</a:t>
            </a:r>
          </a:p>
        </p:txBody>
      </p:sp>
      <p:sp>
        <p:nvSpPr>
          <p:cNvPr id="46" name="sA3_44"/>
          <p:cNvSpPr txBox="1"/>
          <p:nvPr/>
        </p:nvSpPr>
        <p:spPr>
          <a:xfrm>
            <a:off x="3602735" y="5358384"/>
            <a:ext cx="117043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8EDF2"/>
                </a:solidFill>
                <a:latin typeface="Segoe UI"/>
              </a:rPr>
              <a:t>+3,82 pp</a:t>
            </a:r>
          </a:p>
        </p:txBody>
      </p:sp>
      <p:sp>
        <p:nvSpPr>
          <p:cNvPr id="47" name="sA3_45"/>
          <p:cNvSpPr txBox="1"/>
          <p:nvPr/>
        </p:nvSpPr>
        <p:spPr>
          <a:xfrm>
            <a:off x="4773168" y="5358384"/>
            <a:ext cx="117043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cxnSp>
        <p:nvCxnSpPr>
          <p:cNvPr id="48" name="sA3_46"/>
          <p:cNvCxnSpPr/>
          <p:nvPr/>
        </p:nvCxnSpPr>
        <p:spPr>
          <a:xfrm>
            <a:off x="822960" y="5522976"/>
            <a:ext cx="5120640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sA3_47"/>
          <p:cNvSpPr txBox="1"/>
          <p:nvPr/>
        </p:nvSpPr>
        <p:spPr>
          <a:xfrm>
            <a:off x="822960" y="557784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3A9BC"/>
                </a:solidFill>
                <a:latin typeface="Segoe UI"/>
              </a:rPr>
              <a:t>O efeito piora até o teto 3 e só depois vira. Um padrão assim não se lê como 'a camada perde' nem como 'ela só disputa espaço' — e escolher o limite que fica bom seria exatamente o overfit que a gente diz evitar.</a:t>
            </a:r>
          </a:p>
        </p:txBody>
      </p:sp>
      <p:sp>
        <p:nvSpPr>
          <p:cNvPr id="50" name="sA3_48"/>
          <p:cNvSpPr/>
          <p:nvPr/>
        </p:nvSpPr>
        <p:spPr>
          <a:xfrm>
            <a:off x="6245352" y="4078224"/>
            <a:ext cx="45720" cy="932688"/>
          </a:xfrm>
          <a:prstGeom prst="roundRect">
            <a:avLst>
              <a:gd name="adj" fmla="val 50000"/>
            </a:avLst>
          </a:prstGeom>
          <a:solidFill>
            <a:srgbClr val="4FC3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sA3_49"/>
          <p:cNvSpPr txBox="1"/>
          <p:nvPr/>
        </p:nvSpPr>
        <p:spPr>
          <a:xfrm>
            <a:off x="6464808" y="4041648"/>
            <a:ext cx="4901183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EDF2"/>
                </a:solidFill>
                <a:latin typeface="Segoe UI"/>
              </a:rPr>
              <a:t>Ela entrou por mecanismo, não por lucro. </a:t>
            </a:r>
            <a:r>
              <a:rPr sz="1150" b="0">
                <a:solidFill>
                  <a:srgbClr val="93A9BC"/>
                </a:solidFill>
                <a:latin typeface="Segoe UI"/>
              </a:rPr>
              <a:t>Lê o movimento da probabilidade, não o nível; nenhum parâmetro foi escolhido olhando resultado. Prejuízo não reprova — e o custo dessa decisão está medido acima.</a:t>
            </a:r>
          </a:p>
        </p:txBody>
      </p:sp>
      <p:sp>
        <p:nvSpPr>
          <p:cNvPr id="52" name="sA3_50"/>
          <p:cNvSpPr/>
          <p:nvPr/>
        </p:nvSpPr>
        <p:spPr>
          <a:xfrm>
            <a:off x="6245352" y="5266944"/>
            <a:ext cx="45720" cy="932688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sA3_51"/>
          <p:cNvSpPr txBox="1"/>
          <p:nvPr/>
        </p:nvSpPr>
        <p:spPr>
          <a:xfrm>
            <a:off x="6464808" y="5230368"/>
            <a:ext cx="4901183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EDF2"/>
                </a:solidFill>
                <a:latin typeface="Segoe UI"/>
              </a:rPr>
              <a:t>O único teste fora da amostra do projeto. </a:t>
            </a:r>
            <a:r>
              <a:rPr sz="1150" b="0">
                <a:solidFill>
                  <a:srgbClr val="93A9BC"/>
                </a:solidFill>
                <a:latin typeface="Segoe UI"/>
              </a:rPr>
              <a:t>A aposta da Câmara repete o comportamento em um mercado parecido, que não foi usado para construí-la. É o teste mais forte que temos, e é o único.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E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A4_0"/>
          <p:cNvSpPr txBox="1"/>
          <p:nvPr/>
        </p:nvSpPr>
        <p:spPr>
          <a:xfrm>
            <a:off x="822960" y="292608"/>
            <a:ext cx="82296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spc="80">
                <a:solidFill>
                  <a:srgbClr val="F5A623"/>
                </a:solidFill>
                <a:latin typeface="Segoe UI"/>
              </a:rPr>
              <a:t>KAIRÓS</a:t>
            </a:r>
            <a:r>
              <a:rPr sz="1500" b="0" spc="80">
                <a:solidFill>
                  <a:srgbClr val="E8EDF2"/>
                </a:solidFill>
                <a:latin typeface="Segoe UI"/>
              </a:rPr>
              <a:t>   Apêndice · robustez, concentração e cauda</a:t>
            </a:r>
          </a:p>
        </p:txBody>
      </p:sp>
      <p:sp>
        <p:nvSpPr>
          <p:cNvPr id="3" name="sA4_1"/>
          <p:cNvSpPr txBox="1"/>
          <p:nvPr/>
        </p:nvSpPr>
        <p:spPr>
          <a:xfrm>
            <a:off x="8988552" y="347472"/>
            <a:ext cx="23774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8299"/>
                </a:solidFill>
                <a:latin typeface="Segoe UI"/>
              </a:rPr>
              <a:t>A4</a:t>
            </a:r>
          </a:p>
        </p:txBody>
      </p:sp>
      <p:cxnSp>
        <p:nvCxnSpPr>
          <p:cNvPr id="4" name="sA4_2"/>
          <p:cNvCxnSpPr/>
          <p:nvPr/>
        </p:nvCxnSpPr>
        <p:spPr>
          <a:xfrm>
            <a:off x="822960" y="768096"/>
            <a:ext cx="10543032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A4_3"/>
          <p:cNvCxnSpPr/>
          <p:nvPr/>
        </p:nvCxnSpPr>
        <p:spPr>
          <a:xfrm>
            <a:off x="822960" y="3931920"/>
            <a:ext cx="10543032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A4_4"/>
          <p:cNvCxnSpPr/>
          <p:nvPr/>
        </p:nvCxnSpPr>
        <p:spPr>
          <a:xfrm>
            <a:off x="822960" y="6291072"/>
            <a:ext cx="10543032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sA4_5"/>
          <p:cNvSpPr txBox="1"/>
          <p:nvPr/>
        </p:nvSpPr>
        <p:spPr>
          <a:xfrm>
            <a:off x="822960" y="6382512"/>
            <a:ext cx="1054303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8299"/>
                </a:solidFill>
                <a:latin typeface="Segoe UI"/>
              </a:rPr>
              <a:t>Apêndice — fora dos 6 minutos, mostrado só se perguntarem.   </a:t>
            </a:r>
            <a:r>
              <a:rPr sz="850" b="0">
                <a:solidFill>
                  <a:srgbClr val="9BAEC0"/>
                </a:solidFill>
                <a:latin typeface="Segoe UI"/>
              </a:rPr>
              <a:t>scripts/slides_apendice_pptx.py</a:t>
            </a:r>
          </a:p>
        </p:txBody>
      </p:sp>
      <p:sp>
        <p:nvSpPr>
          <p:cNvPr id="8" name="sA4_6"/>
          <p:cNvSpPr txBox="1"/>
          <p:nvPr/>
        </p:nvSpPr>
        <p:spPr>
          <a:xfrm>
            <a:off x="822960" y="1042415"/>
            <a:ext cx="32461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100">
                <a:solidFill>
                  <a:srgbClr val="F5A623"/>
                </a:solidFill>
                <a:latin typeface="Segoe UI"/>
              </a:rPr>
              <a:t>SEM OS TRÊS MAIORES DIAS</a:t>
            </a:r>
          </a:p>
        </p:txBody>
      </p:sp>
      <p:sp>
        <p:nvSpPr>
          <p:cNvPr id="9" name="sA4_7"/>
          <p:cNvSpPr txBox="1"/>
          <p:nvPr/>
        </p:nvSpPr>
        <p:spPr>
          <a:xfrm>
            <a:off x="822960" y="1389888"/>
            <a:ext cx="15087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100">
                <a:solidFill>
                  <a:srgbClr val="6B8299"/>
                </a:solidFill>
                <a:latin typeface="Segoe UI"/>
              </a:rPr>
              <a:t>APOSTA</a:t>
            </a:r>
          </a:p>
        </p:txBody>
      </p:sp>
      <p:sp>
        <p:nvSpPr>
          <p:cNvPr id="10" name="sA4_8"/>
          <p:cNvSpPr txBox="1"/>
          <p:nvPr/>
        </p:nvSpPr>
        <p:spPr>
          <a:xfrm>
            <a:off x="2331720" y="1389888"/>
            <a:ext cx="8686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100">
                <a:solidFill>
                  <a:srgbClr val="6B8299"/>
                </a:solidFill>
                <a:latin typeface="Segoe UI"/>
              </a:rPr>
              <a:t>SOMA</a:t>
            </a:r>
          </a:p>
        </p:txBody>
      </p:sp>
      <p:sp>
        <p:nvSpPr>
          <p:cNvPr id="11" name="sA4_9"/>
          <p:cNvSpPr txBox="1"/>
          <p:nvPr/>
        </p:nvSpPr>
        <p:spPr>
          <a:xfrm>
            <a:off x="3200400" y="1389888"/>
            <a:ext cx="8686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100">
                <a:solidFill>
                  <a:srgbClr val="6B8299"/>
                </a:solidFill>
                <a:latin typeface="Segoe UI"/>
              </a:rPr>
              <a:t>SEM 3</a:t>
            </a:r>
          </a:p>
        </p:txBody>
      </p:sp>
      <p:cxnSp>
        <p:nvCxnSpPr>
          <p:cNvPr id="12" name="sA4_10"/>
          <p:cNvCxnSpPr/>
          <p:nvPr/>
        </p:nvCxnSpPr>
        <p:spPr>
          <a:xfrm>
            <a:off x="822960" y="1591056"/>
            <a:ext cx="3246120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sA4_11"/>
          <p:cNvSpPr txBox="1"/>
          <p:nvPr/>
        </p:nvSpPr>
        <p:spPr>
          <a:xfrm>
            <a:off x="822960" y="1682496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9BAEC0"/>
                </a:solidFill>
                <a:latin typeface="Segoe UI"/>
              </a:rPr>
              <a:t>Incerteza</a:t>
            </a:r>
          </a:p>
        </p:txBody>
      </p:sp>
      <p:sp>
        <p:nvSpPr>
          <p:cNvPr id="14" name="sA4_12"/>
          <p:cNvSpPr txBox="1"/>
          <p:nvPr/>
        </p:nvSpPr>
        <p:spPr>
          <a:xfrm>
            <a:off x="2331720" y="1682496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8EDF2"/>
                </a:solidFill>
                <a:latin typeface="Segoe UI"/>
              </a:rPr>
              <a:t>+3,9 pp</a:t>
            </a:r>
          </a:p>
        </p:txBody>
      </p:sp>
      <p:sp>
        <p:nvSpPr>
          <p:cNvPr id="15" name="sA4_13"/>
          <p:cNvSpPr txBox="1"/>
          <p:nvPr/>
        </p:nvSpPr>
        <p:spPr>
          <a:xfrm>
            <a:off x="3200400" y="1682496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8299"/>
                </a:solidFill>
                <a:latin typeface="Segoe UI"/>
              </a:rPr>
              <a:t>−0,5 pp</a:t>
            </a:r>
          </a:p>
        </p:txBody>
      </p:sp>
      <p:cxnSp>
        <p:nvCxnSpPr>
          <p:cNvPr id="16" name="sA4_14"/>
          <p:cNvCxnSpPr/>
          <p:nvPr/>
        </p:nvCxnSpPr>
        <p:spPr>
          <a:xfrm>
            <a:off x="822960" y="1847088"/>
            <a:ext cx="3246120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sA4_15"/>
          <p:cNvSpPr txBox="1"/>
          <p:nvPr/>
        </p:nvSpPr>
        <p:spPr>
          <a:xfrm>
            <a:off x="822960" y="19385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9BAEC0"/>
                </a:solidFill>
                <a:latin typeface="Segoe UI"/>
              </a:rPr>
              <a:t>Trajetória</a:t>
            </a:r>
          </a:p>
        </p:txBody>
      </p:sp>
      <p:sp>
        <p:nvSpPr>
          <p:cNvPr id="18" name="sA4_16"/>
          <p:cNvSpPr txBox="1"/>
          <p:nvPr/>
        </p:nvSpPr>
        <p:spPr>
          <a:xfrm>
            <a:off x="2331720" y="1938528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8EDF2"/>
                </a:solidFill>
                <a:latin typeface="Segoe UI"/>
              </a:rPr>
              <a:t>−1,4 pp</a:t>
            </a:r>
          </a:p>
        </p:txBody>
      </p:sp>
      <p:sp>
        <p:nvSpPr>
          <p:cNvPr id="19" name="sA4_17"/>
          <p:cNvSpPr txBox="1"/>
          <p:nvPr/>
        </p:nvSpPr>
        <p:spPr>
          <a:xfrm>
            <a:off x="3200400" y="1938528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8299"/>
                </a:solidFill>
                <a:latin typeface="Segoe UI"/>
              </a:rPr>
              <a:t>+2,9 pp</a:t>
            </a:r>
          </a:p>
        </p:txBody>
      </p:sp>
      <p:cxnSp>
        <p:nvCxnSpPr>
          <p:cNvPr id="20" name="sA4_18"/>
          <p:cNvCxnSpPr/>
          <p:nvPr/>
        </p:nvCxnSpPr>
        <p:spPr>
          <a:xfrm>
            <a:off x="822960" y="2103120"/>
            <a:ext cx="3246120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sA4_19"/>
          <p:cNvSpPr txBox="1"/>
          <p:nvPr/>
        </p:nvSpPr>
        <p:spPr>
          <a:xfrm>
            <a:off x="822960" y="2194560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9BAEC0"/>
                </a:solidFill>
                <a:latin typeface="Segoe UI"/>
              </a:rPr>
              <a:t>As duas juntas</a:t>
            </a:r>
          </a:p>
        </p:txBody>
      </p:sp>
      <p:sp>
        <p:nvSpPr>
          <p:cNvPr id="22" name="sA4_20"/>
          <p:cNvSpPr txBox="1"/>
          <p:nvPr/>
        </p:nvSpPr>
        <p:spPr>
          <a:xfrm>
            <a:off x="2331720" y="2194560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8EDF2"/>
                </a:solidFill>
                <a:latin typeface="Segoe UI"/>
              </a:rPr>
              <a:t>+2,2 pp</a:t>
            </a:r>
          </a:p>
        </p:txBody>
      </p:sp>
      <p:sp>
        <p:nvSpPr>
          <p:cNvPr id="23" name="sA4_21"/>
          <p:cNvSpPr txBox="1"/>
          <p:nvPr/>
        </p:nvSpPr>
        <p:spPr>
          <a:xfrm>
            <a:off x="3200400" y="2194560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8299"/>
                </a:solidFill>
                <a:latin typeface="Segoe UI"/>
              </a:rPr>
              <a:t>+2,5 pp</a:t>
            </a:r>
          </a:p>
        </p:txBody>
      </p:sp>
      <p:cxnSp>
        <p:nvCxnSpPr>
          <p:cNvPr id="24" name="sA4_22"/>
          <p:cNvCxnSpPr/>
          <p:nvPr/>
        </p:nvCxnSpPr>
        <p:spPr>
          <a:xfrm>
            <a:off x="822960" y="2359152"/>
            <a:ext cx="3246120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sA4_23"/>
          <p:cNvSpPr txBox="1"/>
          <p:nvPr/>
        </p:nvSpPr>
        <p:spPr>
          <a:xfrm>
            <a:off x="822960" y="2578608"/>
            <a:ext cx="32461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3A9BC"/>
                </a:solidFill>
                <a:latin typeface="Segoe UI"/>
              </a:rPr>
              <a:t>A aposta de incerteza vira negativa sem os três maiores dias — e isso foi escrito ANTES de ligá-la. O acerto de direção das duas é de 48% e 49%: cara ou coroa.</a:t>
            </a:r>
          </a:p>
        </p:txBody>
      </p:sp>
      <p:sp>
        <p:nvSpPr>
          <p:cNvPr id="26" name="sA4_24"/>
          <p:cNvSpPr txBox="1"/>
          <p:nvPr/>
        </p:nvSpPr>
        <p:spPr>
          <a:xfrm>
            <a:off x="4434840" y="1042415"/>
            <a:ext cx="32461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100">
                <a:solidFill>
                  <a:srgbClr val="F5A623"/>
                </a:solidFill>
                <a:latin typeface="Segoe UI"/>
              </a:rPr>
              <a:t>SE CORRIGIRMOS O VIÉS DE AZARÃO</a:t>
            </a:r>
          </a:p>
        </p:txBody>
      </p:sp>
      <p:sp>
        <p:nvSpPr>
          <p:cNvPr id="27" name="sA4_25"/>
          <p:cNvSpPr txBox="1"/>
          <p:nvPr/>
        </p:nvSpPr>
        <p:spPr>
          <a:xfrm>
            <a:off x="4434840" y="1389888"/>
            <a:ext cx="15087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100">
                <a:solidFill>
                  <a:srgbClr val="6B8299"/>
                </a:solidFill>
                <a:latin typeface="Segoe UI"/>
              </a:rPr>
              <a:t>CORREÇÃO</a:t>
            </a:r>
          </a:p>
        </p:txBody>
      </p:sp>
      <p:sp>
        <p:nvSpPr>
          <p:cNvPr id="28" name="sA4_26"/>
          <p:cNvSpPr txBox="1"/>
          <p:nvPr/>
        </p:nvSpPr>
        <p:spPr>
          <a:xfrm>
            <a:off x="5943600" y="1389888"/>
            <a:ext cx="8686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100">
                <a:solidFill>
                  <a:srgbClr val="6B8299"/>
                </a:solidFill>
                <a:latin typeface="Segoe UI"/>
              </a:rPr>
              <a:t>VS ÍNDICE</a:t>
            </a:r>
          </a:p>
        </p:txBody>
      </p:sp>
      <p:sp>
        <p:nvSpPr>
          <p:cNvPr id="29" name="sA4_27"/>
          <p:cNvSpPr txBox="1"/>
          <p:nvPr/>
        </p:nvSpPr>
        <p:spPr>
          <a:xfrm>
            <a:off x="6812280" y="1389888"/>
            <a:ext cx="8686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cxnSp>
        <p:nvCxnSpPr>
          <p:cNvPr id="30" name="sA4_28"/>
          <p:cNvCxnSpPr/>
          <p:nvPr/>
        </p:nvCxnSpPr>
        <p:spPr>
          <a:xfrm>
            <a:off x="4434840" y="1591056"/>
            <a:ext cx="3246119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sA4_29"/>
          <p:cNvSpPr txBox="1"/>
          <p:nvPr/>
        </p:nvSpPr>
        <p:spPr>
          <a:xfrm>
            <a:off x="4434840" y="1682496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9BAEC0"/>
                </a:solidFill>
                <a:latin typeface="Segoe UI"/>
              </a:rPr>
              <a:t>γ = 1,0</a:t>
            </a:r>
          </a:p>
        </p:txBody>
      </p:sp>
      <p:sp>
        <p:nvSpPr>
          <p:cNvPr id="32" name="sA4_30"/>
          <p:cNvSpPr txBox="1"/>
          <p:nvPr/>
        </p:nvSpPr>
        <p:spPr>
          <a:xfrm>
            <a:off x="5943600" y="1682496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8EDF2"/>
                </a:solidFill>
                <a:latin typeface="Segoe UI"/>
              </a:rPr>
              <a:t>+3,0 pp</a:t>
            </a:r>
          </a:p>
        </p:txBody>
      </p:sp>
      <p:sp>
        <p:nvSpPr>
          <p:cNvPr id="33" name="sA4_31"/>
          <p:cNvSpPr txBox="1"/>
          <p:nvPr/>
        </p:nvSpPr>
        <p:spPr>
          <a:xfrm>
            <a:off x="6812280" y="1682496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cxnSp>
        <p:nvCxnSpPr>
          <p:cNvPr id="34" name="sA4_32"/>
          <p:cNvCxnSpPr/>
          <p:nvPr/>
        </p:nvCxnSpPr>
        <p:spPr>
          <a:xfrm>
            <a:off x="4434840" y="1847088"/>
            <a:ext cx="3246119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sA4_33"/>
          <p:cNvSpPr txBox="1"/>
          <p:nvPr/>
        </p:nvSpPr>
        <p:spPr>
          <a:xfrm>
            <a:off x="4434840" y="19385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9BAEC0"/>
                </a:solidFill>
                <a:latin typeface="Segoe UI"/>
              </a:rPr>
              <a:t>γ = 1,1</a:t>
            </a:r>
          </a:p>
        </p:txBody>
      </p:sp>
      <p:sp>
        <p:nvSpPr>
          <p:cNvPr id="36" name="sA4_34"/>
          <p:cNvSpPr txBox="1"/>
          <p:nvPr/>
        </p:nvSpPr>
        <p:spPr>
          <a:xfrm>
            <a:off x="5943600" y="1938528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8EDF2"/>
                </a:solidFill>
                <a:latin typeface="Segoe UI"/>
              </a:rPr>
              <a:t>+3,6 pp</a:t>
            </a:r>
          </a:p>
        </p:txBody>
      </p:sp>
      <p:sp>
        <p:nvSpPr>
          <p:cNvPr id="37" name="sA4_35"/>
          <p:cNvSpPr txBox="1"/>
          <p:nvPr/>
        </p:nvSpPr>
        <p:spPr>
          <a:xfrm>
            <a:off x="6812280" y="1938528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cxnSp>
        <p:nvCxnSpPr>
          <p:cNvPr id="38" name="sA4_36"/>
          <p:cNvCxnSpPr/>
          <p:nvPr/>
        </p:nvCxnSpPr>
        <p:spPr>
          <a:xfrm>
            <a:off x="4434840" y="2103120"/>
            <a:ext cx="3246119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sA4_37"/>
          <p:cNvSpPr txBox="1"/>
          <p:nvPr/>
        </p:nvSpPr>
        <p:spPr>
          <a:xfrm>
            <a:off x="4434840" y="2194560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9BAEC0"/>
                </a:solidFill>
                <a:latin typeface="Segoe UI"/>
              </a:rPr>
              <a:t>γ = 1,25</a:t>
            </a:r>
          </a:p>
        </p:txBody>
      </p:sp>
      <p:sp>
        <p:nvSpPr>
          <p:cNvPr id="40" name="sA4_38"/>
          <p:cNvSpPr txBox="1"/>
          <p:nvPr/>
        </p:nvSpPr>
        <p:spPr>
          <a:xfrm>
            <a:off x="5943600" y="2194560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8EDF2"/>
                </a:solidFill>
                <a:latin typeface="Segoe UI"/>
              </a:rPr>
              <a:t>+3,9 pp</a:t>
            </a:r>
          </a:p>
        </p:txBody>
      </p:sp>
      <p:sp>
        <p:nvSpPr>
          <p:cNvPr id="41" name="sA4_39"/>
          <p:cNvSpPr txBox="1"/>
          <p:nvPr/>
        </p:nvSpPr>
        <p:spPr>
          <a:xfrm>
            <a:off x="6812280" y="2194560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cxnSp>
        <p:nvCxnSpPr>
          <p:cNvPr id="42" name="sA4_40"/>
          <p:cNvCxnSpPr/>
          <p:nvPr/>
        </p:nvCxnSpPr>
        <p:spPr>
          <a:xfrm>
            <a:off x="4434840" y="2359152"/>
            <a:ext cx="3246119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sA4_41"/>
          <p:cNvSpPr txBox="1"/>
          <p:nvPr/>
        </p:nvSpPr>
        <p:spPr>
          <a:xfrm>
            <a:off x="4434840" y="2578608"/>
            <a:ext cx="32461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3A9BC"/>
                </a:solidFill>
                <a:latin typeface="Segoe UI"/>
              </a:rPr>
              <a:t>Apostadores pagam caro demais no azarão. Não corrigimos esse viés no resultado principal — e corrigir só melhoraria o número. A conclusão não depende disso.</a:t>
            </a:r>
          </a:p>
        </p:txBody>
      </p:sp>
      <p:sp>
        <p:nvSpPr>
          <p:cNvPr id="44" name="sA4_42"/>
          <p:cNvSpPr txBox="1"/>
          <p:nvPr/>
        </p:nvSpPr>
        <p:spPr>
          <a:xfrm>
            <a:off x="8119872" y="1042415"/>
            <a:ext cx="32461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100">
                <a:solidFill>
                  <a:srgbClr val="F5A623"/>
                </a:solidFill>
                <a:latin typeface="Segoe UI"/>
              </a:rPr>
              <a:t>CAPTURA DE ALTA E DE QUEDA</a:t>
            </a:r>
          </a:p>
        </p:txBody>
      </p:sp>
      <p:sp>
        <p:nvSpPr>
          <p:cNvPr id="45" name="sA4_43"/>
          <p:cNvSpPr txBox="1"/>
          <p:nvPr/>
        </p:nvSpPr>
        <p:spPr>
          <a:xfrm>
            <a:off x="8119872" y="1389888"/>
            <a:ext cx="15087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100">
                <a:solidFill>
                  <a:srgbClr val="6B8299"/>
                </a:solidFill>
                <a:latin typeface="Segoe UI"/>
              </a:rPr>
              <a:t>NO DIA EM QUE</a:t>
            </a:r>
          </a:p>
        </p:txBody>
      </p:sp>
      <p:sp>
        <p:nvSpPr>
          <p:cNvPr id="46" name="sA4_44"/>
          <p:cNvSpPr txBox="1"/>
          <p:nvPr/>
        </p:nvSpPr>
        <p:spPr>
          <a:xfrm>
            <a:off x="9628632" y="1389888"/>
            <a:ext cx="8686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100">
                <a:solidFill>
                  <a:srgbClr val="6B8299"/>
                </a:solidFill>
                <a:latin typeface="Segoe UI"/>
              </a:rPr>
              <a:t>CAPTURA</a:t>
            </a:r>
          </a:p>
        </p:txBody>
      </p:sp>
      <p:sp>
        <p:nvSpPr>
          <p:cNvPr id="47" name="sA4_45"/>
          <p:cNvSpPr txBox="1"/>
          <p:nvPr/>
        </p:nvSpPr>
        <p:spPr>
          <a:xfrm>
            <a:off x="10497312" y="1389888"/>
            <a:ext cx="8686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cxnSp>
        <p:nvCxnSpPr>
          <p:cNvPr id="48" name="sA4_46"/>
          <p:cNvCxnSpPr/>
          <p:nvPr/>
        </p:nvCxnSpPr>
        <p:spPr>
          <a:xfrm>
            <a:off x="8119872" y="1591056"/>
            <a:ext cx="3246120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sA4_47"/>
          <p:cNvSpPr txBox="1"/>
          <p:nvPr/>
        </p:nvSpPr>
        <p:spPr>
          <a:xfrm>
            <a:off x="8119872" y="1682496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9BAEC0"/>
                </a:solidFill>
                <a:latin typeface="Segoe UI"/>
              </a:rPr>
              <a:t>dias de alta</a:t>
            </a:r>
          </a:p>
        </p:txBody>
      </p:sp>
      <p:sp>
        <p:nvSpPr>
          <p:cNvPr id="50" name="sA4_48"/>
          <p:cNvSpPr txBox="1"/>
          <p:nvPr/>
        </p:nvSpPr>
        <p:spPr>
          <a:xfrm>
            <a:off x="9628632" y="1682496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8EDF2"/>
                </a:solidFill>
                <a:latin typeface="Segoe UI"/>
              </a:rPr>
              <a:t>95%</a:t>
            </a:r>
          </a:p>
        </p:txBody>
      </p:sp>
      <p:sp>
        <p:nvSpPr>
          <p:cNvPr id="51" name="sA4_49"/>
          <p:cNvSpPr txBox="1"/>
          <p:nvPr/>
        </p:nvSpPr>
        <p:spPr>
          <a:xfrm>
            <a:off x="10497312" y="1682496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cxnSp>
        <p:nvCxnSpPr>
          <p:cNvPr id="52" name="sA4_50"/>
          <p:cNvCxnSpPr/>
          <p:nvPr/>
        </p:nvCxnSpPr>
        <p:spPr>
          <a:xfrm>
            <a:off x="8119872" y="1847088"/>
            <a:ext cx="3246120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sA4_51"/>
          <p:cNvSpPr txBox="1"/>
          <p:nvPr/>
        </p:nvSpPr>
        <p:spPr>
          <a:xfrm>
            <a:off x="8119872" y="19385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9BAEC0"/>
                </a:solidFill>
                <a:latin typeface="Segoe UI"/>
              </a:rPr>
              <a:t>dias de baixa</a:t>
            </a:r>
          </a:p>
        </p:txBody>
      </p:sp>
      <p:sp>
        <p:nvSpPr>
          <p:cNvPr id="54" name="sA4_52"/>
          <p:cNvSpPr txBox="1"/>
          <p:nvPr/>
        </p:nvSpPr>
        <p:spPr>
          <a:xfrm>
            <a:off x="9628632" y="1938528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8EDF2"/>
                </a:solidFill>
                <a:latin typeface="Segoe UI"/>
              </a:rPr>
              <a:t>91%</a:t>
            </a:r>
          </a:p>
        </p:txBody>
      </p:sp>
      <p:sp>
        <p:nvSpPr>
          <p:cNvPr id="55" name="sA4_53"/>
          <p:cNvSpPr txBox="1"/>
          <p:nvPr/>
        </p:nvSpPr>
        <p:spPr>
          <a:xfrm>
            <a:off x="10497312" y="1938528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cxnSp>
        <p:nvCxnSpPr>
          <p:cNvPr id="56" name="sA4_54"/>
          <p:cNvCxnSpPr/>
          <p:nvPr/>
        </p:nvCxnSpPr>
        <p:spPr>
          <a:xfrm>
            <a:off x="8119872" y="2103120"/>
            <a:ext cx="3246120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sA4_55"/>
          <p:cNvSpPr txBox="1"/>
          <p:nvPr/>
        </p:nvSpPr>
        <p:spPr>
          <a:xfrm>
            <a:off x="8119872" y="2194560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9BAEC0"/>
                </a:solidFill>
                <a:latin typeface="Segoe UI"/>
              </a:rPr>
              <a:t>5% piores dias</a:t>
            </a:r>
          </a:p>
        </p:txBody>
      </p:sp>
      <p:sp>
        <p:nvSpPr>
          <p:cNvPr id="58" name="sA4_56"/>
          <p:cNvSpPr txBox="1"/>
          <p:nvPr/>
        </p:nvSpPr>
        <p:spPr>
          <a:xfrm>
            <a:off x="9628632" y="2194560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8EDF2"/>
                </a:solidFill>
                <a:latin typeface="Segoe UI"/>
              </a:rPr>
              <a:t>98%</a:t>
            </a:r>
          </a:p>
        </p:txBody>
      </p:sp>
      <p:sp>
        <p:nvSpPr>
          <p:cNvPr id="59" name="sA4_57"/>
          <p:cNvSpPr txBox="1"/>
          <p:nvPr/>
        </p:nvSpPr>
        <p:spPr>
          <a:xfrm>
            <a:off x="10497312" y="2194560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cxnSp>
        <p:nvCxnSpPr>
          <p:cNvPr id="60" name="sA4_58"/>
          <p:cNvCxnSpPr/>
          <p:nvPr/>
        </p:nvCxnSpPr>
        <p:spPr>
          <a:xfrm>
            <a:off x="8119872" y="2359152"/>
            <a:ext cx="3246120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sA4_59"/>
          <p:cNvSpPr txBox="1"/>
          <p:nvPr/>
        </p:nvSpPr>
        <p:spPr>
          <a:xfrm>
            <a:off x="8119872" y="2450592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9BAEC0"/>
                </a:solidFill>
                <a:latin typeface="Segoe UI"/>
              </a:rPr>
              <a:t>5% melhores dias</a:t>
            </a:r>
          </a:p>
        </p:txBody>
      </p:sp>
      <p:sp>
        <p:nvSpPr>
          <p:cNvPr id="62" name="sA4_60"/>
          <p:cNvSpPr txBox="1"/>
          <p:nvPr/>
        </p:nvSpPr>
        <p:spPr>
          <a:xfrm>
            <a:off x="9628632" y="2450592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8EDF2"/>
                </a:solidFill>
                <a:latin typeface="Segoe UI"/>
              </a:rPr>
              <a:t>90%</a:t>
            </a:r>
          </a:p>
        </p:txBody>
      </p:sp>
      <p:sp>
        <p:nvSpPr>
          <p:cNvPr id="63" name="sA4_61"/>
          <p:cNvSpPr txBox="1"/>
          <p:nvPr/>
        </p:nvSpPr>
        <p:spPr>
          <a:xfrm>
            <a:off x="10497312" y="2450592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cxnSp>
        <p:nvCxnSpPr>
          <p:cNvPr id="64" name="sA4_62"/>
          <p:cNvCxnSpPr/>
          <p:nvPr/>
        </p:nvCxnSpPr>
        <p:spPr>
          <a:xfrm>
            <a:off x="8119872" y="2615184"/>
            <a:ext cx="3246120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sA4_63"/>
          <p:cNvSpPr txBox="1"/>
          <p:nvPr/>
        </p:nvSpPr>
        <p:spPr>
          <a:xfrm>
            <a:off x="8119872" y="2834640"/>
            <a:ext cx="32461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3A9BC"/>
                </a:solidFill>
                <a:latin typeface="Segoe UI"/>
              </a:rPr>
              <a:t>No dia comum a carteira cai um pouco menos que o índice. Nos dias extremos a vantagem some: caímos quase igual e subimos menos.</a:t>
            </a:r>
          </a:p>
        </p:txBody>
      </p:sp>
      <p:sp>
        <p:nvSpPr>
          <p:cNvPr id="66" name="sA4_64"/>
          <p:cNvSpPr txBox="1"/>
          <p:nvPr/>
        </p:nvSpPr>
        <p:spPr>
          <a:xfrm>
            <a:off x="822960" y="4041648"/>
            <a:ext cx="512064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100">
                <a:solidFill>
                  <a:srgbClr val="F5A623"/>
                </a:solidFill>
                <a:latin typeface="Segoe UI"/>
              </a:rPr>
              <a:t>E O GANHO DE TRÊS PONTOS — É SORTE?</a:t>
            </a:r>
          </a:p>
        </p:txBody>
      </p:sp>
      <p:sp>
        <p:nvSpPr>
          <p:cNvPr id="67" name="sA4_65"/>
          <p:cNvSpPr txBox="1"/>
          <p:nvPr/>
        </p:nvSpPr>
        <p:spPr>
          <a:xfrm>
            <a:off x="822960" y="4352544"/>
            <a:ext cx="512064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8EDF2"/>
                </a:solidFill>
                <a:latin typeface="Segoe UI"/>
              </a:rPr>
              <a:t>Pode ser, e não temos como provar o contrário.</a:t>
            </a:r>
            <a:r>
              <a:rPr sz="1050" b="0">
                <a:solidFill>
                  <a:srgbClr val="93A9BC"/>
                </a:solidFill>
                <a:latin typeface="Segoe UI"/>
              </a:rPr>
              <a:t> O teste dá 0,62 e o mínimo para se afirmar algo é 2. Com um ano e meio de dados, chegar lá é matematicamente impossível.</a:t>
            </a:r>
          </a:p>
          <a:p>
            <a:pPr algn="l">
              <a:lnSpc>
                <a:spcPct val="126000"/>
              </a:lnSpc>
              <a:spcBef>
                <a:spcPts val="800"/>
              </a:spcBef>
              <a:spcAft>
                <a:spcPts val="0"/>
              </a:spcAft>
            </a:pPr>
            <a:r>
              <a:rPr sz="1050" b="1">
                <a:solidFill>
                  <a:srgbClr val="E8EDF2"/>
                </a:solidFill>
                <a:latin typeface="Segoe UI"/>
              </a:rPr>
              <a:t>Não é um mês sortudo.</a:t>
            </a:r>
            <a:r>
              <a:rPr sz="1050" b="0">
                <a:solidFill>
                  <a:srgbClr val="93A9BC"/>
                </a:solidFill>
                <a:latin typeface="Segoe UI"/>
              </a:rPr>
              <a:t> A carteira bateu o índice em 11 dos 19 meses do período.</a:t>
            </a:r>
          </a:p>
          <a:p>
            <a:pPr algn="l">
              <a:lnSpc>
                <a:spcPct val="126000"/>
              </a:lnSpc>
              <a:spcBef>
                <a:spcPts val="800"/>
              </a:spcBef>
              <a:spcAft>
                <a:spcPts val="0"/>
              </a:spcAft>
            </a:pPr>
            <a:r>
              <a:rPr sz="1050" b="1">
                <a:solidFill>
                  <a:srgbClr val="E8EDF2"/>
                </a:solidFill>
                <a:latin typeface="Segoe UI"/>
              </a:rPr>
              <a:t>O que defendemos é o método.</a:t>
            </a:r>
            <a:r>
              <a:rPr sz="1050" b="0">
                <a:solidFill>
                  <a:srgbClr val="93A9BC"/>
                </a:solidFill>
                <a:latin typeface="Segoe UI"/>
              </a:rPr>
              <a:t> Cada peça foi escolhida por um motivo escrito antes de medir — e nenhuma aposta foi cortada por dar prejuízo.</a:t>
            </a:r>
          </a:p>
        </p:txBody>
      </p:sp>
      <p:sp>
        <p:nvSpPr>
          <p:cNvPr id="68" name="sA4_66"/>
          <p:cNvSpPr/>
          <p:nvPr/>
        </p:nvSpPr>
        <p:spPr>
          <a:xfrm>
            <a:off x="6245352" y="4078224"/>
            <a:ext cx="45720" cy="932688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sA4_67"/>
          <p:cNvSpPr txBox="1"/>
          <p:nvPr/>
        </p:nvSpPr>
        <p:spPr>
          <a:xfrm>
            <a:off x="6464808" y="4041648"/>
            <a:ext cx="4901183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EDF2"/>
                </a:solidFill>
                <a:latin typeface="Segoe UI"/>
              </a:rPr>
              <a:t>O custo não decide o resultado. </a:t>
            </a:r>
            <a:r>
              <a:rPr sz="1150" b="0">
                <a:solidFill>
                  <a:srgbClr val="93A9BC"/>
                </a:solidFill>
                <a:latin typeface="Segoe UI"/>
              </a:rPr>
              <a:t>Supomos 2 bps por lado. O custo teria de ser 11 vezes maior para zerar o ganho — e testamos negociar menos, sem melhora.</a:t>
            </a:r>
          </a:p>
        </p:txBody>
      </p:sp>
      <p:sp>
        <p:nvSpPr>
          <p:cNvPr id="70" name="sA4_68"/>
          <p:cNvSpPr/>
          <p:nvPr/>
        </p:nvSpPr>
        <p:spPr>
          <a:xfrm>
            <a:off x="6245352" y="5266944"/>
            <a:ext cx="45720" cy="932688"/>
          </a:xfrm>
          <a:prstGeom prst="roundRect">
            <a:avLst>
              <a:gd name="adj" fmla="val 50000"/>
            </a:avLst>
          </a:prstGeom>
          <a:solidFill>
            <a:srgbClr val="4FC3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sA4_69"/>
          <p:cNvSpPr txBox="1"/>
          <p:nvPr/>
        </p:nvSpPr>
        <p:spPr>
          <a:xfrm>
            <a:off x="6464808" y="5230368"/>
            <a:ext cx="4901183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EDF2"/>
                </a:solidFill>
                <a:latin typeface="Segoe UI"/>
              </a:rPr>
              <a:t>Alfa e beta, para quem pedir. </a:t>
            </a:r>
            <a:r>
              <a:rPr sz="1150" b="0">
                <a:solidFill>
                  <a:srgbClr val="93A9BC"/>
                </a:solidFill>
                <a:latin typeface="Segoe UI"/>
              </a:rPr>
              <a:t>Beta de 0,95 e alfa de +2,57% ao ano, pela regressão diária contra o S&amp;P 500, com taxa livre de risco zero para os dois lados.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E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292100"/>
            <a:ext cx="8229600" cy="31115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880"/>
              </a:lnSpc>
            </a:pPr>
            <a:r>
              <a:rPr sz="1500" b="1" spc="80">
                <a:solidFill>
                  <a:srgbClr val="F5A623"/>
                </a:solidFill>
                <a:latin typeface="Segoe UI"/>
              </a:rPr>
              <a:t>KAIRÓS</a:t>
            </a:r>
            <a:r>
              <a:rPr sz="1500" b="0" spc="80">
                <a:solidFill>
                  <a:srgbClr val="E8EDF2"/>
                </a:solidFill>
                <a:latin typeface="Segoe UI"/>
              </a:rPr>
              <a:t>  Apêndice · de onde sai o 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989060" y="347980"/>
            <a:ext cx="2377440" cy="21971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1100" b="0">
                <a:solidFill>
                  <a:srgbClr val="6B8299"/>
                </a:solidFill>
                <a:latin typeface="Segoe UI"/>
              </a:rPr>
              <a:t>A5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768350"/>
            <a:ext cx="10543540" cy="9525"/>
          </a:xfrm>
          <a:prstGeom prst="rect">
            <a:avLst/>
          </a:prstGeom>
          <a:solidFill>
            <a:srgbClr val="243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22960" y="3931920"/>
            <a:ext cx="10543540" cy="9525"/>
          </a:xfrm>
          <a:prstGeom prst="rect">
            <a:avLst/>
          </a:prstGeom>
          <a:solidFill>
            <a:srgbClr val="243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22960" y="6291580"/>
            <a:ext cx="10543540" cy="9525"/>
          </a:xfrm>
          <a:prstGeom prst="rect">
            <a:avLst/>
          </a:prstGeom>
          <a:solidFill>
            <a:srgbClr val="243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6383020"/>
            <a:ext cx="10543540" cy="18288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>
                <a:solidFill>
                  <a:srgbClr val="6B8299"/>
                </a:solidFill>
                <a:latin typeface="Segoe UI"/>
              </a:rPr>
              <a:t>Apêndice — fora dos 6 minutos, mostrado só se perguntarem.   </a:t>
            </a:r>
            <a:r>
              <a:rPr sz="850" b="0">
                <a:solidFill>
                  <a:srgbClr val="9BAEC0"/>
                </a:solidFill>
                <a:latin typeface="Segoe UI"/>
              </a:rPr>
              <a:t>semifinal/fonte/montar_apendices.py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969010"/>
            <a:ext cx="2451100" cy="2725420"/>
          </a:xfrm>
          <a:prstGeom prst="roundRect">
            <a:avLst>
              <a:gd name="adj" fmla="val 11000"/>
            </a:avLst>
          </a:prstGeom>
          <a:gradFill rotWithShape="1">
            <a:gsLst>
              <a:gs pos="0">
                <a:srgbClr val="1B2D40"/>
              </a:gs>
              <a:gs pos="100000">
                <a:srgbClr val="0C1824"/>
              </a:gs>
            </a:gsLst>
            <a:lin ang="16200000" scaled="0"/>
          </a:gradFill>
          <a:ln w="12700">
            <a:solidFill>
              <a:srgbClr val="233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42669" y="1188720"/>
            <a:ext cx="2011680" cy="1651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spc="100">
                <a:solidFill>
                  <a:srgbClr val="F5A623"/>
                </a:solidFill>
                <a:latin typeface="Segoe UI"/>
              </a:rPr>
              <a:t>1 · A MEDIÇÃO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669" y="1517650"/>
            <a:ext cx="2011680" cy="3111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sz="1100" b="0">
                <a:solidFill>
                  <a:srgbClr val="E8EDF2"/>
                </a:solidFill>
                <a:latin typeface="Consolas"/>
              </a:rPr>
              <a:t>OLS(r, surpresa)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669" y="1993900"/>
            <a:ext cx="2011680" cy="127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1000" b="0">
                <a:solidFill>
                  <a:srgbClr val="93A9BC"/>
                </a:solidFill>
                <a:latin typeface="Segoe UI"/>
              </a:rPr>
              <a:t>Para cada ETF, uma regressão do retorno dos dias de anúncio contra a surpresa daquele dia — event-study à la Bernanke-Kuttner. A literatura confere a ordem de grandeza; não é a fonte do número.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20440" y="969010"/>
            <a:ext cx="2451100" cy="2725420"/>
          </a:xfrm>
          <a:prstGeom prst="roundRect">
            <a:avLst>
              <a:gd name="adj" fmla="val 11000"/>
            </a:avLst>
          </a:prstGeom>
          <a:gradFill rotWithShape="1">
            <a:gsLst>
              <a:gs pos="0">
                <a:srgbClr val="1B2D40"/>
              </a:gs>
              <a:gs pos="100000">
                <a:srgbClr val="0C1824"/>
              </a:gs>
            </a:gsLst>
            <a:lin ang="16200000" scaled="0"/>
          </a:gradFill>
          <a:ln w="12700">
            <a:solidFill>
              <a:srgbClr val="233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740150" y="1188720"/>
            <a:ext cx="2011680" cy="1651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spc="100">
                <a:solidFill>
                  <a:srgbClr val="F5A623"/>
                </a:solidFill>
                <a:latin typeface="Segoe UI"/>
              </a:rPr>
              <a:t>2 · SEM OLHAR PARA A FRENTE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0150" y="1517650"/>
            <a:ext cx="2011680" cy="3111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sz="1100" b="0">
                <a:solidFill>
                  <a:srgbClr val="E8EDF2"/>
                </a:solidFill>
                <a:latin typeface="Consolas"/>
              </a:rPr>
              <a:t>surpresa − média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40150" y="1993900"/>
            <a:ext cx="2011680" cy="127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1000" b="0">
                <a:solidFill>
                  <a:srgbClr val="93A9BC"/>
                </a:solidFill>
                <a:latin typeface="Segoe UI"/>
              </a:rPr>
              <a:t>A média é expansiva: em cada dia entra só o que já havia acontecido até ali. Nenhum β é estimado com dado que ainda não existia.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969010"/>
            <a:ext cx="2451100" cy="2725420"/>
          </a:xfrm>
          <a:prstGeom prst="roundRect">
            <a:avLst>
              <a:gd name="adj" fmla="val 11000"/>
            </a:avLst>
          </a:prstGeom>
          <a:gradFill rotWithShape="1">
            <a:gsLst>
              <a:gs pos="0">
                <a:srgbClr val="1B2D40"/>
              </a:gs>
              <a:gs pos="100000">
                <a:srgbClr val="0C1824"/>
              </a:gs>
            </a:gsLst>
            <a:lin ang="16200000" scaled="0"/>
          </a:gradFill>
          <a:ln w="12700">
            <a:solidFill>
              <a:srgbClr val="233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37630" y="1188720"/>
            <a:ext cx="2011680" cy="1651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spc="100">
                <a:solidFill>
                  <a:srgbClr val="F5A623"/>
                </a:solidFill>
                <a:latin typeface="Segoe UI"/>
              </a:rPr>
              <a:t>3 · A UNIDADE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630" y="1517650"/>
            <a:ext cx="2011680" cy="3111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sz="1100" b="0">
                <a:solidFill>
                  <a:srgbClr val="E8EDF2"/>
                </a:solidFill>
                <a:latin typeface="Consolas"/>
              </a:rPr>
              <a:t>fração / bp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37630" y="1993900"/>
            <a:ext cx="2011680" cy="127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1000" b="0">
                <a:solidFill>
                  <a:srgbClr val="93A9BC"/>
                </a:solidFill>
                <a:latin typeface="Segoe UI"/>
              </a:rPr>
              <a:t>−0,0008 é −0,08% por ponto-base. É a unidade em que a literatura publica os dela, e é assim que se confere se o nosso é plausível.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15400" y="969010"/>
            <a:ext cx="2451100" cy="2725420"/>
          </a:xfrm>
          <a:prstGeom prst="roundRect">
            <a:avLst>
              <a:gd name="adj" fmla="val 11000"/>
            </a:avLst>
          </a:prstGeom>
          <a:gradFill rotWithShape="1">
            <a:gsLst>
              <a:gs pos="0">
                <a:srgbClr val="1B2D40"/>
              </a:gs>
              <a:gs pos="100000">
                <a:srgbClr val="0C1824"/>
              </a:gs>
            </a:gsLst>
            <a:lin ang="16200000" scaled="0"/>
          </a:gradFill>
          <a:ln w="12700">
            <a:solidFill>
              <a:srgbClr val="233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35110" y="1188720"/>
            <a:ext cx="2011680" cy="1651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spc="100">
                <a:solidFill>
                  <a:srgbClr val="F5A623"/>
                </a:solidFill>
                <a:latin typeface="Segoe UI"/>
              </a:rPr>
              <a:t>4 · O QUE O P GARANTE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35110" y="1517650"/>
            <a:ext cx="2011680" cy="3111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sz="1100" b="0">
                <a:solidFill>
                  <a:srgbClr val="E8EDF2"/>
                </a:solidFill>
                <a:latin typeface="Consolas"/>
              </a:rPr>
              <a:t>P[SPY] = 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35110" y="1845310"/>
            <a:ext cx="2011680" cy="3111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sz="1100" b="0">
                <a:solidFill>
                  <a:srgbClr val="E8EDF2"/>
                </a:solidFill>
                <a:latin typeface="Consolas"/>
              </a:rPr>
              <a:t>Σ|P| = 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35110" y="2321560"/>
            <a:ext cx="2011680" cy="127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1000" b="0">
                <a:solidFill>
                  <a:srgbClr val="93A9BC"/>
                </a:solidFill>
                <a:latin typeface="Segoe UI"/>
              </a:rPr>
              <a:t>Subtrair o β do índice zera o peso do SPY: a view não aposta na direção da bolsa. E a escala é a mesma em toda view — quem dimensiona a posição é o BL.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4041140"/>
            <a:ext cx="5120640" cy="1651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950" b="1" spc="100">
                <a:solidFill>
                  <a:srgbClr val="F5A623"/>
                </a:solidFill>
                <a:latin typeface="Segoe UI"/>
              </a:rPr>
              <a:t>AS TRÊS EXCEÇÕES, DECLARADAS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4352290"/>
            <a:ext cx="5120640" cy="889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400"/>
              </a:lnSpc>
            </a:pPr>
            <a:r>
              <a:rPr sz="1050" b="1">
                <a:solidFill>
                  <a:srgbClr val="E8EDF2"/>
                </a:solidFill>
                <a:latin typeface="Segoe UI"/>
              </a:rPr>
              <a:t>Inflação (2.2): sem regressão.</a:t>
            </a:r>
            <a:r>
              <a:rPr sz="1050" b="0">
                <a:solidFill>
                  <a:srgbClr val="93A9BC"/>
                </a:solidFill>
                <a:latin typeface="Segoe UI"/>
              </a:rPr>
              <a:t>  O β é a duration do breakeven de 10 anos e o par é fixo, +1 TIP contra −1 TLT. Exceção mecânica, escrita na espec antes de medir.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5029200"/>
            <a:ext cx="5120640" cy="889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400"/>
              </a:lnSpc>
            </a:pPr>
            <a:r>
              <a:rPr sz="1050" b="1">
                <a:solidFill>
                  <a:srgbClr val="E8EDF2"/>
                </a:solidFill>
                <a:latin typeface="Segoe UI"/>
              </a:rPr>
              <a:t>Taxa no fim do ano (B): β próprio.</a:t>
            </a:r>
            <a:r>
              <a:rPr sz="1050" b="0">
                <a:solidFill>
                  <a:srgbClr val="93A9BC"/>
                </a:solidFill>
                <a:latin typeface="Segoe UI"/>
              </a:rPr>
              <a:t>  Reusar o β do Fed punha duas linhas idênticas no P, e duas views viravam uma. Medido em 37 reuniões: trocar o vértice da regressão gira o P em 95,6°.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5706110"/>
            <a:ext cx="5120640" cy="889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400"/>
              </a:lnSpc>
            </a:pPr>
            <a:r>
              <a:rPr sz="1050" b="1">
                <a:solidFill>
                  <a:srgbClr val="E8EDF2"/>
                </a:solidFill>
                <a:latin typeface="Segoe UI"/>
              </a:rPr>
              <a:t>Dúvida na véspera (15b): direcional.</a:t>
            </a:r>
            <a:r>
              <a:rPr sz="1050" b="0">
                <a:solidFill>
                  <a:srgbClr val="93A9BC"/>
                </a:solidFill>
                <a:latin typeface="Segoe UI"/>
              </a:rPr>
              <a:t>  O β é a reação à incerteza e o P é 2 no índice — a única view que aposta na direção do mercado.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45860" y="4352290"/>
            <a:ext cx="45720" cy="660400"/>
          </a:xfrm>
          <a:prstGeom prst="roundRect">
            <a:avLst>
              <a:gd name="adj" fmla="val 50000"/>
            </a:avLst>
          </a:prstGeom>
          <a:solidFill>
            <a:srgbClr val="4FC3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64300" y="4352290"/>
            <a:ext cx="4900930" cy="889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400"/>
              </a:lnSpc>
            </a:pPr>
            <a:r>
              <a:rPr sz="1050" b="1">
                <a:solidFill>
                  <a:srgbClr val="E8EDF2"/>
                </a:solidFill>
                <a:latin typeface="Segoe UI"/>
              </a:rPr>
              <a:t>Onde o β entra na conta.</a:t>
            </a:r>
            <a:r>
              <a:rPr sz="1050" b="0">
                <a:solidFill>
                  <a:srgbClr val="93A9BC"/>
                </a:solidFill>
                <a:latin typeface="Segoe UI"/>
              </a:rPr>
              <a:t>  Duas vezes: no P, que decide quem compra e quem vende, e no Q, que dá o tamanho do retorno esperado.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45860" y="5257800"/>
            <a:ext cx="45720" cy="660400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464300" y="5257800"/>
            <a:ext cx="4900930" cy="889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400"/>
              </a:lnSpc>
            </a:pPr>
            <a:r>
              <a:rPr sz="1050" b="1">
                <a:solidFill>
                  <a:srgbClr val="E8EDF2"/>
                </a:solidFill>
                <a:latin typeface="Segoe UI"/>
              </a:rPr>
              <a:t>Por que β medido, e não declarado.</a:t>
            </a:r>
            <a:r>
              <a:rPr sz="1050" b="0">
                <a:solidFill>
                  <a:srgbClr val="93A9BC"/>
                </a:solidFill>
                <a:latin typeface="Segoe UI"/>
              </a:rPr>
              <a:t>  É a mesma disciplina do Ω, agora do lado do retorno: opinião trocada por medição.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E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292100"/>
            <a:ext cx="8229600" cy="31115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880"/>
              </a:lnSpc>
            </a:pPr>
            <a:r>
              <a:rPr sz="1500" b="1" spc="80">
                <a:solidFill>
                  <a:srgbClr val="F5A623"/>
                </a:solidFill>
                <a:latin typeface="Segoe UI"/>
              </a:rPr>
              <a:t>KAIRÓS</a:t>
            </a:r>
            <a:r>
              <a:rPr sz="1500" b="0" spc="80">
                <a:solidFill>
                  <a:srgbClr val="E8EDF2"/>
                </a:solidFill>
                <a:latin typeface="Segoe UI"/>
              </a:rPr>
              <a:t>  Apêndice · de onde sai a âncora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989060" y="347980"/>
            <a:ext cx="2377440" cy="21971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1100" b="0">
                <a:solidFill>
                  <a:srgbClr val="6B8299"/>
                </a:solidFill>
                <a:latin typeface="Segoe UI"/>
              </a:rPr>
              <a:t>A6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768350"/>
            <a:ext cx="10543540" cy="9525"/>
          </a:xfrm>
          <a:prstGeom prst="rect">
            <a:avLst/>
          </a:prstGeom>
          <a:solidFill>
            <a:srgbClr val="243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22960" y="3931920"/>
            <a:ext cx="10543540" cy="9525"/>
          </a:xfrm>
          <a:prstGeom prst="rect">
            <a:avLst/>
          </a:prstGeom>
          <a:solidFill>
            <a:srgbClr val="243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22960" y="6291580"/>
            <a:ext cx="10543540" cy="9525"/>
          </a:xfrm>
          <a:prstGeom prst="rect">
            <a:avLst/>
          </a:prstGeom>
          <a:solidFill>
            <a:srgbClr val="243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6383020"/>
            <a:ext cx="10543540" cy="18288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>
                <a:solidFill>
                  <a:srgbClr val="6B8299"/>
                </a:solidFill>
                <a:latin typeface="Segoe UI"/>
              </a:rPr>
              <a:t>Apêndice — fora dos 6 minutos, mostrado só se perguntarem.   </a:t>
            </a:r>
            <a:r>
              <a:rPr sz="850" b="0">
                <a:solidFill>
                  <a:srgbClr val="9BAEC0"/>
                </a:solidFill>
                <a:latin typeface="Segoe UI"/>
              </a:rPr>
              <a:t>semifinal/fonte/montar_apendices.py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969010"/>
            <a:ext cx="2451100" cy="2725420"/>
          </a:xfrm>
          <a:prstGeom prst="roundRect">
            <a:avLst>
              <a:gd name="adj" fmla="val 11000"/>
            </a:avLst>
          </a:prstGeom>
          <a:gradFill rotWithShape="1">
            <a:gsLst>
              <a:gs pos="0">
                <a:srgbClr val="1B2D40"/>
              </a:gs>
              <a:gs pos="100000">
                <a:srgbClr val="0C1824"/>
              </a:gs>
            </a:gsLst>
            <a:lin ang="16200000" scaled="0"/>
          </a:gradFill>
          <a:ln w="12700">
            <a:solidFill>
              <a:srgbClr val="233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42669" y="1188720"/>
            <a:ext cx="2011680" cy="1651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spc="100">
                <a:solidFill>
                  <a:srgbClr val="F5A623"/>
                </a:solidFill>
                <a:latin typeface="Segoe UI"/>
              </a:rPr>
              <a:t>2.3 · DECISÃO DO FED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669" y="1517650"/>
            <a:ext cx="2011680" cy="3111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sz="1100" b="0">
                <a:solidFill>
                  <a:srgbClr val="E8EDF2"/>
                </a:solidFill>
                <a:latin typeface="Consolas"/>
              </a:rPr>
              <a:t>DTB3 − DFF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669" y="1993900"/>
            <a:ext cx="2011680" cy="127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1000" b="0">
                <a:solidFill>
                  <a:srgbClr val="93A9BC"/>
                </a:solidFill>
                <a:latin typeface="Segoe UI"/>
              </a:rPr>
              <a:t>O Polymarket diz quanto o Fed corta na reunião, em pontos-base. O que já estava no preço sai do papel de 3 meses contra a taxa efetiva.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20440" y="969010"/>
            <a:ext cx="2451100" cy="2725420"/>
          </a:xfrm>
          <a:prstGeom prst="roundRect">
            <a:avLst>
              <a:gd name="adj" fmla="val 11000"/>
            </a:avLst>
          </a:prstGeom>
          <a:gradFill rotWithShape="1">
            <a:gsLst>
              <a:gs pos="0">
                <a:srgbClr val="1B2D40"/>
              </a:gs>
              <a:gs pos="100000">
                <a:srgbClr val="0C1824"/>
              </a:gs>
            </a:gsLst>
            <a:lin ang="16200000" scaled="0"/>
          </a:gradFill>
          <a:ln w="12700">
            <a:solidFill>
              <a:srgbClr val="233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740150" y="1188720"/>
            <a:ext cx="2011680" cy="1651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spc="100">
                <a:solidFill>
                  <a:srgbClr val="F5A623"/>
                </a:solidFill>
                <a:latin typeface="Segoe UI"/>
              </a:rPr>
              <a:t>2.2 · INFLAÇÃO DO MÊS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0150" y="1517650"/>
            <a:ext cx="2011680" cy="3111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sz="1100" b="0">
                <a:solidFill>
                  <a:srgbClr val="E8EDF2"/>
                </a:solidFill>
                <a:latin typeface="Consolas"/>
              </a:rPr>
              <a:t>breakeven 10a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40150" y="1993900"/>
            <a:ext cx="2011680" cy="127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1000" b="0">
                <a:solidFill>
                  <a:srgbClr val="93A9BC"/>
                </a:solidFill>
                <a:latin typeface="Segoe UI"/>
              </a:rPr>
              <a:t>O CPI do mês, anualizado antes de comparar, contra o breakeven de 10 anos do FRED (T10YIE).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969010"/>
            <a:ext cx="2451100" cy="2725420"/>
          </a:xfrm>
          <a:prstGeom prst="roundRect">
            <a:avLst>
              <a:gd name="adj" fmla="val 11000"/>
            </a:avLst>
          </a:prstGeom>
          <a:gradFill rotWithShape="1">
            <a:gsLst>
              <a:gs pos="0">
                <a:srgbClr val="1B2D40"/>
              </a:gs>
              <a:gs pos="100000">
                <a:srgbClr val="0C1824"/>
              </a:gs>
            </a:gsLst>
            <a:lin ang="16200000" scaled="0"/>
          </a:gradFill>
          <a:ln w="12700">
            <a:solidFill>
              <a:srgbClr val="233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37630" y="1188720"/>
            <a:ext cx="2011680" cy="1651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spc="100">
                <a:solidFill>
                  <a:srgbClr val="F5A623"/>
                </a:solidFill>
                <a:latin typeface="Segoe UI"/>
              </a:rPr>
              <a:t>B · TAXA NO FIM DO ANO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630" y="1517650"/>
            <a:ext cx="2011680" cy="3111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sz="1100" b="0">
                <a:solidFill>
                  <a:srgbClr val="E8EDF2"/>
                </a:solidFill>
                <a:latin typeface="Consolas"/>
              </a:rPr>
              <a:t>DGS1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37630" y="1993900"/>
            <a:ext cx="2011680" cy="127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1000" b="0">
                <a:solidFill>
                  <a:srgbClr val="93A9BC"/>
                </a:solidFill>
                <a:latin typeface="Segoe UI"/>
              </a:rPr>
              <a:t>Onde a taxa termina o ano, contra o Treasury de 1 ano — o vértice da própria pergunta, e não o de 3 meses da view do Fed.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15400" y="969010"/>
            <a:ext cx="2451100" cy="2725420"/>
          </a:xfrm>
          <a:prstGeom prst="roundRect">
            <a:avLst>
              <a:gd name="adj" fmla="val 11000"/>
            </a:avLst>
          </a:prstGeom>
          <a:gradFill rotWithShape="1">
            <a:gsLst>
              <a:gs pos="0">
                <a:srgbClr val="1B2D40"/>
              </a:gs>
              <a:gs pos="100000">
                <a:srgbClr val="0C1824"/>
              </a:gs>
            </a:gsLst>
            <a:lin ang="16200000" scaled="0"/>
          </a:gradFill>
          <a:ln w="12700">
            <a:solidFill>
              <a:srgbClr val="233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35110" y="1188720"/>
            <a:ext cx="2011680" cy="1651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spc="100">
                <a:solidFill>
                  <a:srgbClr val="F5A623"/>
                </a:solidFill>
                <a:latin typeface="Segoe UI"/>
              </a:rPr>
              <a:t>15b · DÚVIDA NA VÉSPERA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35110" y="1517650"/>
            <a:ext cx="2011680" cy="3111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sz="1100" b="0">
                <a:solidFill>
                  <a:srgbClr val="E8EDF2"/>
                </a:solidFill>
                <a:latin typeface="Consolas"/>
              </a:rPr>
              <a:t>média da família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35110" y="1993900"/>
            <a:ext cx="2011680" cy="127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1000" b="0">
                <a:solidFill>
                  <a:srgbClr val="93A9BC"/>
                </a:solidFill>
                <a:latin typeface="Segoe UI"/>
              </a:rPr>
              <a:t>Aqui não há âncora de preço: nenhum instrumento cota incerteza. A comparação é com a média histórica daquele tipo de anúncio.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4041140"/>
            <a:ext cx="5120640" cy="1651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950" b="1" spc="100">
                <a:solidFill>
                  <a:srgbClr val="F5A623"/>
                </a:solidFill>
                <a:latin typeface="Segoe UI"/>
              </a:rPr>
              <a:t>A REGRA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4352290"/>
            <a:ext cx="5120640" cy="889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400"/>
              </a:lnSpc>
            </a:pPr>
            <a:r>
              <a:rPr sz="1050" b="1">
                <a:solidFill>
                  <a:srgbClr val="E8EDF2"/>
                </a:solidFill>
                <a:latin typeface="Segoe UI"/>
              </a:rPr>
              <a:t>A âncora é lida, nunca escolhida.</a:t>
            </a:r>
            <a:r>
              <a:rPr sz="1050" b="0">
                <a:solidFill>
                  <a:srgbClr val="93A9BC"/>
                </a:solidFill>
                <a:latin typeface="Segoe UI"/>
              </a:rPr>
              <a:t>  Cada view mede o mesmo evento em dois lugares: no mercado de apostas e no instrumento que já negocia aquilo. A subtração só é legítima porque os dois lados medem a mesma grandeza — e o segundo lado é sempre um preço de juros ou de inflação, nunca o da bolsa.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321300"/>
            <a:ext cx="5120640" cy="889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400"/>
              </a:lnSpc>
            </a:pPr>
            <a:r>
              <a:rPr sz="1050" b="1">
                <a:solidFill>
                  <a:srgbClr val="E8EDF2"/>
                </a:solidFill>
                <a:latin typeface="Segoe UI"/>
              </a:rPr>
              <a:t>O vértice tem de bater com a pergunta.</a:t>
            </a:r>
            <a:r>
              <a:rPr sz="1050" b="0">
                <a:solidFill>
                  <a:srgbClr val="93A9BC"/>
                </a:solidFill>
                <a:latin typeface="Segoe UI"/>
              </a:rPr>
              <a:t>  "Nessa reunião" pede papel de 3 meses; "no fim do ano" pede o de 1 ano. Foi por isso que a view B trocou de âncora.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64300" y="4041140"/>
            <a:ext cx="4900930" cy="1651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950" b="1" spc="100">
                <a:solidFill>
                  <a:srgbClr val="F5A623"/>
                </a:solidFill>
                <a:latin typeface="Segoe UI"/>
              </a:rPr>
              <a:t>POR QUE ETF, E NÃO JUROS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45860" y="4352290"/>
            <a:ext cx="45720" cy="660400"/>
          </a:xfrm>
          <a:prstGeom prst="roundRect">
            <a:avLst>
              <a:gd name="adj" fmla="val 50000"/>
            </a:avLst>
          </a:prstGeom>
          <a:solidFill>
            <a:srgbClr val="4FC3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464300" y="4352290"/>
            <a:ext cx="4900930" cy="889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400"/>
              </a:lnSpc>
            </a:pPr>
            <a:r>
              <a:rPr sz="1050" b="1">
                <a:solidFill>
                  <a:srgbClr val="E8EDF2"/>
                </a:solidFill>
                <a:latin typeface="Segoe UI"/>
              </a:rPr>
              <a:t>O universo é o do desafio:</a:t>
            </a:r>
            <a:r>
              <a:rPr sz="1050" b="0">
                <a:solidFill>
                  <a:srgbClr val="93A9BC"/>
                </a:solidFill>
                <a:latin typeface="Segoe UI"/>
              </a:rPr>
              <a:t>  9 ETFs americanos. A surpresa de juros não vira posição em juros — vira posição em ações, pela reação medida.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45860" y="5257800"/>
            <a:ext cx="45720" cy="838200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464300" y="5257800"/>
            <a:ext cx="4900930" cy="889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400"/>
              </a:lnSpc>
            </a:pPr>
            <a:r>
              <a:rPr sz="1050" b="1">
                <a:solidFill>
                  <a:srgbClr val="E8EDF2"/>
                </a:solidFill>
                <a:latin typeface="Segoe UI"/>
              </a:rPr>
              <a:t>O ideal seria o futuro de fed funds (ZQ),</a:t>
            </a:r>
            <a:r>
              <a:rPr sz="1050" b="0">
                <a:solidFill>
                  <a:srgbClr val="93A9BC"/>
                </a:solidFill>
                <a:latin typeface="Segoe UI"/>
              </a:rPr>
              <a:t>  que não tem fonte gratuita. O substituto está declarado na espec da view, e a surpresa entra centrada na média.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>
            <a:extLst>
              <a:ext uri="{FF2B5EF4-FFF2-40B4-BE49-F238E27FC236}">
                <a16:creationId xmlns:a16="http://schemas.microsoft.com/office/drawing/2014/main" id="{2A704A66-47E2-4505-D630-B3C6D0C49E26}"/>
              </a:ext>
            </a:extLst>
          </p:cNvPr>
          <p:cNvSpPr txBox="1"/>
          <p:nvPr/>
        </p:nvSpPr>
        <p:spPr>
          <a:xfrm>
            <a:off x="3064020" y="1629561"/>
            <a:ext cx="6566429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/>
              <a:t>POLYMARKET VS KALSHI – Analise kalshi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647984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2D9D52D9-1779-4941-B3DA-5CEB1F4AA406}">
  <we:reference id="wa200010725" version="1.0.0.1" store="en-US" storeType="OMEX"/>
  <we:alternateReferences>
    <we:reference id="WA200010725" version="1.0.0.1" store="" storeType="OMEX"/>
  </we:alternateReferences>
  <we:properties>
    <we:property name="claude.fileId" value="&quot;ee9944b0-24b6-4375-a098-1dec6af89d51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A2EDF0E61071D4A988766A1D842EE02" ma:contentTypeVersion="11" ma:contentTypeDescription="Create a new document." ma:contentTypeScope="" ma:versionID="f60ea137259014db3749b1426b44c72e">
  <xsd:schema xmlns:xsd="http://www.w3.org/2001/XMLSchema" xmlns:xs="http://www.w3.org/2001/XMLSchema" xmlns:p="http://schemas.microsoft.com/office/2006/metadata/properties" xmlns:ns3="3635a1f2-045e-406e-9012-0da5bc3d6757" targetNamespace="http://schemas.microsoft.com/office/2006/metadata/properties" ma:root="true" ma:fieldsID="a9b12bf162acc9ff7f28d876283cec31" ns3:_="">
    <xsd:import namespace="3635a1f2-045e-406e-9012-0da5bc3d6757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_activity" minOccurs="0"/>
                <xsd:element ref="ns3:MediaServiceSystemTags" minOccurs="0"/>
                <xsd:element ref="ns3:MediaServiceGenerationTime" minOccurs="0"/>
                <xsd:element ref="ns3:MediaServiceEventHashCode" minOccurs="0"/>
                <xsd:element ref="ns3:MediaLengthInSeconds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635a1f2-045e-406e-9012-0da5bc3d6757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_activity" ma:index="13" nillable="true" ma:displayName="_activity" ma:hidden="true" ma:internalName="_activity">
      <xsd:simpleType>
        <xsd:restriction base="dms:Note"/>
      </xsd:simpleType>
    </xsd:element>
    <xsd:element name="MediaServiceSystemTags" ma:index="14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7" nillable="true" ma:displayName="MediaLengthInSeconds" ma:hidden="true" ma:internalName="MediaLengthInSeconds" ma:readOnly="true">
      <xsd:simpleType>
        <xsd:restriction base="dms:Unknown"/>
      </xsd:simpleType>
    </xsd:element>
    <xsd:element name="MediaServiceBillingMetadata" ma:index="18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3635a1f2-045e-406e-9012-0da5bc3d6757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7B6C67F8-F3DB-4580-A708-6B16170404A8}">
  <ds:schemaRefs>
    <ds:schemaRef ds:uri="3635a1f2-045e-406e-9012-0da5bc3d6757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1359ED2E-B235-4138-9298-B5C9246350F2}">
  <ds:schemaRefs>
    <ds:schemaRef ds:uri="http://schemas.microsoft.com/office/infopath/2007/PartnerControls"/>
    <ds:schemaRef ds:uri="http://purl.org/dc/elements/1.1/"/>
    <ds:schemaRef ds:uri="http://purl.org/dc/dcmitype/"/>
    <ds:schemaRef ds:uri="http://www.w3.org/XML/1998/namespace"/>
    <ds:schemaRef ds:uri="http://schemas.microsoft.com/office/2006/documentManagement/types"/>
    <ds:schemaRef ds:uri="3635a1f2-045e-406e-9012-0da5bc3d6757"/>
    <ds:schemaRef ds:uri="http://schemas.microsoft.com/office/2006/metadata/properties"/>
    <ds:schemaRef ds:uri="http://schemas.openxmlformats.org/package/2006/metadata/core-properties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E71013D8-329A-4C6F-975A-30CCA4B19155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KAIROS_FINAL</Template>
  <TotalTime>22</TotalTime>
  <Words>3870</Words>
  <Application>Microsoft Office PowerPoint</Application>
  <PresentationFormat>Widescreen</PresentationFormat>
  <Paragraphs>454</Paragraphs>
  <Slides>24</Slides>
  <Notes>6</Notes>
  <HiddenSlides>0</HiddenSlides>
  <MMClips>0</MMClips>
  <ScaleCrop>false</ScaleCrop>
  <HeadingPairs>
    <vt:vector size="6" baseType="variant">
      <vt:variant>
        <vt:lpstr>Fontes usadas</vt:lpstr>
      </vt:variant>
      <vt:variant>
        <vt:i4>12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24</vt:i4>
      </vt:variant>
    </vt:vector>
  </HeadingPairs>
  <TitlesOfParts>
    <vt:vector size="37" baseType="lpstr">
      <vt:lpstr>Aptos</vt:lpstr>
      <vt:lpstr>Aptos Display</vt:lpstr>
      <vt:lpstr>Arial</vt:lpstr>
      <vt:lpstr>Bahnschrift</vt:lpstr>
      <vt:lpstr>Bahnschrift SemiBold</vt:lpstr>
      <vt:lpstr>Bahnschrift SemiBold Condensed</vt:lpstr>
      <vt:lpstr>Bahnschrift SemiLight</vt:lpstr>
      <vt:lpstr>Cambria Math</vt:lpstr>
      <vt:lpstr>Consolas</vt:lpstr>
      <vt:lpstr>Georgia</vt:lpstr>
      <vt:lpstr>Segoe UI</vt:lpstr>
      <vt:lpstr>Segoe UI Semibold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Felipe da Costa Menusier</dc:creator>
  <cp:keywords/>
  <dc:description>generated using python-pptx</dc:description>
  <cp:lastModifiedBy>Felipe da Costa Menusier</cp:lastModifiedBy>
  <cp:revision>1</cp:revision>
  <dcterms:created xsi:type="dcterms:W3CDTF">2026-09-17T12:44:49Z</dcterms:created>
  <dcterms:modified xsi:type="dcterms:W3CDTF">2026-09-17T13:07:32Z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0x0101004A2EDF0E61071D4A988766A1D842EE02</vt:lpwstr>
  </property>
</Properties>
</file>