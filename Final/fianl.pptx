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4"/>
  </p:sldMasterIdLst>
  <p:notesMasterIdLst>
    <p:notesMasterId r:id="rId37"/>
  </p:notesMasterIdLst>
  <p:sldIdLst>
    <p:sldId id="256" r:id="rId5"/>
    <p:sldId id="257" r:id="rId6"/>
    <p:sldId id="282" r:id="rId7"/>
    <p:sldId id="291" r:id="rId8"/>
    <p:sldId id="292" r:id="rId9"/>
    <p:sldId id="258" r:id="rId10"/>
    <p:sldId id="266" r:id="rId11"/>
    <p:sldId id="293" r:id="rId12"/>
    <p:sldId id="287" r:id="rId13"/>
    <p:sldId id="288" r:id="rId14"/>
    <p:sldId id="289" r:id="rId15"/>
    <p:sldId id="290" r:id="rId16"/>
    <p:sldId id="261" r:id="rId17"/>
    <p:sldId id="294" r:id="rId18"/>
    <p:sldId id="260" r:id="rId19"/>
    <p:sldId id="295" r:id="rId20"/>
    <p:sldId id="296" r:id="rId21"/>
    <p:sldId id="297" r:id="rId22"/>
    <p:sldId id="264" r:id="rId23"/>
    <p:sldId id="265" r:id="rId24"/>
    <p:sldId id="298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278" r:id="rId33"/>
    <p:sldId id="306" r:id="rId34"/>
    <p:sldId id="273" r:id="rId35"/>
    <p:sldId id="267" r:id="rId3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E2C"/>
    <a:srgbClr val="24374A"/>
    <a:srgbClr val="9BAEC0"/>
    <a:srgbClr val="728293"/>
    <a:srgbClr val="F5A623"/>
    <a:srgbClr val="7F91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6" dt="2026-09-17T23:52:36.846"/>
    <p1510:client id="{9A80E55D-9C1C-4CF9-A5EB-245C9D2F4FDF}" v="1120" dt="2026-09-18T00:27:00.781"/>
    <p1510:client id="{D0E29E53-83DF-5255-4519-4630373FE2AF}" v="2" dt="2026-09-17T21:29:38.856"/>
    <p1510:client id="{F0E8A655-A536-8E0C-2D44-A05C4498CEB1}" v="299" dt="2026-09-18T00:18:24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da Costa Menusier" userId="797c70dd-f395-4042-9773-26bd55573a5d" providerId="ADAL" clId="{C6B74651-31EC-4988-9930-A32ABBFCAD74}"/>
    <pc:docChg chg="undo custSel addSld delSld modSld sldOrd">
      <pc:chgData name="Felipe da Costa Menusier" userId="797c70dd-f395-4042-9773-26bd55573a5d" providerId="ADAL" clId="{C6B74651-31EC-4988-9930-A32ABBFCAD74}" dt="2026-09-18T00:27:00.781" v="83" actId="47"/>
      <pc:docMkLst>
        <pc:docMk/>
      </pc:docMkLst>
      <pc:sldChg chg="del">
        <pc:chgData name="Felipe da Costa Menusier" userId="797c70dd-f395-4042-9773-26bd55573a5d" providerId="ADAL" clId="{C6B74651-31EC-4988-9930-A32ABBFCAD74}" dt="2026-09-18T00:27:00.781" v="83" actId="47"/>
        <pc:sldMkLst>
          <pc:docMk/>
          <pc:sldMk cId="0" sldId="259"/>
        </pc:sldMkLst>
      </pc:sldChg>
      <pc:sldChg chg="add setBg">
        <pc:chgData name="Felipe da Costa Menusier" userId="797c70dd-f395-4042-9773-26bd55573a5d" providerId="ADAL" clId="{C6B74651-31EC-4988-9930-A32ABBFCAD74}" dt="2026-09-18T00:11:21.508" v="72"/>
        <pc:sldMkLst>
          <pc:docMk/>
          <pc:sldMk cId="0" sldId="260"/>
        </pc:sldMkLst>
      </pc:sldChg>
      <pc:sldChg chg="modSp del">
        <pc:chgData name="Felipe da Costa Menusier" userId="797c70dd-f395-4042-9773-26bd55573a5d" providerId="ADAL" clId="{C6B74651-31EC-4988-9930-A32ABBFCAD74}" dt="2026-09-18T00:14:32.131" v="73" actId="47"/>
        <pc:sldMkLst>
          <pc:docMk/>
          <pc:sldMk cId="0" sldId="262"/>
        </pc:sldMkLst>
        <pc:spChg chg="mod">
          <ac:chgData name="Felipe da Costa Menusier" userId="797c70dd-f395-4042-9773-26bd55573a5d" providerId="ADAL" clId="{C6B74651-31EC-4988-9930-A32ABBFCAD74}" dt="2026-09-17T00:12:41.620" v="3" actId="20578"/>
          <ac:spMkLst>
            <pc:docMk/>
            <pc:sldMk cId="0" sldId="262"/>
            <ac:spMk id="18" creationId="{8C1132E1-7B15-74A9-4126-A2E501E8E693}"/>
          </ac:spMkLst>
        </pc:spChg>
      </pc:sldChg>
      <pc:sldChg chg="del">
        <pc:chgData name="Felipe da Costa Menusier" userId="797c70dd-f395-4042-9773-26bd55573a5d" providerId="ADAL" clId="{C6B74651-31EC-4988-9930-A32ABBFCAD74}" dt="2026-09-18T00:16:24.700" v="75" actId="47"/>
        <pc:sldMkLst>
          <pc:docMk/>
          <pc:sldMk cId="0" sldId="263"/>
        </pc:sldMkLst>
      </pc:sldChg>
      <pc:sldChg chg="add setBg">
        <pc:chgData name="Felipe da Costa Menusier" userId="797c70dd-f395-4042-9773-26bd55573a5d" providerId="ADAL" clId="{C6B74651-31EC-4988-9930-A32ABBFCAD74}" dt="2026-09-18T00:11:21.508" v="72"/>
        <pc:sldMkLst>
          <pc:docMk/>
          <pc:sldMk cId="0" sldId="264"/>
        </pc:sldMkLst>
      </pc:sldChg>
      <pc:sldChg chg="add setBg">
        <pc:chgData name="Felipe da Costa Menusier" userId="797c70dd-f395-4042-9773-26bd55573a5d" providerId="ADAL" clId="{C6B74651-31EC-4988-9930-A32ABBFCAD74}" dt="2026-09-18T00:11:21.508" v="72"/>
        <pc:sldMkLst>
          <pc:docMk/>
          <pc:sldMk cId="0" sldId="265"/>
        </pc:sldMkLst>
      </pc:sldChg>
      <pc:sldChg chg="del">
        <pc:chgData name="Felipe da Costa Menusier" userId="797c70dd-f395-4042-9773-26bd55573a5d" providerId="ADAL" clId="{C6B74651-31EC-4988-9930-A32ABBFCAD74}" dt="2026-09-18T00:27:00.781" v="83" actId="47"/>
        <pc:sldMkLst>
          <pc:docMk/>
          <pc:sldMk cId="0" sldId="268"/>
        </pc:sldMkLst>
      </pc:sldChg>
      <pc:sldChg chg="del">
        <pc:chgData name="Felipe da Costa Menusier" userId="797c70dd-f395-4042-9773-26bd55573a5d" providerId="ADAL" clId="{C6B74651-31EC-4988-9930-A32ABBFCAD74}" dt="2026-09-18T00:27:00.781" v="83" actId="47"/>
        <pc:sldMkLst>
          <pc:docMk/>
          <pc:sldMk cId="0" sldId="269"/>
        </pc:sldMkLst>
      </pc:sldChg>
      <pc:sldChg chg="del">
        <pc:chgData name="Felipe da Costa Menusier" userId="797c70dd-f395-4042-9773-26bd55573a5d" providerId="ADAL" clId="{C6B74651-31EC-4988-9930-A32ABBFCAD74}" dt="2026-09-18T00:27:00.781" v="83" actId="47"/>
        <pc:sldMkLst>
          <pc:docMk/>
          <pc:sldMk cId="0" sldId="270"/>
        </pc:sldMkLst>
      </pc:sldChg>
      <pc:sldChg chg="del">
        <pc:chgData name="Felipe da Costa Menusier" userId="797c70dd-f395-4042-9773-26bd55573a5d" providerId="ADAL" clId="{C6B74651-31EC-4988-9930-A32ABBFCAD74}" dt="2026-09-18T00:27:00.781" v="83" actId="47"/>
        <pc:sldMkLst>
          <pc:docMk/>
          <pc:sldMk cId="0" sldId="271"/>
        </pc:sldMkLst>
      </pc:sldChg>
      <pc:sldChg chg="del">
        <pc:chgData name="Felipe da Costa Menusier" userId="797c70dd-f395-4042-9773-26bd55573a5d" providerId="ADAL" clId="{C6B74651-31EC-4988-9930-A32ABBFCAD74}" dt="2026-09-18T00:27:00.781" v="83" actId="47"/>
        <pc:sldMkLst>
          <pc:docMk/>
          <pc:sldMk cId="0" sldId="272"/>
        </pc:sldMkLst>
      </pc:sldChg>
      <pc:sldChg chg="add ord setBg">
        <pc:chgData name="Felipe da Costa Menusier" userId="797c70dd-f395-4042-9773-26bd55573a5d" providerId="ADAL" clId="{C6B74651-31EC-4988-9930-A32ABBFCAD74}" dt="2026-09-18T00:21:26.708" v="79"/>
        <pc:sldMkLst>
          <pc:docMk/>
          <pc:sldMk cId="0" sldId="273"/>
        </pc:sldMkLst>
      </pc:sldChg>
      <pc:sldChg chg="del">
        <pc:chgData name="Felipe da Costa Menusier" userId="797c70dd-f395-4042-9773-26bd55573a5d" providerId="ADAL" clId="{C6B74651-31EC-4988-9930-A32ABBFCAD74}" dt="2026-09-17T23:15:05.898" v="67" actId="47"/>
        <pc:sldMkLst>
          <pc:docMk/>
          <pc:sldMk cId="1926029493" sldId="273"/>
        </pc:sldMkLst>
      </pc:sldChg>
      <pc:sldChg chg="ord">
        <pc:chgData name="Felipe da Costa Menusier" userId="797c70dd-f395-4042-9773-26bd55573a5d" providerId="ADAL" clId="{C6B74651-31EC-4988-9930-A32ABBFCAD74}" dt="2026-09-17T00:06:14.613" v="1"/>
        <pc:sldMkLst>
          <pc:docMk/>
          <pc:sldMk cId="3769131820" sldId="276"/>
        </pc:sldMkLst>
      </pc:sldChg>
      <pc:sldChg chg="add del">
        <pc:chgData name="Felipe da Costa Menusier" userId="797c70dd-f395-4042-9773-26bd55573a5d" providerId="ADAL" clId="{C6B74651-31EC-4988-9930-A32ABBFCAD74}" dt="2026-09-18T00:11:19.524" v="71" actId="47"/>
        <pc:sldMkLst>
          <pc:docMk/>
          <pc:sldMk cId="2667986819" sldId="277"/>
        </pc:sldMkLst>
      </pc:sldChg>
      <pc:sldChg chg="add">
        <pc:chgData name="Felipe da Costa Menusier" userId="797c70dd-f395-4042-9773-26bd55573a5d" providerId="ADAL" clId="{C6B74651-31EC-4988-9930-A32ABBFCAD74}" dt="2026-09-17T00:17:46.083" v="4"/>
        <pc:sldMkLst>
          <pc:docMk/>
          <pc:sldMk cId="1556199943" sldId="278"/>
        </pc:sldMkLst>
      </pc:sldChg>
      <pc:sldChg chg="modSp add del mod">
        <pc:chgData name="Felipe da Costa Menusier" userId="797c70dd-f395-4042-9773-26bd55573a5d" providerId="ADAL" clId="{C6B74651-31EC-4988-9930-A32ABBFCAD74}" dt="2026-09-17T22:58:14.309" v="33" actId="47"/>
        <pc:sldMkLst>
          <pc:docMk/>
          <pc:sldMk cId="1719061596" sldId="279"/>
        </pc:sldMkLst>
        <pc:spChg chg="mod">
          <ac:chgData name="Felipe da Costa Menusier" userId="797c70dd-f395-4042-9773-26bd55573a5d" providerId="ADAL" clId="{C6B74651-31EC-4988-9930-A32ABBFCAD74}" dt="2026-09-17T22:52:02.631" v="32" actId="20577"/>
          <ac:spMkLst>
            <pc:docMk/>
            <pc:sldMk cId="1719061596" sldId="279"/>
            <ac:spMk id="2" creationId="{033F75D3-78E2-91EA-6D58-D99F554CA944}"/>
          </ac:spMkLst>
        </pc:spChg>
      </pc:sldChg>
      <pc:sldChg chg="add del">
        <pc:chgData name="Felipe da Costa Menusier" userId="797c70dd-f395-4042-9773-26bd55573a5d" providerId="ADAL" clId="{C6B74651-31EC-4988-9930-A32ABBFCAD74}" dt="2026-09-18T00:21:29.540" v="80" actId="47"/>
        <pc:sldMkLst>
          <pc:docMk/>
          <pc:sldMk cId="1718000780" sldId="280"/>
        </pc:sldMkLst>
      </pc:sldChg>
      <pc:sldChg chg="del">
        <pc:chgData name="Felipe da Costa Menusier" userId="797c70dd-f395-4042-9773-26bd55573a5d" providerId="ADAL" clId="{C6B74651-31EC-4988-9930-A32ABBFCAD74}" dt="2026-09-18T00:27:00.781" v="83" actId="47"/>
        <pc:sldMkLst>
          <pc:docMk/>
          <pc:sldMk cId="866479843" sldId="281"/>
        </pc:sldMkLst>
      </pc:sldChg>
      <pc:sldChg chg="addSp delSp modSp mod">
        <pc:chgData name="Felipe da Costa Menusier" userId="797c70dd-f395-4042-9773-26bd55573a5d" providerId="ADAL" clId="{C6B74651-31EC-4988-9930-A32ABBFCAD74}" dt="2026-09-17T23:02:10.915" v="54" actId="1076"/>
        <pc:sldMkLst>
          <pc:docMk/>
          <pc:sldMk cId="2595393371" sldId="282"/>
        </pc:sldMkLst>
        <pc:spChg chg="mod">
          <ac:chgData name="Felipe da Costa Menusier" userId="797c70dd-f395-4042-9773-26bd55573a5d" providerId="ADAL" clId="{C6B74651-31EC-4988-9930-A32ABBFCAD74}" dt="2026-09-17T23:01:49.804" v="50" actId="1076"/>
          <ac:spMkLst>
            <pc:docMk/>
            <pc:sldMk cId="2595393371" sldId="282"/>
            <ac:spMk id="3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3:01:24.500" v="48" actId="14100"/>
          <ac:spMkLst>
            <pc:docMk/>
            <pc:sldMk cId="2595393371" sldId="282"/>
            <ac:spMk id="14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3:01:24.500" v="48" actId="14100"/>
          <ac:spMkLst>
            <pc:docMk/>
            <pc:sldMk cId="2595393371" sldId="282"/>
            <ac:spMk id="15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3:01:24.500" v="48" actId="14100"/>
          <ac:spMkLst>
            <pc:docMk/>
            <pc:sldMk cId="2595393371" sldId="282"/>
            <ac:spMk id="16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3:01:24.500" v="48" actId="14100"/>
          <ac:spMkLst>
            <pc:docMk/>
            <pc:sldMk cId="2595393371" sldId="282"/>
            <ac:spMk id="17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3:01:24.500" v="48" actId="14100"/>
          <ac:spMkLst>
            <pc:docMk/>
            <pc:sldMk cId="2595393371" sldId="282"/>
            <ac:spMk id="18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3:01:24.500" v="48" actId="14100"/>
          <ac:spMkLst>
            <pc:docMk/>
            <pc:sldMk cId="2595393371" sldId="282"/>
            <ac:spMk id="19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3:01:24.500" v="48" actId="14100"/>
          <ac:spMkLst>
            <pc:docMk/>
            <pc:sldMk cId="2595393371" sldId="282"/>
            <ac:spMk id="20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3:01:24.500" v="48" actId="14100"/>
          <ac:spMkLst>
            <pc:docMk/>
            <pc:sldMk cId="2595393371" sldId="282"/>
            <ac:spMk id="21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3:01:24.500" v="48" actId="14100"/>
          <ac:spMkLst>
            <pc:docMk/>
            <pc:sldMk cId="2595393371" sldId="282"/>
            <ac:spMk id="22" creationId="{00000000-0000-0000-0000-000000000000}"/>
          </ac:spMkLst>
        </pc:spChg>
        <pc:spChg chg="del">
          <ac:chgData name="Felipe da Costa Menusier" userId="797c70dd-f395-4042-9773-26bd55573a5d" providerId="ADAL" clId="{C6B74651-31EC-4988-9930-A32ABBFCAD74}" dt="2026-09-17T23:00:39.160" v="43" actId="478"/>
          <ac:spMkLst>
            <pc:docMk/>
            <pc:sldMk cId="2595393371" sldId="282"/>
            <ac:spMk id="23" creationId="{00000000-0000-0000-0000-000000000000}"/>
          </ac:spMkLst>
        </pc:spChg>
        <pc:spChg chg="del">
          <ac:chgData name="Felipe da Costa Menusier" userId="797c70dd-f395-4042-9773-26bd55573a5d" providerId="ADAL" clId="{C6B74651-31EC-4988-9930-A32ABBFCAD74}" dt="2026-09-17T23:00:39.160" v="43" actId="478"/>
          <ac:spMkLst>
            <pc:docMk/>
            <pc:sldMk cId="2595393371" sldId="282"/>
            <ac:spMk id="24" creationId="{00000000-0000-0000-0000-000000000000}"/>
          </ac:spMkLst>
        </pc:spChg>
        <pc:spChg chg="del">
          <ac:chgData name="Felipe da Costa Menusier" userId="797c70dd-f395-4042-9773-26bd55573a5d" providerId="ADAL" clId="{C6B74651-31EC-4988-9930-A32ABBFCAD74}" dt="2026-09-17T23:00:47.357" v="44" actId="478"/>
          <ac:spMkLst>
            <pc:docMk/>
            <pc:sldMk cId="2595393371" sldId="282"/>
            <ac:spMk id="25" creationId="{00000000-0000-0000-0000-000000000000}"/>
          </ac:spMkLst>
        </pc:spChg>
        <pc:spChg chg="del">
          <ac:chgData name="Felipe da Costa Menusier" userId="797c70dd-f395-4042-9773-26bd55573a5d" providerId="ADAL" clId="{C6B74651-31EC-4988-9930-A32ABBFCAD74}" dt="2026-09-17T23:00:39.160" v="43" actId="478"/>
          <ac:spMkLst>
            <pc:docMk/>
            <pc:sldMk cId="2595393371" sldId="282"/>
            <ac:spMk id="26" creationId="{00000000-0000-0000-0000-000000000000}"/>
          </ac:spMkLst>
        </pc:spChg>
        <pc:spChg chg="del">
          <ac:chgData name="Felipe da Costa Menusier" userId="797c70dd-f395-4042-9773-26bd55573a5d" providerId="ADAL" clId="{C6B74651-31EC-4988-9930-A32ABBFCAD74}" dt="2026-09-17T23:00:47.357" v="44" actId="478"/>
          <ac:spMkLst>
            <pc:docMk/>
            <pc:sldMk cId="2595393371" sldId="282"/>
            <ac:spMk id="27" creationId="{00000000-0000-0000-0000-000000000000}"/>
          </ac:spMkLst>
        </pc:spChg>
        <pc:spChg chg="del">
          <ac:chgData name="Felipe da Costa Menusier" userId="797c70dd-f395-4042-9773-26bd55573a5d" providerId="ADAL" clId="{C6B74651-31EC-4988-9930-A32ABBFCAD74}" dt="2026-09-17T23:00:39.160" v="43" actId="478"/>
          <ac:spMkLst>
            <pc:docMk/>
            <pc:sldMk cId="2595393371" sldId="282"/>
            <ac:spMk id="28" creationId="{00000000-0000-0000-0000-000000000000}"/>
          </ac:spMkLst>
        </pc:spChg>
        <pc:spChg chg="del">
          <ac:chgData name="Felipe da Costa Menusier" userId="797c70dd-f395-4042-9773-26bd55573a5d" providerId="ADAL" clId="{C6B74651-31EC-4988-9930-A32ABBFCAD74}" dt="2026-09-17T23:00:47.357" v="44" actId="478"/>
          <ac:spMkLst>
            <pc:docMk/>
            <pc:sldMk cId="2595393371" sldId="282"/>
            <ac:spMk id="29" creationId="{00000000-0000-0000-0000-000000000000}"/>
          </ac:spMkLst>
        </pc:spChg>
        <pc:spChg chg="del">
          <ac:chgData name="Felipe da Costa Menusier" userId="797c70dd-f395-4042-9773-26bd55573a5d" providerId="ADAL" clId="{C6B74651-31EC-4988-9930-A32ABBFCAD74}" dt="2026-09-17T22:58:46.832" v="34" actId="478"/>
          <ac:spMkLst>
            <pc:docMk/>
            <pc:sldMk cId="2595393371" sldId="282"/>
            <ac:spMk id="31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2:58:56.369" v="35" actId="1076"/>
          <ac:spMkLst>
            <pc:docMk/>
            <pc:sldMk cId="2595393371" sldId="282"/>
            <ac:spMk id="32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2:58:56.369" v="35" actId="1076"/>
          <ac:spMkLst>
            <pc:docMk/>
            <pc:sldMk cId="2595393371" sldId="282"/>
            <ac:spMk id="33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2:58:56.369" v="35" actId="1076"/>
          <ac:spMkLst>
            <pc:docMk/>
            <pc:sldMk cId="2595393371" sldId="282"/>
            <ac:spMk id="34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2:58:56.369" v="35" actId="1076"/>
          <ac:spMkLst>
            <pc:docMk/>
            <pc:sldMk cId="2595393371" sldId="282"/>
            <ac:spMk id="35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2:58:56.369" v="35" actId="1076"/>
          <ac:spMkLst>
            <pc:docMk/>
            <pc:sldMk cId="2595393371" sldId="282"/>
            <ac:spMk id="36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2:58:56.369" v="35" actId="1076"/>
          <ac:spMkLst>
            <pc:docMk/>
            <pc:sldMk cId="2595393371" sldId="282"/>
            <ac:spMk id="37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2:58:56.369" v="35" actId="1076"/>
          <ac:spMkLst>
            <pc:docMk/>
            <pc:sldMk cId="2595393371" sldId="282"/>
            <ac:spMk id="38" creationId="{00000000-0000-0000-0000-000000000000}"/>
          </ac:spMkLst>
        </pc:spChg>
        <pc:spChg chg="mod">
          <ac:chgData name="Felipe da Costa Menusier" userId="797c70dd-f395-4042-9773-26bd55573a5d" providerId="ADAL" clId="{C6B74651-31EC-4988-9930-A32ABBFCAD74}" dt="2026-09-17T22:58:56.369" v="35" actId="1076"/>
          <ac:spMkLst>
            <pc:docMk/>
            <pc:sldMk cId="2595393371" sldId="282"/>
            <ac:spMk id="39" creationId="{00000000-0000-0000-0000-000000000000}"/>
          </ac:spMkLst>
        </pc:spChg>
        <pc:spChg chg="add del">
          <ac:chgData name="Felipe da Costa Menusier" userId="797c70dd-f395-4042-9773-26bd55573a5d" providerId="ADAL" clId="{C6B74651-31EC-4988-9930-A32ABBFCAD74}" dt="2026-09-17T22:59:41.925" v="37" actId="22"/>
          <ac:spMkLst>
            <pc:docMk/>
            <pc:sldMk cId="2595393371" sldId="282"/>
            <ac:spMk id="43" creationId="{693C2413-C687-AD72-9700-0217874240B8}"/>
          </ac:spMkLst>
        </pc:spChg>
        <pc:spChg chg="add del mod">
          <ac:chgData name="Felipe da Costa Menusier" userId="797c70dd-f395-4042-9773-26bd55573a5d" providerId="ADAL" clId="{C6B74651-31EC-4988-9930-A32ABBFCAD74}" dt="2026-09-17T23:00:53.386" v="45" actId="478"/>
          <ac:spMkLst>
            <pc:docMk/>
            <pc:sldMk cId="2595393371" sldId="282"/>
            <ac:spMk id="45" creationId="{C7E68F00-6377-6862-7D68-FA01DE0734C3}"/>
          </ac:spMkLst>
        </pc:spChg>
        <pc:spChg chg="add del mod">
          <ac:chgData name="Felipe da Costa Menusier" userId="797c70dd-f395-4042-9773-26bd55573a5d" providerId="ADAL" clId="{C6B74651-31EC-4988-9930-A32ABBFCAD74}" dt="2026-09-17T23:00:53.386" v="45" actId="478"/>
          <ac:spMkLst>
            <pc:docMk/>
            <pc:sldMk cId="2595393371" sldId="282"/>
            <ac:spMk id="47" creationId="{60373856-6A76-13EF-48F5-A719BEE313B2}"/>
          </ac:spMkLst>
        </pc:spChg>
        <pc:spChg chg="add del mod">
          <ac:chgData name="Felipe da Costa Menusier" userId="797c70dd-f395-4042-9773-26bd55573a5d" providerId="ADAL" clId="{C6B74651-31EC-4988-9930-A32ABBFCAD74}" dt="2026-09-17T23:00:53.386" v="45" actId="478"/>
          <ac:spMkLst>
            <pc:docMk/>
            <pc:sldMk cId="2595393371" sldId="282"/>
            <ac:spMk id="49" creationId="{2FAED7D0-EF38-3B7B-1F8D-E5D6BA088D0C}"/>
          </ac:spMkLst>
        </pc:spChg>
        <pc:picChg chg="mod">
          <ac:chgData name="Felipe da Costa Menusier" userId="797c70dd-f395-4042-9773-26bd55573a5d" providerId="ADAL" clId="{C6B74651-31EC-4988-9930-A32ABBFCAD74}" dt="2026-09-17T23:02:10.915" v="54" actId="1076"/>
          <ac:picMkLst>
            <pc:docMk/>
            <pc:sldMk cId="2595393371" sldId="282"/>
            <ac:picMk id="40" creationId="{00000000-0000-0000-0000-000000000000}"/>
          </ac:picMkLst>
        </pc:picChg>
      </pc:sldChg>
      <pc:sldChg chg="del">
        <pc:chgData name="Felipe da Costa Menusier" userId="797c70dd-f395-4042-9773-26bd55573a5d" providerId="ADAL" clId="{C6B74651-31EC-4988-9930-A32ABBFCAD74}" dt="2026-09-17T23:07:23.416" v="55" actId="47"/>
        <pc:sldMkLst>
          <pc:docMk/>
          <pc:sldMk cId="2448141990" sldId="283"/>
        </pc:sldMkLst>
      </pc:sldChg>
      <pc:sldChg chg="modSp mod">
        <pc:chgData name="Felipe da Costa Menusier" userId="797c70dd-f395-4042-9773-26bd55573a5d" providerId="ADAL" clId="{C6B74651-31EC-4988-9930-A32ABBFCAD74}" dt="2026-09-17T23:12:13.385" v="66" actId="1076"/>
        <pc:sldMkLst>
          <pc:docMk/>
          <pc:sldMk cId="444386408" sldId="291"/>
        </pc:sldMkLst>
        <pc:spChg chg="mod">
          <ac:chgData name="Felipe da Costa Menusier" userId="797c70dd-f395-4042-9773-26bd55573a5d" providerId="ADAL" clId="{C6B74651-31EC-4988-9930-A32ABBFCAD74}" dt="2026-09-17T23:10:12.476" v="59" actId="20577"/>
          <ac:spMkLst>
            <pc:docMk/>
            <pc:sldMk cId="444386408" sldId="291"/>
            <ac:spMk id="23" creationId="{00000000-0000-0000-0000-000000000000}"/>
          </ac:spMkLst>
        </pc:spChg>
        <pc:picChg chg="mod">
          <ac:chgData name="Felipe da Costa Menusier" userId="797c70dd-f395-4042-9773-26bd55573a5d" providerId="ADAL" clId="{C6B74651-31EC-4988-9930-A32ABBFCAD74}" dt="2026-09-17T23:12:13.385" v="66" actId="1076"/>
          <ac:picMkLst>
            <pc:docMk/>
            <pc:sldMk cId="444386408" sldId="291"/>
            <ac:picMk id="27" creationId="{00000000-0000-0000-0000-000000000000}"/>
          </ac:picMkLst>
        </pc:picChg>
      </pc:sldChg>
      <pc:sldChg chg="new">
        <pc:chgData name="Felipe da Costa Menusier" userId="797c70dd-f395-4042-9773-26bd55573a5d" providerId="ADAL" clId="{C6B74651-31EC-4988-9930-A32ABBFCAD74}" dt="2026-09-17T23:20:06.232" v="70" actId="680"/>
        <pc:sldMkLst>
          <pc:docMk/>
          <pc:sldMk cId="1361455815" sldId="293"/>
        </pc:sldMkLst>
      </pc:sldChg>
      <pc:sldChg chg="new del">
        <pc:chgData name="Felipe da Costa Menusier" userId="797c70dd-f395-4042-9773-26bd55573a5d" providerId="ADAL" clId="{C6B74651-31EC-4988-9930-A32ABBFCAD74}" dt="2026-09-17T23:19:42.716" v="69" actId="47"/>
        <pc:sldMkLst>
          <pc:docMk/>
          <pc:sldMk cId="1529875001" sldId="293"/>
        </pc:sldMkLst>
      </pc:sldChg>
      <pc:sldChg chg="add setBg">
        <pc:chgData name="Felipe da Costa Menusier" userId="797c70dd-f395-4042-9773-26bd55573a5d" providerId="ADAL" clId="{C6B74651-31EC-4988-9930-A32ABBFCAD74}" dt="2026-09-18T00:11:21.508" v="72"/>
        <pc:sldMkLst>
          <pc:docMk/>
          <pc:sldMk cId="0" sldId="294"/>
        </pc:sldMkLst>
      </pc:sldChg>
      <pc:sldChg chg="add setBg">
        <pc:chgData name="Felipe da Costa Menusier" userId="797c70dd-f395-4042-9773-26bd55573a5d" providerId="ADAL" clId="{C6B74651-31EC-4988-9930-A32ABBFCAD74}" dt="2026-09-18T00:11:21.508" v="72"/>
        <pc:sldMkLst>
          <pc:docMk/>
          <pc:sldMk cId="0" sldId="295"/>
        </pc:sldMkLst>
      </pc:sldChg>
      <pc:sldChg chg="add setBg">
        <pc:chgData name="Felipe da Costa Menusier" userId="797c70dd-f395-4042-9773-26bd55573a5d" providerId="ADAL" clId="{C6B74651-31EC-4988-9930-A32ABBFCAD74}" dt="2026-09-18T00:11:21.508" v="72"/>
        <pc:sldMkLst>
          <pc:docMk/>
          <pc:sldMk cId="0" sldId="296"/>
        </pc:sldMkLst>
      </pc:sldChg>
      <pc:sldChg chg="add setBg">
        <pc:chgData name="Felipe da Costa Menusier" userId="797c70dd-f395-4042-9773-26bd55573a5d" providerId="ADAL" clId="{C6B74651-31EC-4988-9930-A32ABBFCAD74}" dt="2026-09-18T00:11:21.508" v="72"/>
        <pc:sldMkLst>
          <pc:docMk/>
          <pc:sldMk cId="0" sldId="297"/>
        </pc:sldMkLst>
      </pc:sldChg>
      <pc:sldChg chg="add setBg">
        <pc:chgData name="Felipe da Costa Menusier" userId="797c70dd-f395-4042-9773-26bd55573a5d" providerId="ADAL" clId="{C6B74651-31EC-4988-9930-A32ABBFCAD74}" dt="2026-09-18T00:11:21.508" v="72"/>
        <pc:sldMkLst>
          <pc:docMk/>
          <pc:sldMk cId="0" sldId="298"/>
        </pc:sldMkLst>
      </pc:sldChg>
      <pc:sldChg chg="add setBg">
        <pc:chgData name="Felipe da Costa Menusier" userId="797c70dd-f395-4042-9773-26bd55573a5d" providerId="ADAL" clId="{C6B74651-31EC-4988-9930-A32ABBFCAD74}" dt="2026-09-18T00:11:21.508" v="72"/>
        <pc:sldMkLst>
          <pc:docMk/>
          <pc:sldMk cId="0" sldId="299"/>
        </pc:sldMkLst>
      </pc:sldChg>
      <pc:sldChg chg="add setBg">
        <pc:chgData name="Felipe da Costa Menusier" userId="797c70dd-f395-4042-9773-26bd55573a5d" providerId="ADAL" clId="{C6B74651-31EC-4988-9930-A32ABBFCAD74}" dt="2026-09-18T00:11:21.508" v="72"/>
        <pc:sldMkLst>
          <pc:docMk/>
          <pc:sldMk cId="0" sldId="300"/>
        </pc:sldMkLst>
      </pc:sldChg>
      <pc:sldChg chg="add setBg">
        <pc:chgData name="Felipe da Costa Menusier" userId="797c70dd-f395-4042-9773-26bd55573a5d" providerId="ADAL" clId="{C6B74651-31EC-4988-9930-A32ABBFCAD74}" dt="2026-09-18T00:11:21.508" v="72"/>
        <pc:sldMkLst>
          <pc:docMk/>
          <pc:sldMk cId="0" sldId="301"/>
        </pc:sldMkLst>
      </pc:sldChg>
      <pc:sldChg chg="add setBg">
        <pc:chgData name="Felipe da Costa Menusier" userId="797c70dd-f395-4042-9773-26bd55573a5d" providerId="ADAL" clId="{C6B74651-31EC-4988-9930-A32ABBFCAD74}" dt="2026-09-18T00:11:21.508" v="72"/>
        <pc:sldMkLst>
          <pc:docMk/>
          <pc:sldMk cId="0" sldId="302"/>
        </pc:sldMkLst>
      </pc:sldChg>
      <pc:sldChg chg="add setBg">
        <pc:chgData name="Felipe da Costa Menusier" userId="797c70dd-f395-4042-9773-26bd55573a5d" providerId="ADAL" clId="{C6B74651-31EC-4988-9930-A32ABBFCAD74}" dt="2026-09-18T00:11:21.508" v="72"/>
        <pc:sldMkLst>
          <pc:docMk/>
          <pc:sldMk cId="0" sldId="303"/>
        </pc:sldMkLst>
      </pc:sldChg>
      <pc:sldChg chg="add setBg">
        <pc:chgData name="Felipe da Costa Menusier" userId="797c70dd-f395-4042-9773-26bd55573a5d" providerId="ADAL" clId="{C6B74651-31EC-4988-9930-A32ABBFCAD74}" dt="2026-09-18T00:14:33.585" v="74"/>
        <pc:sldMkLst>
          <pc:docMk/>
          <pc:sldMk cId="0" sldId="304"/>
        </pc:sldMkLst>
      </pc:sldChg>
      <pc:sldChg chg="del">
        <pc:chgData name="Felipe da Costa Menusier" userId="797c70dd-f395-4042-9773-26bd55573a5d" providerId="ADAL" clId="{C6B74651-31EC-4988-9930-A32ABBFCAD74}" dt="2026-09-18T00:21:16.559" v="76" actId="47"/>
        <pc:sldMkLst>
          <pc:docMk/>
          <pc:sldMk cId="2174567656" sldId="307"/>
        </pc:sldMkLst>
      </pc:sldChg>
      <pc:sldChg chg="add del setBg">
        <pc:chgData name="Felipe da Costa Menusier" userId="797c70dd-f395-4042-9773-26bd55573a5d" providerId="ADAL" clId="{C6B74651-31EC-4988-9930-A32ABBFCAD74}" dt="2026-09-18T00:26:39.947" v="82" actId="47"/>
        <pc:sldMkLst>
          <pc:docMk/>
          <pc:sldMk cId="3849930570" sldId="307"/>
        </pc:sldMkLst>
      </pc:sldChg>
      <pc:sldChg chg="add del setBg">
        <pc:chgData name="Felipe da Costa Menusier" userId="797c70dd-f395-4042-9773-26bd55573a5d" providerId="ADAL" clId="{C6B74651-31EC-4988-9930-A32ABBFCAD74}" dt="2026-09-18T00:26:39.947" v="82" actId="47"/>
        <pc:sldMkLst>
          <pc:docMk/>
          <pc:sldMk cId="1902131031" sldId="308"/>
        </pc:sldMkLst>
      </pc:sldChg>
      <pc:sldChg chg="add del setBg">
        <pc:chgData name="Felipe da Costa Menusier" userId="797c70dd-f395-4042-9773-26bd55573a5d" providerId="ADAL" clId="{C6B74651-31EC-4988-9930-A32ABBFCAD74}" dt="2026-09-18T00:26:39.947" v="82" actId="47"/>
        <pc:sldMkLst>
          <pc:docMk/>
          <pc:sldMk cId="2815038139" sldId="309"/>
        </pc:sldMkLst>
      </pc:sldChg>
      <pc:sldChg chg="add del setBg">
        <pc:chgData name="Felipe da Costa Menusier" userId="797c70dd-f395-4042-9773-26bd55573a5d" providerId="ADAL" clId="{C6B74651-31EC-4988-9930-A32ABBFCAD74}" dt="2026-09-18T00:26:39.947" v="82" actId="47"/>
        <pc:sldMkLst>
          <pc:docMk/>
          <pc:sldMk cId="3183211537" sldId="310"/>
        </pc:sldMkLst>
      </pc:sldChg>
      <pc:sldChg chg="add del setBg">
        <pc:chgData name="Felipe da Costa Menusier" userId="797c70dd-f395-4042-9773-26bd55573a5d" providerId="ADAL" clId="{C6B74651-31EC-4988-9930-A32ABBFCAD74}" dt="2026-09-18T00:26:39.947" v="82" actId="47"/>
        <pc:sldMkLst>
          <pc:docMk/>
          <pc:sldMk cId="1569096234" sldId="311"/>
        </pc:sldMkLst>
      </pc:sldChg>
      <pc:sldChg chg="add del setBg">
        <pc:chgData name="Felipe da Costa Menusier" userId="797c70dd-f395-4042-9773-26bd55573a5d" providerId="ADAL" clId="{C6B74651-31EC-4988-9930-A32ABBFCAD74}" dt="2026-09-18T00:26:39.947" v="82" actId="47"/>
        <pc:sldMkLst>
          <pc:docMk/>
          <pc:sldMk cId="3272783923" sldId="312"/>
        </pc:sldMkLst>
      </pc:sldChg>
      <pc:sldChg chg="add del">
        <pc:chgData name="Felipe da Costa Menusier" userId="797c70dd-f395-4042-9773-26bd55573a5d" providerId="ADAL" clId="{C6B74651-31EC-4988-9930-A32ABBFCAD74}" dt="2026-09-18T00:26:39.947" v="82" actId="47"/>
        <pc:sldMkLst>
          <pc:docMk/>
          <pc:sldMk cId="2146650748" sldId="313"/>
        </pc:sldMkLst>
      </pc:sldChg>
    </pc:docChg>
  </pc:docChgLst>
  <pc:docChgLst>
    <pc:chgData name="Guest User" userId="S::urn:spo:tenantanon#6370a6c0-7b90-4709-bd6e-59c28ede833b::" providerId="AD" clId="Web-{D0E29E53-83DF-5255-4519-4630373FE2AF}"/>
    <pc:docChg chg="modSld">
      <pc:chgData name="Guest User" userId="S::urn:spo:tenantanon#6370a6c0-7b90-4709-bd6e-59c28ede833b::" providerId="AD" clId="Web-{D0E29E53-83DF-5255-4519-4630373FE2AF}" dt="2026-09-17T21:29:38.856" v="1" actId="20577"/>
      <pc:docMkLst>
        <pc:docMk/>
      </pc:docMkLst>
      <pc:sldChg chg="modSp">
        <pc:chgData name="Guest User" userId="S::urn:spo:tenantanon#6370a6c0-7b90-4709-bd6e-59c28ede833b::" providerId="AD" clId="Web-{D0E29E53-83DF-5255-4519-4630373FE2AF}" dt="2026-09-17T21:29:38.856" v="1" actId="20577"/>
        <pc:sldMkLst>
          <pc:docMk/>
          <pc:sldMk cId="1719061596" sldId="279"/>
        </pc:sldMkLst>
        <pc:spChg chg="mod">
          <ac:chgData name="Guest User" userId="S::urn:spo:tenantanon#6370a6c0-7b90-4709-bd6e-59c28ede833b::" providerId="AD" clId="Web-{D0E29E53-83DF-5255-4519-4630373FE2AF}" dt="2026-09-17T21:29:38.856" v="1" actId="20577"/>
          <ac:spMkLst>
            <pc:docMk/>
            <pc:sldMk cId="1719061596" sldId="279"/>
            <ac:spMk id="2" creationId="{033F75D3-78E2-91EA-6D58-D99F554CA944}"/>
          </ac:spMkLst>
        </pc:spChg>
      </pc:sldChg>
    </pc:docChg>
  </pc:docChgLst>
  <pc:docChgLst>
    <pc:chgData name="Guest User" userId="S::urn:spo:tenantanon#6370a6c0-7b90-4709-bd6e-59c28ede833b::" providerId="AD" clId="Web-{00000000-0000-0000-0000-000000000000}"/>
    <pc:docChg chg="addSld delSld modSld">
      <pc:chgData name="Guest User" userId="S::urn:spo:tenantanon#6370a6c0-7b90-4709-bd6e-59c28ede833b::" providerId="AD" clId="Web-{00000000-0000-0000-0000-000000000000}" dt="2026-09-17T23:52:36.846" v="25"/>
      <pc:docMkLst>
        <pc:docMk/>
      </pc:docMkLst>
      <pc:sldChg chg="addSp delSp modSp">
        <pc:chgData name="Guest User" userId="S::urn:spo:tenantanon#6370a6c0-7b90-4709-bd6e-59c28ede833b::" providerId="AD" clId="Web-{00000000-0000-0000-0000-000000000000}" dt="2026-09-17T22:59:51.543" v="4"/>
        <pc:sldMkLst>
          <pc:docMk/>
          <pc:sldMk cId="0" sldId="257"/>
        </pc:sldMkLst>
        <pc:picChg chg="add del mod">
          <ac:chgData name="Guest User" userId="S::urn:spo:tenantanon#6370a6c0-7b90-4709-bd6e-59c28ede833b::" providerId="AD" clId="Web-{00000000-0000-0000-0000-000000000000}" dt="2026-09-17T22:59:51.543" v="4"/>
          <ac:picMkLst>
            <pc:docMk/>
            <pc:sldMk cId="0" sldId="257"/>
            <ac:picMk id="38" creationId="{E670C5BA-870F-F117-8766-F8C23D26E811}"/>
          </ac:picMkLst>
        </pc:picChg>
      </pc:sldChg>
      <pc:sldChg chg="modSp">
        <pc:chgData name="Guest User" userId="S::urn:spo:tenantanon#6370a6c0-7b90-4709-bd6e-59c28ede833b::" providerId="AD" clId="Web-{00000000-0000-0000-0000-000000000000}" dt="2026-09-17T23:12:35.364" v="23" actId="20577"/>
        <pc:sldMkLst>
          <pc:docMk/>
          <pc:sldMk cId="444386408" sldId="291"/>
        </pc:sldMkLst>
        <pc:spChg chg="mod">
          <ac:chgData name="Guest User" userId="S::urn:spo:tenantanon#6370a6c0-7b90-4709-bd6e-59c28ede833b::" providerId="AD" clId="Web-{00000000-0000-0000-0000-000000000000}" dt="2026-09-17T23:12:35.364" v="23" actId="20577"/>
          <ac:spMkLst>
            <pc:docMk/>
            <pc:sldMk cId="444386408" sldId="291"/>
            <ac:spMk id="13" creationId="{00000000-0000-0000-0000-000000000000}"/>
          </ac:spMkLst>
        </pc:spChg>
      </pc:sldChg>
      <pc:sldChg chg="new del">
        <pc:chgData name="Guest User" userId="S::urn:spo:tenantanon#6370a6c0-7b90-4709-bd6e-59c28ede833b::" providerId="AD" clId="Web-{00000000-0000-0000-0000-000000000000}" dt="2026-09-17T23:52:36.846" v="25"/>
        <pc:sldMkLst>
          <pc:docMk/>
          <pc:sldMk cId="2812619477" sldId="293"/>
        </pc:sldMkLst>
      </pc:sldChg>
    </pc:docChg>
  </pc:docChgLst>
  <pc:docChgLst>
    <pc:chgData name="Guest User" userId="S::urn:spo:tenantanon#6370a6c0-7b90-4709-bd6e-59c28ede833b::" providerId="AD" clId="Web-{A561BD78-AC76-5B12-57A4-5A4E2F8CCEB0}"/>
    <pc:docChg chg="addSld modSld sldOrd">
      <pc:chgData name="Guest User" userId="S::urn:spo:tenantanon#6370a6c0-7b90-4709-bd6e-59c28ede833b::" providerId="AD" clId="Web-{A561BD78-AC76-5B12-57A4-5A4E2F8CCEB0}" dt="2026-09-17T00:00:27.896" v="71" actId="20577"/>
      <pc:docMkLst>
        <pc:docMk/>
      </pc:docMkLst>
      <pc:sldChg chg="modSp">
        <pc:chgData name="Guest User" userId="S::urn:spo:tenantanon#6370a6c0-7b90-4709-bd6e-59c28ede833b::" providerId="AD" clId="Web-{A561BD78-AC76-5B12-57A4-5A4E2F8CCEB0}" dt="2026-09-16T23:59:42.238" v="55" actId="20577"/>
        <pc:sldMkLst>
          <pc:docMk/>
          <pc:sldMk cId="0" sldId="257"/>
        </pc:sldMkLst>
        <pc:spChg chg="mod">
          <ac:chgData name="Guest User" userId="S::urn:spo:tenantanon#6370a6c0-7b90-4709-bd6e-59c28ede833b::" providerId="AD" clId="Web-{A561BD78-AC76-5B12-57A4-5A4E2F8CCEB0}" dt="2026-09-16T23:59:42.238" v="55" actId="20577"/>
          <ac:spMkLst>
            <pc:docMk/>
            <pc:sldMk cId="0" sldId="257"/>
            <ac:spMk id="5" creationId="{00000000-0000-0000-0000-000000000000}"/>
          </ac:spMkLst>
        </pc:spChg>
      </pc:sldChg>
      <pc:sldChg chg="addSp modSp new">
        <pc:chgData name="Guest User" userId="S::urn:spo:tenantanon#6370a6c0-7b90-4709-bd6e-59c28ede833b::" providerId="AD" clId="Web-{A561BD78-AC76-5B12-57A4-5A4E2F8CCEB0}" dt="2026-09-17T00:00:27.896" v="71" actId="20577"/>
        <pc:sldMkLst>
          <pc:docMk/>
          <pc:sldMk cId="3769131820" sldId="276"/>
        </pc:sldMkLst>
        <pc:spChg chg="add mod">
          <ac:chgData name="Guest User" userId="S::urn:spo:tenantanon#6370a6c0-7b90-4709-bd6e-59c28ede833b::" providerId="AD" clId="Web-{A561BD78-AC76-5B12-57A4-5A4E2F8CCEB0}" dt="2026-09-17T00:00:27.896" v="71" actId="20577"/>
          <ac:spMkLst>
            <pc:docMk/>
            <pc:sldMk cId="3769131820" sldId="276"/>
            <ac:spMk id="2" creationId="{BCBC75B4-CAB3-C358-51F5-AB9FC92AEBC5}"/>
          </ac:spMkLst>
        </pc:spChg>
      </pc:sldChg>
    </pc:docChg>
  </pc:docChgLst>
  <pc:docChgLst>
    <pc:chgData name="Guest User" userId="S::urn:spo:tenantanon#6370a6c0-7b90-4709-bd6e-59c28ede833b::" providerId="AD" clId="Web-{F0E8A655-A536-8E0C-2D44-A05C4498CEB1}"/>
    <pc:docChg chg="addSld delSld modSld sldOrd">
      <pc:chgData name="Guest User" userId="S::urn:spo:tenantanon#6370a6c0-7b90-4709-bd6e-59c28ede833b::" providerId="AD" clId="Web-{F0E8A655-A536-8E0C-2D44-A05C4498CEB1}" dt="2026-09-18T00:18:24.583" v="252"/>
      <pc:docMkLst>
        <pc:docMk/>
      </pc:docMkLst>
      <pc:sldChg chg="addSp delSp modSp delAnim">
        <pc:chgData name="Guest User" userId="S::urn:spo:tenantanon#6370a6c0-7b90-4709-bd6e-59c28ede833b::" providerId="AD" clId="Web-{F0E8A655-A536-8E0C-2D44-A05C4498CEB1}" dt="2026-09-17T23:43:39.235" v="184"/>
        <pc:sldMkLst>
          <pc:docMk/>
          <pc:sldMk cId="0" sldId="258"/>
        </pc:sldMkLst>
        <pc:spChg chg="add mod">
          <ac:chgData name="Guest User" userId="S::urn:spo:tenantanon#6370a6c0-7b90-4709-bd6e-59c28ede833b::" providerId="AD" clId="Web-{F0E8A655-A536-8E0C-2D44-A05C4498CEB1}" dt="2026-09-17T23:18:14.049" v="155" actId="1076"/>
          <ac:spMkLst>
            <pc:docMk/>
            <pc:sldMk cId="0" sldId="258"/>
            <ac:spMk id="7" creationId="{8CB51475-DD17-A772-7A41-113CD52CBCDA}"/>
          </ac:spMkLst>
        </pc:spChg>
        <pc:spChg chg="mod">
          <ac:chgData name="Guest User" userId="S::urn:spo:tenantanon#6370a6c0-7b90-4709-bd6e-59c28ede833b::" providerId="AD" clId="Web-{F0E8A655-A536-8E0C-2D44-A05C4498CEB1}" dt="2026-09-17T23:18:08.111" v="152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Guest User" userId="S::urn:spo:tenantanon#6370a6c0-7b90-4709-bd6e-59c28ede833b::" providerId="AD" clId="Web-{F0E8A655-A536-8E0C-2D44-A05C4498CEB1}" dt="2026-09-17T23:18:08.158" v="153" actId="1076"/>
          <ac:spMkLst>
            <pc:docMk/>
            <pc:sldMk cId="0" sldId="258"/>
            <ac:spMk id="22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18:02.454" v="151"/>
          <ac:spMkLst>
            <pc:docMk/>
            <pc:sldMk cId="0" sldId="258"/>
            <ac:spMk id="23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18:02.454" v="150"/>
          <ac:spMkLst>
            <pc:docMk/>
            <pc:sldMk cId="0" sldId="258"/>
            <ac:spMk id="24" creationId="{00000000-0000-0000-0000-000000000000}"/>
          </ac:spMkLst>
        </pc:spChg>
        <pc:spChg chg="del mod">
          <ac:chgData name="Guest User" userId="S::urn:spo:tenantanon#6370a6c0-7b90-4709-bd6e-59c28ede833b::" providerId="AD" clId="Web-{F0E8A655-A536-8E0C-2D44-A05C4498CEB1}" dt="2026-09-17T23:43:36.532" v="183"/>
          <ac:spMkLst>
            <pc:docMk/>
            <pc:sldMk cId="0" sldId="258"/>
            <ac:spMk id="25" creationId="{00000000-0000-0000-0000-000000000000}"/>
          </ac:spMkLst>
        </pc:spChg>
        <pc:spChg chg="del mod">
          <ac:chgData name="Guest User" userId="S::urn:spo:tenantanon#6370a6c0-7b90-4709-bd6e-59c28ede833b::" providerId="AD" clId="Web-{F0E8A655-A536-8E0C-2D44-A05C4498CEB1}" dt="2026-09-17T23:43:39.235" v="184"/>
          <ac:spMkLst>
            <pc:docMk/>
            <pc:sldMk cId="0" sldId="258"/>
            <ac:spMk id="26" creationId="{00000000-0000-0000-0000-000000000000}"/>
          </ac:spMkLst>
        </pc:spChg>
        <pc:spChg chg="add mod">
          <ac:chgData name="Guest User" userId="S::urn:spo:tenantanon#6370a6c0-7b90-4709-bd6e-59c28ede833b::" providerId="AD" clId="Web-{F0E8A655-A536-8E0C-2D44-A05C4498CEB1}" dt="2026-09-17T23:18:33.144" v="159" actId="1076"/>
          <ac:spMkLst>
            <pc:docMk/>
            <pc:sldMk cId="0" sldId="258"/>
            <ac:spMk id="33" creationId="{3A189DA2-DFE8-9C22-9297-520165789642}"/>
          </ac:spMkLst>
        </pc:spChg>
      </pc:sldChg>
      <pc:sldChg chg="del ord">
        <pc:chgData name="Guest User" userId="S::urn:spo:tenantanon#6370a6c0-7b90-4709-bd6e-59c28ede833b::" providerId="AD" clId="Web-{F0E8A655-A536-8E0C-2D44-A05C4498CEB1}" dt="2026-09-18T00:02:48.857" v="209"/>
        <pc:sldMkLst>
          <pc:docMk/>
          <pc:sldMk cId="0" sldId="260"/>
        </pc:sldMkLst>
      </pc:sldChg>
      <pc:sldChg chg="delSp">
        <pc:chgData name="Guest User" userId="S::urn:spo:tenantanon#6370a6c0-7b90-4709-bd6e-59c28ede833b::" providerId="AD" clId="Web-{F0E8A655-A536-8E0C-2D44-A05C4498CEB1}" dt="2026-09-17T23:56:00.903" v="206"/>
        <pc:sldMkLst>
          <pc:docMk/>
          <pc:sldMk cId="2971307093" sldId="266"/>
        </pc:sldMkLst>
        <pc:spChg chg="del">
          <ac:chgData name="Guest User" userId="S::urn:spo:tenantanon#6370a6c0-7b90-4709-bd6e-59c28ede833b::" providerId="AD" clId="Web-{F0E8A655-A536-8E0C-2D44-A05C4498CEB1}" dt="2026-09-17T23:56:00.903" v="206"/>
          <ac:spMkLst>
            <pc:docMk/>
            <pc:sldMk cId="2971307093" sldId="266"/>
            <ac:spMk id="7" creationId="{F60D46C7-C1DE-7A4B-85FE-4D7557E984C5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205"/>
          <ac:spMkLst>
            <pc:docMk/>
            <pc:sldMk cId="2971307093" sldId="266"/>
            <ac:spMk id="22" creationId="{58EB0012-3C7F-260D-0CAB-D37580219C0D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204"/>
          <ac:spMkLst>
            <pc:docMk/>
            <pc:sldMk cId="2971307093" sldId="266"/>
            <ac:spMk id="23" creationId="{1A4607F5-C980-FC46-E7EE-BDB6A3A26FCD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203"/>
          <ac:spMkLst>
            <pc:docMk/>
            <pc:sldMk cId="2971307093" sldId="266"/>
            <ac:spMk id="55" creationId="{D1DBB287-1AA4-34A9-20FF-30AB91FDD0C7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201"/>
          <ac:spMkLst>
            <pc:docMk/>
            <pc:sldMk cId="2971307093" sldId="266"/>
            <ac:spMk id="57" creationId="{2B96FF80-3550-D015-1C40-DB4B0353BC33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200"/>
          <ac:spMkLst>
            <pc:docMk/>
            <pc:sldMk cId="2971307093" sldId="266"/>
            <ac:spMk id="58" creationId="{10705984-2DF2-7755-0DE3-8A34C1F9DEFC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99"/>
          <ac:spMkLst>
            <pc:docMk/>
            <pc:sldMk cId="2971307093" sldId="266"/>
            <ac:spMk id="59" creationId="{900EC5B4-897E-AEA0-7953-C5BF61279047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97"/>
          <ac:spMkLst>
            <pc:docMk/>
            <pc:sldMk cId="2971307093" sldId="266"/>
            <ac:spMk id="61" creationId="{FA451905-6436-C060-B2DD-776E4ACF03A0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96"/>
          <ac:spMkLst>
            <pc:docMk/>
            <pc:sldMk cId="2971307093" sldId="266"/>
            <ac:spMk id="62" creationId="{2625AB82-39B7-909C-F746-C94C630A155E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95"/>
          <ac:spMkLst>
            <pc:docMk/>
            <pc:sldMk cId="2971307093" sldId="266"/>
            <ac:spMk id="63" creationId="{E0843B20-5E74-8F3D-337B-7098ABED9E64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93"/>
          <ac:spMkLst>
            <pc:docMk/>
            <pc:sldMk cId="2971307093" sldId="266"/>
            <ac:spMk id="65" creationId="{EA930F14-E4B7-CFFF-6FD9-62C010ED15FB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92"/>
          <ac:spMkLst>
            <pc:docMk/>
            <pc:sldMk cId="2971307093" sldId="266"/>
            <ac:spMk id="66" creationId="{6719DCE1-BC0F-232A-E7F9-C06A8E142DF5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91"/>
          <ac:spMkLst>
            <pc:docMk/>
            <pc:sldMk cId="2971307093" sldId="266"/>
            <ac:spMk id="67" creationId="{299212D2-4177-00BC-E9E2-0630CE64E421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89"/>
          <ac:spMkLst>
            <pc:docMk/>
            <pc:sldMk cId="2971307093" sldId="266"/>
            <ac:spMk id="69" creationId="{58CC961E-EB52-F989-D7FA-558CC3B55BFF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88"/>
          <ac:spMkLst>
            <pc:docMk/>
            <pc:sldMk cId="2971307093" sldId="266"/>
            <ac:spMk id="70" creationId="{E2810580-30F4-26F8-C748-DE38F53CE96E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87"/>
          <ac:spMkLst>
            <pc:docMk/>
            <pc:sldMk cId="2971307093" sldId="266"/>
            <ac:spMk id="71" creationId="{B15D4373-5149-B375-CE01-EB8FF7121BDA}"/>
          </ac:spMkLst>
        </pc:spChg>
        <pc:spChg chg="del">
          <ac:chgData name="Guest User" userId="S::urn:spo:tenantanon#6370a6c0-7b90-4709-bd6e-59c28ede833b::" providerId="AD" clId="Web-{F0E8A655-A536-8E0C-2D44-A05C4498CEB1}" dt="2026-09-17T23:56:00.903" v="185"/>
          <ac:spMkLst>
            <pc:docMk/>
            <pc:sldMk cId="2971307093" sldId="266"/>
            <ac:spMk id="73" creationId="{E4D05711-99B4-431E-2A86-B69912B8339E}"/>
          </ac:spMkLst>
        </pc:spChg>
        <pc:cxnChg chg="del">
          <ac:chgData name="Guest User" userId="S::urn:spo:tenantanon#6370a6c0-7b90-4709-bd6e-59c28ede833b::" providerId="AD" clId="Web-{F0E8A655-A536-8E0C-2D44-A05C4498CEB1}" dt="2026-09-17T23:56:00.903" v="202"/>
          <ac:cxnSpMkLst>
            <pc:docMk/>
            <pc:sldMk cId="2971307093" sldId="266"/>
            <ac:cxnSpMk id="56" creationId="{559C376B-F670-B2E6-D500-3CA75751AF4D}"/>
          </ac:cxnSpMkLst>
        </pc:cxnChg>
        <pc:cxnChg chg="del">
          <ac:chgData name="Guest User" userId="S::urn:spo:tenantanon#6370a6c0-7b90-4709-bd6e-59c28ede833b::" providerId="AD" clId="Web-{F0E8A655-A536-8E0C-2D44-A05C4498CEB1}" dt="2026-09-17T23:56:00.903" v="198"/>
          <ac:cxnSpMkLst>
            <pc:docMk/>
            <pc:sldMk cId="2971307093" sldId="266"/>
            <ac:cxnSpMk id="60" creationId="{649220C1-AC9A-0537-B2FB-FAFA641DF12B}"/>
          </ac:cxnSpMkLst>
        </pc:cxnChg>
        <pc:cxnChg chg="del">
          <ac:chgData name="Guest User" userId="S::urn:spo:tenantanon#6370a6c0-7b90-4709-bd6e-59c28ede833b::" providerId="AD" clId="Web-{F0E8A655-A536-8E0C-2D44-A05C4498CEB1}" dt="2026-09-17T23:56:00.903" v="194"/>
          <ac:cxnSpMkLst>
            <pc:docMk/>
            <pc:sldMk cId="2971307093" sldId="266"/>
            <ac:cxnSpMk id="64" creationId="{E5046253-F423-69C6-FDEE-9A2612EDBC31}"/>
          </ac:cxnSpMkLst>
        </pc:cxnChg>
        <pc:cxnChg chg="del">
          <ac:chgData name="Guest User" userId="S::urn:spo:tenantanon#6370a6c0-7b90-4709-bd6e-59c28ede833b::" providerId="AD" clId="Web-{F0E8A655-A536-8E0C-2D44-A05C4498CEB1}" dt="2026-09-17T23:56:00.903" v="190"/>
          <ac:cxnSpMkLst>
            <pc:docMk/>
            <pc:sldMk cId="2971307093" sldId="266"/>
            <ac:cxnSpMk id="68" creationId="{923A7B40-FAC8-AE83-BA9E-082747A0F59E}"/>
          </ac:cxnSpMkLst>
        </pc:cxnChg>
        <pc:cxnChg chg="del">
          <ac:chgData name="Guest User" userId="S::urn:spo:tenantanon#6370a6c0-7b90-4709-bd6e-59c28ede833b::" providerId="AD" clId="Web-{F0E8A655-A536-8E0C-2D44-A05C4498CEB1}" dt="2026-09-17T23:56:00.903" v="186"/>
          <ac:cxnSpMkLst>
            <pc:docMk/>
            <pc:sldMk cId="2971307093" sldId="266"/>
            <ac:cxnSpMk id="72" creationId="{3372723B-460D-2E45-C40C-3008A6012632}"/>
          </ac:cxnSpMkLst>
        </pc:cxnChg>
      </pc:sldChg>
      <pc:sldChg chg="del">
        <pc:chgData name="Guest User" userId="S::urn:spo:tenantanon#6370a6c0-7b90-4709-bd6e-59c28ede833b::" providerId="AD" clId="Web-{F0E8A655-A536-8E0C-2D44-A05C4498CEB1}" dt="2026-09-17T23:29:21.201" v="164"/>
        <pc:sldMkLst>
          <pc:docMk/>
          <pc:sldMk cId="718984315" sldId="274"/>
        </pc:sldMkLst>
      </pc:sldChg>
      <pc:sldChg chg="del">
        <pc:chgData name="Guest User" userId="S::urn:spo:tenantanon#6370a6c0-7b90-4709-bd6e-59c28ede833b::" providerId="AD" clId="Web-{F0E8A655-A536-8E0C-2D44-A05C4498CEB1}" dt="2026-09-17T23:29:21.671" v="165"/>
        <pc:sldMkLst>
          <pc:docMk/>
          <pc:sldMk cId="222590383" sldId="275"/>
        </pc:sldMkLst>
      </pc:sldChg>
      <pc:sldChg chg="del">
        <pc:chgData name="Guest User" userId="S::urn:spo:tenantanon#6370a6c0-7b90-4709-bd6e-59c28ede833b::" providerId="AD" clId="Web-{F0E8A655-A536-8E0C-2D44-A05C4498CEB1}" dt="2026-09-17T23:19:23.288" v="161"/>
        <pc:sldMkLst>
          <pc:docMk/>
          <pc:sldMk cId="3769131820" sldId="276"/>
        </pc:sldMkLst>
      </pc:sldChg>
      <pc:sldChg chg="delSp modSp add">
        <pc:chgData name="Guest User" userId="S::urn:spo:tenantanon#6370a6c0-7b90-4709-bd6e-59c28ede833b::" providerId="AD" clId="Web-{F0E8A655-A536-8E0C-2D44-A05C4498CEB1}" dt="2026-09-17T23:03:02.473" v="19" actId="14100"/>
        <pc:sldMkLst>
          <pc:docMk/>
          <pc:sldMk cId="2595393371" sldId="282"/>
        </pc:sldMkLst>
        <pc:spChg chg="mod">
          <ac:chgData name="Guest User" userId="S::urn:spo:tenantanon#6370a6c0-7b90-4709-bd6e-59c28ede833b::" providerId="AD" clId="Web-{F0E8A655-A536-8E0C-2D44-A05C4498CEB1}" dt="2026-09-17T23:03:02.473" v="19" actId="14100"/>
          <ac:spMkLst>
            <pc:docMk/>
            <pc:sldMk cId="2595393371" sldId="282"/>
            <ac:spMk id="2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2:59:49.869" v="9"/>
          <ac:spMkLst>
            <pc:docMk/>
            <pc:sldMk cId="2595393371" sldId="282"/>
            <ac:spMk id="30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2:59:49.869" v="8"/>
          <ac:spMkLst>
            <pc:docMk/>
            <pc:sldMk cId="2595393371" sldId="282"/>
            <ac:spMk id="32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2:59:49.869" v="7"/>
          <ac:spMkLst>
            <pc:docMk/>
            <pc:sldMk cId="2595393371" sldId="282"/>
            <ac:spMk id="33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2:59:49.869" v="6"/>
          <ac:spMkLst>
            <pc:docMk/>
            <pc:sldMk cId="2595393371" sldId="282"/>
            <ac:spMk id="34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2:59:49.869" v="5"/>
          <ac:spMkLst>
            <pc:docMk/>
            <pc:sldMk cId="2595393371" sldId="282"/>
            <ac:spMk id="35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2:59:49.869" v="4"/>
          <ac:spMkLst>
            <pc:docMk/>
            <pc:sldMk cId="2595393371" sldId="282"/>
            <ac:spMk id="36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2:59:49.869" v="3"/>
          <ac:spMkLst>
            <pc:docMk/>
            <pc:sldMk cId="2595393371" sldId="282"/>
            <ac:spMk id="37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2:59:49.869" v="2"/>
          <ac:spMkLst>
            <pc:docMk/>
            <pc:sldMk cId="2595393371" sldId="282"/>
            <ac:spMk id="38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2:59:49.869" v="1"/>
          <ac:spMkLst>
            <pc:docMk/>
            <pc:sldMk cId="2595393371" sldId="282"/>
            <ac:spMk id="39" creationId="{00000000-0000-0000-0000-000000000000}"/>
          </ac:spMkLst>
        </pc:spChg>
        <pc:picChg chg="mod modCrop">
          <ac:chgData name="Guest User" userId="S::urn:spo:tenantanon#6370a6c0-7b90-4709-bd6e-59c28ede833b::" providerId="AD" clId="Web-{F0E8A655-A536-8E0C-2D44-A05C4498CEB1}" dt="2026-09-17T23:02:50.988" v="17" actId="1076"/>
          <ac:picMkLst>
            <pc:docMk/>
            <pc:sldMk cId="2595393371" sldId="282"/>
            <ac:picMk id="40" creationId="{00000000-0000-0000-0000-000000000000}"/>
          </ac:picMkLst>
        </pc:picChg>
      </pc:sldChg>
      <pc:sldChg chg="add">
        <pc:chgData name="Guest User" userId="S::urn:spo:tenantanon#6370a6c0-7b90-4709-bd6e-59c28ede833b::" providerId="AD" clId="Web-{F0E8A655-A536-8E0C-2D44-A05C4498CEB1}" dt="2026-09-17T23:03:53.663" v="20"/>
        <pc:sldMkLst>
          <pc:docMk/>
          <pc:sldMk cId="2448141990" sldId="283"/>
        </pc:sldMkLst>
      </pc:sldChg>
      <pc:sldChg chg="delSp add">
        <pc:chgData name="Guest User" userId="S::urn:spo:tenantanon#6370a6c0-7b90-4709-bd6e-59c28ede833b::" providerId="AD" clId="Web-{F0E8A655-A536-8E0C-2D44-A05C4498CEB1}" dt="2026-09-18T00:05:18.564" v="229"/>
        <pc:sldMkLst>
          <pc:docMk/>
          <pc:sldMk cId="1104709510" sldId="287"/>
        </pc:sldMkLst>
        <pc:spChg chg="del">
          <ac:chgData name="Guest User" userId="S::urn:spo:tenantanon#6370a6c0-7b90-4709-bd6e-59c28ede833b::" providerId="AD" clId="Web-{F0E8A655-A536-8E0C-2D44-A05C4498CEB1}" dt="2026-09-18T00:05:18.564" v="229"/>
          <ac:spMkLst>
            <pc:docMk/>
            <pc:sldMk cId="1104709510" sldId="287"/>
            <ac:spMk id="91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8.564" v="228"/>
          <ac:spMkLst>
            <pc:docMk/>
            <pc:sldMk cId="1104709510" sldId="287"/>
            <ac:spMk id="92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8.564" v="227"/>
          <ac:spMkLst>
            <pc:docMk/>
            <pc:sldMk cId="1104709510" sldId="287"/>
            <ac:spMk id="93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8.564" v="226"/>
          <ac:spMkLst>
            <pc:docMk/>
            <pc:sldMk cId="1104709510" sldId="287"/>
            <ac:spMk id="94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8.564" v="225"/>
          <ac:spMkLst>
            <pc:docMk/>
            <pc:sldMk cId="1104709510" sldId="287"/>
            <ac:spMk id="95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8.564" v="224"/>
          <ac:spMkLst>
            <pc:docMk/>
            <pc:sldMk cId="1104709510" sldId="287"/>
            <ac:spMk id="96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8.564" v="223"/>
          <ac:spMkLst>
            <pc:docMk/>
            <pc:sldMk cId="1104709510" sldId="287"/>
            <ac:spMk id="97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8.564" v="222"/>
          <ac:spMkLst>
            <pc:docMk/>
            <pc:sldMk cId="1104709510" sldId="287"/>
            <ac:spMk id="98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8.564" v="221"/>
          <ac:spMkLst>
            <pc:docMk/>
            <pc:sldMk cId="1104709510" sldId="287"/>
            <ac:spMk id="99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8.564" v="220"/>
          <ac:spMkLst>
            <pc:docMk/>
            <pc:sldMk cId="1104709510" sldId="287"/>
            <ac:spMk id="100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30:02.936" v="167"/>
          <ac:spMkLst>
            <pc:docMk/>
            <pc:sldMk cId="1104709510" sldId="287"/>
            <ac:spMk id="101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30:00.639" v="166"/>
          <ac:spMkLst>
            <pc:docMk/>
            <pc:sldMk cId="1104709510" sldId="287"/>
            <ac:spMk id="102" creationId="{00000000-0000-0000-0000-000000000000}"/>
          </ac:spMkLst>
        </pc:spChg>
      </pc:sldChg>
      <pc:sldChg chg="delSp modSp add">
        <pc:chgData name="Guest User" userId="S::urn:spo:tenantanon#6370a6c0-7b90-4709-bd6e-59c28ede833b::" providerId="AD" clId="Web-{F0E8A655-A536-8E0C-2D44-A05C4498CEB1}" dt="2026-09-18T00:05:27.299" v="239"/>
        <pc:sldMkLst>
          <pc:docMk/>
          <pc:sldMk cId="2254739147" sldId="288"/>
        </pc:sldMkLst>
        <pc:spChg chg="del">
          <ac:chgData name="Guest User" userId="S::urn:spo:tenantanon#6370a6c0-7b90-4709-bd6e-59c28ede833b::" providerId="AD" clId="Web-{F0E8A655-A536-8E0C-2D44-A05C4498CEB1}" dt="2026-09-18T00:05:27.299" v="239"/>
          <ac:spMkLst>
            <pc:docMk/>
            <pc:sldMk cId="2254739147" sldId="288"/>
            <ac:spMk id="91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27.299" v="238"/>
          <ac:spMkLst>
            <pc:docMk/>
            <pc:sldMk cId="2254739147" sldId="288"/>
            <ac:spMk id="92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27.299" v="237"/>
          <ac:spMkLst>
            <pc:docMk/>
            <pc:sldMk cId="2254739147" sldId="288"/>
            <ac:spMk id="93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27.299" v="236"/>
          <ac:spMkLst>
            <pc:docMk/>
            <pc:sldMk cId="2254739147" sldId="288"/>
            <ac:spMk id="94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27.299" v="235"/>
          <ac:spMkLst>
            <pc:docMk/>
            <pc:sldMk cId="2254739147" sldId="288"/>
            <ac:spMk id="95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27.299" v="234"/>
          <ac:spMkLst>
            <pc:docMk/>
            <pc:sldMk cId="2254739147" sldId="288"/>
            <ac:spMk id="96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27.299" v="233"/>
          <ac:spMkLst>
            <pc:docMk/>
            <pc:sldMk cId="2254739147" sldId="288"/>
            <ac:spMk id="97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27.299" v="232"/>
          <ac:spMkLst>
            <pc:docMk/>
            <pc:sldMk cId="2254739147" sldId="288"/>
            <ac:spMk id="98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27.299" v="231"/>
          <ac:spMkLst>
            <pc:docMk/>
            <pc:sldMk cId="2254739147" sldId="288"/>
            <ac:spMk id="99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27.299" v="230"/>
          <ac:spMkLst>
            <pc:docMk/>
            <pc:sldMk cId="2254739147" sldId="288"/>
            <ac:spMk id="100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31:14.204" v="171"/>
          <ac:spMkLst>
            <pc:docMk/>
            <pc:sldMk cId="2254739147" sldId="288"/>
            <ac:spMk id="101" creationId="{00000000-0000-0000-0000-000000000000}"/>
          </ac:spMkLst>
        </pc:spChg>
        <pc:spChg chg="del mod">
          <ac:chgData name="Guest User" userId="S::urn:spo:tenantanon#6370a6c0-7b90-4709-bd6e-59c28ede833b::" providerId="AD" clId="Web-{F0E8A655-A536-8E0C-2D44-A05C4498CEB1}" dt="2026-09-17T23:31:11.813" v="170"/>
          <ac:spMkLst>
            <pc:docMk/>
            <pc:sldMk cId="2254739147" sldId="288"/>
            <ac:spMk id="102" creationId="{00000000-0000-0000-0000-000000000000}"/>
          </ac:spMkLst>
        </pc:spChg>
      </pc:sldChg>
      <pc:sldChg chg="delSp add">
        <pc:chgData name="Guest User" userId="S::urn:spo:tenantanon#6370a6c0-7b90-4709-bd6e-59c28ede833b::" providerId="AD" clId="Web-{F0E8A655-A536-8E0C-2D44-A05C4498CEB1}" dt="2026-09-18T00:05:32.955" v="249"/>
        <pc:sldMkLst>
          <pc:docMk/>
          <pc:sldMk cId="3044288026" sldId="289"/>
        </pc:sldMkLst>
        <pc:spChg chg="del">
          <ac:chgData name="Guest User" userId="S::urn:spo:tenantanon#6370a6c0-7b90-4709-bd6e-59c28ede833b::" providerId="AD" clId="Web-{F0E8A655-A536-8E0C-2D44-A05C4498CEB1}" dt="2026-09-18T00:05:32.955" v="249"/>
          <ac:spMkLst>
            <pc:docMk/>
            <pc:sldMk cId="3044288026" sldId="289"/>
            <ac:spMk id="91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32.955" v="248"/>
          <ac:spMkLst>
            <pc:docMk/>
            <pc:sldMk cId="3044288026" sldId="289"/>
            <ac:spMk id="92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32.955" v="247"/>
          <ac:spMkLst>
            <pc:docMk/>
            <pc:sldMk cId="3044288026" sldId="289"/>
            <ac:spMk id="93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32.955" v="246"/>
          <ac:spMkLst>
            <pc:docMk/>
            <pc:sldMk cId="3044288026" sldId="289"/>
            <ac:spMk id="94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32.955" v="245"/>
          <ac:spMkLst>
            <pc:docMk/>
            <pc:sldMk cId="3044288026" sldId="289"/>
            <ac:spMk id="95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32.955" v="244"/>
          <ac:spMkLst>
            <pc:docMk/>
            <pc:sldMk cId="3044288026" sldId="289"/>
            <ac:spMk id="96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32.955" v="243"/>
          <ac:spMkLst>
            <pc:docMk/>
            <pc:sldMk cId="3044288026" sldId="289"/>
            <ac:spMk id="97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32.955" v="242"/>
          <ac:spMkLst>
            <pc:docMk/>
            <pc:sldMk cId="3044288026" sldId="289"/>
            <ac:spMk id="98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32.955" v="241"/>
          <ac:spMkLst>
            <pc:docMk/>
            <pc:sldMk cId="3044288026" sldId="289"/>
            <ac:spMk id="99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32.940" v="240"/>
          <ac:spMkLst>
            <pc:docMk/>
            <pc:sldMk cId="3044288026" sldId="289"/>
            <ac:spMk id="100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31:20.938" v="172"/>
          <ac:spMkLst>
            <pc:docMk/>
            <pc:sldMk cId="3044288026" sldId="289"/>
            <ac:spMk id="101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31:24.673" v="173"/>
          <ac:spMkLst>
            <pc:docMk/>
            <pc:sldMk cId="3044288026" sldId="289"/>
            <ac:spMk id="102" creationId="{00000000-0000-0000-0000-000000000000}"/>
          </ac:spMkLst>
        </pc:spChg>
      </pc:sldChg>
      <pc:sldChg chg="delSp add">
        <pc:chgData name="Guest User" userId="S::urn:spo:tenantanon#6370a6c0-7b90-4709-bd6e-59c28ede833b::" providerId="AD" clId="Web-{F0E8A655-A536-8E0C-2D44-A05C4498CEB1}" dt="2026-09-18T00:05:10.767" v="219"/>
        <pc:sldMkLst>
          <pc:docMk/>
          <pc:sldMk cId="2321034787" sldId="290"/>
        </pc:sldMkLst>
        <pc:spChg chg="del">
          <ac:chgData name="Guest User" userId="S::urn:spo:tenantanon#6370a6c0-7b90-4709-bd6e-59c28ede833b::" providerId="AD" clId="Web-{F0E8A655-A536-8E0C-2D44-A05C4498CEB1}" dt="2026-09-18T00:05:10.767" v="219"/>
          <ac:spMkLst>
            <pc:docMk/>
            <pc:sldMk cId="2321034787" sldId="290"/>
            <ac:spMk id="91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0.767" v="218"/>
          <ac:spMkLst>
            <pc:docMk/>
            <pc:sldMk cId="2321034787" sldId="290"/>
            <ac:spMk id="92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0.767" v="217"/>
          <ac:spMkLst>
            <pc:docMk/>
            <pc:sldMk cId="2321034787" sldId="290"/>
            <ac:spMk id="93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0.767" v="216"/>
          <ac:spMkLst>
            <pc:docMk/>
            <pc:sldMk cId="2321034787" sldId="290"/>
            <ac:spMk id="94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0.767" v="215"/>
          <ac:spMkLst>
            <pc:docMk/>
            <pc:sldMk cId="2321034787" sldId="290"/>
            <ac:spMk id="95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0.767" v="214"/>
          <ac:spMkLst>
            <pc:docMk/>
            <pc:sldMk cId="2321034787" sldId="290"/>
            <ac:spMk id="96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0.767" v="213"/>
          <ac:spMkLst>
            <pc:docMk/>
            <pc:sldMk cId="2321034787" sldId="290"/>
            <ac:spMk id="97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0.767" v="212"/>
          <ac:spMkLst>
            <pc:docMk/>
            <pc:sldMk cId="2321034787" sldId="290"/>
            <ac:spMk id="98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0.752" v="211"/>
          <ac:spMkLst>
            <pc:docMk/>
            <pc:sldMk cId="2321034787" sldId="290"/>
            <ac:spMk id="99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8T00:05:10.752" v="210"/>
          <ac:spMkLst>
            <pc:docMk/>
            <pc:sldMk cId="2321034787" sldId="290"/>
            <ac:spMk id="100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31:38.063" v="175"/>
          <ac:spMkLst>
            <pc:docMk/>
            <pc:sldMk cId="2321034787" sldId="290"/>
            <ac:spMk id="101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31:35.532" v="174"/>
          <ac:spMkLst>
            <pc:docMk/>
            <pc:sldMk cId="2321034787" sldId="290"/>
            <ac:spMk id="102" creationId="{00000000-0000-0000-0000-000000000000}"/>
          </ac:spMkLst>
        </pc:spChg>
      </pc:sldChg>
      <pc:sldChg chg="addSp delSp modSp add">
        <pc:chgData name="Guest User" userId="S::urn:spo:tenantanon#6370a6c0-7b90-4709-bd6e-59c28ede833b::" providerId="AD" clId="Web-{F0E8A655-A536-8E0C-2D44-A05C4498CEB1}" dt="2026-09-17T23:15:44.623" v="149" actId="20577"/>
        <pc:sldMkLst>
          <pc:docMk/>
          <pc:sldMk cId="444386408" sldId="291"/>
        </pc:sldMkLst>
        <pc:spChg chg="add del">
          <ac:chgData name="Guest User" userId="S::urn:spo:tenantanon#6370a6c0-7b90-4709-bd6e-59c28ede833b::" providerId="AD" clId="Web-{F0E8A655-A536-8E0C-2D44-A05C4498CEB1}" dt="2026-09-17T23:13:45.120" v="98"/>
          <ac:spMkLst>
            <pc:docMk/>
            <pc:sldMk cId="444386408" sldId="291"/>
            <ac:spMk id="2" creationId="{00000000-0000-0000-0000-000000000000}"/>
          </ac:spMkLst>
        </pc:spChg>
        <pc:spChg chg="mod">
          <ac:chgData name="Guest User" userId="S::urn:spo:tenantanon#6370a6c0-7b90-4709-bd6e-59c28ede833b::" providerId="AD" clId="Web-{F0E8A655-A536-8E0C-2D44-A05C4498CEB1}" dt="2026-09-17T23:12:31.228" v="46" actId="1076"/>
          <ac:spMkLst>
            <pc:docMk/>
            <pc:sldMk cId="444386408" sldId="291"/>
            <ac:spMk id="3" creationId="{00000000-0000-0000-0000-000000000000}"/>
          </ac:spMkLst>
        </pc:spChg>
        <pc:spChg chg="add del mod">
          <ac:chgData name="Guest User" userId="S::urn:spo:tenantanon#6370a6c0-7b90-4709-bd6e-59c28ede833b::" providerId="AD" clId="Web-{F0E8A655-A536-8E0C-2D44-A05C4498CEB1}" dt="2026-09-17T23:13:42.089" v="84" actId="1076"/>
          <ac:spMkLst>
            <pc:docMk/>
            <pc:sldMk cId="444386408" sldId="291"/>
            <ac:spMk id="4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14:08.449" v="105"/>
          <ac:spMkLst>
            <pc:docMk/>
            <pc:sldMk cId="444386408" sldId="291"/>
            <ac:spMk id="13" creationId="{00000000-0000-0000-0000-000000000000}"/>
          </ac:spMkLst>
        </pc:spChg>
        <pc:spChg chg="mod">
          <ac:chgData name="Guest User" userId="S::urn:spo:tenantanon#6370a6c0-7b90-4709-bd6e-59c28ede833b::" providerId="AD" clId="Web-{F0E8A655-A536-8E0C-2D44-A05C4498CEB1}" dt="2026-09-17T23:14:33.340" v="112" actId="1076"/>
          <ac:spMkLst>
            <pc:docMk/>
            <pc:sldMk cId="444386408" sldId="291"/>
            <ac:spMk id="14" creationId="{00000000-0000-0000-0000-000000000000}"/>
          </ac:spMkLst>
        </pc:spChg>
        <pc:spChg chg="mod">
          <ac:chgData name="Guest User" userId="S::urn:spo:tenantanon#6370a6c0-7b90-4709-bd6e-59c28ede833b::" providerId="AD" clId="Web-{F0E8A655-A536-8E0C-2D44-A05C4498CEB1}" dt="2026-09-17T23:14:19.121" v="108" actId="1076"/>
          <ac:spMkLst>
            <pc:docMk/>
            <pc:sldMk cId="444386408" sldId="291"/>
            <ac:spMk id="15" creationId="{00000000-0000-0000-0000-000000000000}"/>
          </ac:spMkLst>
        </pc:spChg>
        <pc:spChg chg="mod">
          <ac:chgData name="Guest User" userId="S::urn:spo:tenantanon#6370a6c0-7b90-4709-bd6e-59c28ede833b::" providerId="AD" clId="Web-{F0E8A655-A536-8E0C-2D44-A05C4498CEB1}" dt="2026-09-17T23:14:21.965" v="109" actId="1076"/>
          <ac:spMkLst>
            <pc:docMk/>
            <pc:sldMk cId="444386408" sldId="291"/>
            <ac:spMk id="16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10:45.162" v="26"/>
          <ac:spMkLst>
            <pc:docMk/>
            <pc:sldMk cId="444386408" sldId="291"/>
            <ac:spMk id="17" creationId="{00000000-0000-0000-0000-000000000000}"/>
          </ac:spMkLst>
        </pc:spChg>
        <pc:spChg chg="mod">
          <ac:chgData name="Guest User" userId="S::urn:spo:tenantanon#6370a6c0-7b90-4709-bd6e-59c28ede833b::" providerId="AD" clId="Web-{F0E8A655-A536-8E0C-2D44-A05C4498CEB1}" dt="2026-09-17T23:14:13.683" v="106" actId="1076"/>
          <ac:spMkLst>
            <pc:docMk/>
            <pc:sldMk cId="444386408" sldId="291"/>
            <ac:spMk id="18" creationId="{00000000-0000-0000-0000-000000000000}"/>
          </ac:spMkLst>
        </pc:spChg>
        <pc:spChg chg="mod">
          <ac:chgData name="Guest User" userId="S::urn:spo:tenantanon#6370a6c0-7b90-4709-bd6e-59c28ede833b::" providerId="AD" clId="Web-{F0E8A655-A536-8E0C-2D44-A05C4498CEB1}" dt="2026-09-17T23:14:30.433" v="111" actId="1076"/>
          <ac:spMkLst>
            <pc:docMk/>
            <pc:sldMk cId="444386408" sldId="291"/>
            <ac:spMk id="19" creationId="{00000000-0000-0000-0000-000000000000}"/>
          </ac:spMkLst>
        </pc:spChg>
        <pc:spChg chg="del mod">
          <ac:chgData name="Guest User" userId="S::urn:spo:tenantanon#6370a6c0-7b90-4709-bd6e-59c28ede833b::" providerId="AD" clId="Web-{F0E8A655-A536-8E0C-2D44-A05C4498CEB1}" dt="2026-09-17T23:10:47.100" v="28"/>
          <ac:spMkLst>
            <pc:docMk/>
            <pc:sldMk cId="444386408" sldId="291"/>
            <ac:spMk id="20" creationId="{00000000-0000-0000-0000-000000000000}"/>
          </ac:spMkLst>
        </pc:spChg>
        <pc:spChg chg="mod">
          <ac:chgData name="Guest User" userId="S::urn:spo:tenantanon#6370a6c0-7b90-4709-bd6e-59c28ede833b::" providerId="AD" clId="Web-{F0E8A655-A536-8E0C-2D44-A05C4498CEB1}" dt="2026-09-17T23:14:27.230" v="110" actId="1076"/>
          <ac:spMkLst>
            <pc:docMk/>
            <pc:sldMk cId="444386408" sldId="291"/>
            <ac:spMk id="21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13:11.900" v="50"/>
          <ac:spMkLst>
            <pc:docMk/>
            <pc:sldMk cId="444386408" sldId="291"/>
            <ac:spMk id="22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13:11.900" v="49"/>
          <ac:spMkLst>
            <pc:docMk/>
            <pc:sldMk cId="444386408" sldId="291"/>
            <ac:spMk id="23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13:11.900" v="48"/>
          <ac:spMkLst>
            <pc:docMk/>
            <pc:sldMk cId="444386408" sldId="291"/>
            <ac:spMk id="24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13:11.900" v="47"/>
          <ac:spMkLst>
            <pc:docMk/>
            <pc:sldMk cId="444386408" sldId="291"/>
            <ac:spMk id="25" creationId="{00000000-0000-0000-0000-000000000000}"/>
          </ac:spMkLst>
        </pc:spChg>
        <pc:spChg chg="mod">
          <ac:chgData name="Guest User" userId="S::urn:spo:tenantanon#6370a6c0-7b90-4709-bd6e-59c28ede833b::" providerId="AD" clId="Web-{F0E8A655-A536-8E0C-2D44-A05C4498CEB1}" dt="2026-09-17T23:13:54.245" v="100" actId="1076"/>
          <ac:spMkLst>
            <pc:docMk/>
            <pc:sldMk cId="444386408" sldId="291"/>
            <ac:spMk id="26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97"/>
          <ac:spMkLst>
            <pc:docMk/>
            <pc:sldMk cId="444386408" sldId="291"/>
            <ac:spMk id="28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96"/>
          <ac:spMkLst>
            <pc:docMk/>
            <pc:sldMk cId="444386408" sldId="291"/>
            <ac:spMk id="29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95"/>
          <ac:spMkLst>
            <pc:docMk/>
            <pc:sldMk cId="444386408" sldId="291"/>
            <ac:spMk id="30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94"/>
          <ac:spMkLst>
            <pc:docMk/>
            <pc:sldMk cId="444386408" sldId="291"/>
            <ac:spMk id="31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93"/>
          <ac:spMkLst>
            <pc:docMk/>
            <pc:sldMk cId="444386408" sldId="291"/>
            <ac:spMk id="32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92"/>
          <ac:spMkLst>
            <pc:docMk/>
            <pc:sldMk cId="444386408" sldId="291"/>
            <ac:spMk id="33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91"/>
          <ac:spMkLst>
            <pc:docMk/>
            <pc:sldMk cId="444386408" sldId="291"/>
            <ac:spMk id="34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90"/>
          <ac:spMkLst>
            <pc:docMk/>
            <pc:sldMk cId="444386408" sldId="291"/>
            <ac:spMk id="35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89"/>
          <ac:spMkLst>
            <pc:docMk/>
            <pc:sldMk cId="444386408" sldId="291"/>
            <ac:spMk id="36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38.370" v="83"/>
          <ac:spMkLst>
            <pc:docMk/>
            <pc:sldMk cId="444386408" sldId="291"/>
            <ac:spMk id="37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88"/>
          <ac:spMkLst>
            <pc:docMk/>
            <pc:sldMk cId="444386408" sldId="291"/>
            <ac:spMk id="38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87"/>
          <ac:spMkLst>
            <pc:docMk/>
            <pc:sldMk cId="444386408" sldId="291"/>
            <ac:spMk id="39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86"/>
          <ac:spMkLst>
            <pc:docMk/>
            <pc:sldMk cId="444386408" sldId="291"/>
            <ac:spMk id="40" creationId="{00000000-0000-0000-0000-000000000000}"/>
          </ac:spMkLst>
        </pc:spChg>
        <pc:spChg chg="add del">
          <ac:chgData name="Guest User" userId="S::urn:spo:tenantanon#6370a6c0-7b90-4709-bd6e-59c28ede833b::" providerId="AD" clId="Web-{F0E8A655-A536-8E0C-2D44-A05C4498CEB1}" dt="2026-09-17T23:13:45.104" v="85"/>
          <ac:spMkLst>
            <pc:docMk/>
            <pc:sldMk cId="444386408" sldId="291"/>
            <ac:spMk id="41" creationId="{00000000-0000-0000-0000-000000000000}"/>
          </ac:spMkLst>
        </pc:spChg>
        <pc:spChg chg="add mod">
          <ac:chgData name="Guest User" userId="S::urn:spo:tenantanon#6370a6c0-7b90-4709-bd6e-59c28ede833b::" providerId="AD" clId="Web-{F0E8A655-A536-8E0C-2D44-A05C4498CEB1}" dt="2026-09-17T23:15:44.623" v="149" actId="20577"/>
          <ac:spMkLst>
            <pc:docMk/>
            <pc:sldMk cId="444386408" sldId="291"/>
            <ac:spMk id="42" creationId="{42DCE483-A1F0-3D3F-89E1-CC58B13D4F04}"/>
          </ac:spMkLst>
        </pc:spChg>
        <pc:picChg chg="mod">
          <ac:chgData name="Guest User" userId="S::urn:spo:tenantanon#6370a6c0-7b90-4709-bd6e-59c28ede833b::" providerId="AD" clId="Web-{F0E8A655-A536-8E0C-2D44-A05C4498CEB1}" dt="2026-09-17T23:13:52.042" v="99" actId="1076"/>
          <ac:picMkLst>
            <pc:docMk/>
            <pc:sldMk cId="444386408" sldId="291"/>
            <ac:picMk id="27" creationId="{00000000-0000-0000-0000-000000000000}"/>
          </ac:picMkLst>
        </pc:picChg>
      </pc:sldChg>
      <pc:sldChg chg="addSp delSp modSp add ord">
        <pc:chgData name="Guest User" userId="S::urn:spo:tenantanon#6370a6c0-7b90-4709-bd6e-59c28ede833b::" providerId="AD" clId="Web-{F0E8A655-A536-8E0C-2D44-A05C4498CEB1}" dt="2026-09-17T23:42:12.545" v="182" actId="1076"/>
        <pc:sldMkLst>
          <pc:docMk/>
          <pc:sldMk cId="1779910490" sldId="292"/>
        </pc:sldMkLst>
        <pc:spChg chg="del">
          <ac:chgData name="Guest User" userId="S::urn:spo:tenantanon#6370a6c0-7b90-4709-bd6e-59c28ede833b::" providerId="AD" clId="Web-{F0E8A655-A536-8E0C-2D44-A05C4498CEB1}" dt="2026-09-17T23:41:03.244" v="178"/>
          <ac:spMkLst>
            <pc:docMk/>
            <pc:sldMk cId="1779910490" sldId="292"/>
            <ac:spMk id="72" creationId="{00000000-0000-0000-0000-000000000000}"/>
          </ac:spMkLst>
        </pc:spChg>
        <pc:spChg chg="del">
          <ac:chgData name="Guest User" userId="S::urn:spo:tenantanon#6370a6c0-7b90-4709-bd6e-59c28ede833b::" providerId="AD" clId="Web-{F0E8A655-A536-8E0C-2D44-A05C4498CEB1}" dt="2026-09-17T23:41:00.759" v="177"/>
          <ac:spMkLst>
            <pc:docMk/>
            <pc:sldMk cId="1779910490" sldId="292"/>
            <ac:spMk id="73" creationId="{00000000-0000-0000-0000-000000000000}"/>
          </ac:spMkLst>
        </pc:spChg>
        <pc:picChg chg="add mod">
          <ac:chgData name="Guest User" userId="S::urn:spo:tenantanon#6370a6c0-7b90-4709-bd6e-59c28ede833b::" providerId="AD" clId="Web-{F0E8A655-A536-8E0C-2D44-A05C4498CEB1}" dt="2026-09-17T23:42:12.545" v="182" actId="1076"/>
          <ac:picMkLst>
            <pc:docMk/>
            <pc:sldMk cId="1779910490" sldId="292"/>
            <ac:picMk id="2" creationId="{8A6A2592-8663-4E0B-C787-03C9731736C0}"/>
          </ac:picMkLst>
        </pc:picChg>
      </pc:sldChg>
      <pc:sldChg chg="del">
        <pc:chgData name="Guest User" userId="S::urn:spo:tenantanon#6370a6c0-7b90-4709-bd6e-59c28ede833b::" providerId="AD" clId="Web-{F0E8A655-A536-8E0C-2D44-A05C4498CEB1}" dt="2026-09-17T23:28:56.419" v="162"/>
        <pc:sldMkLst>
          <pc:docMk/>
          <pc:sldMk cId="1361455815" sldId="293"/>
        </pc:sldMkLst>
      </pc:sldChg>
      <pc:sldChg chg="add">
        <pc:chgData name="Guest User" userId="S::urn:spo:tenantanon#6370a6c0-7b90-4709-bd6e-59c28ede833b::" providerId="AD" clId="Web-{F0E8A655-A536-8E0C-2D44-A05C4498CEB1}" dt="2026-09-17T23:56:56.968" v="208"/>
        <pc:sldMkLst>
          <pc:docMk/>
          <pc:sldMk cId="4165999719" sldId="293"/>
        </pc:sldMkLst>
      </pc:sldChg>
      <pc:sldChg chg="add">
        <pc:chgData name="Guest User" userId="S::urn:spo:tenantanon#6370a6c0-7b90-4709-bd6e-59c28ede833b::" providerId="AD" clId="Web-{F0E8A655-A536-8E0C-2D44-A05C4498CEB1}" dt="2026-09-18T00:16:33.970" v="250"/>
        <pc:sldMkLst>
          <pc:docMk/>
          <pc:sldMk cId="1920323722" sldId="305"/>
        </pc:sldMkLst>
      </pc:sldChg>
      <pc:sldChg chg="add">
        <pc:chgData name="Guest User" userId="S::urn:spo:tenantanon#6370a6c0-7b90-4709-bd6e-59c28ede833b::" providerId="AD" clId="Web-{F0E8A655-A536-8E0C-2D44-A05C4498CEB1}" dt="2026-09-18T00:18:05.489" v="251"/>
        <pc:sldMkLst>
          <pc:docMk/>
          <pc:sldMk cId="2161918785" sldId="306"/>
        </pc:sldMkLst>
      </pc:sldChg>
      <pc:sldChg chg="add">
        <pc:chgData name="Guest User" userId="S::urn:spo:tenantanon#6370a6c0-7b90-4709-bd6e-59c28ede833b::" providerId="AD" clId="Web-{F0E8A655-A536-8E0C-2D44-A05C4498CEB1}" dt="2026-09-18T00:18:24.583" v="252"/>
        <pc:sldMkLst>
          <pc:docMk/>
          <pc:sldMk cId="2174567656" sldId="307"/>
        </pc:sldMkLst>
      </pc:sldChg>
    </pc:docChg>
  </pc:docChgLst>
  <pc:docChgLst>
    <pc:chgData name="Guest User" userId="S::urn:spo:tenantanon#6370a6c0-7b90-4709-bd6e-59c28ede833b::" providerId="AD" clId="Web-{4582B94D-1D7B-95AE-6988-A78C495B3FEB}"/>
    <pc:docChg chg="modSld">
      <pc:chgData name="Guest User" userId="S::urn:spo:tenantanon#6370a6c0-7b90-4709-bd6e-59c28ede833b::" providerId="AD" clId="Web-{4582B94D-1D7B-95AE-6988-A78C495B3FEB}" dt="2026-09-16T23:59:56.087" v="16" actId="20577"/>
      <pc:docMkLst>
        <pc:docMk/>
      </pc:docMkLst>
      <pc:sldChg chg="modSp">
        <pc:chgData name="Guest User" userId="S::urn:spo:tenantanon#6370a6c0-7b90-4709-bd6e-59c28ede833b::" providerId="AD" clId="Web-{4582B94D-1D7B-95AE-6988-A78C495B3FEB}" dt="2026-09-16T23:59:56.087" v="16" actId="20577"/>
        <pc:sldMkLst>
          <pc:docMk/>
          <pc:sldMk cId="0" sldId="257"/>
        </pc:sldMkLst>
        <pc:spChg chg="mod">
          <ac:chgData name="Guest User" userId="S::urn:spo:tenantanon#6370a6c0-7b90-4709-bd6e-59c28ede833b::" providerId="AD" clId="Web-{4582B94D-1D7B-95AE-6988-A78C495B3FEB}" dt="2026-09-16T23:59:56.087" v="16" actId="20577"/>
          <ac:spMkLst>
            <pc:docMk/>
            <pc:sldMk cId="0" sldId="257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B5C461-9D63-4A58-BF91-933D95097AE6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ADDB9-189E-4F84-A208-07C1AA8F3A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7497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mesmo mercado atravessa os slides 3, 4 e 8: a reunião do Fed de dezembro de 2025. No print, a chance de corte cai de ~90% para ~20% em novembro e volta a 97% — o Fed cortou 25. A barra da esquerda é a distribuição de 04/11: a média ponderada das respostas dá o corte esperado (as pontas abertas contam −62,5 e +37,5 bps; preços normalizados para somar 100%).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âncora NÃO é a bolsa: é o mercado de juros, que negocia a mesma pergunta. Em 04/11 o Polymarket esperava corte de 17,7 bps; os juros embutiam 5. Um mês depois (04/12) os juros chegaram a 25, e o Fed cortou 25. Um exemplo ilustra, não prova: o agregado está no slide 16. Reunião escolhida por regra: a de maior distância média entre os dois na janela. Juros = T-bill de 3 meses menos a taxa efetiva do Fed (FRED: DTB3 − DFF), última leitura antes do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Detalhe dos dados, se perguntarem: Polymarket pela Gamma API (catálogo) e pelo CLOB (histórico de preço, passo de 12h, o mais fino da API gratuita); 18 reuniões do FOMC e 76 mercados. Rebalanceamento diário, horizonte de dias a semanas em torno do evento. Livro sem negociação desliga a view no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abre com o diagrama frio. A pergunta do fim é a deixa do slide 4 — o Morph acende o Q enquanto ela é dita.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</a:t>
            </a:r>
            <a:r>
              <a:rPr err="1"/>
              <a:t>fala</a:t>
            </a:r>
            <a:r>
              <a:t> </a:t>
            </a:r>
            <a:r>
              <a:rPr err="1"/>
              <a:t>percorre</a:t>
            </a:r>
            <a:r>
              <a:t> UMA view </a:t>
            </a:r>
            <a:r>
              <a:rPr err="1"/>
              <a:t>inteira</a:t>
            </a:r>
            <a:r>
              <a:t> (o Fed); a </a:t>
            </a:r>
            <a:r>
              <a:rPr err="1"/>
              <a:t>tabela</a:t>
            </a:r>
            <a:r>
              <a:t> </a:t>
            </a:r>
            <a:r>
              <a:rPr err="1"/>
              <a:t>existe</a:t>
            </a:r>
            <a:r>
              <a:t> para as </a:t>
            </a:r>
            <a:r>
              <a:rPr err="1"/>
              <a:t>outras</a:t>
            </a:r>
            <a:r>
              <a:t> </a:t>
            </a:r>
            <a:r>
              <a:rPr err="1"/>
              <a:t>três</a:t>
            </a:r>
            <a:r>
              <a:t> </a:t>
            </a:r>
            <a:r>
              <a:rPr err="1"/>
              <a:t>serem</a:t>
            </a:r>
            <a:r>
              <a:t> </a:t>
            </a:r>
            <a:r>
              <a:rPr err="1"/>
              <a:t>só</a:t>
            </a:r>
            <a:r>
              <a:t> </a:t>
            </a:r>
            <a:r>
              <a:rPr err="1"/>
              <a:t>nomeadas</a:t>
            </a:r>
            <a:r>
              <a:t>.</a:t>
            </a:r>
          </a:p>
          <a:p>
            <a:endParaRPr lang="pt-BR">
              <a:solidFill>
                <a:srgbClr val="F5A623"/>
              </a:solidFill>
            </a:endParaRPr>
          </a:p>
          <a:p>
            <a:r>
              <a:rPr lang="pt-BR" b="1">
                <a:solidFill>
                  <a:srgbClr val="F5A623"/>
                </a:solidFill>
              </a:rPr>
              <a:t>probabilidade</a:t>
            </a:r>
            <a:r>
              <a:rPr lang="pt-BR">
                <a:solidFill>
                  <a:srgbClr val="F5A623"/>
                </a:solidFill>
              </a:rPr>
              <a:t>  − âncora = surpresa (bps)  × β medido → </a:t>
            </a:r>
            <a:r>
              <a:rPr lang="pt-BR" b="1">
                <a:solidFill>
                  <a:srgbClr val="F5A623"/>
                </a:solidFill>
              </a:rPr>
              <a:t>retorno por ativo</a:t>
            </a:r>
            <a:endParaRPr lang="en-US">
              <a:solidFill>
                <a:srgbClr val="F5A623"/>
              </a:solidFill>
            </a:endParaRPr>
          </a:p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gráfico da esquerda é o teste que escolheu os ingredientes: para cada leitura, quanto a distribuição ainda ia se mover depois. Estabilidade e coerência anteciparam esse erro (entram); volume virou só veto de liquidez; proximidade do evento foi reprovada. c ≥ 1 sempre: o Black-Litterman clássico é o teto da confiança, nunca o piso.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Cada cartão: o que a view lê no Polymarket, contra que preço de mercado compara, a cesta que ela negocia e em quantos pregões esteve ligada. A 15b é a única direcional (só o SPY). O β e a âncora em detalhe estão nos apêndices A5 e A6. Nenhuma média olha o futuro.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Cada cartão: o que a view lê no Polymarket, contra que preço de mercado compara, a cesta que ela negocia e em quantos pregões esteve ligada. A 15b é a única direcional (só o SPY). O β e a âncora em detalhe estão nos apêndices A5 e A6. Nenhuma média olha o futuro.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Cada cartão: o que a view lê no Polymarket, contra que preço de mercado compara, a cesta que ela negocia e em quantos pregões esteve ligada. A 15b é a única direcional (só o SPY). O β e a âncora em detalhe estão nos apêndices A5 e A6. Nenhuma média olha o futuro.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Cada cartão: o que a view lê no Polymarket, contra que preço de mercado compara, a cesta que ela negocia e em quantos pregões esteve ligada. A 15b é a única direcional (só o SPY). O β e a âncora em detalhe estão nos apêndices A5 e A6. Nenhuma média olha o futuro.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err="1"/>
              <a:t>estado</a:t>
            </a:r>
            <a:r>
              <a:t> final: o Morph </a:t>
            </a:r>
            <a:r>
              <a:rPr err="1"/>
              <a:t>empilha</a:t>
            </a:r>
            <a:r>
              <a:t> a </a:t>
            </a:r>
            <a:r>
              <a:rPr err="1"/>
              <a:t>camada</a:t>
            </a:r>
            <a:r>
              <a:t> </a:t>
            </a:r>
            <a:r>
              <a:rPr err="1"/>
              <a:t>estrutural</a:t>
            </a:r>
            <a:r>
              <a:t> no canto </a:t>
            </a:r>
            <a:r>
              <a:rPr err="1"/>
              <a:t>enquanto</a:t>
            </a:r>
            <a:r>
              <a:t> a </a:t>
            </a:r>
            <a:r>
              <a:rPr err="1"/>
              <a:t>tática</a:t>
            </a:r>
            <a:r>
              <a:t> e o </a:t>
            </a:r>
            <a:r>
              <a:rPr err="1"/>
              <a:t>teto</a:t>
            </a:r>
            <a:r>
              <a:t> </a:t>
            </a:r>
            <a:r>
              <a:rPr err="1"/>
              <a:t>entram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Gráficos da página 5 do relatório (Uteis/graficos/p5_*.png, graficos_p5.py; corte de 15/08, 91 sessões dos três LOGs). Esforço: 31/54/15 % das sessões e 25/71/4 % dos tokens. Erros: 145, 88 % pegos na própria sessão. Peneira: GRUPOS do slide 8 da semi. Uma que caiu: momentum do sinal, VR 0,97–1,18 (Premissa_tendencia.md).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b="0">
                <a:solidFill>
                  <a:srgbClr val="E8EDF2"/>
                </a:solidFill>
                <a:latin typeface="Segoe UI Semibold"/>
              </a:rPr>
              <a:t>Exposição à queda.</a:t>
            </a:r>
            <a:r>
              <a:rPr lang="pt-BR" sz="800" b="0">
                <a:solidFill>
                  <a:srgbClr val="9BAEC0"/>
                </a:solidFill>
                <a:latin typeface="Segoe UI"/>
              </a:rPr>
              <a:t> Nos dois tombos a carteira caiu junto e, em abril/2025, mais fundo que o índice: −19,6% contra −18,8%. O ganho vem da subida, não da defesa.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b="0">
                <a:solidFill>
                  <a:srgbClr val="E8EDF2"/>
                </a:solidFill>
                <a:latin typeface="Segoe UI Semibold"/>
              </a:rPr>
              <a:t>Uma janela, um regime.</a:t>
            </a:r>
            <a:r>
              <a:rPr lang="pt-BR" sz="800" b="0">
                <a:solidFill>
                  <a:srgbClr val="9BAEC0"/>
                </a:solidFill>
                <a:latin typeface="Segoe UI"/>
              </a:rPr>
              <a:t> 374 pregões de alta do S&amp;P, sem correção para as ~200 comparações da busca tática. O teste em regime de queda é o que falta.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b="0">
                <a:solidFill>
                  <a:srgbClr val="E8EDF2"/>
                </a:solidFill>
                <a:latin typeface="Segoe UI Semibold"/>
              </a:rPr>
              <a:t>Teto de risco: somar é dividir.</a:t>
            </a:r>
            <a:r>
              <a:rPr lang="pt-BR" sz="800" b="0">
                <a:solidFill>
                  <a:srgbClr val="9BAEC0"/>
                </a:solidFill>
                <a:latin typeface="Segoe UI"/>
              </a:rPr>
              <a:t> A camada tática faz +42,6 pp sozinha e −2,94 pp dentro da carteira. Sob teto fixo, entrar não acrescenta — reparte o mesmo orçamento.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 b="0">
                <a:solidFill>
                  <a:srgbClr val="9BAEC0"/>
                </a:solidFill>
                <a:latin typeface="Segoe UI"/>
              </a:rPr>
              <a:t>Giramos os quatro botões da estratégia — risco, confiança, gatilho e correção das probabilidades — e a vantagem sobre o SPY não vira negativa em nenhuma posição: </a:t>
            </a:r>
            <a:r>
              <a:rPr lang="pt-BR" sz="800" b="0">
                <a:solidFill>
                  <a:srgbClr val="E8EDF2"/>
                </a:solidFill>
                <a:latin typeface="Segoe UI Semibold"/>
              </a:rPr>
              <a:t>+0,5 a +15,8 pp</a:t>
            </a:r>
            <a:r>
              <a:rPr lang="pt-BR" sz="800" b="0">
                <a:solidFill>
                  <a:srgbClr val="9BAEC0"/>
                </a:solidFill>
                <a:latin typeface="Segoe UI"/>
              </a:rPr>
              <a:t>. Não é um parâmetro bem escolhido.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800" b="0">
              <a:solidFill>
                <a:srgbClr val="9BAEC0"/>
              </a:solidFill>
              <a:latin typeface="Segoe 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800" b="0">
              <a:solidFill>
                <a:srgbClr val="9BAEC0"/>
              </a:solidFill>
              <a:latin typeface="Segoe U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800" b="0">
              <a:solidFill>
                <a:srgbClr val="9BAEC0"/>
              </a:solidFill>
              <a:latin typeface="Segoe UI"/>
            </a:endParaRP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6ADDB9-189E-4F84-A208-07C1AA8F3A13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17544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Fortes: +0,5 a +15,8 pp nas quatro sensibilidades; o custo teria de ser 22,9 bps por lado. Fracos: na queda de abril/2025, −19,6% contra −18,8% do SPY; 374 pregões de alta e ~200 comparações sem correção; a tática faz +42,6 pp sozinha e −2,94 pp somada. Perfis simulados por IA sobre a série diária: o conservador não adere (drawdown pior que o índice, 1,9× de alavancagem); o institucional já compra beta 0,95 barato e pagaria pelo alpha; para o fundo de evento, +3,0 pp ao mesmo risco é o produto — a taxa teria de sair do excesso.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Fonte: scripts/estudo_polymarket.py → Uteis/analises/Metricas_estudo.md; guia de leitura em Final/estudo/Guia_slide16.md. Amostra = todo o dado macro do repo (FOMC 76 faixas/18 reuniões, CPI 74 faixas/12 meses), sem exclusão. Brier 0,043 [0,022; 0,067]; calibração b = 1,04 (p = 0,15); FF = proxy DTB3−DFF corrigido do viés (cru: 8,9 bps), DM p = 0,002; 17/17 no desfecho modal. Terceira informação, se pedirem: o movimento do preço não é sinal (VR(5) = 0,78 &lt; 1, Δp com t ≈ 0) — por isso usamos o nível, não o Δp. Detalhe nos apêndices A1–A3.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90B36E-D51A-C0F9-E815-0D094873B9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C68810-6F02-A152-DEE1-20884A74E0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664017-52AF-D126-1B05-4FFD71F74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FE14E9-0A22-34BB-C700-25A9A8B5E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5F84E2-0ED1-6970-B999-0B056C2BC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0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3A25B5-2C10-8739-37D2-E68D960EA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902611-C8E8-FD43-CA04-A5C77539C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C9FE30-6AD4-B38C-46FE-BE1B6C127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BF4630-B32C-5EB9-1A9A-97F5A12B7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B3723A-424A-0173-0A27-3A715617C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852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8BB581-3721-7232-CBF0-C76B2C405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A2BB0A-7E6B-95ED-07B7-681D20CD8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0E806D-B16F-C6BA-F051-BC92FC1A1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AD4C58-E774-2DAD-918B-00EF2D04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0AFC58-C7DA-A825-1DBF-C3480BD4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009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35A49-4295-332F-69CC-C718CA536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65518A-38FB-F6DB-2C4F-38DA6F54B0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A816CE2-C369-D6D0-3E11-89C79EA7E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CBF2E7-443B-DD82-A6C9-93597F016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480A6FC-0F1D-7182-1997-A8EB519A0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D6E6C5A-0DA8-3CD0-8D24-C5C83D24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69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FA16D9-6E28-9F77-9747-4525AD8D6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2098AB5-AB06-9FE2-2DEC-2758B16DB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A6DE695-6D08-A6FB-DE7A-4269957CF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4D0C7E8-6D72-8EE4-0BCD-F9EC79CC3B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4349DCC-FA2E-97A4-775E-D4245B0953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C1FF268-6D1B-3209-16AC-8AFEF91B8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7686B93-4E15-3FB0-06D0-D697A0ECB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7B8C49E-37A4-5EF6-9284-D8F96D9DD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093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F243F8-0F72-5AD4-FC98-C0C3FD49B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6079B89-8659-6C46-D458-984473B7D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B315535-C74B-6E2C-4C14-AE066CDFA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B2E3F4F-52E7-0EFA-D6A9-F7372AE73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87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4A0CE1D-51D4-E00B-1564-B6D610D7F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5FD508-07A1-7323-E1D0-BA68271AB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455A543-F1E2-9305-3146-41FFC697C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326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71DB2-C33C-6448-D56B-AC54B42A9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E72565-6389-C614-EA0D-93677DD67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EB10022-78A3-5909-8094-C9E989D4DC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9269421-94F3-CC9D-327C-72D302B40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D3A48BA-F7DE-D417-622D-2FD1A422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5CBD7F5-EF63-7A0A-A74B-C313348C5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843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DA162-4DBE-585E-136C-B8E7B85F3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C1C692E-67B5-5E7B-F724-E638BA7E60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71461D2-780A-C22A-215A-1FF164F00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8CC3E-201D-F865-D512-8E3CCB969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076904-9ECF-4F8E-20E3-313134C90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D6A9DA-D49F-8656-E170-92D20E83B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712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E59DC-DA4B-4665-8C75-7137EDACF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00E46B8-8ACD-6FD6-81A6-DC87794ED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E25331-5DA7-8E75-DFA3-FB6727312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D5FF99-C3FD-0894-3E58-3BF2FB847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43F733-8F82-A93A-D584-12DEB0A38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675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AF8A04C-582B-F2BC-AC43-2CC90BB30F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CC603B4-49D8-B11A-0FA1-1CF667908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1678AD-30D7-8553-8E72-5FF3B154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BE1D8F-E400-7A9F-C150-48A86B378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E79D2B-E1A6-FEE9-D5C1-3B2A2D5B2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18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B43002A-F87C-CD61-CDB4-9F64F6CCC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EBA176-418D-D436-89BB-74915DCBA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8DA1F8-7DB8-B1AE-1F56-0B338A1AB3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AA4F68-06BA-CD94-1699-EFD307B95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AA8497-C9BB-A966-1538-4B95AF6A54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6CA4CB-FC8F-E7CE-BF85-D20C627AA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!!halo_robo"/>
          <p:cNvSpPr/>
          <p:nvPr/>
        </p:nvSpPr>
        <p:spPr>
          <a:xfrm>
            <a:off x="5322792" y="326358"/>
            <a:ext cx="6600000" cy="6600000"/>
          </a:xfrm>
          <a:prstGeom prst="ellipse">
            <a:avLst/>
          </a:prstGeom>
          <a:gradFill rotWithShape="1">
            <a:gsLst>
              <a:gs pos="0">
                <a:srgbClr val="FFB531">
                  <a:alpha val="22000"/>
                </a:srgbClr>
              </a:gs>
              <a:gs pos="35000">
                <a:srgbClr val="FFB531">
                  <a:alpha val="9000"/>
                </a:srgbClr>
              </a:gs>
              <a:gs pos="65000">
                <a:srgbClr val="FFB531">
                  <a:alpha val="3000"/>
                </a:srgbClr>
              </a:gs>
              <a:gs pos="85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!!foot_l"/>
          <p:cNvSpPr txBox="1"/>
          <p:nvPr/>
        </p:nvSpPr>
        <p:spPr>
          <a:xfrm>
            <a:off x="73152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SEMIFINAL 2026</a:t>
            </a:r>
          </a:p>
        </p:txBody>
      </p:sp>
      <p:sp>
        <p:nvSpPr>
          <p:cNvPr id="28" name="!!foot_r"/>
          <p:cNvSpPr txBox="1"/>
          <p:nvPr/>
        </p:nvSpPr>
        <p:spPr>
          <a:xfrm>
            <a:off x="545743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30" name="!!risca"/>
          <p:cNvSpPr/>
          <p:nvPr/>
        </p:nvSpPr>
        <p:spPr>
          <a:xfrm>
            <a:off x="731520" y="3705000"/>
            <a:ext cx="1005840" cy="36576"/>
          </a:xfrm>
          <a:prstGeom prst="rect">
            <a:avLst/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2AEB71-E81B-F9D0-B1D6-9F0DF9E870EB}"/>
              </a:ext>
            </a:extLst>
          </p:cNvPr>
          <p:cNvSpPr txBox="1"/>
          <p:nvPr/>
        </p:nvSpPr>
        <p:spPr>
          <a:xfrm>
            <a:off x="731520" y="426720"/>
            <a:ext cx="73152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</a:t>
            </a:r>
            <a:r>
              <a:rPr sz="1100" b="0" spc="72" err="1">
                <a:solidFill>
                  <a:srgbClr val="8395B5"/>
                </a:solidFill>
                <a:latin typeface="Consolas"/>
              </a:rPr>
              <a:t>Identidade</a:t>
            </a:r>
            <a:endParaRPr sz="1000" b="0" spc="50">
              <a:solidFill>
                <a:srgbClr val="BAC6DA"/>
              </a:solidFill>
              <a:latin typeface="Consola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8F7E83-1878-C6AE-87BA-2472312350CC}"/>
              </a:ext>
            </a:extLst>
          </p:cNvPr>
          <p:cNvSpPr txBox="1"/>
          <p:nvPr/>
        </p:nvSpPr>
        <p:spPr>
          <a:xfrm>
            <a:off x="0" y="467359"/>
            <a:ext cx="11457432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900" b="0" spc="45">
                <a:solidFill>
                  <a:srgbClr val="8395B5"/>
                </a:solidFill>
                <a:latin typeface="Consolas"/>
              </a:rPr>
              <a:t>01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3A137472-E872-EFA6-A9AC-37E1822B6C24}"/>
              </a:ext>
            </a:extLst>
          </p:cNvPr>
          <p:cNvCxnSpPr/>
          <p:nvPr/>
        </p:nvCxnSpPr>
        <p:spPr>
          <a:xfrm>
            <a:off x="731520" y="704850"/>
            <a:ext cx="10725912" cy="0"/>
          </a:xfrm>
          <a:prstGeom prst="bentConnector3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B599A72-77AC-8217-4D08-A8B49FEEE24E}"/>
              </a:ext>
            </a:extLst>
          </p:cNvPr>
          <p:cNvSpPr txBox="1"/>
          <p:nvPr/>
        </p:nvSpPr>
        <p:spPr>
          <a:xfrm>
            <a:off x="731520" y="2121041"/>
            <a:ext cx="578815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0" b="0" spc="500">
                <a:solidFill>
                  <a:srgbClr val="FFB531"/>
                </a:solidFill>
                <a:latin typeface="Bahnschrift SemiBold Condensed"/>
              </a:rPr>
              <a:t>KAIROS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5290D6-2EB0-BB5D-D448-220E46A92B64}"/>
              </a:ext>
            </a:extLst>
          </p:cNvPr>
          <p:cNvSpPr txBox="1"/>
          <p:nvPr/>
        </p:nvSpPr>
        <p:spPr>
          <a:xfrm>
            <a:off x="731520" y="3886961"/>
            <a:ext cx="5788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0" spc="20">
                <a:solidFill>
                  <a:srgbClr val="F5F7FB"/>
                </a:solidFill>
                <a:latin typeface="Bahnschrift SemiBold"/>
              </a:rPr>
              <a:t>Black-</a:t>
            </a:r>
            <a:r>
              <a:rPr sz="2200" b="0" spc="20" err="1">
                <a:solidFill>
                  <a:srgbClr val="F5F7FB"/>
                </a:solidFill>
                <a:latin typeface="Bahnschrift SemiBold"/>
              </a:rPr>
              <a:t>Litterman</a:t>
            </a:r>
            <a:r>
              <a:rPr sz="2200" b="0" spc="2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2200" b="0" spc="20" err="1">
                <a:solidFill>
                  <a:srgbClr val="F5F7FB"/>
                </a:solidFill>
                <a:latin typeface="Bahnschrift SemiBold"/>
              </a:rPr>
              <a:t>movido</a:t>
            </a:r>
            <a:r>
              <a:rPr sz="2200" b="0" spc="20">
                <a:solidFill>
                  <a:srgbClr val="F5F7FB"/>
                </a:solidFill>
                <a:latin typeface="Bahnschrift SemiBold"/>
              </a:rPr>
              <a:t> a </a:t>
            </a:r>
            <a:r>
              <a:rPr sz="2200" b="0" spc="20" err="1">
                <a:solidFill>
                  <a:srgbClr val="F5F7FB"/>
                </a:solidFill>
                <a:latin typeface="Bahnschrift SemiBold"/>
              </a:rPr>
              <a:t>probabilidade</a:t>
            </a:r>
            <a:endParaRPr sz="2200" b="0" spc="20">
              <a:solidFill>
                <a:srgbClr val="F5F7FB"/>
              </a:solidFill>
              <a:latin typeface="Bahnschrift Semi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2231AA-A8C0-C4DA-F7CD-E18C762D8673}"/>
              </a:ext>
            </a:extLst>
          </p:cNvPr>
          <p:cNvSpPr txBox="1"/>
          <p:nvPr/>
        </p:nvSpPr>
        <p:spPr>
          <a:xfrm>
            <a:off x="731520" y="4572762"/>
            <a:ext cx="578815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1" err="1">
                <a:solidFill>
                  <a:srgbClr val="FFB531"/>
                </a:solidFill>
                <a:latin typeface="Georgia"/>
              </a:rPr>
              <a:t>Kairós</a:t>
            </a:r>
            <a:r>
              <a:rPr sz="1800" b="0" i="1">
                <a:solidFill>
                  <a:srgbClr val="BAC6DA"/>
                </a:solidFill>
                <a:latin typeface="Georgia"/>
              </a:rPr>
              <a:t>, no grego: o </a:t>
            </a:r>
            <a:r>
              <a:rPr sz="1800" b="0" i="1" err="1">
                <a:solidFill>
                  <a:srgbClr val="BAC6DA"/>
                </a:solidFill>
                <a:latin typeface="Georgia"/>
              </a:rPr>
              <a:t>instante</a:t>
            </a:r>
            <a:r>
              <a:rPr sz="1800" b="0" i="1">
                <a:solidFill>
                  <a:srgbClr val="BAC6DA"/>
                </a:solidFill>
                <a:latin typeface="Georgia"/>
              </a:rPr>
              <a:t> </a:t>
            </a:r>
            <a:r>
              <a:rPr sz="1800" b="0" i="1" err="1">
                <a:solidFill>
                  <a:srgbClr val="BAC6DA"/>
                </a:solidFill>
                <a:latin typeface="Georgia"/>
              </a:rPr>
              <a:t>certo</a:t>
            </a:r>
            <a:r>
              <a:rPr sz="1800" b="0" i="1">
                <a:solidFill>
                  <a:srgbClr val="BAC6DA"/>
                </a:solidFill>
                <a:latin typeface="Georgia"/>
              </a:rPr>
              <a:t> de </a:t>
            </a:r>
            <a:r>
              <a:rPr sz="1800" b="0" i="1" err="1">
                <a:solidFill>
                  <a:srgbClr val="BAC6DA"/>
                </a:solidFill>
                <a:latin typeface="Georgia"/>
              </a:rPr>
              <a:t>agir</a:t>
            </a:r>
            <a:r>
              <a:rPr sz="1800" b="0" i="1">
                <a:solidFill>
                  <a:srgbClr val="BAC6DA"/>
                </a:solidFill>
                <a:latin typeface="Georgia"/>
              </a:rPr>
              <a:t>.</a:t>
            </a:r>
            <a:r>
              <a:rPr lang="pt-PT" sz="1800" b="0" i="1">
                <a:solidFill>
                  <a:srgbClr val="BAC6DA"/>
                </a:solidFill>
                <a:latin typeface="Georgia"/>
              </a:rPr>
              <a:t> O modelo só age quando o mercado de previsão traz oportunidade</a:t>
            </a:r>
            <a:endParaRPr sz="1800" b="0" i="1">
              <a:solidFill>
                <a:srgbClr val="BAC6DA"/>
              </a:solidFill>
              <a:latin typeface="Georgia"/>
            </a:endParaRPr>
          </a:p>
        </p:txBody>
      </p: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CCB5ED1E-9847-784C-70E6-939D37736474}"/>
              </a:ext>
            </a:extLst>
          </p:cNvPr>
          <p:cNvCxnSpPr/>
          <p:nvPr/>
        </p:nvCxnSpPr>
        <p:spPr>
          <a:xfrm>
            <a:off x="731520" y="6553200"/>
            <a:ext cx="10725912" cy="0"/>
          </a:xfrm>
          <a:prstGeom prst="bentConnector3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881CF7BA-CCFB-7A3B-4C58-E2143E1F3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716" y="732282"/>
            <a:ext cx="5788152" cy="578815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42EEE03-8A5A-9E38-1C78-7E8AE6CD3915}"/>
              </a:ext>
            </a:extLst>
          </p:cNvPr>
          <p:cNvSpPr txBox="1"/>
          <p:nvPr/>
        </p:nvSpPr>
        <p:spPr>
          <a:xfrm>
            <a:off x="10691446" y="33159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5272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02</a:t>
            </a:r>
          </a:p>
        </p:txBody>
      </p:sp>
      <p:sp>
        <p:nvSpPr>
          <p:cNvPr id="3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!!foot_l"/>
          <p:cNvSpPr txBox="1"/>
          <p:nvPr/>
        </p:nvSpPr>
        <p:spPr>
          <a:xfrm>
            <a:off x="73152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SEMIFINAL 2026</a:t>
            </a:r>
          </a:p>
        </p:txBody>
      </p:sp>
      <p:sp>
        <p:nvSpPr>
          <p:cNvPr id="37" name="!!foot_r"/>
          <p:cNvSpPr txBox="1"/>
          <p:nvPr/>
        </p:nvSpPr>
        <p:spPr>
          <a:xfrm>
            <a:off x="545743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31520" y="426720"/>
            <a:ext cx="73152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A ideia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7359"/>
            <a:ext cx="11457432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900" b="0" spc="45">
                <a:solidFill>
                  <a:srgbClr val="8395B5"/>
                </a:solidFill>
                <a:latin typeface="Consolas"/>
              </a:rPr>
              <a:t>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704850"/>
            <a:ext cx="10725912" cy="0"/>
          </a:xfrm>
          <a:prstGeom prst="bentConnector3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850900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2000" b="0">
                <a:solidFill>
                  <a:srgbClr val="F5F7FB"/>
                </a:solidFill>
                <a:latin typeface="Bahnschrift SemiBold"/>
              </a:rPr>
              <a:t>A </a:t>
            </a:r>
            <a:r>
              <a:rPr lang="en-US" sz="2000" b="0" err="1">
                <a:solidFill>
                  <a:srgbClr val="F5F7FB"/>
                </a:solidFill>
                <a:latin typeface="Bahnschrift SemiBold"/>
              </a:rPr>
              <a:t>ideia</a:t>
            </a:r>
            <a:r>
              <a:rPr lang="en-US" sz="2000">
                <a:solidFill>
                  <a:srgbClr val="F5F7FB"/>
                </a:solidFill>
                <a:latin typeface="Bahnschrift SemiBold"/>
              </a:rPr>
              <a:t> POLYMARKET (</a:t>
            </a:r>
            <a:r>
              <a:rPr lang="en-US" sz="2000" err="1">
                <a:solidFill>
                  <a:srgbClr val="F5F7FB"/>
                </a:solidFill>
                <a:latin typeface="Bahnschrift SemiBold"/>
              </a:rPr>
              <a:t>sem</a:t>
            </a:r>
            <a:r>
              <a:rPr lang="en-US" sz="2000">
                <a:solidFill>
                  <a:srgbClr val="F5F7FB"/>
                </a:solidFill>
                <a:latin typeface="Bahnschrift SemiBold"/>
              </a:rPr>
              <a:t> </a:t>
            </a:r>
            <a:r>
              <a:rPr lang="en-US" sz="2000" err="1">
                <a:solidFill>
                  <a:srgbClr val="F5F7FB"/>
                </a:solidFill>
                <a:latin typeface="Bahnschrift SemiBold"/>
              </a:rPr>
              <a:t>ficha</a:t>
            </a:r>
            <a:r>
              <a:rPr lang="en-US" sz="2000">
                <a:solidFill>
                  <a:srgbClr val="F5F7FB"/>
                </a:solidFill>
                <a:latin typeface="Bahnschrift SemiBold"/>
              </a:rPr>
              <a:t> </a:t>
            </a:r>
            <a:r>
              <a:rPr lang="en-US" sz="2000" err="1">
                <a:solidFill>
                  <a:srgbClr val="F5F7FB"/>
                </a:solidFill>
                <a:latin typeface="Bahnschrift SemiBold"/>
              </a:rPr>
              <a:t>tecnica</a:t>
            </a:r>
            <a:r>
              <a:rPr lang="en-US" sz="2000">
                <a:solidFill>
                  <a:srgbClr val="F5F7FB"/>
                </a:solidFill>
                <a:latin typeface="Bahnschrift SemiBold"/>
              </a:rPr>
              <a:t>)</a:t>
            </a:r>
            <a:endParaRPr lang="en-US" sz="2000" b="0">
              <a:solidFill>
                <a:srgbClr val="F5F7FB"/>
              </a:solidFill>
              <a:latin typeface="Bahnschrift SemiBol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118872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7552" y="1819656"/>
            <a:ext cx="470001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900" b="1" spc="180">
                <a:solidFill>
                  <a:srgbClr val="FFB531"/>
                </a:solidFill>
                <a:latin typeface="Consolas"/>
              </a:rPr>
              <a:t>A HIPÓTESE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BAC6DA"/>
                </a:solidFill>
                <a:latin typeface="Bahnschrift SemiLight"/>
              </a:rPr>
              <a:t>Mercados de previsão antecipam o mercado financeiro.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BAC6DA"/>
                </a:solidFill>
                <a:latin typeface="Bahnschrift SemiLight"/>
              </a:rPr>
              <a:t>Esse é o nosso sinal.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5212080" cy="155448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7552" y="3191256"/>
            <a:ext cx="4700016" cy="11887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900" b="1" spc="180">
                <a:solidFill>
                  <a:srgbClr val="FFB531"/>
                </a:solidFill>
                <a:latin typeface="Consolas"/>
              </a:rPr>
              <a:t>O QUE É O POLYMARKET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BAC6DA"/>
                </a:solidFill>
                <a:latin typeface="Bahnschrift SemiLight"/>
              </a:rPr>
              <a:t>Contratos pagam US$ 1 se o evento ocorre, zero se não.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BAC6DA"/>
                </a:solidFill>
                <a:latin typeface="Bahnschrift SemiLight"/>
              </a:rPr>
              <a:t>O preço do contrato é a probabilidade implícita do mercado.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0">
                <a:solidFill>
                  <a:srgbClr val="BAC6DA"/>
                </a:solidFill>
                <a:latin typeface="Bahnschrift SemiLight"/>
              </a:rPr>
              <a:t>Quem errar perde dinheiro de verdade.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2491740" cy="123444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2688" y="4709160"/>
            <a:ext cx="2089404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3250" b="0">
                <a:solidFill>
                  <a:srgbClr val="FFB531"/>
                </a:solidFill>
                <a:latin typeface="Bahnschrift SemiBold Condensed"/>
              </a:rPr>
              <a:t>90,1%</a:t>
            </a:r>
          </a:p>
          <a:p>
            <a:pPr>
              <a:lnSpc>
                <a:spcPct val="105000"/>
              </a:lnSpc>
            </a:pPr>
            <a:r>
              <a:rPr sz="950" b="0">
                <a:solidFill>
                  <a:srgbClr val="BAC6DA"/>
                </a:solidFill>
                <a:latin typeface="Bahnschrift"/>
              </a:rPr>
              <a:t>de acerto a 1 mês da resolução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1860" y="4709160"/>
            <a:ext cx="2491740" cy="123444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3028" y="4709160"/>
            <a:ext cx="2089404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3250" b="0">
                <a:solidFill>
                  <a:srgbClr val="FFB531"/>
                </a:solidFill>
                <a:latin typeface="Bahnschrift SemiBold Condensed"/>
              </a:rPr>
              <a:t>US$ 26,2 bi</a:t>
            </a:r>
          </a:p>
          <a:p>
            <a:pPr>
              <a:lnSpc>
                <a:spcPct val="105000"/>
              </a:lnSpc>
            </a:pPr>
            <a:r>
              <a:rPr sz="950" b="0">
                <a:solidFill>
                  <a:srgbClr val="BAC6DA"/>
                </a:solidFill>
                <a:latin typeface="Bahnschrift"/>
              </a:rPr>
              <a:t>negociados no 1º tri de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600200"/>
            <a:ext cx="5212080" cy="434340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19672" y="1819656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900" b="1" spc="180">
                <a:solidFill>
                  <a:srgbClr val="FFB531"/>
                </a:solidFill>
                <a:latin typeface="Consolas"/>
              </a:rPr>
              <a:t>FICHA TÉCNICA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19672" y="2313432"/>
            <a:ext cx="4663440" cy="0"/>
          </a:xfrm>
          <a:prstGeom prst="bentConnector3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19672" y="2368296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>
                <a:solidFill>
                  <a:srgbClr val="BAC6DA"/>
                </a:solidFill>
                <a:latin typeface="Bahnschrift SemiLight"/>
              </a:rPr>
              <a:t>Universo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368296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F5F7FB"/>
                </a:solidFill>
                <a:latin typeface="Bahnschrift SemiBold"/>
              </a:rPr>
              <a:t>9 ETFs americanos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19672" y="2988259"/>
            <a:ext cx="4663440" cy="0"/>
          </a:xfrm>
          <a:prstGeom prst="bentConnector3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19672" y="3043123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>
                <a:solidFill>
                  <a:srgbClr val="BAC6DA"/>
                </a:solidFill>
                <a:latin typeface="Bahnschrift SemiLight"/>
              </a:rPr>
              <a:t>Benchmark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3043123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F5F7FB"/>
                </a:solidFill>
                <a:latin typeface="Bahnschrift SemiBold"/>
              </a:rPr>
              <a:t>S&amp;P 500 (SPY)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19672" y="3663086"/>
            <a:ext cx="4663440" cy="0"/>
          </a:xfrm>
          <a:prstGeom prst="bentConnector3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19672" y="3717950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>
                <a:solidFill>
                  <a:srgbClr val="BAC6DA"/>
                </a:solidFill>
                <a:latin typeface="Bahnschrift SemiLight"/>
              </a:rPr>
              <a:t>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3717950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F5F7FB"/>
                </a:solidFill>
                <a:latin typeface="Bahnschrift SemiBold"/>
              </a:rPr>
              <a:t>fev/2025 – ago/2026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519672" y="4337913"/>
            <a:ext cx="4663440" cy="0"/>
          </a:xfrm>
          <a:prstGeom prst="bentConnector3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19672" y="4392777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>
                <a:solidFill>
                  <a:srgbClr val="BAC6DA"/>
                </a:solidFill>
                <a:latin typeface="Bahnschrift SemiLight"/>
              </a:rPr>
              <a:t>Rebalanceamento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392777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F5F7FB"/>
                </a:solidFill>
                <a:latin typeface="Bahnschrift SemiBold"/>
              </a:rPr>
              <a:t>Diário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19672" y="5012740"/>
            <a:ext cx="4663440" cy="0"/>
          </a:xfrm>
          <a:prstGeom prst="bentConnector3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19672" y="5067604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0">
                <a:solidFill>
                  <a:srgbClr val="BAC6DA"/>
                </a:solidFill>
                <a:latin typeface="Bahnschrift SemiLight"/>
              </a:rPr>
              <a:t>Plataforma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5067604"/>
            <a:ext cx="4663440" cy="6199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>
                <a:solidFill>
                  <a:srgbClr val="F5F7FB"/>
                </a:solidFill>
                <a:latin typeface="Bahnschrift SemiBold"/>
              </a:rPr>
              <a:t>Python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31520" y="6553200"/>
            <a:ext cx="10725912" cy="0"/>
          </a:xfrm>
          <a:prstGeom prst="bentConnector3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1">
            <a:extLst>
              <a:ext uri="{FF2B5EF4-FFF2-40B4-BE49-F238E27FC236}">
                <a16:creationId xmlns:a16="http://schemas.microsoft.com/office/drawing/2014/main" id="{1DCF4A1B-FBCD-C9D8-0EA2-929D36855646}"/>
              </a:ext>
            </a:extLst>
          </p:cNvPr>
          <p:cNvSpPr txBox="1"/>
          <p:nvPr/>
        </p:nvSpPr>
        <p:spPr>
          <a:xfrm>
            <a:off x="3052199" y="1526099"/>
            <a:ext cx="658043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</a:rPr>
              <a:t>Só A </a:t>
            </a:r>
            <a:r>
              <a:rPr lang="en-US" sz="2800" err="1">
                <a:solidFill>
                  <a:schemeClr val="bg1"/>
                </a:solidFill>
              </a:rPr>
              <a:t>ideia</a:t>
            </a:r>
            <a:endParaRPr lang="en-US" sz="2800">
              <a:solidFill>
                <a:schemeClr val="bg1"/>
              </a:solidFill>
            </a:endParaRPr>
          </a:p>
          <a:p>
            <a:endParaRPr lang="en-US"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7D3949-D38B-0A4B-1289-D3C8C0144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_tl"/>
          <p:cNvSpPr/>
          <p:nvPr/>
        </p:nvSpPr>
        <p:spPr>
          <a:xfrm>
            <a:off x="-3299386" y="-143458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03</a:t>
            </a:r>
          </a:p>
        </p:txBody>
      </p:sp>
      <p:sp>
        <p:nvSpPr>
          <p:cNvPr id="6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8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9" name="cab_titulo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Como o Polymarket funciona</a:t>
            </a:r>
          </a:p>
        </p:txBody>
      </p:sp>
      <p:sp>
        <p:nvSpPr>
          <p:cNvPr id="10" name="cab_numero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8395B5"/>
                </a:solidFill>
                <a:latin typeface="Consolas"/>
              </a:rPr>
              <a:t>03</a:t>
            </a:r>
          </a:p>
        </p:txBody>
      </p:sp>
      <p:cxnSp>
        <p:nvCxnSpPr>
          <p:cNvPr id="11" name="filete_topo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filete_base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h1"/>
          <p:cNvSpPr txBox="1"/>
          <p:nvPr/>
        </p:nvSpPr>
        <p:spPr>
          <a:xfrm>
            <a:off x="822960" y="838200"/>
            <a:ext cx="1054354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b="0">
                <a:solidFill>
                  <a:srgbClr val="F5F7FB"/>
                </a:solidFill>
                <a:latin typeface="Bahnschrift SemiBold"/>
                <a:cs typeface="Bahnschrift SemiBold"/>
              </a:rPr>
              <a:t>Um mercado de previsão, por dentro</a:t>
            </a:r>
          </a:p>
        </p:txBody>
      </p:sp>
      <p:sp>
        <p:nvSpPr>
          <p:cNvPr id="14" name="txt_14"/>
          <p:cNvSpPr txBox="1"/>
          <p:nvPr/>
        </p:nvSpPr>
        <p:spPr>
          <a:xfrm>
            <a:off x="822960" y="1320800"/>
            <a:ext cx="419100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Consolas"/>
                <a:cs typeface="Consolas"/>
              </a:rPr>
              <a:t>COMO FUNCIONA</a:t>
            </a:r>
          </a:p>
        </p:txBody>
      </p:sp>
      <p:sp>
        <p:nvSpPr>
          <p:cNvPr id="15" name="txt_15"/>
          <p:cNvSpPr txBox="1"/>
          <p:nvPr/>
        </p:nvSpPr>
        <p:spPr>
          <a:xfrm>
            <a:off x="822960" y="15621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1</a:t>
            </a:r>
          </a:p>
        </p:txBody>
      </p:sp>
      <p:sp>
        <p:nvSpPr>
          <p:cNvPr id="16" name="txt_16"/>
          <p:cNvSpPr txBox="1"/>
          <p:nvPr/>
        </p:nvSpPr>
        <p:spPr>
          <a:xfrm>
            <a:off x="1102360" y="1600200"/>
            <a:ext cx="39116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Uma pergunta com data.</a:t>
            </a:r>
          </a:p>
          <a:p>
            <a:pPr algn="l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</a:pPr>
            <a:r>
              <a:rPr lang="pt-BR" sz="1050" b="0">
                <a:solidFill>
                  <a:srgbClr val="BAC6DA"/>
                </a:solidFill>
                <a:latin typeface="Bahnschrift SemiLight"/>
                <a:cs typeface="Bahnschrift SemiLight"/>
              </a:rPr>
              <a:t>Qual será a decisão do </a:t>
            </a:r>
            <a:r>
              <a:rPr lang="pt-BR" sz="1050" b="0" err="1">
                <a:solidFill>
                  <a:srgbClr val="BAC6DA"/>
                </a:solidFill>
                <a:latin typeface="Bahnschrift SemiLight"/>
                <a:cs typeface="Bahnschrift SemiLight"/>
              </a:rPr>
              <a:t>Fed</a:t>
            </a:r>
            <a:r>
              <a:rPr lang="pt-BR" sz="1050" b="0">
                <a:solidFill>
                  <a:srgbClr val="BAC6DA"/>
                </a:solidFill>
                <a:latin typeface="Bahnschrift SemiLight"/>
                <a:cs typeface="Bahnschrift SemiLight"/>
              </a:rPr>
              <a:t> em dezembro?</a:t>
            </a:r>
          </a:p>
        </p:txBody>
      </p:sp>
      <p:sp>
        <p:nvSpPr>
          <p:cNvPr id="17" name="txt_17"/>
          <p:cNvSpPr txBox="1"/>
          <p:nvPr/>
        </p:nvSpPr>
        <p:spPr>
          <a:xfrm>
            <a:off x="822960" y="20701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2</a:t>
            </a:r>
          </a:p>
        </p:txBody>
      </p:sp>
      <p:sp>
        <p:nvSpPr>
          <p:cNvPr id="18" name="txt_18"/>
          <p:cNvSpPr txBox="1"/>
          <p:nvPr/>
        </p:nvSpPr>
        <p:spPr>
          <a:xfrm>
            <a:off x="1102360" y="2108200"/>
            <a:ext cx="39116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Cada resposta é um contrato.</a:t>
            </a:r>
          </a:p>
          <a:p>
            <a:pPr algn="l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</a:pPr>
            <a:r>
              <a:rPr lang="pt-BR" sz="1050" b="0">
                <a:solidFill>
                  <a:srgbClr val="BAC6DA"/>
                </a:solidFill>
                <a:latin typeface="Bahnschrift SemiLight"/>
                <a:cs typeface="Bahnschrift SemiLight"/>
              </a:rPr>
              <a:t>Paga US$ 1 se acontecer, zero se não.</a:t>
            </a:r>
          </a:p>
        </p:txBody>
      </p:sp>
      <p:sp>
        <p:nvSpPr>
          <p:cNvPr id="19" name="txt_19"/>
          <p:cNvSpPr txBox="1"/>
          <p:nvPr/>
        </p:nvSpPr>
        <p:spPr>
          <a:xfrm>
            <a:off x="822960" y="25781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3</a:t>
            </a:r>
          </a:p>
        </p:txBody>
      </p:sp>
      <p:sp>
        <p:nvSpPr>
          <p:cNvPr id="20" name="txt_20"/>
          <p:cNvSpPr txBox="1"/>
          <p:nvPr/>
        </p:nvSpPr>
        <p:spPr>
          <a:xfrm>
            <a:off x="1102360" y="2616200"/>
            <a:ext cx="39116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O preço é a probabilidade.</a:t>
            </a:r>
          </a:p>
          <a:p>
            <a:pPr algn="l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</a:pPr>
            <a:r>
              <a:rPr lang="pt-BR" sz="1050" b="0">
                <a:solidFill>
                  <a:srgbClr val="BAC6DA"/>
                </a:solidFill>
                <a:latin typeface="Bahnschrift SemiLight"/>
                <a:cs typeface="Bahnschrift SemiLight"/>
              </a:rPr>
              <a:t>67 centavos = 67% de chance.</a:t>
            </a:r>
          </a:p>
        </p:txBody>
      </p:sp>
      <p:sp>
        <p:nvSpPr>
          <p:cNvPr id="21" name="txt_21"/>
          <p:cNvSpPr txBox="1"/>
          <p:nvPr/>
        </p:nvSpPr>
        <p:spPr>
          <a:xfrm>
            <a:off x="822960" y="30861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4</a:t>
            </a:r>
          </a:p>
        </p:txBody>
      </p:sp>
      <p:sp>
        <p:nvSpPr>
          <p:cNvPr id="22" name="txt_22"/>
          <p:cNvSpPr txBox="1"/>
          <p:nvPr/>
        </p:nvSpPr>
        <p:spPr>
          <a:xfrm>
            <a:off x="1102360" y="3124200"/>
            <a:ext cx="39116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As respostas formam uma distribuição.</a:t>
            </a:r>
          </a:p>
          <a:p>
            <a:pPr algn="l">
              <a:lnSpc>
                <a:spcPct val="118000"/>
              </a:lnSpc>
              <a:spcBef>
                <a:spcPts val="100"/>
              </a:spcBef>
              <a:spcAft>
                <a:spcPts val="0"/>
              </a:spcAft>
            </a:pPr>
            <a:r>
              <a:rPr lang="pt-BR" sz="1050" b="0">
                <a:solidFill>
                  <a:srgbClr val="BAC6DA"/>
                </a:solidFill>
                <a:latin typeface="Bahnschrift SemiLight"/>
                <a:cs typeface="Bahnschrift SemiLight"/>
              </a:rPr>
              <a:t>A média dela é o corte esperado.</a:t>
            </a:r>
          </a:p>
        </p:txBody>
      </p:sp>
      <p:pic>
        <p:nvPicPr>
          <p:cNvPr id="40" name="print_polymarket" descr="s03_print_polymarket_dez2025.png"/>
          <p:cNvPicPr>
            <a:picLocks noChangeAspect="1"/>
          </p:cNvPicPr>
          <p:nvPr/>
        </p:nvPicPr>
        <p:blipFill>
          <a:blip r:embed="rId3"/>
          <a:srcRect l="544" t="-575" r="-173" b="36897"/>
          <a:stretch>
            <a:fillRect/>
          </a:stretch>
        </p:blipFill>
        <p:spPr>
          <a:xfrm>
            <a:off x="4265808" y="1819015"/>
            <a:ext cx="6994610" cy="3682564"/>
          </a:xfrm>
          <a:prstGeom prst="rect">
            <a:avLst/>
          </a:prstGeom>
        </p:spPr>
      </p:pic>
      <p:sp>
        <p:nvSpPr>
          <p:cNvPr id="2" name="forma_40"/>
          <p:cNvSpPr/>
          <p:nvPr/>
        </p:nvSpPr>
        <p:spPr>
          <a:xfrm>
            <a:off x="4269288" y="1838194"/>
            <a:ext cx="6982390" cy="3673606"/>
          </a:xfrm>
          <a:prstGeom prst="rect">
            <a:avLst/>
          </a:prstGeom>
          <a:noFill/>
          <a:ln w="9525">
            <a:solidFill>
              <a:srgbClr val="35507A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41" name="txt_41"/>
          <p:cNvSpPr txBox="1"/>
          <p:nvPr/>
        </p:nvSpPr>
        <p:spPr>
          <a:xfrm>
            <a:off x="5334000" y="6324600"/>
            <a:ext cx="60325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20" b="0">
                <a:solidFill>
                  <a:srgbClr val="8395B5"/>
                </a:solidFill>
                <a:latin typeface="Bahnschrift"/>
                <a:cs typeface="Bahnschrift"/>
              </a:rPr>
              <a:t>polymarket.com · mercado encerrado em 10/12/2025 · US$ 393,9 milhões negociados nessa pergunta</a:t>
            </a:r>
          </a:p>
        </p:txBody>
      </p:sp>
    </p:spTree>
    <p:extLst>
      <p:ext uri="{BB962C8B-B14F-4D97-AF65-F5344CB8AC3E}">
        <p14:creationId xmlns:p14="http://schemas.microsoft.com/office/powerpoint/2010/main" val="2595393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_tl"/>
          <p:cNvSpPr/>
          <p:nvPr/>
        </p:nvSpPr>
        <p:spPr>
          <a:xfrm>
            <a:off x="-2073535" y="-970433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!!glow_br"/>
          <p:cNvSpPr/>
          <p:nvPr/>
        </p:nvSpPr>
        <p:spPr>
          <a:xfrm>
            <a:off x="12490164" y="4693945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04</a:t>
            </a:r>
          </a:p>
        </p:txBody>
      </p:sp>
      <p:sp>
        <p:nvSpPr>
          <p:cNvPr id="6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8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9" name="cab_titulo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Polymarket × mercado tradicional</a:t>
            </a:r>
          </a:p>
        </p:txBody>
      </p:sp>
      <p:sp>
        <p:nvSpPr>
          <p:cNvPr id="10" name="cab_numero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8395B5"/>
                </a:solidFill>
                <a:latin typeface="Consolas"/>
              </a:rPr>
              <a:t>04</a:t>
            </a:r>
          </a:p>
        </p:txBody>
      </p:sp>
      <p:cxnSp>
        <p:nvCxnSpPr>
          <p:cNvPr id="11" name="filete_topo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filete_base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xt_14"/>
          <p:cNvSpPr txBox="1"/>
          <p:nvPr/>
        </p:nvSpPr>
        <p:spPr>
          <a:xfrm>
            <a:off x="1511891" y="2239375"/>
            <a:ext cx="342900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Consolas"/>
                <a:cs typeface="Consolas"/>
              </a:rPr>
              <a:t>DOIS MERCADOS, UMA PERGUNTA</a:t>
            </a:r>
          </a:p>
        </p:txBody>
      </p:sp>
      <p:sp>
        <p:nvSpPr>
          <p:cNvPr id="15" name="forma_15"/>
          <p:cNvSpPr/>
          <p:nvPr/>
        </p:nvSpPr>
        <p:spPr>
          <a:xfrm>
            <a:off x="2889754" y="1021567"/>
            <a:ext cx="2479110" cy="625608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6" name="txt_16"/>
          <p:cNvSpPr txBox="1"/>
          <p:nvPr/>
        </p:nvSpPr>
        <p:spPr>
          <a:xfrm>
            <a:off x="3614873" y="1184405"/>
            <a:ext cx="3048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600" b="1" spc="140">
                <a:solidFill>
                  <a:srgbClr val="FFB531"/>
                </a:solidFill>
                <a:latin typeface="Consolas"/>
                <a:cs typeface="Consolas"/>
              </a:rPr>
              <a:t>POLYMARKET</a:t>
            </a:r>
          </a:p>
        </p:txBody>
      </p:sp>
      <p:sp>
        <p:nvSpPr>
          <p:cNvPr id="18" name="forma_18"/>
          <p:cNvSpPr/>
          <p:nvPr/>
        </p:nvSpPr>
        <p:spPr>
          <a:xfrm>
            <a:off x="6334412" y="1057057"/>
            <a:ext cx="2656562" cy="562977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4F8EF7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9" name="txt_19"/>
          <p:cNvSpPr txBox="1"/>
          <p:nvPr/>
        </p:nvSpPr>
        <p:spPr>
          <a:xfrm>
            <a:off x="6902955" y="1251211"/>
            <a:ext cx="3048000" cy="7473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1" spc="140">
                <a:solidFill>
                  <a:srgbClr val="4F8EF7"/>
                </a:solidFill>
                <a:latin typeface="Consolas"/>
                <a:cs typeface="Consolas"/>
              </a:rPr>
              <a:t>MERCADO DE JUROS</a:t>
            </a:r>
          </a:p>
        </p:txBody>
      </p:sp>
      <p:sp>
        <p:nvSpPr>
          <p:cNvPr id="21" name="forma_21"/>
          <p:cNvSpPr/>
          <p:nvPr/>
        </p:nvSpPr>
        <p:spPr>
          <a:xfrm>
            <a:off x="5821541" y="1262345"/>
            <a:ext cx="279400" cy="279400"/>
          </a:xfrm>
          <a:prstGeom prst="ellipse">
            <a:avLst/>
          </a:prstGeom>
          <a:solidFill>
            <a:srgbClr val="0B1426"/>
          </a:solidFill>
          <a:ln w="9525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FB531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26" name="txt_26"/>
          <p:cNvSpPr txBox="1"/>
          <p:nvPr/>
        </p:nvSpPr>
        <p:spPr>
          <a:xfrm>
            <a:off x="6659671" y="2239375"/>
            <a:ext cx="679450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Consolas"/>
                <a:cs typeface="Consolas"/>
              </a:rPr>
              <a:t>REUNIÃO DO FED DE DEZEMBRO/2025</a:t>
            </a:r>
          </a:p>
        </p:txBody>
      </p:sp>
      <p:pic>
        <p:nvPicPr>
          <p:cNvPr id="27" name="grafico_comparacao" descr="v2_s04_polymarket_x_jur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381" y="2470484"/>
            <a:ext cx="6794500" cy="33274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2DCE483-A1F0-3D3F-89E1-CC58B13D4F04}"/>
              </a:ext>
            </a:extLst>
          </p:cNvPr>
          <p:cNvSpPr txBox="1"/>
          <p:nvPr/>
        </p:nvSpPr>
        <p:spPr>
          <a:xfrm>
            <a:off x="2772181" y="6104398"/>
            <a:ext cx="50263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Formula </a:t>
            </a:r>
            <a:r>
              <a:rPr lang="en-US" err="1">
                <a:solidFill>
                  <a:schemeClr val="bg1"/>
                </a:solidFill>
              </a:rPr>
              <a:t>surpresa</a:t>
            </a:r>
            <a:r>
              <a:rPr lang="en-US">
                <a:solidFill>
                  <a:schemeClr val="bg1"/>
                </a:solidFill>
              </a:rPr>
              <a:t>= polymarket-mercado</a:t>
            </a:r>
          </a:p>
        </p:txBody>
      </p:sp>
    </p:spTree>
    <p:extLst>
      <p:ext uri="{BB962C8B-B14F-4D97-AF65-F5344CB8AC3E}">
        <p14:creationId xmlns:p14="http://schemas.microsoft.com/office/powerpoint/2010/main" val="444386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_tl"/>
          <p:cNvSpPr/>
          <p:nvPr/>
        </p:nvSpPr>
        <p:spPr>
          <a:xfrm>
            <a:off x="-2073535" y="-970433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06</a:t>
            </a:r>
          </a:p>
        </p:txBody>
      </p:sp>
      <p:sp>
        <p:nvSpPr>
          <p:cNvPr id="6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8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9" name="cab_titulo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Ficha técnica</a:t>
            </a:r>
          </a:p>
        </p:txBody>
      </p:sp>
      <p:sp>
        <p:nvSpPr>
          <p:cNvPr id="10" name="cab_numero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8395B5"/>
                </a:solidFill>
                <a:latin typeface="Consolas"/>
              </a:rPr>
              <a:t>06</a:t>
            </a:r>
          </a:p>
        </p:txBody>
      </p:sp>
      <p:cxnSp>
        <p:nvCxnSpPr>
          <p:cNvPr id="11" name="filete_topo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filete_base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h1"/>
          <p:cNvSpPr txBox="1"/>
          <p:nvPr/>
        </p:nvSpPr>
        <p:spPr>
          <a:xfrm>
            <a:off x="822960" y="838200"/>
            <a:ext cx="1054354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b="0">
                <a:solidFill>
                  <a:srgbClr val="F5F7FB"/>
                </a:solidFill>
                <a:latin typeface="Bahnschrift SemiBold"/>
                <a:cs typeface="Bahnschrift SemiBold"/>
              </a:rPr>
              <a:t>O que foi testado</a:t>
            </a:r>
          </a:p>
        </p:txBody>
      </p:sp>
      <p:sp>
        <p:nvSpPr>
          <p:cNvPr id="14" name="forma_14"/>
          <p:cNvSpPr/>
          <p:nvPr/>
        </p:nvSpPr>
        <p:spPr>
          <a:xfrm>
            <a:off x="822960" y="1320800"/>
            <a:ext cx="5080000" cy="510540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5" name="txt_15"/>
          <p:cNvSpPr txBox="1"/>
          <p:nvPr/>
        </p:nvSpPr>
        <p:spPr>
          <a:xfrm>
            <a:off x="1076960" y="1549400"/>
            <a:ext cx="4572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 spc="180">
                <a:solidFill>
                  <a:srgbClr val="FFB531"/>
                </a:solidFill>
                <a:latin typeface="Consolas"/>
                <a:cs typeface="Consolas"/>
              </a:rPr>
              <a:t>FICHA TÉCNICA</a:t>
            </a:r>
          </a:p>
        </p:txBody>
      </p:sp>
      <p:cxnSp>
        <p:nvCxnSpPr>
          <p:cNvPr id="16" name="linha_16"/>
          <p:cNvCxnSpPr/>
          <p:nvPr/>
        </p:nvCxnSpPr>
        <p:spPr>
          <a:xfrm>
            <a:off x="1076960" y="1930400"/>
            <a:ext cx="4572000" cy="0"/>
          </a:xfrm>
          <a:prstGeom prst="line">
            <a:avLst/>
          </a:prstGeom>
          <a:ln w="9525">
            <a:solidFill>
              <a:srgbClr val="2A3F63"/>
            </a:solidFill>
          </a:ln>
        </p:spPr>
      </p:cxnSp>
      <p:sp>
        <p:nvSpPr>
          <p:cNvPr id="17" name="txt_17"/>
          <p:cNvSpPr txBox="1"/>
          <p:nvPr/>
        </p:nvSpPr>
        <p:spPr>
          <a:xfrm>
            <a:off x="1076960" y="2006600"/>
            <a:ext cx="1651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BAC6DA"/>
                </a:solidFill>
                <a:latin typeface="Bahnschrift SemiLight"/>
                <a:cs typeface="Bahnschrift SemiLight"/>
              </a:rPr>
              <a:t>Universo</a:t>
            </a:r>
          </a:p>
        </p:txBody>
      </p:sp>
      <p:sp>
        <p:nvSpPr>
          <p:cNvPr id="18" name="txt_18"/>
          <p:cNvSpPr txBox="1"/>
          <p:nvPr/>
        </p:nvSpPr>
        <p:spPr>
          <a:xfrm>
            <a:off x="2600960" y="2006600"/>
            <a:ext cx="304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50" b="0">
                <a:solidFill>
                  <a:srgbClr val="F5F7FB"/>
                </a:solidFill>
                <a:latin typeface="Bahnschrift SemiBold"/>
                <a:cs typeface="Bahnschrift SemiBold"/>
              </a:rPr>
              <a:t>9 ETFs americanos</a:t>
            </a:r>
          </a:p>
        </p:txBody>
      </p:sp>
      <p:cxnSp>
        <p:nvCxnSpPr>
          <p:cNvPr id="19" name="linha_19"/>
          <p:cNvCxnSpPr/>
          <p:nvPr/>
        </p:nvCxnSpPr>
        <p:spPr>
          <a:xfrm>
            <a:off x="1076960" y="2654300"/>
            <a:ext cx="4572000" cy="0"/>
          </a:xfrm>
          <a:prstGeom prst="line">
            <a:avLst/>
          </a:prstGeom>
          <a:ln w="9525">
            <a:solidFill>
              <a:srgbClr val="2A3F63"/>
            </a:solidFill>
          </a:ln>
        </p:spPr>
      </p:cxnSp>
      <p:sp>
        <p:nvSpPr>
          <p:cNvPr id="20" name="txt_20"/>
          <p:cNvSpPr txBox="1"/>
          <p:nvPr/>
        </p:nvSpPr>
        <p:spPr>
          <a:xfrm>
            <a:off x="1076960" y="2730500"/>
            <a:ext cx="1651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BAC6DA"/>
                </a:solidFill>
                <a:latin typeface="Bahnschrift SemiLight"/>
                <a:cs typeface="Bahnschrift SemiLight"/>
              </a:rPr>
              <a:t>Benchmark</a:t>
            </a:r>
          </a:p>
        </p:txBody>
      </p:sp>
      <p:sp>
        <p:nvSpPr>
          <p:cNvPr id="21" name="txt_21"/>
          <p:cNvSpPr txBox="1"/>
          <p:nvPr/>
        </p:nvSpPr>
        <p:spPr>
          <a:xfrm>
            <a:off x="2600960" y="2730500"/>
            <a:ext cx="304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50" b="0">
                <a:solidFill>
                  <a:srgbClr val="F5F7FB"/>
                </a:solidFill>
                <a:latin typeface="Bahnschrift SemiBold"/>
                <a:cs typeface="Bahnschrift SemiBold"/>
              </a:rPr>
              <a:t>S&amp;P 500 (SPY)</a:t>
            </a:r>
          </a:p>
        </p:txBody>
      </p:sp>
      <p:cxnSp>
        <p:nvCxnSpPr>
          <p:cNvPr id="22" name="linha_22"/>
          <p:cNvCxnSpPr/>
          <p:nvPr/>
        </p:nvCxnSpPr>
        <p:spPr>
          <a:xfrm>
            <a:off x="1076960" y="3378200"/>
            <a:ext cx="4572000" cy="0"/>
          </a:xfrm>
          <a:prstGeom prst="line">
            <a:avLst/>
          </a:prstGeom>
          <a:ln w="9525">
            <a:solidFill>
              <a:srgbClr val="2A3F63"/>
            </a:solidFill>
          </a:ln>
        </p:spPr>
      </p:cxnSp>
      <p:sp>
        <p:nvSpPr>
          <p:cNvPr id="23" name="txt_23"/>
          <p:cNvSpPr txBox="1"/>
          <p:nvPr/>
        </p:nvSpPr>
        <p:spPr>
          <a:xfrm>
            <a:off x="1076960" y="3454400"/>
            <a:ext cx="1651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BAC6DA"/>
                </a:solidFill>
                <a:latin typeface="Bahnschrift SemiLight"/>
                <a:cs typeface="Bahnschrift SemiLight"/>
              </a:rPr>
              <a:t>Janela</a:t>
            </a:r>
          </a:p>
        </p:txBody>
      </p:sp>
      <p:sp>
        <p:nvSpPr>
          <p:cNvPr id="24" name="txt_24"/>
          <p:cNvSpPr txBox="1"/>
          <p:nvPr/>
        </p:nvSpPr>
        <p:spPr>
          <a:xfrm>
            <a:off x="2600960" y="3454400"/>
            <a:ext cx="304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50" b="0">
                <a:solidFill>
                  <a:srgbClr val="F5F7FB"/>
                </a:solidFill>
                <a:latin typeface="Bahnschrift SemiBold"/>
                <a:cs typeface="Bahnschrift SemiBold"/>
              </a:rPr>
              <a:t>374 pregões · fev/25 a ago/26</a:t>
            </a:r>
          </a:p>
        </p:txBody>
      </p:sp>
      <p:cxnSp>
        <p:nvCxnSpPr>
          <p:cNvPr id="25" name="linha_25"/>
          <p:cNvCxnSpPr/>
          <p:nvPr/>
        </p:nvCxnSpPr>
        <p:spPr>
          <a:xfrm>
            <a:off x="1076960" y="4102100"/>
            <a:ext cx="4572000" cy="0"/>
          </a:xfrm>
          <a:prstGeom prst="line">
            <a:avLst/>
          </a:prstGeom>
          <a:ln w="9525">
            <a:solidFill>
              <a:srgbClr val="2A3F63"/>
            </a:solidFill>
          </a:ln>
        </p:spPr>
      </p:cxnSp>
      <p:sp>
        <p:nvSpPr>
          <p:cNvPr id="26" name="txt_26"/>
          <p:cNvSpPr txBox="1"/>
          <p:nvPr/>
        </p:nvSpPr>
        <p:spPr>
          <a:xfrm>
            <a:off x="1076960" y="4178300"/>
            <a:ext cx="1651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BAC6DA"/>
                </a:solidFill>
                <a:latin typeface="Bahnschrift SemiLight"/>
                <a:cs typeface="Bahnschrift SemiLight"/>
              </a:rPr>
              <a:t>Rebalanceamento</a:t>
            </a:r>
          </a:p>
        </p:txBody>
      </p:sp>
      <p:sp>
        <p:nvSpPr>
          <p:cNvPr id="27" name="txt_27"/>
          <p:cNvSpPr txBox="1"/>
          <p:nvPr/>
        </p:nvSpPr>
        <p:spPr>
          <a:xfrm>
            <a:off x="2600960" y="4178300"/>
            <a:ext cx="304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50" b="0">
                <a:solidFill>
                  <a:srgbClr val="F5F7FB"/>
                </a:solidFill>
                <a:latin typeface="Bahnschrift SemiBold"/>
                <a:cs typeface="Bahnschrift SemiBold"/>
              </a:rPr>
              <a:t>Diário</a:t>
            </a:r>
          </a:p>
        </p:txBody>
      </p:sp>
      <p:cxnSp>
        <p:nvCxnSpPr>
          <p:cNvPr id="28" name="linha_28"/>
          <p:cNvCxnSpPr/>
          <p:nvPr/>
        </p:nvCxnSpPr>
        <p:spPr>
          <a:xfrm>
            <a:off x="1076960" y="4826000"/>
            <a:ext cx="4572000" cy="0"/>
          </a:xfrm>
          <a:prstGeom prst="line">
            <a:avLst/>
          </a:prstGeom>
          <a:ln w="9525">
            <a:solidFill>
              <a:srgbClr val="2A3F63"/>
            </a:solidFill>
          </a:ln>
        </p:spPr>
      </p:cxnSp>
      <p:sp>
        <p:nvSpPr>
          <p:cNvPr id="29" name="txt_29"/>
          <p:cNvSpPr txBox="1"/>
          <p:nvPr/>
        </p:nvSpPr>
        <p:spPr>
          <a:xfrm>
            <a:off x="1076960" y="4902200"/>
            <a:ext cx="1651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BAC6DA"/>
                </a:solidFill>
                <a:latin typeface="Bahnschrift SemiLight"/>
                <a:cs typeface="Bahnschrift SemiLight"/>
              </a:rPr>
              <a:t>Custo</a:t>
            </a:r>
          </a:p>
        </p:txBody>
      </p:sp>
      <p:sp>
        <p:nvSpPr>
          <p:cNvPr id="30" name="txt_30"/>
          <p:cNvSpPr txBox="1"/>
          <p:nvPr/>
        </p:nvSpPr>
        <p:spPr>
          <a:xfrm>
            <a:off x="2600960" y="4902200"/>
            <a:ext cx="304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50" b="0">
                <a:solidFill>
                  <a:srgbClr val="F5F7FB"/>
                </a:solidFill>
                <a:latin typeface="Bahnschrift SemiBold"/>
                <a:cs typeface="Bahnschrift SemiBold"/>
              </a:rPr>
              <a:t>2 bps por lado</a:t>
            </a:r>
          </a:p>
        </p:txBody>
      </p:sp>
      <p:cxnSp>
        <p:nvCxnSpPr>
          <p:cNvPr id="31" name="linha_31"/>
          <p:cNvCxnSpPr/>
          <p:nvPr/>
        </p:nvCxnSpPr>
        <p:spPr>
          <a:xfrm>
            <a:off x="1076960" y="5549900"/>
            <a:ext cx="4572000" cy="0"/>
          </a:xfrm>
          <a:prstGeom prst="line">
            <a:avLst/>
          </a:prstGeom>
          <a:ln w="9525">
            <a:solidFill>
              <a:srgbClr val="2A3F63"/>
            </a:solidFill>
          </a:ln>
        </p:spPr>
      </p:cxnSp>
      <p:sp>
        <p:nvSpPr>
          <p:cNvPr id="32" name="txt_32"/>
          <p:cNvSpPr txBox="1"/>
          <p:nvPr/>
        </p:nvSpPr>
        <p:spPr>
          <a:xfrm>
            <a:off x="1076960" y="5626100"/>
            <a:ext cx="1651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00" b="0">
                <a:solidFill>
                  <a:srgbClr val="BAC6DA"/>
                </a:solidFill>
                <a:latin typeface="Bahnschrift SemiLight"/>
                <a:cs typeface="Bahnschrift SemiLight"/>
              </a:rPr>
              <a:t>Plataforma</a:t>
            </a:r>
          </a:p>
        </p:txBody>
      </p:sp>
      <p:sp>
        <p:nvSpPr>
          <p:cNvPr id="33" name="txt_33"/>
          <p:cNvSpPr txBox="1"/>
          <p:nvPr/>
        </p:nvSpPr>
        <p:spPr>
          <a:xfrm>
            <a:off x="2600960" y="5626100"/>
            <a:ext cx="304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350" b="0">
                <a:solidFill>
                  <a:srgbClr val="F5F7FB"/>
                </a:solidFill>
                <a:latin typeface="Bahnschrift SemiBold"/>
                <a:cs typeface="Bahnschrift SemiBold"/>
              </a:rPr>
              <a:t>Python</a:t>
            </a:r>
          </a:p>
        </p:txBody>
      </p:sp>
      <p:sp>
        <p:nvSpPr>
          <p:cNvPr id="34" name="txt_34"/>
          <p:cNvSpPr txBox="1"/>
          <p:nvPr/>
        </p:nvSpPr>
        <p:spPr>
          <a:xfrm>
            <a:off x="6220460" y="1320800"/>
            <a:ext cx="514604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Consolas"/>
                <a:cs typeface="Consolas"/>
              </a:rPr>
              <a:t>OS 9 ETFS</a:t>
            </a:r>
          </a:p>
        </p:txBody>
      </p:sp>
      <p:sp>
        <p:nvSpPr>
          <p:cNvPr id="35" name="forma_35"/>
          <p:cNvSpPr/>
          <p:nvPr/>
        </p:nvSpPr>
        <p:spPr>
          <a:xfrm>
            <a:off x="6220460" y="1549400"/>
            <a:ext cx="1647613" cy="635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6" name="txt_36"/>
          <p:cNvSpPr txBox="1"/>
          <p:nvPr/>
        </p:nvSpPr>
        <p:spPr>
          <a:xfrm>
            <a:off x="6347460" y="1651000"/>
            <a:ext cx="139361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>
                <a:solidFill>
                  <a:srgbClr val="FFB531"/>
                </a:solidFill>
                <a:latin typeface="Consolas"/>
                <a:cs typeface="Consolas"/>
              </a:rPr>
              <a:t>SPY</a:t>
            </a:r>
          </a:p>
        </p:txBody>
      </p:sp>
      <p:sp>
        <p:nvSpPr>
          <p:cNvPr id="37" name="txt_37"/>
          <p:cNvSpPr txBox="1"/>
          <p:nvPr/>
        </p:nvSpPr>
        <p:spPr>
          <a:xfrm>
            <a:off x="6347460" y="1892300"/>
            <a:ext cx="14444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0">
                <a:solidFill>
                  <a:srgbClr val="BAC6DA"/>
                </a:solidFill>
                <a:latin typeface="Bahnschrift"/>
                <a:cs typeface="Bahnschrift"/>
              </a:rPr>
              <a:t>S&amp;P 500</a:t>
            </a:r>
          </a:p>
        </p:txBody>
      </p:sp>
      <p:sp>
        <p:nvSpPr>
          <p:cNvPr id="38" name="forma_38"/>
          <p:cNvSpPr/>
          <p:nvPr/>
        </p:nvSpPr>
        <p:spPr>
          <a:xfrm>
            <a:off x="7969673" y="1549400"/>
            <a:ext cx="1647613" cy="635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9" name="txt_39"/>
          <p:cNvSpPr txBox="1"/>
          <p:nvPr/>
        </p:nvSpPr>
        <p:spPr>
          <a:xfrm>
            <a:off x="8096673" y="1651000"/>
            <a:ext cx="139361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>
                <a:solidFill>
                  <a:srgbClr val="FFB531"/>
                </a:solidFill>
                <a:latin typeface="Consolas"/>
                <a:cs typeface="Consolas"/>
              </a:rPr>
              <a:t>TIP</a:t>
            </a:r>
          </a:p>
        </p:txBody>
      </p:sp>
      <p:sp>
        <p:nvSpPr>
          <p:cNvPr id="40" name="txt_40"/>
          <p:cNvSpPr txBox="1"/>
          <p:nvPr/>
        </p:nvSpPr>
        <p:spPr>
          <a:xfrm>
            <a:off x="8096673" y="1892300"/>
            <a:ext cx="14444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0">
                <a:solidFill>
                  <a:srgbClr val="BAC6DA"/>
                </a:solidFill>
                <a:latin typeface="Bahnschrift"/>
                <a:cs typeface="Bahnschrift"/>
              </a:rPr>
              <a:t>Tesouro indexado à inflação</a:t>
            </a:r>
          </a:p>
        </p:txBody>
      </p:sp>
      <p:sp>
        <p:nvSpPr>
          <p:cNvPr id="41" name="forma_41"/>
          <p:cNvSpPr/>
          <p:nvPr/>
        </p:nvSpPr>
        <p:spPr>
          <a:xfrm>
            <a:off x="9718887" y="1549400"/>
            <a:ext cx="1647613" cy="635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42" name="txt_42"/>
          <p:cNvSpPr txBox="1"/>
          <p:nvPr/>
        </p:nvSpPr>
        <p:spPr>
          <a:xfrm>
            <a:off x="9845887" y="1651000"/>
            <a:ext cx="139361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>
                <a:solidFill>
                  <a:srgbClr val="FFB531"/>
                </a:solidFill>
                <a:latin typeface="Consolas"/>
                <a:cs typeface="Consolas"/>
              </a:rPr>
              <a:t>TLT</a:t>
            </a:r>
          </a:p>
        </p:txBody>
      </p:sp>
      <p:sp>
        <p:nvSpPr>
          <p:cNvPr id="43" name="txt_43"/>
          <p:cNvSpPr txBox="1"/>
          <p:nvPr/>
        </p:nvSpPr>
        <p:spPr>
          <a:xfrm>
            <a:off x="9845887" y="1892300"/>
            <a:ext cx="14444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0">
                <a:solidFill>
                  <a:srgbClr val="BAC6DA"/>
                </a:solidFill>
                <a:latin typeface="Bahnschrift"/>
                <a:cs typeface="Bahnschrift"/>
              </a:rPr>
              <a:t>Tesouro de 20+ anos</a:t>
            </a:r>
          </a:p>
        </p:txBody>
      </p:sp>
      <p:sp>
        <p:nvSpPr>
          <p:cNvPr id="44" name="forma_44"/>
          <p:cNvSpPr/>
          <p:nvPr/>
        </p:nvSpPr>
        <p:spPr>
          <a:xfrm>
            <a:off x="6220460" y="2286000"/>
            <a:ext cx="1647613" cy="635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45" name="txt_45"/>
          <p:cNvSpPr txBox="1"/>
          <p:nvPr/>
        </p:nvSpPr>
        <p:spPr>
          <a:xfrm>
            <a:off x="6347460" y="2387600"/>
            <a:ext cx="139361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>
                <a:solidFill>
                  <a:srgbClr val="FFB531"/>
                </a:solidFill>
                <a:latin typeface="Consolas"/>
                <a:cs typeface="Consolas"/>
              </a:rPr>
              <a:t>XLE</a:t>
            </a:r>
          </a:p>
        </p:txBody>
      </p:sp>
      <p:sp>
        <p:nvSpPr>
          <p:cNvPr id="46" name="txt_46"/>
          <p:cNvSpPr txBox="1"/>
          <p:nvPr/>
        </p:nvSpPr>
        <p:spPr>
          <a:xfrm>
            <a:off x="6347460" y="2628900"/>
            <a:ext cx="14444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0">
                <a:solidFill>
                  <a:srgbClr val="BAC6DA"/>
                </a:solidFill>
                <a:latin typeface="Bahnschrift"/>
                <a:cs typeface="Bahnschrift"/>
              </a:rPr>
              <a:t>Energia</a:t>
            </a:r>
          </a:p>
        </p:txBody>
      </p:sp>
      <p:sp>
        <p:nvSpPr>
          <p:cNvPr id="47" name="forma_47"/>
          <p:cNvSpPr/>
          <p:nvPr/>
        </p:nvSpPr>
        <p:spPr>
          <a:xfrm>
            <a:off x="7969673" y="2286000"/>
            <a:ext cx="1647613" cy="635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48" name="txt_48"/>
          <p:cNvSpPr txBox="1"/>
          <p:nvPr/>
        </p:nvSpPr>
        <p:spPr>
          <a:xfrm>
            <a:off x="8096673" y="2387600"/>
            <a:ext cx="139361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>
                <a:solidFill>
                  <a:srgbClr val="FFB531"/>
                </a:solidFill>
                <a:latin typeface="Consolas"/>
                <a:cs typeface="Consolas"/>
              </a:rPr>
              <a:t>XLF</a:t>
            </a:r>
          </a:p>
        </p:txBody>
      </p:sp>
      <p:sp>
        <p:nvSpPr>
          <p:cNvPr id="49" name="txt_49"/>
          <p:cNvSpPr txBox="1"/>
          <p:nvPr/>
        </p:nvSpPr>
        <p:spPr>
          <a:xfrm>
            <a:off x="8096673" y="2628900"/>
            <a:ext cx="14444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0">
                <a:solidFill>
                  <a:srgbClr val="BAC6DA"/>
                </a:solidFill>
                <a:latin typeface="Bahnschrift"/>
                <a:cs typeface="Bahnschrift"/>
              </a:rPr>
              <a:t>Financeiro</a:t>
            </a:r>
          </a:p>
        </p:txBody>
      </p:sp>
      <p:sp>
        <p:nvSpPr>
          <p:cNvPr id="50" name="forma_50"/>
          <p:cNvSpPr/>
          <p:nvPr/>
        </p:nvSpPr>
        <p:spPr>
          <a:xfrm>
            <a:off x="9718887" y="2286000"/>
            <a:ext cx="1647613" cy="635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1" name="txt_51"/>
          <p:cNvSpPr txBox="1"/>
          <p:nvPr/>
        </p:nvSpPr>
        <p:spPr>
          <a:xfrm>
            <a:off x="9845887" y="2387600"/>
            <a:ext cx="139361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>
                <a:solidFill>
                  <a:srgbClr val="FFB531"/>
                </a:solidFill>
                <a:latin typeface="Consolas"/>
                <a:cs typeface="Consolas"/>
              </a:rPr>
              <a:t>XLK</a:t>
            </a:r>
          </a:p>
        </p:txBody>
      </p:sp>
      <p:sp>
        <p:nvSpPr>
          <p:cNvPr id="52" name="txt_52"/>
          <p:cNvSpPr txBox="1"/>
          <p:nvPr/>
        </p:nvSpPr>
        <p:spPr>
          <a:xfrm>
            <a:off x="9845887" y="2628900"/>
            <a:ext cx="14444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0">
                <a:solidFill>
                  <a:srgbClr val="BAC6DA"/>
                </a:solidFill>
                <a:latin typeface="Bahnschrift"/>
                <a:cs typeface="Bahnschrift"/>
              </a:rPr>
              <a:t>Tecnologia</a:t>
            </a:r>
          </a:p>
        </p:txBody>
      </p:sp>
      <p:sp>
        <p:nvSpPr>
          <p:cNvPr id="53" name="forma_53"/>
          <p:cNvSpPr/>
          <p:nvPr/>
        </p:nvSpPr>
        <p:spPr>
          <a:xfrm>
            <a:off x="6220460" y="3022600"/>
            <a:ext cx="1647613" cy="635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4" name="txt_54"/>
          <p:cNvSpPr txBox="1"/>
          <p:nvPr/>
        </p:nvSpPr>
        <p:spPr>
          <a:xfrm>
            <a:off x="6347460" y="3124200"/>
            <a:ext cx="139361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>
                <a:solidFill>
                  <a:srgbClr val="FFB531"/>
                </a:solidFill>
                <a:latin typeface="Consolas"/>
                <a:cs typeface="Consolas"/>
              </a:rPr>
              <a:t>XLP</a:t>
            </a:r>
          </a:p>
        </p:txBody>
      </p:sp>
      <p:sp>
        <p:nvSpPr>
          <p:cNvPr id="55" name="txt_55"/>
          <p:cNvSpPr txBox="1"/>
          <p:nvPr/>
        </p:nvSpPr>
        <p:spPr>
          <a:xfrm>
            <a:off x="6347460" y="3365500"/>
            <a:ext cx="14444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0">
                <a:solidFill>
                  <a:srgbClr val="BAC6DA"/>
                </a:solidFill>
                <a:latin typeface="Bahnschrift"/>
                <a:cs typeface="Bahnschrift"/>
              </a:rPr>
              <a:t>Consumo básico</a:t>
            </a:r>
          </a:p>
        </p:txBody>
      </p:sp>
      <p:sp>
        <p:nvSpPr>
          <p:cNvPr id="56" name="forma_56"/>
          <p:cNvSpPr/>
          <p:nvPr/>
        </p:nvSpPr>
        <p:spPr>
          <a:xfrm>
            <a:off x="7969673" y="3022600"/>
            <a:ext cx="1647613" cy="635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7" name="txt_57"/>
          <p:cNvSpPr txBox="1"/>
          <p:nvPr/>
        </p:nvSpPr>
        <p:spPr>
          <a:xfrm>
            <a:off x="8096673" y="3124200"/>
            <a:ext cx="139361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>
                <a:solidFill>
                  <a:srgbClr val="FFB531"/>
                </a:solidFill>
                <a:latin typeface="Consolas"/>
                <a:cs typeface="Consolas"/>
              </a:rPr>
              <a:t>XLU</a:t>
            </a:r>
          </a:p>
        </p:txBody>
      </p:sp>
      <p:sp>
        <p:nvSpPr>
          <p:cNvPr id="58" name="txt_58"/>
          <p:cNvSpPr txBox="1"/>
          <p:nvPr/>
        </p:nvSpPr>
        <p:spPr>
          <a:xfrm>
            <a:off x="8096673" y="3365500"/>
            <a:ext cx="14444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0">
                <a:solidFill>
                  <a:srgbClr val="BAC6DA"/>
                </a:solidFill>
                <a:latin typeface="Bahnschrift"/>
                <a:cs typeface="Bahnschrift"/>
              </a:rPr>
              <a:t>Serviços públicos</a:t>
            </a:r>
          </a:p>
        </p:txBody>
      </p:sp>
      <p:sp>
        <p:nvSpPr>
          <p:cNvPr id="59" name="forma_59"/>
          <p:cNvSpPr/>
          <p:nvPr/>
        </p:nvSpPr>
        <p:spPr>
          <a:xfrm>
            <a:off x="9718887" y="3022600"/>
            <a:ext cx="1647613" cy="635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60" name="txt_60"/>
          <p:cNvSpPr txBox="1"/>
          <p:nvPr/>
        </p:nvSpPr>
        <p:spPr>
          <a:xfrm>
            <a:off x="9845887" y="3124200"/>
            <a:ext cx="139361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50" b="1">
                <a:solidFill>
                  <a:srgbClr val="FFB531"/>
                </a:solidFill>
                <a:latin typeface="Consolas"/>
                <a:cs typeface="Consolas"/>
              </a:rPr>
              <a:t>XLV</a:t>
            </a:r>
          </a:p>
        </p:txBody>
      </p:sp>
      <p:sp>
        <p:nvSpPr>
          <p:cNvPr id="61" name="txt_61"/>
          <p:cNvSpPr txBox="1"/>
          <p:nvPr/>
        </p:nvSpPr>
        <p:spPr>
          <a:xfrm>
            <a:off x="9845887" y="3365500"/>
            <a:ext cx="14444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0">
                <a:solidFill>
                  <a:srgbClr val="BAC6DA"/>
                </a:solidFill>
                <a:latin typeface="Bahnschrift"/>
                <a:cs typeface="Bahnschrift"/>
              </a:rPr>
              <a:t>Saúde</a:t>
            </a:r>
          </a:p>
        </p:txBody>
      </p:sp>
      <p:sp>
        <p:nvSpPr>
          <p:cNvPr id="62" name="txt_62"/>
          <p:cNvSpPr txBox="1"/>
          <p:nvPr/>
        </p:nvSpPr>
        <p:spPr>
          <a:xfrm>
            <a:off x="6220460" y="3962400"/>
            <a:ext cx="514604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Consolas"/>
                <a:cs typeface="Consolas"/>
              </a:rPr>
              <a:t>DE ONDE VÊM OS DADOS</a:t>
            </a:r>
          </a:p>
        </p:txBody>
      </p:sp>
      <p:sp>
        <p:nvSpPr>
          <p:cNvPr id="63" name="forma_63"/>
          <p:cNvSpPr/>
          <p:nvPr/>
        </p:nvSpPr>
        <p:spPr>
          <a:xfrm>
            <a:off x="6220460" y="4191000"/>
            <a:ext cx="1647613" cy="889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64" name="txt_64"/>
          <p:cNvSpPr txBox="1"/>
          <p:nvPr/>
        </p:nvSpPr>
        <p:spPr>
          <a:xfrm>
            <a:off x="6372860" y="4368800"/>
            <a:ext cx="13936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0">
                <a:solidFill>
                  <a:srgbClr val="F5F7FB"/>
                </a:solidFill>
                <a:latin typeface="Bahnschrift SemiBold"/>
                <a:cs typeface="Bahnschrift SemiBold"/>
              </a:rPr>
              <a:t>Polymarket</a:t>
            </a:r>
          </a:p>
        </p:txBody>
      </p:sp>
      <p:sp>
        <p:nvSpPr>
          <p:cNvPr id="65" name="txt_65"/>
          <p:cNvSpPr txBox="1"/>
          <p:nvPr/>
        </p:nvSpPr>
        <p:spPr>
          <a:xfrm>
            <a:off x="6372860" y="4673600"/>
            <a:ext cx="1393613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BAC6DA"/>
                </a:solidFill>
                <a:latin typeface="Bahnschrift SemiLight"/>
                <a:cs typeface="Bahnschrift SemiLight"/>
              </a:rPr>
              <a:t>probabilidades, a cada 12h</a:t>
            </a:r>
          </a:p>
        </p:txBody>
      </p:sp>
      <p:sp>
        <p:nvSpPr>
          <p:cNvPr id="66" name="forma_66"/>
          <p:cNvSpPr/>
          <p:nvPr/>
        </p:nvSpPr>
        <p:spPr>
          <a:xfrm>
            <a:off x="7969673" y="4191000"/>
            <a:ext cx="1647613" cy="889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67" name="txt_67"/>
          <p:cNvSpPr txBox="1"/>
          <p:nvPr/>
        </p:nvSpPr>
        <p:spPr>
          <a:xfrm>
            <a:off x="8122073" y="4368800"/>
            <a:ext cx="13936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0">
                <a:solidFill>
                  <a:srgbClr val="F5F7FB"/>
                </a:solidFill>
                <a:latin typeface="Bahnschrift SemiBold"/>
                <a:cs typeface="Bahnschrift SemiBold"/>
              </a:rPr>
              <a:t>yfinance</a:t>
            </a:r>
          </a:p>
        </p:txBody>
      </p:sp>
      <p:sp>
        <p:nvSpPr>
          <p:cNvPr id="68" name="txt_68"/>
          <p:cNvSpPr txBox="1"/>
          <p:nvPr/>
        </p:nvSpPr>
        <p:spPr>
          <a:xfrm>
            <a:off x="8122073" y="4673600"/>
            <a:ext cx="1393613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BAC6DA"/>
                </a:solidFill>
                <a:latin typeface="Bahnschrift SemiLight"/>
                <a:cs typeface="Bahnschrift SemiLight"/>
              </a:rPr>
              <a:t>preços dos ETFs</a:t>
            </a:r>
          </a:p>
        </p:txBody>
      </p:sp>
      <p:sp>
        <p:nvSpPr>
          <p:cNvPr id="69" name="forma_69"/>
          <p:cNvSpPr/>
          <p:nvPr/>
        </p:nvSpPr>
        <p:spPr>
          <a:xfrm>
            <a:off x="9718887" y="4191000"/>
            <a:ext cx="1647613" cy="889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0" name="txt_70"/>
          <p:cNvSpPr txBox="1"/>
          <p:nvPr/>
        </p:nvSpPr>
        <p:spPr>
          <a:xfrm>
            <a:off x="9871287" y="4368800"/>
            <a:ext cx="1393613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0">
                <a:solidFill>
                  <a:srgbClr val="F5F7FB"/>
                </a:solidFill>
                <a:latin typeface="Bahnschrift SemiBold"/>
                <a:cs typeface="Bahnschrift SemiBold"/>
              </a:rPr>
              <a:t>FRED</a:t>
            </a:r>
          </a:p>
        </p:txBody>
      </p:sp>
      <p:sp>
        <p:nvSpPr>
          <p:cNvPr id="71" name="txt_71"/>
          <p:cNvSpPr txBox="1"/>
          <p:nvPr/>
        </p:nvSpPr>
        <p:spPr>
          <a:xfrm>
            <a:off x="9871287" y="4673600"/>
            <a:ext cx="1393613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000" b="0">
                <a:solidFill>
                  <a:srgbClr val="BAC6DA"/>
                </a:solidFill>
                <a:latin typeface="Bahnschrift SemiLight"/>
                <a:cs typeface="Bahnschrift SemiLight"/>
              </a:rPr>
              <a:t>juros e inflação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6A2592-8663-4E0B-C787-03C973173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562" y="5175901"/>
            <a:ext cx="5624434" cy="100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10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!!glow_tl"/>
          <p:cNvSpPr/>
          <p:nvPr/>
        </p:nvSpPr>
        <p:spPr>
          <a:xfrm>
            <a:off x="-2073535" y="-970433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03</a:t>
            </a:r>
          </a:p>
        </p:txBody>
      </p:sp>
      <p:sp>
        <p:nvSpPr>
          <p:cNvPr id="30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SEMIFINAL 2026</a:t>
            </a:r>
          </a:p>
        </p:txBody>
      </p:sp>
      <p:sp>
        <p:nvSpPr>
          <p:cNvPr id="32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2" name="s3_0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Como o Black-Litterman funciona</a:t>
            </a:r>
          </a:p>
        </p:txBody>
      </p:sp>
      <p:sp>
        <p:nvSpPr>
          <p:cNvPr id="3" name="s3_1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8395B5"/>
                </a:solidFill>
                <a:latin typeface="Consolas"/>
              </a:rPr>
              <a:t>03</a:t>
            </a:r>
          </a:p>
        </p:txBody>
      </p:sp>
      <p:cxnSp>
        <p:nvCxnSpPr>
          <p:cNvPr id="4" name="s3_2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3_3"/>
          <p:cNvCxnSpPr/>
          <p:nvPr/>
        </p:nvCxnSpPr>
        <p:spPr>
          <a:xfrm>
            <a:off x="822960" y="393192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3_4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halo"/>
          <p:cNvSpPr/>
          <p:nvPr/>
        </p:nvSpPr>
        <p:spPr>
          <a:xfrm>
            <a:off x="1463040" y="868680"/>
            <a:ext cx="9235440" cy="1828800"/>
          </a:xfrm>
          <a:prstGeom prst="ellipse">
            <a:avLst/>
          </a:prstGeom>
          <a:solidFill>
            <a:srgbClr val="FFB531">
              <a:alpha val="9000"/>
            </a:srgbClr>
          </a:solidFill>
          <a:ln>
            <a:noFill/>
          </a:ln>
          <a:effectLst>
            <a:softEdge rad="13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9" name="!!eq"/>
          <p:cNvSpPr/>
          <p:nvPr/>
        </p:nvSpPr>
        <p:spPr>
          <a:xfrm>
            <a:off x="822959" y="1211049"/>
            <a:ext cx="3127248" cy="1115568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30">
                <a:solidFill>
                  <a:srgbClr val="F5F7FB"/>
                </a:solidFill>
                <a:latin typeface="Bahnschrift SemiBold"/>
              </a:rPr>
              <a:t>EQUILÍBRIO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BAC6DA"/>
                </a:solidFill>
                <a:latin typeface="Bahnschrift"/>
              </a:rPr>
              <a:t>o que o mercado já espera</a:t>
            </a:r>
          </a:p>
        </p:txBody>
      </p:sp>
      <p:sp>
        <p:nvSpPr>
          <p:cNvPr id="10" name="!!bar_eq"/>
          <p:cNvSpPr/>
          <p:nvPr/>
        </p:nvSpPr>
        <p:spPr>
          <a:xfrm>
            <a:off x="1078992" y="1456456"/>
            <a:ext cx="50292" cy="58009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F8EF7"/>
              </a:gs>
              <a:gs pos="100000">
                <a:srgbClr val="4F8EF7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1" name="!!q"/>
          <p:cNvSpPr/>
          <p:nvPr/>
        </p:nvSpPr>
        <p:spPr>
          <a:xfrm>
            <a:off x="4526280" y="1188720"/>
            <a:ext cx="3127248" cy="1115568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0" spc="130">
                <a:solidFill>
                  <a:srgbClr val="F5F7FB"/>
                </a:solidFill>
                <a:latin typeface="Bahnschrift SemiBold"/>
              </a:rPr>
              <a:t>PREVISÃO</a:t>
            </a:r>
            <a:r>
              <a:rPr sz="1300" b="0" spc="130">
                <a:solidFill>
                  <a:srgbClr val="F5F7FB"/>
                </a:solidFill>
                <a:latin typeface="Bahnschrift SemiBold"/>
              </a:rPr>
              <a:t>    </a:t>
            </a:r>
            <a:r>
              <a:rPr lang="en-US" sz="1300" b="0" spc="130">
                <a:solidFill>
                  <a:srgbClr val="F5F7FB"/>
                </a:solidFill>
                <a:latin typeface="Bahnschrift SemiBold"/>
              </a:rPr>
              <a:t>(</a:t>
            </a:r>
            <a:r>
              <a:rPr sz="1300" b="0" spc="130">
                <a:solidFill>
                  <a:srgbClr val="F5F7FB"/>
                </a:solidFill>
                <a:latin typeface="Bahnschrift SemiBold"/>
              </a:rPr>
              <a:t>Q</a:t>
            </a:r>
            <a:r>
              <a:rPr lang="en-US" sz="1300" b="0" spc="130">
                <a:solidFill>
                  <a:srgbClr val="F5F7FB"/>
                </a:solidFill>
                <a:latin typeface="Bahnschrift SemiBold"/>
              </a:rPr>
              <a:t>)</a:t>
            </a:r>
            <a:endParaRPr sz="1300" b="0" spc="130">
              <a:solidFill>
                <a:srgbClr val="F5F7FB"/>
              </a:solidFill>
              <a:latin typeface="Bahnschrift SemiBold"/>
            </a:endParaRP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err="1">
                <a:solidFill>
                  <a:srgbClr val="BAC6DA"/>
                </a:solidFill>
                <a:latin typeface="Bahnschrift"/>
              </a:rPr>
              <a:t>quanto</a:t>
            </a:r>
            <a:r>
              <a:rPr sz="950" b="0">
                <a:solidFill>
                  <a:srgbClr val="BAC6DA"/>
                </a:solidFill>
                <a:latin typeface="Bahnschrift"/>
              </a:rPr>
              <a:t> se </a:t>
            </a:r>
            <a:r>
              <a:rPr sz="950" b="0" err="1">
                <a:solidFill>
                  <a:srgbClr val="BAC6DA"/>
                </a:solidFill>
                <a:latin typeface="Bahnschrift"/>
              </a:rPr>
              <a:t>espera</a:t>
            </a:r>
            <a:r>
              <a:rPr sz="950" b="0">
                <a:solidFill>
                  <a:srgbClr val="BAC6DA"/>
                </a:solidFill>
                <a:latin typeface="Bahnschrift"/>
              </a:rPr>
              <a:t> render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err="1">
                <a:solidFill>
                  <a:srgbClr val="8395B5"/>
                </a:solidFill>
                <a:latin typeface="Bahnschrift"/>
              </a:rPr>
              <a:t>digitado</a:t>
            </a:r>
            <a:r>
              <a:rPr sz="950" b="0">
                <a:solidFill>
                  <a:srgbClr val="8395B5"/>
                </a:solidFill>
                <a:latin typeface="Bahnschrift"/>
              </a:rPr>
              <a:t> </a:t>
            </a:r>
            <a:r>
              <a:rPr sz="950" b="0" err="1">
                <a:solidFill>
                  <a:srgbClr val="8395B5"/>
                </a:solidFill>
                <a:latin typeface="Bahnschrift"/>
              </a:rPr>
              <a:t>pelo</a:t>
            </a:r>
            <a:r>
              <a:rPr sz="950" b="0">
                <a:solidFill>
                  <a:srgbClr val="8395B5"/>
                </a:solidFill>
                <a:latin typeface="Bahnschrift"/>
              </a:rPr>
              <a:t> gestor</a:t>
            </a:r>
          </a:p>
        </p:txBody>
      </p:sp>
      <p:sp>
        <p:nvSpPr>
          <p:cNvPr id="12" name="!!bar_q"/>
          <p:cNvSpPr/>
          <p:nvPr/>
        </p:nvSpPr>
        <p:spPr>
          <a:xfrm>
            <a:off x="4782312" y="1456456"/>
            <a:ext cx="50292" cy="58009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5811C"/>
              </a:gs>
              <a:gs pos="100000">
                <a:srgbClr val="B5811C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3" name="!!om"/>
          <p:cNvSpPr/>
          <p:nvPr/>
        </p:nvSpPr>
        <p:spPr>
          <a:xfrm>
            <a:off x="8238744" y="1188720"/>
            <a:ext cx="3127248" cy="1115568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30">
                <a:solidFill>
                  <a:srgbClr val="F5F7FB"/>
                </a:solidFill>
                <a:latin typeface="Bahnschrift SemiBold"/>
              </a:rPr>
              <a:t>CONFIANÇA    </a:t>
            </a:r>
            <a:r>
              <a:rPr lang="en-US" sz="1300" b="0" spc="130">
                <a:solidFill>
                  <a:srgbClr val="F5F7FB"/>
                </a:solidFill>
                <a:latin typeface="Bahnschrift SemiBold"/>
              </a:rPr>
              <a:t>(</a:t>
            </a:r>
            <a:r>
              <a:rPr sz="1300" b="0" spc="130">
                <a:solidFill>
                  <a:srgbClr val="F5F7FB"/>
                </a:solidFill>
                <a:latin typeface="Bahnschrift SemiBold"/>
              </a:rPr>
              <a:t>Ω</a:t>
            </a:r>
            <a:r>
              <a:rPr lang="en-US" sz="1300" b="0" spc="130">
                <a:solidFill>
                  <a:srgbClr val="F5F7FB"/>
                </a:solidFill>
                <a:latin typeface="Bahnschrift SemiBold"/>
              </a:rPr>
              <a:t>)</a:t>
            </a:r>
            <a:endParaRPr sz="1300" b="0" spc="130">
              <a:solidFill>
                <a:srgbClr val="F5F7FB"/>
              </a:solidFill>
              <a:latin typeface="Bahnschrift SemiBold"/>
            </a:endParaRP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BAC6DA"/>
                </a:solidFill>
                <a:latin typeface="Bahnschrift"/>
              </a:rPr>
              <a:t>o </a:t>
            </a:r>
            <a:r>
              <a:rPr sz="950" b="0" err="1">
                <a:solidFill>
                  <a:srgbClr val="BAC6DA"/>
                </a:solidFill>
                <a:latin typeface="Bahnschrift"/>
              </a:rPr>
              <a:t>quanto</a:t>
            </a:r>
            <a:r>
              <a:rPr sz="950" b="0">
                <a:solidFill>
                  <a:srgbClr val="BAC6DA"/>
                </a:solidFill>
                <a:latin typeface="Bahnschrift"/>
              </a:rPr>
              <a:t> </a:t>
            </a:r>
            <a:r>
              <a:rPr sz="950" b="0" err="1">
                <a:solidFill>
                  <a:srgbClr val="BAC6DA"/>
                </a:solidFill>
                <a:latin typeface="Bahnschrift"/>
              </a:rPr>
              <a:t>ela</a:t>
            </a:r>
            <a:r>
              <a:rPr sz="950" b="0">
                <a:solidFill>
                  <a:srgbClr val="BAC6DA"/>
                </a:solidFill>
                <a:latin typeface="Bahnschrift"/>
              </a:rPr>
              <a:t> </a:t>
            </a:r>
            <a:r>
              <a:rPr sz="950" b="0" err="1">
                <a:solidFill>
                  <a:srgbClr val="BAC6DA"/>
                </a:solidFill>
                <a:latin typeface="Bahnschrift"/>
              </a:rPr>
              <a:t>pesa</a:t>
            </a:r>
            <a:endParaRPr sz="950" b="0">
              <a:solidFill>
                <a:srgbClr val="BAC6DA"/>
              </a:solidFill>
              <a:latin typeface="Bahnschrift"/>
            </a:endParaRP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err="1">
                <a:solidFill>
                  <a:srgbClr val="8395B5"/>
                </a:solidFill>
                <a:latin typeface="Bahnschrift"/>
              </a:rPr>
              <a:t>digitado</a:t>
            </a:r>
            <a:r>
              <a:rPr sz="950" b="0">
                <a:solidFill>
                  <a:srgbClr val="8395B5"/>
                </a:solidFill>
                <a:latin typeface="Bahnschrift"/>
              </a:rPr>
              <a:t> </a:t>
            </a:r>
            <a:r>
              <a:rPr sz="950" b="0" err="1">
                <a:solidFill>
                  <a:srgbClr val="8395B5"/>
                </a:solidFill>
                <a:latin typeface="Bahnschrift"/>
              </a:rPr>
              <a:t>pelo</a:t>
            </a:r>
            <a:r>
              <a:rPr sz="950" b="0">
                <a:solidFill>
                  <a:srgbClr val="8395B5"/>
                </a:solidFill>
                <a:latin typeface="Bahnschrift"/>
              </a:rPr>
              <a:t> gestor</a:t>
            </a:r>
          </a:p>
        </p:txBody>
      </p:sp>
      <p:sp>
        <p:nvSpPr>
          <p:cNvPr id="14" name="!!bar_om"/>
          <p:cNvSpPr/>
          <p:nvPr/>
        </p:nvSpPr>
        <p:spPr>
          <a:xfrm>
            <a:off x="8494776" y="1456456"/>
            <a:ext cx="50292" cy="58009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5811C"/>
              </a:gs>
              <a:gs pos="100000">
                <a:srgbClr val="B5811C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5" name="!!cart"/>
          <p:cNvSpPr/>
          <p:nvPr/>
        </p:nvSpPr>
        <p:spPr>
          <a:xfrm>
            <a:off x="4526280" y="2743200"/>
            <a:ext cx="3127248" cy="950976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30">
                <a:solidFill>
                  <a:srgbClr val="F5F7FB"/>
                </a:solidFill>
                <a:latin typeface="Bahnschrift SemiBold"/>
              </a:rPr>
              <a:t>CARTEIRA  BL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BAC6DA"/>
                </a:solidFill>
                <a:latin typeface="Bahnschrift"/>
              </a:rPr>
              <a:t>9 ETFs, os pesos do dia</a:t>
            </a:r>
          </a:p>
        </p:txBody>
      </p:sp>
      <p:sp>
        <p:nvSpPr>
          <p:cNvPr id="16" name="!!bar_cart"/>
          <p:cNvSpPr/>
          <p:nvPr/>
        </p:nvSpPr>
        <p:spPr>
          <a:xfrm>
            <a:off x="4782312" y="2971434"/>
            <a:ext cx="50292" cy="49450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FD3B0"/>
              </a:gs>
              <a:gs pos="100000">
                <a:srgbClr val="2FD3B0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7" name="!!op_mais"/>
          <p:cNvSpPr/>
          <p:nvPr/>
        </p:nvSpPr>
        <p:spPr>
          <a:xfrm>
            <a:off x="4064507" y="1572768"/>
            <a:ext cx="347472" cy="347472"/>
          </a:xfrm>
          <a:prstGeom prst="ellipse">
            <a:avLst/>
          </a:prstGeom>
          <a:solidFill>
            <a:srgbClr val="0B1426"/>
          </a:solidFill>
          <a:ln w="9525">
            <a:solidFill>
              <a:srgbClr val="FFB531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AC6DA"/>
                </a:solidFill>
                <a:latin typeface="Bahnschrift SemiLight"/>
              </a:rPr>
              <a:t>+</a:t>
            </a:r>
          </a:p>
        </p:txBody>
      </p:sp>
      <p:sp>
        <p:nvSpPr>
          <p:cNvPr id="18" name="!!op_vezes"/>
          <p:cNvSpPr/>
          <p:nvPr/>
        </p:nvSpPr>
        <p:spPr>
          <a:xfrm>
            <a:off x="7772400" y="1572768"/>
            <a:ext cx="347472" cy="347472"/>
          </a:xfrm>
          <a:prstGeom prst="ellipse">
            <a:avLst/>
          </a:prstGeom>
          <a:solidFill>
            <a:srgbClr val="0B1426"/>
          </a:solidFill>
          <a:ln w="9525">
            <a:solidFill>
              <a:srgbClr val="FFB531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AC6DA"/>
                </a:solidFill>
                <a:latin typeface="Bahnschrift SemiLight"/>
              </a:rPr>
              <a:t>×</a:t>
            </a:r>
          </a:p>
        </p:txBody>
      </p:sp>
      <p:sp>
        <p:nvSpPr>
          <p:cNvPr id="19" name="!!chave"/>
          <p:cNvSpPr/>
          <p:nvPr/>
        </p:nvSpPr>
        <p:spPr>
          <a:xfrm rot="5400000">
            <a:off x="6006693" y="-2733141"/>
            <a:ext cx="175564" cy="10543032"/>
          </a:xfrm>
          <a:prstGeom prst="rightBrace">
            <a:avLst>
              <a:gd name="adj1" fmla="val 30000"/>
              <a:gd name="adj2" fmla="val 50000"/>
            </a:avLst>
          </a:prstGeom>
          <a:noFill/>
          <a:ln w="15875">
            <a:solidFill>
              <a:srgbClr val="839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cxnSp>
        <p:nvCxnSpPr>
          <p:cNvPr id="20" name="!!seta_cart"/>
          <p:cNvCxnSpPr/>
          <p:nvPr/>
        </p:nvCxnSpPr>
        <p:spPr>
          <a:xfrm>
            <a:off x="6089904" y="2626156"/>
            <a:ext cx="0" cy="98756"/>
          </a:xfrm>
          <a:prstGeom prst="line">
            <a:avLst/>
          </a:prstGeom>
          <a:ln w="15875">
            <a:solidFill>
              <a:srgbClr val="8395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3_19"/>
          <p:cNvSpPr txBox="1"/>
          <p:nvPr/>
        </p:nvSpPr>
        <p:spPr>
          <a:xfrm>
            <a:off x="6052576" y="4010333"/>
            <a:ext cx="4846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FB531"/>
                </a:solidFill>
                <a:latin typeface="Consolas"/>
              </a:rPr>
              <a:t>O QUE O </a:t>
            </a:r>
            <a:r>
              <a:rPr lang="pt-BR" sz="950" b="1" spc="100">
                <a:solidFill>
                  <a:srgbClr val="FFB531"/>
                </a:solidFill>
                <a:latin typeface="Consolas"/>
              </a:rPr>
              <a:t>BLACK-LITTERMAN</a:t>
            </a:r>
            <a:r>
              <a:rPr sz="950" b="1" spc="100">
                <a:solidFill>
                  <a:srgbClr val="FFB531"/>
                </a:solidFill>
                <a:latin typeface="Consolas"/>
              </a:rPr>
              <a:t> FAZ</a:t>
            </a:r>
          </a:p>
        </p:txBody>
      </p:sp>
      <p:sp>
        <p:nvSpPr>
          <p:cNvPr id="22" name="s3_20"/>
          <p:cNvSpPr txBox="1"/>
          <p:nvPr/>
        </p:nvSpPr>
        <p:spPr>
          <a:xfrm>
            <a:off x="6052576" y="4321229"/>
            <a:ext cx="4846320" cy="1125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50" b="0">
                <a:solidFill>
                  <a:srgbClr val="F5F7FB"/>
                </a:solidFill>
                <a:latin typeface="Bahnschrift SemiBold"/>
              </a:rPr>
              <a:t>Parte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do </a:t>
            </a:r>
            <a:r>
              <a:rPr lang="pt-BR" sz="1150" b="0">
                <a:solidFill>
                  <a:srgbClr val="F5F7FB"/>
                </a:solidFill>
                <a:latin typeface="Bahnschrift SemiBold"/>
              </a:rPr>
              <a:t>equilíbrio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A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carteira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base é a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o mercado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já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carrega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endParaRPr lang="pt-BR" sz="1150">
              <a:solidFill>
                <a:srgbClr val="BAC6DA"/>
              </a:solidFill>
              <a:latin typeface="Bahnschrift SemiLight"/>
            </a:endParaRPr>
          </a:p>
          <a:p>
            <a:pPr algn="just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err="1">
                <a:solidFill>
                  <a:srgbClr val="F5F7FB"/>
                </a:solidFill>
                <a:latin typeface="Bahnschrift SemiBold"/>
              </a:rPr>
              <a:t>Você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lang="pt-BR" sz="1150" b="0">
                <a:solidFill>
                  <a:srgbClr val="F5F7FB"/>
                </a:solidFill>
                <a:latin typeface="Bahnschrift SemiBold"/>
              </a:rPr>
              <a:t>entrega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lang="pt-BR" sz="1150" b="0">
                <a:solidFill>
                  <a:srgbClr val="F5F7FB"/>
                </a:solidFill>
                <a:latin typeface="Bahnschrift SemiBold"/>
              </a:rPr>
              <a:t>opinião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e </a:t>
            </a:r>
            <a:r>
              <a:rPr lang="pt-BR" sz="1150" b="0">
                <a:solidFill>
                  <a:srgbClr val="F5F7FB"/>
                </a:solidFill>
                <a:latin typeface="Bahnschrift SemiBold"/>
              </a:rPr>
              <a:t>confiança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O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modelo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faz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a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conta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e devolve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os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pesos do dia.</a:t>
            </a:r>
            <a:endParaRPr lang="en-US" sz="1150" b="0">
              <a:solidFill>
                <a:srgbClr val="BAC6DA"/>
              </a:solidFill>
              <a:latin typeface="Bahnschrift SemiLight"/>
            </a:endParaRPr>
          </a:p>
          <a:p>
            <a:pPr algn="just">
              <a:spcBef>
                <a:spcPts val="800"/>
              </a:spcBef>
            </a:pPr>
            <a:r>
              <a:rPr lang="pt-BR" sz="1150" b="0">
                <a:solidFill>
                  <a:schemeClr val="bg1"/>
                </a:solidFill>
                <a:latin typeface="Bahnschrift SemiBold" panose="020B0502040204020203" pitchFamily="34" charset="0"/>
                <a:cs typeface="Bahnschrift SemiBold" panose="020B0502040204020203" pitchFamily="34" charset="0"/>
              </a:rPr>
              <a:t>Sem confiança nas </a:t>
            </a:r>
            <a:r>
              <a:rPr lang="pt-BR" sz="1150" b="0" err="1">
                <a:solidFill>
                  <a:schemeClr val="bg1"/>
                </a:solidFill>
                <a:latin typeface="Bahnschrift SemiBold" panose="020B0502040204020203" pitchFamily="34" charset="0"/>
                <a:cs typeface="Bahnschrift SemiBold" panose="020B0502040204020203" pitchFamily="34" charset="0"/>
              </a:rPr>
              <a:t>views</a:t>
            </a:r>
            <a:r>
              <a:rPr lang="pt-BR" sz="1150" b="0">
                <a:solidFill>
                  <a:schemeClr val="bg1"/>
                </a:solidFill>
                <a:latin typeface="Bahnschrift SemiBold" panose="020B0502040204020203" pitchFamily="34" charset="0"/>
                <a:cs typeface="Bahnschrift SemiBold" panose="020B0502040204020203" pitchFamily="34" charset="0"/>
              </a:rPr>
              <a:t>, o BL devolve a carteira de mercado. </a:t>
            </a:r>
            <a:r>
              <a:rPr lang="pt-BR" sz="1150">
                <a:solidFill>
                  <a:srgbClr val="8FA2C2"/>
                </a:solidFill>
                <a:latin typeface="Bahnschrift SemiLight" panose="020B0502040204020203" pitchFamily="34" charset="0"/>
                <a:cs typeface="Bahnschrift SemiLight" panose="020B0502040204020203" pitchFamily="34" charset="0"/>
              </a:rPr>
              <a:t>Todo desvio do benchmark é proporcional à confiança na opinião.</a:t>
            </a:r>
            <a:endParaRPr sz="1150" b="0">
              <a:solidFill>
                <a:srgbClr val="8FA2C2"/>
              </a:solidFill>
              <a:latin typeface="Bahnschrift SemiLight" panose="020B0502040204020203" pitchFamily="34" charset="0"/>
              <a:cs typeface="Bahnschrift SemiLight" panose="020B0502040204020203" pitchFamily="34" charset="0"/>
            </a:endParaRPr>
          </a:p>
        </p:txBody>
      </p:sp>
      <p:sp>
        <p:nvSpPr>
          <p:cNvPr id="7" name="s3_21">
            <a:extLst>
              <a:ext uri="{FF2B5EF4-FFF2-40B4-BE49-F238E27FC236}">
                <a16:creationId xmlns:a16="http://schemas.microsoft.com/office/drawing/2014/main" id="{8CB51475-DD17-A772-7A41-113CD52CBCDA}"/>
              </a:ext>
            </a:extLst>
          </p:cNvPr>
          <p:cNvSpPr txBox="1"/>
          <p:nvPr/>
        </p:nvSpPr>
        <p:spPr>
          <a:xfrm>
            <a:off x="961999" y="4125155"/>
            <a:ext cx="5330952" cy="168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50" b="1" spc="100">
                <a:solidFill>
                  <a:srgbClr val="FFB531"/>
                </a:solidFill>
                <a:latin typeface="Consolas"/>
              </a:rPr>
              <a:t>PORQUE O BLACK-LITTERMAN</a:t>
            </a:r>
            <a:endParaRPr sz="950" b="1" spc="100">
              <a:solidFill>
                <a:srgbClr val="FFB531"/>
              </a:solidFill>
              <a:latin typeface="Consolas"/>
            </a:endParaRPr>
          </a:p>
        </p:txBody>
      </p:sp>
      <p:sp>
        <p:nvSpPr>
          <p:cNvPr id="33" name="s3_22">
            <a:extLst>
              <a:ext uri="{FF2B5EF4-FFF2-40B4-BE49-F238E27FC236}">
                <a16:creationId xmlns:a16="http://schemas.microsoft.com/office/drawing/2014/main" id="{3A189DA2-DFE8-9C22-9297-520165789642}"/>
              </a:ext>
            </a:extLst>
          </p:cNvPr>
          <p:cNvSpPr txBox="1"/>
          <p:nvPr/>
        </p:nvSpPr>
        <p:spPr>
          <a:xfrm>
            <a:off x="231314" y="4509119"/>
            <a:ext cx="5330952" cy="746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50" b="0">
                <a:solidFill>
                  <a:srgbClr val="F5F7FB"/>
                </a:solidFill>
                <a:latin typeface="Bahnschrift SemiBold"/>
              </a:rPr>
              <a:t>Opiniões independentes.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 Permite criar previsões diferentes que e pontuais.</a:t>
            </a:r>
          </a:p>
          <a:p>
            <a:pPr algn="just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lang="pt-BR" sz="1150" b="0">
                <a:solidFill>
                  <a:srgbClr val="F5F7FB"/>
                </a:solidFill>
                <a:latin typeface="Bahnschrift SemiBold"/>
              </a:rPr>
              <a:t>Não é preciso opinar sobre tudo.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lang="pt-BR" sz="1150">
                <a:solidFill>
                  <a:srgbClr val="BAC6DA"/>
                </a:solidFill>
                <a:latin typeface="Bahnschrift SemiLight"/>
              </a:rPr>
              <a:t>Nem sempre o </a:t>
            </a:r>
            <a:r>
              <a:rPr lang="pt-BR" sz="1150" err="1">
                <a:solidFill>
                  <a:srgbClr val="BAC6DA"/>
                </a:solidFill>
                <a:latin typeface="Bahnschrift SemiLight"/>
              </a:rPr>
              <a:t>Polymarket</a:t>
            </a:r>
            <a:r>
              <a:rPr lang="pt-BR" sz="1150">
                <a:solidFill>
                  <a:srgbClr val="BAC6DA"/>
                </a:solidFill>
                <a:latin typeface="Bahnschrift SemiLight"/>
              </a:rPr>
              <a:t> vai dar informação de valor.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04</a:t>
            </a:r>
          </a:p>
        </p:txBody>
      </p:sp>
      <p:sp>
        <p:nvSpPr>
          <p:cNvPr id="52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SEMIFINAL 2026</a:t>
            </a:r>
          </a:p>
        </p:txBody>
      </p:sp>
      <p:sp>
        <p:nvSpPr>
          <p:cNvPr id="54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2" name="s4_0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A opinião (Q) vem do Polymarket</a:t>
            </a:r>
          </a:p>
        </p:txBody>
      </p:sp>
      <p:sp>
        <p:nvSpPr>
          <p:cNvPr id="3" name="s4_1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8395B5"/>
                </a:solidFill>
                <a:latin typeface="Consolas"/>
              </a:rPr>
              <a:t>04</a:t>
            </a:r>
          </a:p>
        </p:txBody>
      </p:sp>
      <p:cxnSp>
        <p:nvCxnSpPr>
          <p:cNvPr id="4" name="s4_2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4_3"/>
          <p:cNvCxnSpPr/>
          <p:nvPr/>
        </p:nvCxnSpPr>
        <p:spPr>
          <a:xfrm>
            <a:off x="822960" y="393192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4_4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halo"/>
          <p:cNvSpPr/>
          <p:nvPr/>
        </p:nvSpPr>
        <p:spPr>
          <a:xfrm>
            <a:off x="3803904" y="786384"/>
            <a:ext cx="4572000" cy="1920240"/>
          </a:xfrm>
          <a:prstGeom prst="ellipse">
            <a:avLst/>
          </a:prstGeom>
          <a:solidFill>
            <a:srgbClr val="FFB531">
              <a:alpha val="17000"/>
            </a:srgbClr>
          </a:solidFill>
          <a:ln>
            <a:noFill/>
          </a:ln>
          <a:effectLst>
            <a:softEdge rad="13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9" name="!!eq"/>
          <p:cNvSpPr/>
          <p:nvPr/>
        </p:nvSpPr>
        <p:spPr>
          <a:xfrm>
            <a:off x="822960" y="1188720"/>
            <a:ext cx="3127248" cy="1115568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30">
                <a:solidFill>
                  <a:srgbClr val="F5F7FB"/>
                </a:solidFill>
                <a:latin typeface="Bahnschrift SemiBold"/>
              </a:rPr>
              <a:t>EQUILÍBRIO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BAC6DA"/>
                </a:solidFill>
                <a:latin typeface="Bahnschrift"/>
              </a:rPr>
              <a:t>o que o mercado já espera</a:t>
            </a:r>
          </a:p>
        </p:txBody>
      </p:sp>
      <p:sp>
        <p:nvSpPr>
          <p:cNvPr id="10" name="!!bar_eq"/>
          <p:cNvSpPr/>
          <p:nvPr/>
        </p:nvSpPr>
        <p:spPr>
          <a:xfrm>
            <a:off x="1078992" y="1456456"/>
            <a:ext cx="50292" cy="58009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F8EF7"/>
              </a:gs>
              <a:gs pos="100000">
                <a:srgbClr val="4F8EF7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1" name="!!q"/>
          <p:cNvSpPr/>
          <p:nvPr/>
        </p:nvSpPr>
        <p:spPr>
          <a:xfrm>
            <a:off x="4526280" y="1188720"/>
            <a:ext cx="3127248" cy="1115568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FFB531"/>
            </a:solidFill>
          </a:ln>
          <a:effectLst>
            <a:glow rad="130000">
              <a:srgbClr val="FFB531">
                <a:alpha val="3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8348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0" spc="130">
                <a:solidFill>
                  <a:srgbClr val="FFB531"/>
                </a:solidFill>
                <a:latin typeface="Bahnschrift SemiBold"/>
              </a:rPr>
              <a:t>PREVISÃO</a:t>
            </a:r>
            <a:r>
              <a:rPr sz="1300" b="0" spc="130">
                <a:solidFill>
                  <a:srgbClr val="FFB531"/>
                </a:solidFill>
                <a:latin typeface="Bahnschrift SemiBold"/>
              </a:rPr>
              <a:t>    </a:t>
            </a:r>
            <a:r>
              <a:rPr lang="en-US" sz="1300" b="0" spc="130">
                <a:solidFill>
                  <a:srgbClr val="FFB531"/>
                </a:solidFill>
                <a:latin typeface="Bahnschrift SemiBold"/>
              </a:rPr>
              <a:t>(</a:t>
            </a:r>
            <a:r>
              <a:rPr sz="1300" b="0" spc="130">
                <a:solidFill>
                  <a:srgbClr val="FFB531"/>
                </a:solidFill>
                <a:latin typeface="Bahnschrift SemiBold"/>
              </a:rPr>
              <a:t>Q</a:t>
            </a:r>
            <a:r>
              <a:rPr lang="en-US" sz="1300" b="0" spc="130">
                <a:solidFill>
                  <a:srgbClr val="FFB531"/>
                </a:solidFill>
                <a:latin typeface="Bahnschrift SemiBold"/>
              </a:rPr>
              <a:t>)</a:t>
            </a:r>
            <a:endParaRPr sz="1300" b="0" spc="130">
              <a:solidFill>
                <a:srgbClr val="FFB531"/>
              </a:solidFill>
              <a:latin typeface="Bahnschrift SemiBold"/>
            </a:endParaRP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err="1">
                <a:solidFill>
                  <a:srgbClr val="BAC6DA"/>
                </a:solidFill>
                <a:latin typeface="Bahnschrift"/>
              </a:rPr>
              <a:t>quanto</a:t>
            </a:r>
            <a:r>
              <a:rPr sz="950" b="0">
                <a:solidFill>
                  <a:srgbClr val="BAC6DA"/>
                </a:solidFill>
                <a:latin typeface="Bahnschrift"/>
              </a:rPr>
              <a:t> se </a:t>
            </a:r>
            <a:r>
              <a:rPr sz="950" b="0" err="1">
                <a:solidFill>
                  <a:srgbClr val="BAC6DA"/>
                </a:solidFill>
                <a:latin typeface="Bahnschrift"/>
              </a:rPr>
              <a:t>espera</a:t>
            </a:r>
            <a:r>
              <a:rPr sz="950" b="0">
                <a:solidFill>
                  <a:srgbClr val="BAC6DA"/>
                </a:solidFill>
                <a:latin typeface="Bahnschrift"/>
              </a:rPr>
              <a:t> render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FFB531"/>
                </a:solidFill>
                <a:latin typeface="Bahnschrift SemiBold"/>
              </a:rPr>
              <a:t>POLYMARKET</a:t>
            </a:r>
          </a:p>
        </p:txBody>
      </p:sp>
      <p:sp>
        <p:nvSpPr>
          <p:cNvPr id="12" name="!!bar_q"/>
          <p:cNvSpPr/>
          <p:nvPr/>
        </p:nvSpPr>
        <p:spPr>
          <a:xfrm>
            <a:off x="4782312" y="1456456"/>
            <a:ext cx="77724" cy="58009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3" name="!!om"/>
          <p:cNvSpPr/>
          <p:nvPr/>
        </p:nvSpPr>
        <p:spPr>
          <a:xfrm>
            <a:off x="8238744" y="1188720"/>
            <a:ext cx="3127248" cy="1115568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30">
                <a:solidFill>
                  <a:srgbClr val="F5F7FB"/>
                </a:solidFill>
                <a:latin typeface="Bahnschrift SemiBold"/>
              </a:rPr>
              <a:t>CONFIANÇA    </a:t>
            </a:r>
            <a:r>
              <a:rPr lang="en-US" sz="1300" b="0" spc="130">
                <a:solidFill>
                  <a:srgbClr val="F5F7FB"/>
                </a:solidFill>
                <a:latin typeface="Bahnschrift SemiBold"/>
              </a:rPr>
              <a:t>(</a:t>
            </a:r>
            <a:r>
              <a:rPr sz="1300" b="0" spc="130">
                <a:solidFill>
                  <a:srgbClr val="F5F7FB"/>
                </a:solidFill>
                <a:latin typeface="Bahnschrift SemiBold"/>
              </a:rPr>
              <a:t>Ω</a:t>
            </a:r>
            <a:r>
              <a:rPr lang="en-US" sz="1300" b="0" spc="130">
                <a:solidFill>
                  <a:srgbClr val="F5F7FB"/>
                </a:solidFill>
                <a:latin typeface="Bahnschrift SemiBold"/>
              </a:rPr>
              <a:t>)</a:t>
            </a:r>
            <a:endParaRPr sz="1300" b="0" spc="130">
              <a:solidFill>
                <a:srgbClr val="F5F7FB"/>
              </a:solidFill>
              <a:latin typeface="Bahnschrift SemiBold"/>
            </a:endParaRP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BAC6DA"/>
                </a:solidFill>
                <a:latin typeface="Bahnschrift"/>
              </a:rPr>
              <a:t>o </a:t>
            </a:r>
            <a:r>
              <a:rPr sz="950" b="0" err="1">
                <a:solidFill>
                  <a:srgbClr val="BAC6DA"/>
                </a:solidFill>
                <a:latin typeface="Bahnschrift"/>
              </a:rPr>
              <a:t>quanto</a:t>
            </a:r>
            <a:r>
              <a:rPr sz="950" b="0">
                <a:solidFill>
                  <a:srgbClr val="BAC6DA"/>
                </a:solidFill>
                <a:latin typeface="Bahnschrift"/>
              </a:rPr>
              <a:t> </a:t>
            </a:r>
            <a:r>
              <a:rPr sz="950" b="0" err="1">
                <a:solidFill>
                  <a:srgbClr val="BAC6DA"/>
                </a:solidFill>
                <a:latin typeface="Bahnschrift"/>
              </a:rPr>
              <a:t>ela</a:t>
            </a:r>
            <a:r>
              <a:rPr sz="950" b="0">
                <a:solidFill>
                  <a:srgbClr val="BAC6DA"/>
                </a:solidFill>
                <a:latin typeface="Bahnschrift"/>
              </a:rPr>
              <a:t> </a:t>
            </a:r>
            <a:r>
              <a:rPr sz="950" b="0" err="1">
                <a:solidFill>
                  <a:srgbClr val="BAC6DA"/>
                </a:solidFill>
                <a:latin typeface="Bahnschrift"/>
              </a:rPr>
              <a:t>pesa</a:t>
            </a:r>
            <a:endParaRPr sz="950" b="0">
              <a:solidFill>
                <a:srgbClr val="BAC6DA"/>
              </a:solidFill>
              <a:latin typeface="Bahnschrift"/>
            </a:endParaRP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FFB531"/>
                </a:solidFill>
                <a:latin typeface="Bahnschrift SemiBold"/>
              </a:rPr>
              <a:t>POLYMARKET</a:t>
            </a:r>
          </a:p>
        </p:txBody>
      </p:sp>
      <p:sp>
        <p:nvSpPr>
          <p:cNvPr id="14" name="!!bar_om"/>
          <p:cNvSpPr/>
          <p:nvPr/>
        </p:nvSpPr>
        <p:spPr>
          <a:xfrm>
            <a:off x="8494776" y="1456456"/>
            <a:ext cx="50292" cy="58009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5811C"/>
              </a:gs>
              <a:gs pos="100000">
                <a:srgbClr val="B5811C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5" name="!!cart"/>
          <p:cNvSpPr/>
          <p:nvPr/>
        </p:nvSpPr>
        <p:spPr>
          <a:xfrm>
            <a:off x="4526280" y="2743200"/>
            <a:ext cx="3127248" cy="950976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30">
                <a:solidFill>
                  <a:srgbClr val="F5F7FB"/>
                </a:solidFill>
                <a:latin typeface="Bahnschrift SemiBold"/>
              </a:rPr>
              <a:t>CARTEIRA  BL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BAC6DA"/>
                </a:solidFill>
                <a:latin typeface="Bahnschrift"/>
              </a:rPr>
              <a:t>9 ETFs, os pesos do dia</a:t>
            </a:r>
          </a:p>
        </p:txBody>
      </p:sp>
      <p:sp>
        <p:nvSpPr>
          <p:cNvPr id="16" name="!!bar_cart"/>
          <p:cNvSpPr/>
          <p:nvPr/>
        </p:nvSpPr>
        <p:spPr>
          <a:xfrm>
            <a:off x="4782312" y="2971434"/>
            <a:ext cx="50292" cy="49450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FD3B0"/>
              </a:gs>
              <a:gs pos="100000">
                <a:srgbClr val="2FD3B0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7" name="!!op_mais"/>
          <p:cNvSpPr/>
          <p:nvPr/>
        </p:nvSpPr>
        <p:spPr>
          <a:xfrm>
            <a:off x="4064507" y="1572768"/>
            <a:ext cx="347472" cy="347472"/>
          </a:xfrm>
          <a:prstGeom prst="ellipse">
            <a:avLst/>
          </a:prstGeom>
          <a:solidFill>
            <a:srgbClr val="0B1426"/>
          </a:solidFill>
          <a:ln w="9525">
            <a:solidFill>
              <a:srgbClr val="FFB531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AC6DA"/>
                </a:solidFill>
                <a:latin typeface="Bahnschrift SemiLight"/>
              </a:rPr>
              <a:t>+</a:t>
            </a:r>
          </a:p>
        </p:txBody>
      </p:sp>
      <p:sp>
        <p:nvSpPr>
          <p:cNvPr id="18" name="!!op_vezes"/>
          <p:cNvSpPr/>
          <p:nvPr/>
        </p:nvSpPr>
        <p:spPr>
          <a:xfrm>
            <a:off x="7772400" y="1572768"/>
            <a:ext cx="347472" cy="347472"/>
          </a:xfrm>
          <a:prstGeom prst="ellipse">
            <a:avLst/>
          </a:prstGeom>
          <a:solidFill>
            <a:srgbClr val="0B1426"/>
          </a:solidFill>
          <a:ln w="9525">
            <a:solidFill>
              <a:srgbClr val="FFB531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AC6DA"/>
                </a:solidFill>
                <a:latin typeface="Bahnschrift SemiLight"/>
              </a:rPr>
              <a:t>×</a:t>
            </a:r>
          </a:p>
        </p:txBody>
      </p:sp>
      <p:sp>
        <p:nvSpPr>
          <p:cNvPr id="19" name="!!chave"/>
          <p:cNvSpPr/>
          <p:nvPr/>
        </p:nvSpPr>
        <p:spPr>
          <a:xfrm rot="5400000">
            <a:off x="6006693" y="-2733141"/>
            <a:ext cx="175564" cy="10543032"/>
          </a:xfrm>
          <a:prstGeom prst="rightBrace">
            <a:avLst>
              <a:gd name="adj1" fmla="val 30000"/>
              <a:gd name="adj2" fmla="val 50000"/>
            </a:avLst>
          </a:prstGeom>
          <a:noFill/>
          <a:ln w="15875">
            <a:solidFill>
              <a:srgbClr val="839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cxnSp>
        <p:nvCxnSpPr>
          <p:cNvPr id="20" name="!!seta_cart"/>
          <p:cNvCxnSpPr/>
          <p:nvPr/>
        </p:nvCxnSpPr>
        <p:spPr>
          <a:xfrm>
            <a:off x="6089904" y="2626156"/>
            <a:ext cx="0" cy="98756"/>
          </a:xfrm>
          <a:prstGeom prst="line">
            <a:avLst/>
          </a:prstGeom>
          <a:ln w="15875">
            <a:solidFill>
              <a:srgbClr val="8395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4_19"/>
          <p:cNvSpPr txBox="1"/>
          <p:nvPr/>
        </p:nvSpPr>
        <p:spPr>
          <a:xfrm>
            <a:off x="4782312" y="4206241"/>
            <a:ext cx="67665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FB531"/>
                </a:solidFill>
                <a:latin typeface="Consolas"/>
              </a:rPr>
              <a:t>DE ONDE VEM O </a:t>
            </a:r>
            <a:r>
              <a:rPr lang="pt-BR" sz="950" b="1" spc="100">
                <a:solidFill>
                  <a:srgbClr val="FFB531"/>
                </a:solidFill>
                <a:latin typeface="Consolas"/>
              </a:rPr>
              <a:t>RETORNO ESPERADO POR ATIVO (Q)</a:t>
            </a:r>
            <a:endParaRPr sz="950" b="1" spc="100">
              <a:solidFill>
                <a:srgbClr val="FFB531"/>
              </a:solidFill>
              <a:latin typeface="Consola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s4_22"/>
              <p:cNvSpPr txBox="1"/>
              <p:nvPr/>
            </p:nvSpPr>
            <p:spPr>
              <a:xfrm>
                <a:off x="4782312" y="4728211"/>
                <a:ext cx="6766560" cy="26930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pt-BR" sz="1400" b="0" i="1" spc="40" dirty="0" smtClean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pt-BR" sz="1400" b="0" i="1" spc="40" dirty="0" smtClean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 = (</m:t>
                      </m:r>
                      <m:r>
                        <a:rPr lang="pt-BR" sz="1400" b="0" i="1" spc="40" dirty="0" err="1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sz="1400" b="0" i="1" spc="40" dirty="0" err="1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pt-BR" sz="1400" b="0" i="1" spc="40" dirty="0" err="1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𝑝𝑜𝑙𝑦</m:t>
                      </m:r>
                      <m:r>
                        <a:rPr lang="pt-BR" sz="1400" b="0" i="1" spc="40" dirty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pt-BR" sz="1400" b="0" i="1" spc="40" dirty="0" err="1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â</m:t>
                      </m:r>
                      <m:r>
                        <a:rPr lang="pt-BR" sz="1400" b="0" i="1" spc="40" dirty="0" err="1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𝑛𝑐𝑜𝑟𝑎</m:t>
                      </m:r>
                      <m:r>
                        <a:rPr lang="pt-BR" sz="1400" b="0" i="1" spc="40" dirty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) · </m:t>
                      </m:r>
                      <m:r>
                        <m:rPr>
                          <m:sty m:val="p"/>
                        </m:rPr>
                        <a:rPr lang="el-GR" sz="1400" b="0" i="0" spc="40" dirty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l-GR" sz="1400" b="0" i="1" spc="40" dirty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l-GR" sz="1400" b="0" i="1" spc="40" dirty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1400" b="0" i="1" spc="40" dirty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ᵢ </m:t>
                      </m:r>
                      <m:r>
                        <a:rPr lang="pt-BR" sz="1400" b="0" i="1" spc="40" dirty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pt-BR" sz="1400" b="0" i="1" spc="40" dirty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ᵢ</m:t>
                      </m:r>
                    </m:oMath>
                  </m:oMathPara>
                </a14:m>
                <a:endParaRPr lang="pt-BR" sz="1400">
                  <a:solidFill>
                    <a:srgbClr val="FFB531"/>
                  </a:solidFill>
                  <a:latin typeface="Bahnschrift SemiLight"/>
                </a:endParaRPr>
              </a:p>
            </p:txBody>
          </p:sp>
        </mc:Choice>
        <mc:Fallback>
          <p:sp>
            <p:nvSpPr>
              <p:cNvPr id="24" name="s4_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2312" y="4728211"/>
                <a:ext cx="6766560" cy="269304"/>
              </a:xfrm>
              <a:prstGeom prst="rect">
                <a:avLst/>
              </a:prstGeom>
              <a:blipFill>
                <a:blip r:embed="rId3"/>
                <a:stretch>
                  <a:fillRect t="-11364" b="-318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4_23"/>
          <p:cNvSpPr/>
          <p:nvPr/>
        </p:nvSpPr>
        <p:spPr>
          <a:xfrm>
            <a:off x="4782311" y="5358385"/>
            <a:ext cx="45721" cy="54654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26" name="s4_24"/>
          <p:cNvSpPr txBox="1"/>
          <p:nvPr/>
        </p:nvSpPr>
        <p:spPr>
          <a:xfrm>
            <a:off x="5001768" y="5358385"/>
            <a:ext cx="6547104" cy="7814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5F7FB"/>
                </a:solidFill>
                <a:latin typeface="Bahnschrift SemiBold"/>
              </a:rPr>
              <a:t>β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medido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em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anúncios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passados. 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É obtido </a:t>
            </a:r>
            <a:r>
              <a:rPr lang="pt-BR" sz="1150">
                <a:solidFill>
                  <a:srgbClr val="BAC6DA"/>
                </a:solidFill>
                <a:latin typeface="Bahnschrift SemiLight"/>
              </a:rPr>
              <a:t>por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event-study.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0">
                <a:solidFill>
                  <a:srgbClr val="F5F7FB"/>
                </a:solidFill>
                <a:latin typeface="Bahnschrift SemiBold"/>
              </a:rPr>
              <a:t>Em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quase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todo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pregão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há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ao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menos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uma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view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ativa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Não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é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preciso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ter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opinião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sobre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tudo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, sempre.</a:t>
            </a:r>
          </a:p>
        </p:txBody>
      </p:sp>
    </p:spTree>
    <p:extLst>
      <p:ext uri="{BB962C8B-B14F-4D97-AF65-F5344CB8AC3E}">
        <p14:creationId xmlns:p14="http://schemas.microsoft.com/office/powerpoint/2010/main" val="29713070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!!glow_tl"/>
          <p:cNvSpPr/>
          <p:nvPr/>
        </p:nvSpPr>
        <p:spPr>
          <a:xfrm>
            <a:off x="-2345704" y="-1867611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9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10</a:t>
            </a:r>
          </a:p>
        </p:txBody>
      </p:sp>
      <p:sp>
        <p:nvSpPr>
          <p:cNvPr id="50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52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2" name="s5_0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A confiança (Ω) é medida, não declarada</a:t>
            </a:r>
          </a:p>
        </p:txBody>
      </p:sp>
      <p:sp>
        <p:nvSpPr>
          <p:cNvPr id="3" name="s5_1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8395B5"/>
                </a:solidFill>
                <a:latin typeface="Consolas"/>
              </a:rPr>
              <a:t>10</a:t>
            </a:r>
          </a:p>
        </p:txBody>
      </p:sp>
      <p:cxnSp>
        <p:nvCxnSpPr>
          <p:cNvPr id="4" name="s5_2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5_3"/>
          <p:cNvCxnSpPr/>
          <p:nvPr/>
        </p:nvCxnSpPr>
        <p:spPr>
          <a:xfrm>
            <a:off x="822960" y="393192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5_4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halo"/>
          <p:cNvSpPr/>
          <p:nvPr/>
        </p:nvSpPr>
        <p:spPr>
          <a:xfrm>
            <a:off x="7516368" y="786384"/>
            <a:ext cx="4572000" cy="1920240"/>
          </a:xfrm>
          <a:prstGeom prst="ellipse">
            <a:avLst/>
          </a:prstGeom>
          <a:solidFill>
            <a:srgbClr val="FFB531">
              <a:alpha val="17000"/>
            </a:srgbClr>
          </a:solidFill>
          <a:ln>
            <a:noFill/>
          </a:ln>
          <a:effectLst>
            <a:softEdge rad="13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9" name="!!eq"/>
          <p:cNvSpPr/>
          <p:nvPr/>
        </p:nvSpPr>
        <p:spPr>
          <a:xfrm>
            <a:off x="822960" y="1188720"/>
            <a:ext cx="3127248" cy="1115568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30">
                <a:solidFill>
                  <a:srgbClr val="F5F7FB"/>
                </a:solidFill>
                <a:latin typeface="Bahnschrift SemiBold"/>
              </a:rPr>
              <a:t>EQUILÍBRIO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BAC6DA"/>
                </a:solidFill>
                <a:latin typeface="Bahnschrift"/>
              </a:rPr>
              <a:t>o que o mercado já espera</a:t>
            </a:r>
          </a:p>
        </p:txBody>
      </p:sp>
      <p:sp>
        <p:nvSpPr>
          <p:cNvPr id="10" name="!!bar_eq"/>
          <p:cNvSpPr/>
          <p:nvPr/>
        </p:nvSpPr>
        <p:spPr>
          <a:xfrm>
            <a:off x="1078992" y="1456456"/>
            <a:ext cx="50292" cy="58009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F8EF7"/>
              </a:gs>
              <a:gs pos="100000">
                <a:srgbClr val="4F8EF7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1" name="!!q"/>
          <p:cNvSpPr/>
          <p:nvPr/>
        </p:nvSpPr>
        <p:spPr>
          <a:xfrm>
            <a:off x="4526280" y="1188720"/>
            <a:ext cx="3127248" cy="1115568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0" spc="130">
                <a:solidFill>
                  <a:srgbClr val="F5F7FB"/>
                </a:solidFill>
                <a:latin typeface="Bahnschrift SemiBold"/>
              </a:rPr>
              <a:t>PREVISÃO</a:t>
            </a:r>
            <a:r>
              <a:rPr sz="1300" b="0" spc="130">
                <a:solidFill>
                  <a:srgbClr val="F5F7FB"/>
                </a:solidFill>
                <a:latin typeface="Bahnschrift SemiBold"/>
              </a:rPr>
              <a:t>    </a:t>
            </a:r>
            <a:r>
              <a:rPr lang="en-US" sz="1300" b="0" spc="130">
                <a:solidFill>
                  <a:srgbClr val="F5F7FB"/>
                </a:solidFill>
                <a:latin typeface="Bahnschrift SemiBold"/>
              </a:rPr>
              <a:t>(</a:t>
            </a:r>
            <a:r>
              <a:rPr sz="1300" b="0" spc="130">
                <a:solidFill>
                  <a:srgbClr val="F5F7FB"/>
                </a:solidFill>
                <a:latin typeface="Bahnschrift SemiBold"/>
              </a:rPr>
              <a:t>Q</a:t>
            </a:r>
            <a:r>
              <a:rPr lang="en-US" sz="1300" spc="130">
                <a:solidFill>
                  <a:srgbClr val="F5F7FB"/>
                </a:solidFill>
                <a:latin typeface="Bahnschrift SemiBold"/>
              </a:rPr>
              <a:t>)</a:t>
            </a:r>
            <a:endParaRPr sz="1300" b="0" spc="130">
              <a:solidFill>
                <a:srgbClr val="F5F7FB"/>
              </a:solidFill>
              <a:latin typeface="Bahnschrift SemiBold"/>
            </a:endParaRP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 err="1">
                <a:solidFill>
                  <a:srgbClr val="BAC6DA"/>
                </a:solidFill>
                <a:latin typeface="Bahnschrift"/>
              </a:rPr>
              <a:t>quanto</a:t>
            </a:r>
            <a:r>
              <a:rPr sz="950" b="0">
                <a:solidFill>
                  <a:srgbClr val="BAC6DA"/>
                </a:solidFill>
                <a:latin typeface="Bahnschrift"/>
              </a:rPr>
              <a:t> se </a:t>
            </a:r>
            <a:r>
              <a:rPr sz="950" b="0" err="1">
                <a:solidFill>
                  <a:srgbClr val="BAC6DA"/>
                </a:solidFill>
                <a:latin typeface="Bahnschrift"/>
              </a:rPr>
              <a:t>espera</a:t>
            </a:r>
            <a:r>
              <a:rPr sz="950" b="0">
                <a:solidFill>
                  <a:srgbClr val="BAC6DA"/>
                </a:solidFill>
                <a:latin typeface="Bahnschrift"/>
              </a:rPr>
              <a:t> render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FFB531"/>
                </a:solidFill>
                <a:latin typeface="Bahnschrift SemiBold"/>
              </a:rPr>
              <a:t>POLYMARKET</a:t>
            </a:r>
          </a:p>
        </p:txBody>
      </p:sp>
      <p:sp>
        <p:nvSpPr>
          <p:cNvPr id="12" name="!!bar_q"/>
          <p:cNvSpPr/>
          <p:nvPr/>
        </p:nvSpPr>
        <p:spPr>
          <a:xfrm>
            <a:off x="4782312" y="1456456"/>
            <a:ext cx="50292" cy="58009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5811C"/>
              </a:gs>
              <a:gs pos="100000">
                <a:srgbClr val="B5811C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3" name="!!om"/>
          <p:cNvSpPr/>
          <p:nvPr/>
        </p:nvSpPr>
        <p:spPr>
          <a:xfrm>
            <a:off x="8238744" y="1188720"/>
            <a:ext cx="3127248" cy="1115568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FFB531"/>
            </a:solidFill>
          </a:ln>
          <a:effectLst>
            <a:glow rad="130000">
              <a:srgbClr val="FFB531">
                <a:alpha val="3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98348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30">
                <a:solidFill>
                  <a:srgbClr val="FFB531"/>
                </a:solidFill>
                <a:latin typeface="Bahnschrift SemiBold"/>
              </a:rPr>
              <a:t>CONFIANÇA    </a:t>
            </a:r>
            <a:r>
              <a:rPr lang="en-US" sz="1300" b="0" spc="130">
                <a:solidFill>
                  <a:srgbClr val="FFB531"/>
                </a:solidFill>
                <a:latin typeface="Bahnschrift SemiBold"/>
              </a:rPr>
              <a:t>(</a:t>
            </a:r>
            <a:r>
              <a:rPr sz="1300" b="0" spc="130">
                <a:solidFill>
                  <a:srgbClr val="FFB531"/>
                </a:solidFill>
                <a:latin typeface="Bahnschrift SemiBold"/>
              </a:rPr>
              <a:t>Ω</a:t>
            </a:r>
            <a:r>
              <a:rPr lang="en-US" sz="1300" spc="130">
                <a:solidFill>
                  <a:srgbClr val="FFB531"/>
                </a:solidFill>
                <a:latin typeface="Bahnschrift SemiBold"/>
              </a:rPr>
              <a:t>)</a:t>
            </a:r>
            <a:endParaRPr sz="1300" b="0" spc="130">
              <a:solidFill>
                <a:srgbClr val="FFB531"/>
              </a:solidFill>
              <a:latin typeface="Bahnschrift SemiBold"/>
            </a:endParaRP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BAC6DA"/>
                </a:solidFill>
                <a:latin typeface="Bahnschrift"/>
              </a:rPr>
              <a:t>o </a:t>
            </a:r>
            <a:r>
              <a:rPr sz="950" b="0" err="1">
                <a:solidFill>
                  <a:srgbClr val="BAC6DA"/>
                </a:solidFill>
                <a:latin typeface="Bahnschrift"/>
              </a:rPr>
              <a:t>quanto</a:t>
            </a:r>
            <a:r>
              <a:rPr sz="950" b="0">
                <a:solidFill>
                  <a:srgbClr val="BAC6DA"/>
                </a:solidFill>
                <a:latin typeface="Bahnschrift"/>
              </a:rPr>
              <a:t> </a:t>
            </a:r>
            <a:r>
              <a:rPr sz="950" b="0" err="1">
                <a:solidFill>
                  <a:srgbClr val="BAC6DA"/>
                </a:solidFill>
                <a:latin typeface="Bahnschrift"/>
              </a:rPr>
              <a:t>ela</a:t>
            </a:r>
            <a:r>
              <a:rPr sz="950" b="0">
                <a:solidFill>
                  <a:srgbClr val="BAC6DA"/>
                </a:solidFill>
                <a:latin typeface="Bahnschrift"/>
              </a:rPr>
              <a:t> </a:t>
            </a:r>
            <a:r>
              <a:rPr sz="950" b="0" err="1">
                <a:solidFill>
                  <a:srgbClr val="BAC6DA"/>
                </a:solidFill>
                <a:latin typeface="Bahnschrift"/>
              </a:rPr>
              <a:t>pesa</a:t>
            </a:r>
            <a:endParaRPr sz="950" b="0">
              <a:solidFill>
                <a:srgbClr val="BAC6DA"/>
              </a:solidFill>
              <a:latin typeface="Bahnschrift"/>
            </a:endParaRP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FFB531"/>
                </a:solidFill>
                <a:latin typeface="Bahnschrift SemiBold"/>
              </a:rPr>
              <a:t>POLYMARKET</a:t>
            </a:r>
          </a:p>
        </p:txBody>
      </p:sp>
      <p:sp>
        <p:nvSpPr>
          <p:cNvPr id="14" name="!!bar_om"/>
          <p:cNvSpPr/>
          <p:nvPr/>
        </p:nvSpPr>
        <p:spPr>
          <a:xfrm>
            <a:off x="8494776" y="1456456"/>
            <a:ext cx="77724" cy="58009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5" name="!!cart"/>
          <p:cNvSpPr/>
          <p:nvPr/>
        </p:nvSpPr>
        <p:spPr>
          <a:xfrm>
            <a:off x="4526280" y="2743200"/>
            <a:ext cx="3127248" cy="950976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70916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30">
                <a:solidFill>
                  <a:srgbClr val="F5F7FB"/>
                </a:solidFill>
                <a:latin typeface="Bahnschrift SemiBold"/>
              </a:rPr>
              <a:t>CARTEIRA  BL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BAC6DA"/>
                </a:solidFill>
                <a:latin typeface="Bahnschrift"/>
              </a:rPr>
              <a:t>9 ETFs, os pesos do dia</a:t>
            </a:r>
          </a:p>
        </p:txBody>
      </p:sp>
      <p:sp>
        <p:nvSpPr>
          <p:cNvPr id="16" name="!!bar_cart"/>
          <p:cNvSpPr/>
          <p:nvPr/>
        </p:nvSpPr>
        <p:spPr>
          <a:xfrm>
            <a:off x="4782312" y="2971434"/>
            <a:ext cx="50292" cy="494507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FD3B0"/>
              </a:gs>
              <a:gs pos="100000">
                <a:srgbClr val="2FD3B0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7" name="!!op_mais"/>
          <p:cNvSpPr/>
          <p:nvPr/>
        </p:nvSpPr>
        <p:spPr>
          <a:xfrm>
            <a:off x="4064507" y="1572768"/>
            <a:ext cx="347472" cy="347472"/>
          </a:xfrm>
          <a:prstGeom prst="ellipse">
            <a:avLst/>
          </a:prstGeom>
          <a:solidFill>
            <a:srgbClr val="0B1426"/>
          </a:solidFill>
          <a:ln w="9525">
            <a:solidFill>
              <a:srgbClr val="FFB531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AC6DA"/>
                </a:solidFill>
                <a:latin typeface="Bahnschrift SemiLight"/>
              </a:rPr>
              <a:t>+</a:t>
            </a:r>
          </a:p>
        </p:txBody>
      </p:sp>
      <p:sp>
        <p:nvSpPr>
          <p:cNvPr id="18" name="!!op_vezes"/>
          <p:cNvSpPr/>
          <p:nvPr/>
        </p:nvSpPr>
        <p:spPr>
          <a:xfrm>
            <a:off x="7772400" y="1572768"/>
            <a:ext cx="347472" cy="347472"/>
          </a:xfrm>
          <a:prstGeom prst="ellipse">
            <a:avLst/>
          </a:prstGeom>
          <a:solidFill>
            <a:srgbClr val="0B1426"/>
          </a:solidFill>
          <a:ln w="9525">
            <a:solidFill>
              <a:srgbClr val="FFB531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AC6DA"/>
                </a:solidFill>
                <a:latin typeface="Bahnschrift SemiLight"/>
              </a:rPr>
              <a:t>×</a:t>
            </a:r>
          </a:p>
        </p:txBody>
      </p:sp>
      <p:sp>
        <p:nvSpPr>
          <p:cNvPr id="19" name="!!chave"/>
          <p:cNvSpPr/>
          <p:nvPr/>
        </p:nvSpPr>
        <p:spPr>
          <a:xfrm rot="5400000">
            <a:off x="6006693" y="-2733141"/>
            <a:ext cx="175564" cy="10543032"/>
          </a:xfrm>
          <a:prstGeom prst="rightBrace">
            <a:avLst>
              <a:gd name="adj1" fmla="val 30000"/>
              <a:gd name="adj2" fmla="val 50000"/>
            </a:avLst>
          </a:prstGeom>
          <a:noFill/>
          <a:ln w="15875">
            <a:solidFill>
              <a:srgbClr val="839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cxnSp>
        <p:nvCxnSpPr>
          <p:cNvPr id="20" name="!!seta_cart"/>
          <p:cNvCxnSpPr/>
          <p:nvPr/>
        </p:nvCxnSpPr>
        <p:spPr>
          <a:xfrm>
            <a:off x="6089904" y="2626156"/>
            <a:ext cx="0" cy="98756"/>
          </a:xfrm>
          <a:prstGeom prst="line">
            <a:avLst/>
          </a:prstGeom>
          <a:ln w="15875">
            <a:solidFill>
              <a:srgbClr val="8395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5_23"/>
          <p:cNvSpPr txBox="1"/>
          <p:nvPr/>
        </p:nvSpPr>
        <p:spPr>
          <a:xfrm>
            <a:off x="7799831" y="4041648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FB531"/>
                </a:solidFill>
                <a:latin typeface="Consolas"/>
              </a:rPr>
              <a:t>A RÉGUA DO Ω</a:t>
            </a:r>
          </a:p>
        </p:txBody>
      </p:sp>
      <p:sp>
        <p:nvSpPr>
          <p:cNvPr id="26" name="s5_24"/>
          <p:cNvSpPr txBox="1"/>
          <p:nvPr/>
        </p:nvSpPr>
        <p:spPr>
          <a:xfrm>
            <a:off x="7799831" y="4420000"/>
            <a:ext cx="356616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B531"/>
                </a:solidFill>
                <a:latin typeface="Bahnschrift SemiBold"/>
              </a:rPr>
              <a:t>c</a:t>
            </a:r>
            <a:r>
              <a:rPr sz="1800" b="0">
                <a:solidFill>
                  <a:srgbClr val="F5F7FB"/>
                </a:solidFill>
                <a:latin typeface="Bahnschrift SemiBold"/>
              </a:rPr>
              <a:t> = ( (1 + v̄ ) · (1 + |Σp − 1|) )</a:t>
            </a:r>
            <a:r>
              <a:rPr sz="1100" b="0" baseline="30000">
                <a:solidFill>
                  <a:srgbClr val="F5F7FB"/>
                </a:solidFill>
                <a:latin typeface="Bahnschrift SemiBold"/>
              </a:rPr>
              <a:t>nível</a:t>
            </a:r>
          </a:p>
        </p:txBody>
      </p:sp>
      <p:sp>
        <p:nvSpPr>
          <p:cNvPr id="27" name="s5_25"/>
          <p:cNvSpPr txBox="1"/>
          <p:nvPr/>
        </p:nvSpPr>
        <p:spPr>
          <a:xfrm>
            <a:off x="7799831" y="4980000"/>
            <a:ext cx="3566160" cy="2059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7FB"/>
                </a:solidFill>
                <a:latin typeface="Bahnschrift SemiBold"/>
              </a:rPr>
              <a:t>v̄ </a:t>
            </a:r>
            <a:r>
              <a:rPr sz="1000" b="0">
                <a:solidFill>
                  <a:srgbClr val="BAC6DA"/>
                </a:solidFill>
                <a:latin typeface="Bahnschrift"/>
              </a:rPr>
              <a:t> — quanto a distribuição se moveu nas últimas leituras.</a:t>
            </a:r>
          </a:p>
        </p:txBody>
      </p:sp>
      <p:sp>
        <p:nvSpPr>
          <p:cNvPr id="28" name="s5_26"/>
          <p:cNvSpPr txBox="1"/>
          <p:nvPr/>
        </p:nvSpPr>
        <p:spPr>
          <a:xfrm>
            <a:off x="7799831" y="5300000"/>
            <a:ext cx="3566160" cy="2059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7FB"/>
                </a:solidFill>
                <a:latin typeface="Bahnschrift SemiBold"/>
              </a:rPr>
              <a:t>Σp − 1</a:t>
            </a:r>
            <a:r>
              <a:rPr sz="1000" b="0">
                <a:solidFill>
                  <a:srgbClr val="BAC6DA"/>
                </a:solidFill>
                <a:latin typeface="Bahnschrift"/>
              </a:rPr>
              <a:t> — o quanto o livro não fecha como distribuição.</a:t>
            </a:r>
          </a:p>
        </p:txBody>
      </p:sp>
      <p:sp>
        <p:nvSpPr>
          <p:cNvPr id="29" name="s5_27"/>
          <p:cNvSpPr txBox="1"/>
          <p:nvPr/>
        </p:nvSpPr>
        <p:spPr>
          <a:xfrm>
            <a:off x="7799831" y="5620000"/>
            <a:ext cx="3566160" cy="2059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7FB"/>
                </a:solidFill>
                <a:latin typeface="Bahnschrift SemiBold"/>
              </a:rPr>
              <a:t>nível</a:t>
            </a:r>
            <a:r>
              <a:rPr sz="1000" b="0">
                <a:solidFill>
                  <a:srgbClr val="BAC6DA"/>
                </a:solidFill>
                <a:latin typeface="Bahnschrift"/>
              </a:rPr>
              <a:t> — expoente que dosa a régua; decisão de risco.</a:t>
            </a:r>
          </a:p>
        </p:txBody>
      </p:sp>
      <p:sp>
        <p:nvSpPr>
          <p:cNvPr id="46" name="s5_44"/>
          <p:cNvSpPr txBox="1"/>
          <p:nvPr/>
        </p:nvSpPr>
        <p:spPr>
          <a:xfrm>
            <a:off x="7799831" y="605332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5F7FB"/>
                </a:solidFill>
                <a:latin typeface="Bahnschrift SemiBold"/>
              </a:rPr>
              <a:t>185 de 2.795 views </a:t>
            </a:r>
            <a:r>
              <a:rPr lang="en-US" sz="1000" b="0" err="1">
                <a:solidFill>
                  <a:srgbClr val="F5F7FB"/>
                </a:solidFill>
                <a:latin typeface="Bahnschrift SemiBold"/>
              </a:rPr>
              <a:t>vetadas</a:t>
            </a:r>
            <a:r>
              <a:rPr sz="1000" b="0">
                <a:solidFill>
                  <a:srgbClr val="BAC6DA"/>
                </a:solidFill>
                <a:latin typeface="Bahnschrift"/>
              </a:rPr>
              <a:t> pela </a:t>
            </a:r>
            <a:r>
              <a:rPr lang="en-US" sz="1000" b="0" err="1">
                <a:solidFill>
                  <a:srgbClr val="BAC6DA"/>
                </a:solidFill>
                <a:latin typeface="Bahnschrift"/>
              </a:rPr>
              <a:t>régua</a:t>
            </a:r>
            <a:r>
              <a:rPr sz="1000" b="0">
                <a:solidFill>
                  <a:srgbClr val="BAC6DA"/>
                </a:solidFill>
                <a:latin typeface="Bahnschrift"/>
              </a:rPr>
              <a:t>, </a:t>
            </a:r>
            <a:r>
              <a:rPr lang="en-US" sz="1000" b="0" err="1">
                <a:solidFill>
                  <a:srgbClr val="BAC6DA"/>
                </a:solidFill>
                <a:latin typeface="Bahnschrift"/>
              </a:rPr>
              <a:t>sem</a:t>
            </a:r>
            <a:r>
              <a:rPr sz="1000" b="0">
                <a:solidFill>
                  <a:srgbClr val="BAC6DA"/>
                </a:solidFill>
                <a:latin typeface="Bahnschrift"/>
              </a:rPr>
              <a:t> </a:t>
            </a:r>
            <a:r>
              <a:rPr lang="en-US" sz="1000" b="0" err="1">
                <a:solidFill>
                  <a:srgbClr val="BAC6DA"/>
                </a:solidFill>
                <a:latin typeface="Bahnschrift"/>
              </a:rPr>
              <a:t>nenhuma</a:t>
            </a:r>
            <a:r>
              <a:rPr sz="1000" b="0">
                <a:solidFill>
                  <a:srgbClr val="BAC6DA"/>
                </a:solidFill>
                <a:latin typeface="Bahnschrift"/>
              </a:rPr>
              <a:t> </a:t>
            </a:r>
            <a:r>
              <a:rPr lang="en-US" sz="1000" b="0" err="1">
                <a:solidFill>
                  <a:srgbClr val="BAC6DA"/>
                </a:solidFill>
                <a:latin typeface="Bahnschrift"/>
              </a:rPr>
              <a:t>decisão</a:t>
            </a:r>
            <a:r>
              <a:rPr sz="1000" b="0">
                <a:solidFill>
                  <a:srgbClr val="BAC6DA"/>
                </a:solidFill>
                <a:latin typeface="Bahnschrift"/>
              </a:rPr>
              <a:t> </a:t>
            </a:r>
            <a:r>
              <a:rPr lang="en-US" sz="1000" b="0" err="1">
                <a:solidFill>
                  <a:srgbClr val="BAC6DA"/>
                </a:solidFill>
                <a:latin typeface="Bahnschrift"/>
              </a:rPr>
              <a:t>discricionária</a:t>
            </a:r>
            <a:r>
              <a:rPr sz="1000" b="0">
                <a:solidFill>
                  <a:srgbClr val="BAC6DA"/>
                </a:solidFill>
                <a:latin typeface="Bahnschrift"/>
              </a:rPr>
              <a:t>.</a:t>
            </a:r>
          </a:p>
        </p:txBody>
      </p:sp>
      <p:sp>
        <p:nvSpPr>
          <p:cNvPr id="54" name="txt_54"/>
          <p:cNvSpPr txBox="1"/>
          <p:nvPr/>
        </p:nvSpPr>
        <p:spPr>
          <a:xfrm>
            <a:off x="822960" y="4038600"/>
            <a:ext cx="673100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Consolas"/>
                <a:cs typeface="Consolas"/>
              </a:rPr>
              <a:t>COMO CADA INGREDIENTE FOI JULGADO</a:t>
            </a:r>
          </a:p>
        </p:txBody>
      </p:sp>
      <p:pic>
        <p:nvPicPr>
          <p:cNvPr id="55" name="grafico_regua" descr="v2_s10_regua_omeg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41800"/>
            <a:ext cx="6731000" cy="21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9997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_tl"/>
          <p:cNvSpPr/>
          <p:nvPr/>
        </p:nvSpPr>
        <p:spPr>
          <a:xfrm>
            <a:off x="-2073535" y="-970433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09</a:t>
            </a:r>
          </a:p>
        </p:txBody>
      </p:sp>
      <p:sp>
        <p:nvSpPr>
          <p:cNvPr id="6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8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9" name="cab_titulo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As quatro views, uma a uma</a:t>
            </a:r>
          </a:p>
        </p:txBody>
      </p:sp>
      <p:sp>
        <p:nvSpPr>
          <p:cNvPr id="10" name="cab_numero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8395B5"/>
                </a:solidFill>
                <a:latin typeface="Consolas"/>
              </a:rPr>
              <a:t>09</a:t>
            </a:r>
          </a:p>
        </p:txBody>
      </p:sp>
      <p:cxnSp>
        <p:nvCxnSpPr>
          <p:cNvPr id="11" name="filete_topo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filete_base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h1"/>
          <p:cNvSpPr txBox="1"/>
          <p:nvPr/>
        </p:nvSpPr>
        <p:spPr>
          <a:xfrm>
            <a:off x="822960" y="838200"/>
            <a:ext cx="1054354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b="0">
                <a:solidFill>
                  <a:srgbClr val="F5F7FB"/>
                </a:solidFill>
                <a:latin typeface="Bahnschrift SemiBold"/>
                <a:cs typeface="Bahnschrift SemiBold"/>
              </a:rPr>
              <a:t>Cada view compara o Polymarket com um preço que já existe</a:t>
            </a:r>
          </a:p>
        </p:txBody>
      </p:sp>
      <p:sp>
        <p:nvSpPr>
          <p:cNvPr id="14" name="forma_14"/>
          <p:cNvSpPr/>
          <p:nvPr/>
        </p:nvSpPr>
        <p:spPr>
          <a:xfrm>
            <a:off x="822960" y="1295400"/>
            <a:ext cx="2502535" cy="3683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9050">
            <a:solidFill>
              <a:srgbClr val="FFB531"/>
            </a:solidFill>
          </a:ln>
          <a:effectLst>
            <a:glow rad="177800">
              <a:srgbClr val="FFB531">
                <a:alpha val="20000"/>
              </a:srgbClr>
            </a:glow>
          </a:effectLst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5" name="txt_15"/>
          <p:cNvSpPr txBox="1"/>
          <p:nvPr/>
        </p:nvSpPr>
        <p:spPr>
          <a:xfrm>
            <a:off x="1000760" y="1473200"/>
            <a:ext cx="219773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2.3 · DECISÃO DO FED</a:t>
            </a:r>
          </a:p>
        </p:txBody>
      </p:sp>
      <p:sp>
        <p:nvSpPr>
          <p:cNvPr id="16" name="forma_16"/>
          <p:cNvSpPr/>
          <p:nvPr/>
        </p:nvSpPr>
        <p:spPr>
          <a:xfrm>
            <a:off x="1000760" y="17272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7" name="txt_17"/>
          <p:cNvSpPr txBox="1"/>
          <p:nvPr/>
        </p:nvSpPr>
        <p:spPr>
          <a:xfrm>
            <a:off x="1127760" y="17907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FFB531"/>
                </a:solidFill>
                <a:latin typeface="Consolas"/>
                <a:cs typeface="Consolas"/>
              </a:rPr>
              <a:t>POLYMARKET</a:t>
            </a:r>
          </a:p>
        </p:txBody>
      </p:sp>
      <p:sp>
        <p:nvSpPr>
          <p:cNvPr id="18" name="txt_18"/>
          <p:cNvSpPr txBox="1"/>
          <p:nvPr/>
        </p:nvSpPr>
        <p:spPr>
          <a:xfrm>
            <a:off x="1127760" y="19431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corte na próxima reunião</a:t>
            </a:r>
          </a:p>
        </p:txBody>
      </p:sp>
      <p:sp>
        <p:nvSpPr>
          <p:cNvPr id="19" name="forma_19"/>
          <p:cNvSpPr/>
          <p:nvPr/>
        </p:nvSpPr>
        <p:spPr>
          <a:xfrm>
            <a:off x="1000760" y="24130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4F8EF7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0" name="txt_20"/>
          <p:cNvSpPr txBox="1"/>
          <p:nvPr/>
        </p:nvSpPr>
        <p:spPr>
          <a:xfrm>
            <a:off x="1127760" y="24765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4F8EF7"/>
                </a:solidFill>
                <a:latin typeface="Consolas"/>
                <a:cs typeface="Consolas"/>
              </a:rPr>
              <a:t>MERCADO</a:t>
            </a:r>
          </a:p>
        </p:txBody>
      </p:sp>
      <p:sp>
        <p:nvSpPr>
          <p:cNvPr id="21" name="txt_21"/>
          <p:cNvSpPr txBox="1"/>
          <p:nvPr/>
        </p:nvSpPr>
        <p:spPr>
          <a:xfrm>
            <a:off x="1127760" y="26289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T-bill 3m − Fed funds</a:t>
            </a:r>
          </a:p>
        </p:txBody>
      </p:sp>
      <p:sp>
        <p:nvSpPr>
          <p:cNvPr id="22" name="txt_22"/>
          <p:cNvSpPr txBox="1"/>
          <p:nvPr/>
        </p:nvSpPr>
        <p:spPr>
          <a:xfrm>
            <a:off x="1000760" y="2235200"/>
            <a:ext cx="2146935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FB531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23" name="txt_23"/>
          <p:cNvSpPr txBox="1"/>
          <p:nvPr/>
        </p:nvSpPr>
        <p:spPr>
          <a:xfrm>
            <a:off x="1000760" y="3098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CESTA</a:t>
            </a:r>
          </a:p>
        </p:txBody>
      </p:sp>
      <p:sp>
        <p:nvSpPr>
          <p:cNvPr id="24" name="forma_24"/>
          <p:cNvSpPr/>
          <p:nvPr/>
        </p:nvSpPr>
        <p:spPr>
          <a:xfrm>
            <a:off x="1000760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XLU</a:t>
            </a:r>
          </a:p>
        </p:txBody>
      </p:sp>
      <p:sp>
        <p:nvSpPr>
          <p:cNvPr id="25" name="forma_25"/>
          <p:cNvSpPr/>
          <p:nvPr/>
        </p:nvSpPr>
        <p:spPr>
          <a:xfrm>
            <a:off x="1597660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TLT</a:t>
            </a:r>
          </a:p>
        </p:txBody>
      </p:sp>
      <p:sp>
        <p:nvSpPr>
          <p:cNvPr id="26" name="forma_26"/>
          <p:cNvSpPr/>
          <p:nvPr/>
        </p:nvSpPr>
        <p:spPr>
          <a:xfrm>
            <a:off x="2194560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TIP</a:t>
            </a:r>
          </a:p>
        </p:txBody>
      </p:sp>
      <p:sp>
        <p:nvSpPr>
          <p:cNvPr id="27" name="txt_27"/>
          <p:cNvSpPr txBox="1"/>
          <p:nvPr/>
        </p:nvSpPr>
        <p:spPr>
          <a:xfrm>
            <a:off x="1000760" y="3568700"/>
            <a:ext cx="177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8395B5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28" name="forma_28"/>
          <p:cNvSpPr/>
          <p:nvPr/>
        </p:nvSpPr>
        <p:spPr>
          <a:xfrm>
            <a:off x="1229360" y="35687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E0645C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XLK</a:t>
            </a:r>
          </a:p>
        </p:txBody>
      </p:sp>
      <p:sp>
        <p:nvSpPr>
          <p:cNvPr id="29" name="txt_29"/>
          <p:cNvSpPr txBox="1"/>
          <p:nvPr/>
        </p:nvSpPr>
        <p:spPr>
          <a:xfrm>
            <a:off x="1000760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DIAS ATIVA</a:t>
            </a:r>
          </a:p>
        </p:txBody>
      </p:sp>
      <p:sp>
        <p:nvSpPr>
          <p:cNvPr id="30" name="txt_30"/>
          <p:cNvSpPr txBox="1"/>
          <p:nvPr/>
        </p:nvSpPr>
        <p:spPr>
          <a:xfrm>
            <a:off x="1000760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neutra</a:t>
            </a:r>
          </a:p>
        </p:txBody>
      </p:sp>
      <p:sp>
        <p:nvSpPr>
          <p:cNvPr id="31" name="txt_31"/>
          <p:cNvSpPr txBox="1"/>
          <p:nvPr/>
        </p:nvSpPr>
        <p:spPr>
          <a:xfrm>
            <a:off x="1000760" y="4152900"/>
            <a:ext cx="2146935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4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312</a:t>
            </a:r>
            <a:r>
              <a:rPr lang="pt-BR" sz="1000" b="0">
                <a:solidFill>
                  <a:srgbClr val="BAC6DA"/>
                </a:solidFill>
                <a:latin typeface="Bahnschrift"/>
                <a:cs typeface="Bahnschrift"/>
              </a:rPr>
              <a:t> / 374</a:t>
            </a:r>
          </a:p>
        </p:txBody>
      </p:sp>
      <p:sp>
        <p:nvSpPr>
          <p:cNvPr id="32" name="forma_32"/>
          <p:cNvSpPr/>
          <p:nvPr/>
        </p:nvSpPr>
        <p:spPr>
          <a:xfrm>
            <a:off x="1000760" y="4597400"/>
            <a:ext cx="2146935" cy="88900"/>
          </a:xfrm>
          <a:prstGeom prst="roundRect">
            <a:avLst>
              <a:gd name="adj" fmla="val 50000"/>
            </a:avLst>
          </a:prstGeom>
          <a:solidFill>
            <a:srgbClr val="1A2A45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3" name="forma_33"/>
          <p:cNvSpPr/>
          <p:nvPr/>
        </p:nvSpPr>
        <p:spPr>
          <a:xfrm>
            <a:off x="1000760" y="4597400"/>
            <a:ext cx="1791026" cy="88900"/>
          </a:xfrm>
          <a:prstGeom prst="roundRect">
            <a:avLst>
              <a:gd name="adj" fmla="val 50000"/>
            </a:avLst>
          </a:prstGeom>
          <a:solidFill>
            <a:srgbClr val="FFB531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4" name="forma_34"/>
          <p:cNvSpPr/>
          <p:nvPr/>
        </p:nvSpPr>
        <p:spPr>
          <a:xfrm>
            <a:off x="3503295" y="1295400"/>
            <a:ext cx="2502535" cy="3683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5" name="txt_35"/>
          <p:cNvSpPr txBox="1"/>
          <p:nvPr/>
        </p:nvSpPr>
        <p:spPr>
          <a:xfrm>
            <a:off x="3681095" y="1473200"/>
            <a:ext cx="219773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2.2 · INFLAÇÃO DO MÊS</a:t>
            </a:r>
          </a:p>
        </p:txBody>
      </p:sp>
      <p:sp>
        <p:nvSpPr>
          <p:cNvPr id="36" name="forma_36"/>
          <p:cNvSpPr/>
          <p:nvPr/>
        </p:nvSpPr>
        <p:spPr>
          <a:xfrm>
            <a:off x="3681095" y="17272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7" name="txt_37"/>
          <p:cNvSpPr txBox="1"/>
          <p:nvPr/>
        </p:nvSpPr>
        <p:spPr>
          <a:xfrm>
            <a:off x="3808095" y="17907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FFB531"/>
                </a:solidFill>
                <a:latin typeface="Consolas"/>
                <a:cs typeface="Consolas"/>
              </a:rPr>
              <a:t>POLYMARKET</a:t>
            </a:r>
          </a:p>
        </p:txBody>
      </p:sp>
      <p:sp>
        <p:nvSpPr>
          <p:cNvPr id="38" name="txt_38"/>
          <p:cNvSpPr txBox="1"/>
          <p:nvPr/>
        </p:nvSpPr>
        <p:spPr>
          <a:xfrm>
            <a:off x="3808095" y="19431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inflação do mês</a:t>
            </a:r>
          </a:p>
        </p:txBody>
      </p:sp>
      <p:sp>
        <p:nvSpPr>
          <p:cNvPr id="39" name="forma_39"/>
          <p:cNvSpPr/>
          <p:nvPr/>
        </p:nvSpPr>
        <p:spPr>
          <a:xfrm>
            <a:off x="3681095" y="24130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4F8EF7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40" name="txt_40"/>
          <p:cNvSpPr txBox="1"/>
          <p:nvPr/>
        </p:nvSpPr>
        <p:spPr>
          <a:xfrm>
            <a:off x="3808095" y="24765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4F8EF7"/>
                </a:solidFill>
                <a:latin typeface="Consolas"/>
                <a:cs typeface="Consolas"/>
              </a:rPr>
              <a:t>MERCADO</a:t>
            </a:r>
          </a:p>
        </p:txBody>
      </p:sp>
      <p:sp>
        <p:nvSpPr>
          <p:cNvPr id="41" name="txt_41"/>
          <p:cNvSpPr txBox="1"/>
          <p:nvPr/>
        </p:nvSpPr>
        <p:spPr>
          <a:xfrm>
            <a:off x="3808095" y="26289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breakeven de 10 anos</a:t>
            </a:r>
          </a:p>
        </p:txBody>
      </p:sp>
      <p:sp>
        <p:nvSpPr>
          <p:cNvPr id="42" name="txt_42"/>
          <p:cNvSpPr txBox="1"/>
          <p:nvPr/>
        </p:nvSpPr>
        <p:spPr>
          <a:xfrm>
            <a:off x="3681095" y="2235200"/>
            <a:ext cx="2146935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FB531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43" name="txt_43"/>
          <p:cNvSpPr txBox="1"/>
          <p:nvPr/>
        </p:nvSpPr>
        <p:spPr>
          <a:xfrm>
            <a:off x="3681095" y="3098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CESTA</a:t>
            </a:r>
          </a:p>
        </p:txBody>
      </p:sp>
      <p:sp>
        <p:nvSpPr>
          <p:cNvPr id="44" name="forma_44"/>
          <p:cNvSpPr/>
          <p:nvPr/>
        </p:nvSpPr>
        <p:spPr>
          <a:xfrm>
            <a:off x="3681095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TIP</a:t>
            </a:r>
          </a:p>
        </p:txBody>
      </p:sp>
      <p:sp>
        <p:nvSpPr>
          <p:cNvPr id="45" name="txt_45"/>
          <p:cNvSpPr txBox="1"/>
          <p:nvPr/>
        </p:nvSpPr>
        <p:spPr>
          <a:xfrm>
            <a:off x="3681095" y="3568700"/>
            <a:ext cx="177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8395B5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46" name="forma_46"/>
          <p:cNvSpPr/>
          <p:nvPr/>
        </p:nvSpPr>
        <p:spPr>
          <a:xfrm>
            <a:off x="3909695" y="35687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E0645C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TLT</a:t>
            </a:r>
          </a:p>
        </p:txBody>
      </p:sp>
      <p:sp>
        <p:nvSpPr>
          <p:cNvPr id="47" name="txt_47"/>
          <p:cNvSpPr txBox="1"/>
          <p:nvPr/>
        </p:nvSpPr>
        <p:spPr>
          <a:xfrm>
            <a:off x="3681095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DIAS ATIVA</a:t>
            </a:r>
          </a:p>
        </p:txBody>
      </p:sp>
      <p:sp>
        <p:nvSpPr>
          <p:cNvPr id="48" name="txt_48"/>
          <p:cNvSpPr txBox="1"/>
          <p:nvPr/>
        </p:nvSpPr>
        <p:spPr>
          <a:xfrm>
            <a:off x="3681095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neutra</a:t>
            </a:r>
          </a:p>
        </p:txBody>
      </p:sp>
      <p:sp>
        <p:nvSpPr>
          <p:cNvPr id="49" name="txt_49"/>
          <p:cNvSpPr txBox="1"/>
          <p:nvPr/>
        </p:nvSpPr>
        <p:spPr>
          <a:xfrm>
            <a:off x="3681095" y="4152900"/>
            <a:ext cx="2146935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4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253</a:t>
            </a:r>
            <a:r>
              <a:rPr lang="pt-BR" sz="1000" b="0">
                <a:solidFill>
                  <a:srgbClr val="BAC6DA"/>
                </a:solidFill>
                <a:latin typeface="Bahnschrift"/>
                <a:cs typeface="Bahnschrift"/>
              </a:rPr>
              <a:t> / 374</a:t>
            </a:r>
          </a:p>
        </p:txBody>
      </p:sp>
      <p:sp>
        <p:nvSpPr>
          <p:cNvPr id="50" name="forma_50"/>
          <p:cNvSpPr/>
          <p:nvPr/>
        </p:nvSpPr>
        <p:spPr>
          <a:xfrm>
            <a:off x="3681095" y="4597400"/>
            <a:ext cx="2146935" cy="88900"/>
          </a:xfrm>
          <a:prstGeom prst="roundRect">
            <a:avLst>
              <a:gd name="adj" fmla="val 50000"/>
            </a:avLst>
          </a:prstGeom>
          <a:solidFill>
            <a:srgbClr val="1A2A45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1" name="forma_51"/>
          <p:cNvSpPr/>
          <p:nvPr/>
        </p:nvSpPr>
        <p:spPr>
          <a:xfrm>
            <a:off x="3681095" y="4597400"/>
            <a:ext cx="1452338" cy="88900"/>
          </a:xfrm>
          <a:prstGeom prst="roundRect">
            <a:avLst>
              <a:gd name="adj" fmla="val 50000"/>
            </a:avLst>
          </a:prstGeom>
          <a:solidFill>
            <a:srgbClr val="FFB531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2" name="forma_52"/>
          <p:cNvSpPr/>
          <p:nvPr/>
        </p:nvSpPr>
        <p:spPr>
          <a:xfrm>
            <a:off x="6183630" y="1295400"/>
            <a:ext cx="2502535" cy="3683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3" name="txt_53"/>
          <p:cNvSpPr txBox="1"/>
          <p:nvPr/>
        </p:nvSpPr>
        <p:spPr>
          <a:xfrm>
            <a:off x="6361430" y="1473200"/>
            <a:ext cx="219773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B · TAXA NO FIM DO ANO</a:t>
            </a:r>
          </a:p>
        </p:txBody>
      </p:sp>
      <p:sp>
        <p:nvSpPr>
          <p:cNvPr id="54" name="forma_54"/>
          <p:cNvSpPr/>
          <p:nvPr/>
        </p:nvSpPr>
        <p:spPr>
          <a:xfrm>
            <a:off x="6361430" y="17272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5" name="txt_55"/>
          <p:cNvSpPr txBox="1"/>
          <p:nvPr/>
        </p:nvSpPr>
        <p:spPr>
          <a:xfrm>
            <a:off x="6488430" y="17907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FFB531"/>
                </a:solidFill>
                <a:latin typeface="Consolas"/>
                <a:cs typeface="Consolas"/>
              </a:rPr>
              <a:t>POLYMARKET</a:t>
            </a:r>
          </a:p>
        </p:txBody>
      </p:sp>
      <p:sp>
        <p:nvSpPr>
          <p:cNvPr id="56" name="txt_56"/>
          <p:cNvSpPr txBox="1"/>
          <p:nvPr/>
        </p:nvSpPr>
        <p:spPr>
          <a:xfrm>
            <a:off x="6488430" y="19431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cortes no ano</a:t>
            </a:r>
          </a:p>
        </p:txBody>
      </p:sp>
      <p:sp>
        <p:nvSpPr>
          <p:cNvPr id="57" name="forma_57"/>
          <p:cNvSpPr/>
          <p:nvPr/>
        </p:nvSpPr>
        <p:spPr>
          <a:xfrm>
            <a:off x="6361430" y="24130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4F8EF7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8" name="txt_58"/>
          <p:cNvSpPr txBox="1"/>
          <p:nvPr/>
        </p:nvSpPr>
        <p:spPr>
          <a:xfrm>
            <a:off x="6488430" y="24765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4F8EF7"/>
                </a:solidFill>
                <a:latin typeface="Consolas"/>
                <a:cs typeface="Consolas"/>
              </a:rPr>
              <a:t>MERCADO</a:t>
            </a:r>
          </a:p>
        </p:txBody>
      </p:sp>
      <p:sp>
        <p:nvSpPr>
          <p:cNvPr id="59" name="txt_59"/>
          <p:cNvSpPr txBox="1"/>
          <p:nvPr/>
        </p:nvSpPr>
        <p:spPr>
          <a:xfrm>
            <a:off x="6488430" y="26289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Treasury de 1 ano</a:t>
            </a:r>
          </a:p>
        </p:txBody>
      </p:sp>
      <p:sp>
        <p:nvSpPr>
          <p:cNvPr id="60" name="txt_60"/>
          <p:cNvSpPr txBox="1"/>
          <p:nvPr/>
        </p:nvSpPr>
        <p:spPr>
          <a:xfrm>
            <a:off x="6361430" y="2235200"/>
            <a:ext cx="2146935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FB531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61" name="txt_61"/>
          <p:cNvSpPr txBox="1"/>
          <p:nvPr/>
        </p:nvSpPr>
        <p:spPr>
          <a:xfrm>
            <a:off x="6361430" y="3098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CESTA</a:t>
            </a:r>
          </a:p>
        </p:txBody>
      </p:sp>
      <p:sp>
        <p:nvSpPr>
          <p:cNvPr id="62" name="forma_62"/>
          <p:cNvSpPr/>
          <p:nvPr/>
        </p:nvSpPr>
        <p:spPr>
          <a:xfrm>
            <a:off x="6361430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XLE</a:t>
            </a:r>
          </a:p>
        </p:txBody>
      </p:sp>
      <p:sp>
        <p:nvSpPr>
          <p:cNvPr id="63" name="forma_63"/>
          <p:cNvSpPr/>
          <p:nvPr/>
        </p:nvSpPr>
        <p:spPr>
          <a:xfrm>
            <a:off x="6958330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XLP</a:t>
            </a:r>
          </a:p>
        </p:txBody>
      </p:sp>
      <p:sp>
        <p:nvSpPr>
          <p:cNvPr id="64" name="forma_64"/>
          <p:cNvSpPr/>
          <p:nvPr/>
        </p:nvSpPr>
        <p:spPr>
          <a:xfrm>
            <a:off x="7555230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XLF</a:t>
            </a:r>
          </a:p>
        </p:txBody>
      </p:sp>
      <p:sp>
        <p:nvSpPr>
          <p:cNvPr id="65" name="txt_65"/>
          <p:cNvSpPr txBox="1"/>
          <p:nvPr/>
        </p:nvSpPr>
        <p:spPr>
          <a:xfrm>
            <a:off x="6361430" y="3568700"/>
            <a:ext cx="177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8395B5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66" name="forma_66"/>
          <p:cNvSpPr/>
          <p:nvPr/>
        </p:nvSpPr>
        <p:spPr>
          <a:xfrm>
            <a:off x="6590030" y="35687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E0645C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XLU</a:t>
            </a:r>
          </a:p>
        </p:txBody>
      </p:sp>
      <p:sp>
        <p:nvSpPr>
          <p:cNvPr id="67" name="forma_67"/>
          <p:cNvSpPr/>
          <p:nvPr/>
        </p:nvSpPr>
        <p:spPr>
          <a:xfrm>
            <a:off x="7186930" y="35687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E0645C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XLK</a:t>
            </a:r>
          </a:p>
        </p:txBody>
      </p:sp>
      <p:sp>
        <p:nvSpPr>
          <p:cNvPr id="68" name="txt_68"/>
          <p:cNvSpPr txBox="1"/>
          <p:nvPr/>
        </p:nvSpPr>
        <p:spPr>
          <a:xfrm>
            <a:off x="6361430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DIAS ATIVA</a:t>
            </a:r>
          </a:p>
        </p:txBody>
      </p:sp>
      <p:sp>
        <p:nvSpPr>
          <p:cNvPr id="69" name="txt_69"/>
          <p:cNvSpPr txBox="1"/>
          <p:nvPr/>
        </p:nvSpPr>
        <p:spPr>
          <a:xfrm>
            <a:off x="6361430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neutra</a:t>
            </a:r>
          </a:p>
        </p:txBody>
      </p:sp>
      <p:sp>
        <p:nvSpPr>
          <p:cNvPr id="70" name="txt_70"/>
          <p:cNvSpPr txBox="1"/>
          <p:nvPr/>
        </p:nvSpPr>
        <p:spPr>
          <a:xfrm>
            <a:off x="6361430" y="4152900"/>
            <a:ext cx="2146935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4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154</a:t>
            </a:r>
            <a:r>
              <a:rPr lang="pt-BR" sz="1000" b="0">
                <a:solidFill>
                  <a:srgbClr val="BAC6DA"/>
                </a:solidFill>
                <a:latin typeface="Bahnschrift"/>
                <a:cs typeface="Bahnschrift"/>
              </a:rPr>
              <a:t> / 374</a:t>
            </a:r>
          </a:p>
        </p:txBody>
      </p:sp>
      <p:sp>
        <p:nvSpPr>
          <p:cNvPr id="71" name="forma_71"/>
          <p:cNvSpPr/>
          <p:nvPr/>
        </p:nvSpPr>
        <p:spPr>
          <a:xfrm>
            <a:off x="6361430" y="4597400"/>
            <a:ext cx="2146935" cy="88900"/>
          </a:xfrm>
          <a:prstGeom prst="roundRect">
            <a:avLst>
              <a:gd name="adj" fmla="val 50000"/>
            </a:avLst>
          </a:prstGeom>
          <a:solidFill>
            <a:srgbClr val="1A2A45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2" name="forma_72"/>
          <p:cNvSpPr/>
          <p:nvPr/>
        </p:nvSpPr>
        <p:spPr>
          <a:xfrm>
            <a:off x="6361430" y="4597400"/>
            <a:ext cx="884032" cy="88900"/>
          </a:xfrm>
          <a:prstGeom prst="roundRect">
            <a:avLst>
              <a:gd name="adj" fmla="val 50000"/>
            </a:avLst>
          </a:prstGeom>
          <a:solidFill>
            <a:srgbClr val="FFB531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3" name="forma_73"/>
          <p:cNvSpPr/>
          <p:nvPr/>
        </p:nvSpPr>
        <p:spPr>
          <a:xfrm>
            <a:off x="8863965" y="1295400"/>
            <a:ext cx="2502535" cy="3683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4" name="txt_74"/>
          <p:cNvSpPr txBox="1"/>
          <p:nvPr/>
        </p:nvSpPr>
        <p:spPr>
          <a:xfrm>
            <a:off x="9041765" y="1473200"/>
            <a:ext cx="219773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15b · DÚVIDA NA VÉSPERA</a:t>
            </a:r>
          </a:p>
        </p:txBody>
      </p:sp>
      <p:sp>
        <p:nvSpPr>
          <p:cNvPr id="75" name="forma_75"/>
          <p:cNvSpPr/>
          <p:nvPr/>
        </p:nvSpPr>
        <p:spPr>
          <a:xfrm>
            <a:off x="9041765" y="17272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6" name="txt_76"/>
          <p:cNvSpPr txBox="1"/>
          <p:nvPr/>
        </p:nvSpPr>
        <p:spPr>
          <a:xfrm>
            <a:off x="9168765" y="17907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FFB531"/>
                </a:solidFill>
                <a:latin typeface="Consolas"/>
                <a:cs typeface="Consolas"/>
              </a:rPr>
              <a:t>POLYMARKET</a:t>
            </a:r>
          </a:p>
        </p:txBody>
      </p:sp>
      <p:sp>
        <p:nvSpPr>
          <p:cNvPr id="77" name="txt_77"/>
          <p:cNvSpPr txBox="1"/>
          <p:nvPr/>
        </p:nvSpPr>
        <p:spPr>
          <a:xfrm>
            <a:off x="9168765" y="19431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dúvida antes do anúncio</a:t>
            </a:r>
          </a:p>
        </p:txBody>
      </p:sp>
      <p:sp>
        <p:nvSpPr>
          <p:cNvPr id="78" name="forma_78"/>
          <p:cNvSpPr/>
          <p:nvPr/>
        </p:nvSpPr>
        <p:spPr>
          <a:xfrm>
            <a:off x="9041765" y="24130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4F8EF7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9" name="txt_79"/>
          <p:cNvSpPr txBox="1"/>
          <p:nvPr/>
        </p:nvSpPr>
        <p:spPr>
          <a:xfrm>
            <a:off x="9168765" y="24765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4F8EF7"/>
                </a:solidFill>
                <a:latin typeface="Consolas"/>
                <a:cs typeface="Consolas"/>
              </a:rPr>
              <a:t>MERCADO</a:t>
            </a:r>
          </a:p>
        </p:txBody>
      </p:sp>
      <p:sp>
        <p:nvSpPr>
          <p:cNvPr id="80" name="txt_80"/>
          <p:cNvSpPr txBox="1"/>
          <p:nvPr/>
        </p:nvSpPr>
        <p:spPr>
          <a:xfrm>
            <a:off x="9168765" y="26289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média do tipo de anúncio</a:t>
            </a:r>
          </a:p>
        </p:txBody>
      </p:sp>
      <p:sp>
        <p:nvSpPr>
          <p:cNvPr id="81" name="txt_81"/>
          <p:cNvSpPr txBox="1"/>
          <p:nvPr/>
        </p:nvSpPr>
        <p:spPr>
          <a:xfrm>
            <a:off x="9041765" y="2235200"/>
            <a:ext cx="2146935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FB531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82" name="txt_82"/>
          <p:cNvSpPr txBox="1"/>
          <p:nvPr/>
        </p:nvSpPr>
        <p:spPr>
          <a:xfrm>
            <a:off x="9041765" y="3098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CESTA</a:t>
            </a:r>
          </a:p>
        </p:txBody>
      </p:sp>
      <p:sp>
        <p:nvSpPr>
          <p:cNvPr id="83" name="forma_83"/>
          <p:cNvSpPr/>
          <p:nvPr/>
        </p:nvSpPr>
        <p:spPr>
          <a:xfrm>
            <a:off x="9041765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SPY</a:t>
            </a:r>
          </a:p>
        </p:txBody>
      </p:sp>
      <p:sp>
        <p:nvSpPr>
          <p:cNvPr id="84" name="txt_84"/>
          <p:cNvSpPr txBox="1"/>
          <p:nvPr/>
        </p:nvSpPr>
        <p:spPr>
          <a:xfrm>
            <a:off x="9041765" y="3568700"/>
            <a:ext cx="177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8395B5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85" name="txt_85"/>
          <p:cNvSpPr txBox="1"/>
          <p:nvPr/>
        </p:nvSpPr>
        <p:spPr>
          <a:xfrm>
            <a:off x="9295765" y="3568700"/>
            <a:ext cx="1892935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0">
                <a:solidFill>
                  <a:srgbClr val="BAC6DA"/>
                </a:solidFill>
                <a:latin typeface="Bahnschrift"/>
                <a:cs typeface="Bahnschrift"/>
              </a:rPr>
              <a:t>só o índice</a:t>
            </a:r>
          </a:p>
        </p:txBody>
      </p:sp>
      <p:sp>
        <p:nvSpPr>
          <p:cNvPr id="86" name="txt_86"/>
          <p:cNvSpPr txBox="1"/>
          <p:nvPr/>
        </p:nvSpPr>
        <p:spPr>
          <a:xfrm>
            <a:off x="9041765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DIAS ATIVA</a:t>
            </a:r>
          </a:p>
        </p:txBody>
      </p:sp>
      <p:sp>
        <p:nvSpPr>
          <p:cNvPr id="87" name="txt_87"/>
          <p:cNvSpPr txBox="1"/>
          <p:nvPr/>
        </p:nvSpPr>
        <p:spPr>
          <a:xfrm>
            <a:off x="9041765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FFB531"/>
                </a:solidFill>
                <a:latin typeface="Consolas"/>
                <a:cs typeface="Consolas"/>
              </a:rPr>
              <a:t>direcional</a:t>
            </a:r>
          </a:p>
        </p:txBody>
      </p:sp>
      <p:sp>
        <p:nvSpPr>
          <p:cNvPr id="88" name="txt_88"/>
          <p:cNvSpPr txBox="1"/>
          <p:nvPr/>
        </p:nvSpPr>
        <p:spPr>
          <a:xfrm>
            <a:off x="9041765" y="4152900"/>
            <a:ext cx="2146935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4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26</a:t>
            </a:r>
            <a:r>
              <a:rPr lang="pt-BR" sz="1000" b="0">
                <a:solidFill>
                  <a:srgbClr val="BAC6DA"/>
                </a:solidFill>
                <a:latin typeface="Bahnschrift"/>
                <a:cs typeface="Bahnschrift"/>
              </a:rPr>
              <a:t> / 374</a:t>
            </a:r>
          </a:p>
        </p:txBody>
      </p:sp>
      <p:sp>
        <p:nvSpPr>
          <p:cNvPr id="89" name="forma_89"/>
          <p:cNvSpPr/>
          <p:nvPr/>
        </p:nvSpPr>
        <p:spPr>
          <a:xfrm>
            <a:off x="9041765" y="4597400"/>
            <a:ext cx="2146935" cy="88900"/>
          </a:xfrm>
          <a:prstGeom prst="roundRect">
            <a:avLst>
              <a:gd name="adj" fmla="val 50000"/>
            </a:avLst>
          </a:prstGeom>
          <a:solidFill>
            <a:srgbClr val="1A2A45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90" name="forma_90"/>
          <p:cNvSpPr/>
          <p:nvPr/>
        </p:nvSpPr>
        <p:spPr>
          <a:xfrm>
            <a:off x="9041765" y="4597400"/>
            <a:ext cx="149252" cy="88900"/>
          </a:xfrm>
          <a:prstGeom prst="roundRect">
            <a:avLst>
              <a:gd name="adj" fmla="val 50000"/>
            </a:avLst>
          </a:prstGeom>
          <a:solidFill>
            <a:srgbClr val="FFB531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901" name="!!veu_2"/>
          <p:cNvSpPr/>
          <p:nvPr/>
        </p:nvSpPr>
        <p:spPr>
          <a:xfrm>
            <a:off x="3503295" y="1295400"/>
            <a:ext cx="2502535" cy="3683000"/>
          </a:xfrm>
          <a:prstGeom prst="roundRect">
            <a:avLst>
              <a:gd name="adj" fmla="val 6000"/>
            </a:avLst>
          </a:prstGeom>
          <a:solidFill>
            <a:srgbClr val="0A1325">
              <a:alpha val="68000"/>
            </a:srgbClr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902" name="!!veu_3"/>
          <p:cNvSpPr/>
          <p:nvPr/>
        </p:nvSpPr>
        <p:spPr>
          <a:xfrm>
            <a:off x="6183630" y="1295400"/>
            <a:ext cx="2502535" cy="3683000"/>
          </a:xfrm>
          <a:prstGeom prst="roundRect">
            <a:avLst>
              <a:gd name="adj" fmla="val 6000"/>
            </a:avLst>
          </a:prstGeom>
          <a:solidFill>
            <a:srgbClr val="0A1325">
              <a:alpha val="68000"/>
            </a:srgbClr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903" name="!!veu_4"/>
          <p:cNvSpPr/>
          <p:nvPr/>
        </p:nvSpPr>
        <p:spPr>
          <a:xfrm>
            <a:off x="8863965" y="1295400"/>
            <a:ext cx="2502535" cy="3683000"/>
          </a:xfrm>
          <a:prstGeom prst="roundRect">
            <a:avLst>
              <a:gd name="adj" fmla="val 6000"/>
            </a:avLst>
          </a:prstGeom>
          <a:solidFill>
            <a:srgbClr val="0A1325">
              <a:alpha val="68000"/>
            </a:srgbClr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4709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_tl"/>
          <p:cNvSpPr/>
          <p:nvPr/>
        </p:nvSpPr>
        <p:spPr>
          <a:xfrm>
            <a:off x="-2073535" y="-970433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09</a:t>
            </a:r>
          </a:p>
        </p:txBody>
      </p:sp>
      <p:sp>
        <p:nvSpPr>
          <p:cNvPr id="6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8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9" name="cab_titulo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As quatro views, uma a uma</a:t>
            </a:r>
          </a:p>
        </p:txBody>
      </p:sp>
      <p:sp>
        <p:nvSpPr>
          <p:cNvPr id="10" name="cab_numero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8395B5"/>
                </a:solidFill>
                <a:latin typeface="Consolas"/>
              </a:rPr>
              <a:t>09</a:t>
            </a:r>
          </a:p>
        </p:txBody>
      </p:sp>
      <p:cxnSp>
        <p:nvCxnSpPr>
          <p:cNvPr id="11" name="filete_topo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filete_base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h1"/>
          <p:cNvSpPr txBox="1"/>
          <p:nvPr/>
        </p:nvSpPr>
        <p:spPr>
          <a:xfrm>
            <a:off x="822960" y="838200"/>
            <a:ext cx="1054354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b="0">
                <a:solidFill>
                  <a:srgbClr val="F5F7FB"/>
                </a:solidFill>
                <a:latin typeface="Bahnschrift SemiBold"/>
                <a:cs typeface="Bahnschrift SemiBold"/>
              </a:rPr>
              <a:t>Cada view compara o Polymarket com um preço que já existe</a:t>
            </a:r>
          </a:p>
        </p:txBody>
      </p:sp>
      <p:sp>
        <p:nvSpPr>
          <p:cNvPr id="14" name="forma_14"/>
          <p:cNvSpPr/>
          <p:nvPr/>
        </p:nvSpPr>
        <p:spPr>
          <a:xfrm>
            <a:off x="822960" y="1295400"/>
            <a:ext cx="2502535" cy="3683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5" name="txt_15"/>
          <p:cNvSpPr txBox="1"/>
          <p:nvPr/>
        </p:nvSpPr>
        <p:spPr>
          <a:xfrm>
            <a:off x="1000760" y="1473200"/>
            <a:ext cx="219773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2.3 · DECISÃO DO FED</a:t>
            </a:r>
          </a:p>
        </p:txBody>
      </p:sp>
      <p:sp>
        <p:nvSpPr>
          <p:cNvPr id="16" name="forma_16"/>
          <p:cNvSpPr/>
          <p:nvPr/>
        </p:nvSpPr>
        <p:spPr>
          <a:xfrm>
            <a:off x="1000760" y="17272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7" name="txt_17"/>
          <p:cNvSpPr txBox="1"/>
          <p:nvPr/>
        </p:nvSpPr>
        <p:spPr>
          <a:xfrm>
            <a:off x="1127760" y="17907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FFB531"/>
                </a:solidFill>
                <a:latin typeface="Consolas"/>
                <a:cs typeface="Consolas"/>
              </a:rPr>
              <a:t>POLYMARKET</a:t>
            </a:r>
          </a:p>
        </p:txBody>
      </p:sp>
      <p:sp>
        <p:nvSpPr>
          <p:cNvPr id="18" name="txt_18"/>
          <p:cNvSpPr txBox="1"/>
          <p:nvPr/>
        </p:nvSpPr>
        <p:spPr>
          <a:xfrm>
            <a:off x="1127760" y="19431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corte na próxima reunião</a:t>
            </a:r>
          </a:p>
        </p:txBody>
      </p:sp>
      <p:sp>
        <p:nvSpPr>
          <p:cNvPr id="19" name="forma_19"/>
          <p:cNvSpPr/>
          <p:nvPr/>
        </p:nvSpPr>
        <p:spPr>
          <a:xfrm>
            <a:off x="1000760" y="24130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4F8EF7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0" name="txt_20"/>
          <p:cNvSpPr txBox="1"/>
          <p:nvPr/>
        </p:nvSpPr>
        <p:spPr>
          <a:xfrm>
            <a:off x="1127760" y="24765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4F8EF7"/>
                </a:solidFill>
                <a:latin typeface="Consolas"/>
                <a:cs typeface="Consolas"/>
              </a:rPr>
              <a:t>MERCADO</a:t>
            </a:r>
          </a:p>
        </p:txBody>
      </p:sp>
      <p:sp>
        <p:nvSpPr>
          <p:cNvPr id="21" name="txt_21"/>
          <p:cNvSpPr txBox="1"/>
          <p:nvPr/>
        </p:nvSpPr>
        <p:spPr>
          <a:xfrm>
            <a:off x="1127760" y="26289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T-bill 3m − Fed funds</a:t>
            </a:r>
          </a:p>
        </p:txBody>
      </p:sp>
      <p:sp>
        <p:nvSpPr>
          <p:cNvPr id="22" name="txt_22"/>
          <p:cNvSpPr txBox="1"/>
          <p:nvPr/>
        </p:nvSpPr>
        <p:spPr>
          <a:xfrm>
            <a:off x="1000760" y="2235200"/>
            <a:ext cx="2146935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FB531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23" name="txt_23"/>
          <p:cNvSpPr txBox="1"/>
          <p:nvPr/>
        </p:nvSpPr>
        <p:spPr>
          <a:xfrm>
            <a:off x="1000760" y="3098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CESTA</a:t>
            </a:r>
          </a:p>
        </p:txBody>
      </p:sp>
      <p:sp>
        <p:nvSpPr>
          <p:cNvPr id="24" name="forma_24"/>
          <p:cNvSpPr/>
          <p:nvPr/>
        </p:nvSpPr>
        <p:spPr>
          <a:xfrm>
            <a:off x="1000760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XLU</a:t>
            </a:r>
          </a:p>
        </p:txBody>
      </p:sp>
      <p:sp>
        <p:nvSpPr>
          <p:cNvPr id="25" name="forma_25"/>
          <p:cNvSpPr/>
          <p:nvPr/>
        </p:nvSpPr>
        <p:spPr>
          <a:xfrm>
            <a:off x="1597660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TLT</a:t>
            </a:r>
          </a:p>
        </p:txBody>
      </p:sp>
      <p:sp>
        <p:nvSpPr>
          <p:cNvPr id="26" name="forma_26"/>
          <p:cNvSpPr/>
          <p:nvPr/>
        </p:nvSpPr>
        <p:spPr>
          <a:xfrm>
            <a:off x="2194560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TIP</a:t>
            </a:r>
          </a:p>
        </p:txBody>
      </p:sp>
      <p:sp>
        <p:nvSpPr>
          <p:cNvPr id="27" name="txt_27"/>
          <p:cNvSpPr txBox="1"/>
          <p:nvPr/>
        </p:nvSpPr>
        <p:spPr>
          <a:xfrm>
            <a:off x="1000760" y="3568700"/>
            <a:ext cx="177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8395B5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28" name="forma_28"/>
          <p:cNvSpPr/>
          <p:nvPr/>
        </p:nvSpPr>
        <p:spPr>
          <a:xfrm>
            <a:off x="1229360" y="35687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E0645C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XLK</a:t>
            </a:r>
          </a:p>
        </p:txBody>
      </p:sp>
      <p:sp>
        <p:nvSpPr>
          <p:cNvPr id="29" name="txt_29"/>
          <p:cNvSpPr txBox="1"/>
          <p:nvPr/>
        </p:nvSpPr>
        <p:spPr>
          <a:xfrm>
            <a:off x="1000760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DIAS ATIVA</a:t>
            </a:r>
          </a:p>
        </p:txBody>
      </p:sp>
      <p:sp>
        <p:nvSpPr>
          <p:cNvPr id="30" name="txt_30"/>
          <p:cNvSpPr txBox="1"/>
          <p:nvPr/>
        </p:nvSpPr>
        <p:spPr>
          <a:xfrm>
            <a:off x="1000760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neutra</a:t>
            </a:r>
          </a:p>
        </p:txBody>
      </p:sp>
      <p:sp>
        <p:nvSpPr>
          <p:cNvPr id="31" name="txt_31"/>
          <p:cNvSpPr txBox="1"/>
          <p:nvPr/>
        </p:nvSpPr>
        <p:spPr>
          <a:xfrm>
            <a:off x="1000760" y="4152900"/>
            <a:ext cx="2146935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4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312</a:t>
            </a:r>
            <a:r>
              <a:rPr lang="pt-BR" sz="1000" b="0">
                <a:solidFill>
                  <a:srgbClr val="BAC6DA"/>
                </a:solidFill>
                <a:latin typeface="Bahnschrift"/>
                <a:cs typeface="Bahnschrift"/>
              </a:rPr>
              <a:t> / 374</a:t>
            </a:r>
          </a:p>
        </p:txBody>
      </p:sp>
      <p:sp>
        <p:nvSpPr>
          <p:cNvPr id="32" name="forma_32"/>
          <p:cNvSpPr/>
          <p:nvPr/>
        </p:nvSpPr>
        <p:spPr>
          <a:xfrm>
            <a:off x="1000760" y="4597400"/>
            <a:ext cx="2146935" cy="88900"/>
          </a:xfrm>
          <a:prstGeom prst="roundRect">
            <a:avLst>
              <a:gd name="adj" fmla="val 50000"/>
            </a:avLst>
          </a:prstGeom>
          <a:solidFill>
            <a:srgbClr val="1A2A45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3" name="forma_33"/>
          <p:cNvSpPr/>
          <p:nvPr/>
        </p:nvSpPr>
        <p:spPr>
          <a:xfrm>
            <a:off x="1000760" y="4597400"/>
            <a:ext cx="1791026" cy="88900"/>
          </a:xfrm>
          <a:prstGeom prst="roundRect">
            <a:avLst>
              <a:gd name="adj" fmla="val 50000"/>
            </a:avLst>
          </a:prstGeom>
          <a:solidFill>
            <a:srgbClr val="FFB531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4" name="forma_34"/>
          <p:cNvSpPr/>
          <p:nvPr/>
        </p:nvSpPr>
        <p:spPr>
          <a:xfrm>
            <a:off x="3503295" y="1295400"/>
            <a:ext cx="2502535" cy="3683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9050">
            <a:solidFill>
              <a:srgbClr val="FFB531"/>
            </a:solidFill>
          </a:ln>
          <a:effectLst>
            <a:glow rad="177800">
              <a:srgbClr val="FFB531">
                <a:alpha val="20000"/>
              </a:srgbClr>
            </a:glow>
          </a:effectLst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5" name="txt_35"/>
          <p:cNvSpPr txBox="1"/>
          <p:nvPr/>
        </p:nvSpPr>
        <p:spPr>
          <a:xfrm>
            <a:off x="3681095" y="1473200"/>
            <a:ext cx="219773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2.2 · INFLAÇÃO DO MÊS</a:t>
            </a:r>
          </a:p>
        </p:txBody>
      </p:sp>
      <p:sp>
        <p:nvSpPr>
          <p:cNvPr id="36" name="forma_36"/>
          <p:cNvSpPr/>
          <p:nvPr/>
        </p:nvSpPr>
        <p:spPr>
          <a:xfrm>
            <a:off x="3681095" y="17272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7" name="txt_37"/>
          <p:cNvSpPr txBox="1"/>
          <p:nvPr/>
        </p:nvSpPr>
        <p:spPr>
          <a:xfrm>
            <a:off x="3808095" y="17907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FFB531"/>
                </a:solidFill>
                <a:latin typeface="Consolas"/>
                <a:cs typeface="Consolas"/>
              </a:rPr>
              <a:t>POLYMARKET</a:t>
            </a:r>
          </a:p>
        </p:txBody>
      </p:sp>
      <p:sp>
        <p:nvSpPr>
          <p:cNvPr id="38" name="txt_38"/>
          <p:cNvSpPr txBox="1"/>
          <p:nvPr/>
        </p:nvSpPr>
        <p:spPr>
          <a:xfrm>
            <a:off x="3808095" y="19431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inflação do mês</a:t>
            </a:r>
          </a:p>
        </p:txBody>
      </p:sp>
      <p:sp>
        <p:nvSpPr>
          <p:cNvPr id="39" name="forma_39"/>
          <p:cNvSpPr/>
          <p:nvPr/>
        </p:nvSpPr>
        <p:spPr>
          <a:xfrm>
            <a:off x="3681095" y="24130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4F8EF7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40" name="txt_40"/>
          <p:cNvSpPr txBox="1"/>
          <p:nvPr/>
        </p:nvSpPr>
        <p:spPr>
          <a:xfrm>
            <a:off x="3808095" y="24765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4F8EF7"/>
                </a:solidFill>
                <a:latin typeface="Consolas"/>
                <a:cs typeface="Consolas"/>
              </a:rPr>
              <a:t>MERCADO</a:t>
            </a:r>
          </a:p>
        </p:txBody>
      </p:sp>
      <p:sp>
        <p:nvSpPr>
          <p:cNvPr id="41" name="txt_41"/>
          <p:cNvSpPr txBox="1"/>
          <p:nvPr/>
        </p:nvSpPr>
        <p:spPr>
          <a:xfrm>
            <a:off x="3808095" y="26289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breakeven de 10 anos</a:t>
            </a:r>
          </a:p>
        </p:txBody>
      </p:sp>
      <p:sp>
        <p:nvSpPr>
          <p:cNvPr id="42" name="txt_42"/>
          <p:cNvSpPr txBox="1"/>
          <p:nvPr/>
        </p:nvSpPr>
        <p:spPr>
          <a:xfrm>
            <a:off x="3681095" y="2235200"/>
            <a:ext cx="2146935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FB531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43" name="txt_43"/>
          <p:cNvSpPr txBox="1"/>
          <p:nvPr/>
        </p:nvSpPr>
        <p:spPr>
          <a:xfrm>
            <a:off x="3681095" y="3098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CESTA</a:t>
            </a:r>
          </a:p>
        </p:txBody>
      </p:sp>
      <p:sp>
        <p:nvSpPr>
          <p:cNvPr id="44" name="forma_44"/>
          <p:cNvSpPr/>
          <p:nvPr/>
        </p:nvSpPr>
        <p:spPr>
          <a:xfrm>
            <a:off x="3681095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TIP</a:t>
            </a:r>
          </a:p>
        </p:txBody>
      </p:sp>
      <p:sp>
        <p:nvSpPr>
          <p:cNvPr id="45" name="txt_45"/>
          <p:cNvSpPr txBox="1"/>
          <p:nvPr/>
        </p:nvSpPr>
        <p:spPr>
          <a:xfrm>
            <a:off x="3681095" y="3568700"/>
            <a:ext cx="177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8395B5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46" name="forma_46"/>
          <p:cNvSpPr/>
          <p:nvPr/>
        </p:nvSpPr>
        <p:spPr>
          <a:xfrm>
            <a:off x="3909695" y="35687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E0645C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TLT</a:t>
            </a:r>
          </a:p>
        </p:txBody>
      </p:sp>
      <p:sp>
        <p:nvSpPr>
          <p:cNvPr id="47" name="txt_47"/>
          <p:cNvSpPr txBox="1"/>
          <p:nvPr/>
        </p:nvSpPr>
        <p:spPr>
          <a:xfrm>
            <a:off x="3681095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DIAS ATIVA</a:t>
            </a:r>
          </a:p>
        </p:txBody>
      </p:sp>
      <p:sp>
        <p:nvSpPr>
          <p:cNvPr id="48" name="txt_48"/>
          <p:cNvSpPr txBox="1"/>
          <p:nvPr/>
        </p:nvSpPr>
        <p:spPr>
          <a:xfrm>
            <a:off x="3681095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neutra</a:t>
            </a:r>
          </a:p>
        </p:txBody>
      </p:sp>
      <p:sp>
        <p:nvSpPr>
          <p:cNvPr id="49" name="txt_49"/>
          <p:cNvSpPr txBox="1"/>
          <p:nvPr/>
        </p:nvSpPr>
        <p:spPr>
          <a:xfrm>
            <a:off x="3681095" y="4152900"/>
            <a:ext cx="2146935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4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253</a:t>
            </a:r>
            <a:r>
              <a:rPr lang="pt-BR" sz="1000" b="0">
                <a:solidFill>
                  <a:srgbClr val="BAC6DA"/>
                </a:solidFill>
                <a:latin typeface="Bahnschrift"/>
                <a:cs typeface="Bahnschrift"/>
              </a:rPr>
              <a:t> / 374</a:t>
            </a:r>
          </a:p>
        </p:txBody>
      </p:sp>
      <p:sp>
        <p:nvSpPr>
          <p:cNvPr id="50" name="forma_50"/>
          <p:cNvSpPr/>
          <p:nvPr/>
        </p:nvSpPr>
        <p:spPr>
          <a:xfrm>
            <a:off x="3681095" y="4597400"/>
            <a:ext cx="2146935" cy="88900"/>
          </a:xfrm>
          <a:prstGeom prst="roundRect">
            <a:avLst>
              <a:gd name="adj" fmla="val 50000"/>
            </a:avLst>
          </a:prstGeom>
          <a:solidFill>
            <a:srgbClr val="1A2A45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1" name="forma_51"/>
          <p:cNvSpPr/>
          <p:nvPr/>
        </p:nvSpPr>
        <p:spPr>
          <a:xfrm>
            <a:off x="3681095" y="4597400"/>
            <a:ext cx="1452338" cy="88900"/>
          </a:xfrm>
          <a:prstGeom prst="roundRect">
            <a:avLst>
              <a:gd name="adj" fmla="val 50000"/>
            </a:avLst>
          </a:prstGeom>
          <a:solidFill>
            <a:srgbClr val="FFB531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2" name="forma_52"/>
          <p:cNvSpPr/>
          <p:nvPr/>
        </p:nvSpPr>
        <p:spPr>
          <a:xfrm>
            <a:off x="6183630" y="1295400"/>
            <a:ext cx="2502535" cy="3683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3" name="txt_53"/>
          <p:cNvSpPr txBox="1"/>
          <p:nvPr/>
        </p:nvSpPr>
        <p:spPr>
          <a:xfrm>
            <a:off x="6361430" y="1473200"/>
            <a:ext cx="219773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B · TAXA NO FIM DO ANO</a:t>
            </a:r>
          </a:p>
        </p:txBody>
      </p:sp>
      <p:sp>
        <p:nvSpPr>
          <p:cNvPr id="54" name="forma_54"/>
          <p:cNvSpPr/>
          <p:nvPr/>
        </p:nvSpPr>
        <p:spPr>
          <a:xfrm>
            <a:off x="6361430" y="17272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5" name="txt_55"/>
          <p:cNvSpPr txBox="1"/>
          <p:nvPr/>
        </p:nvSpPr>
        <p:spPr>
          <a:xfrm>
            <a:off x="6488430" y="17907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FFB531"/>
                </a:solidFill>
                <a:latin typeface="Consolas"/>
                <a:cs typeface="Consolas"/>
              </a:rPr>
              <a:t>POLYMARKET</a:t>
            </a:r>
          </a:p>
        </p:txBody>
      </p:sp>
      <p:sp>
        <p:nvSpPr>
          <p:cNvPr id="56" name="txt_56"/>
          <p:cNvSpPr txBox="1"/>
          <p:nvPr/>
        </p:nvSpPr>
        <p:spPr>
          <a:xfrm>
            <a:off x="6488430" y="19431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cortes no ano</a:t>
            </a:r>
          </a:p>
        </p:txBody>
      </p:sp>
      <p:sp>
        <p:nvSpPr>
          <p:cNvPr id="57" name="forma_57"/>
          <p:cNvSpPr/>
          <p:nvPr/>
        </p:nvSpPr>
        <p:spPr>
          <a:xfrm>
            <a:off x="6361430" y="24130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4F8EF7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8" name="txt_58"/>
          <p:cNvSpPr txBox="1"/>
          <p:nvPr/>
        </p:nvSpPr>
        <p:spPr>
          <a:xfrm>
            <a:off x="6488430" y="24765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4F8EF7"/>
                </a:solidFill>
                <a:latin typeface="Consolas"/>
                <a:cs typeface="Consolas"/>
              </a:rPr>
              <a:t>MERCADO</a:t>
            </a:r>
          </a:p>
        </p:txBody>
      </p:sp>
      <p:sp>
        <p:nvSpPr>
          <p:cNvPr id="59" name="txt_59"/>
          <p:cNvSpPr txBox="1"/>
          <p:nvPr/>
        </p:nvSpPr>
        <p:spPr>
          <a:xfrm>
            <a:off x="6488430" y="26289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Treasury de 1 ano</a:t>
            </a:r>
          </a:p>
        </p:txBody>
      </p:sp>
      <p:sp>
        <p:nvSpPr>
          <p:cNvPr id="60" name="txt_60"/>
          <p:cNvSpPr txBox="1"/>
          <p:nvPr/>
        </p:nvSpPr>
        <p:spPr>
          <a:xfrm>
            <a:off x="6361430" y="2235200"/>
            <a:ext cx="2146935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FB531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61" name="txt_61"/>
          <p:cNvSpPr txBox="1"/>
          <p:nvPr/>
        </p:nvSpPr>
        <p:spPr>
          <a:xfrm>
            <a:off x="6361430" y="3098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CESTA</a:t>
            </a:r>
          </a:p>
        </p:txBody>
      </p:sp>
      <p:sp>
        <p:nvSpPr>
          <p:cNvPr id="62" name="forma_62"/>
          <p:cNvSpPr/>
          <p:nvPr/>
        </p:nvSpPr>
        <p:spPr>
          <a:xfrm>
            <a:off x="6361430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XLE</a:t>
            </a:r>
          </a:p>
        </p:txBody>
      </p:sp>
      <p:sp>
        <p:nvSpPr>
          <p:cNvPr id="63" name="forma_63"/>
          <p:cNvSpPr/>
          <p:nvPr/>
        </p:nvSpPr>
        <p:spPr>
          <a:xfrm>
            <a:off x="6958330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XLP</a:t>
            </a:r>
          </a:p>
        </p:txBody>
      </p:sp>
      <p:sp>
        <p:nvSpPr>
          <p:cNvPr id="64" name="forma_64"/>
          <p:cNvSpPr/>
          <p:nvPr/>
        </p:nvSpPr>
        <p:spPr>
          <a:xfrm>
            <a:off x="7555230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XLF</a:t>
            </a:r>
          </a:p>
        </p:txBody>
      </p:sp>
      <p:sp>
        <p:nvSpPr>
          <p:cNvPr id="65" name="txt_65"/>
          <p:cNvSpPr txBox="1"/>
          <p:nvPr/>
        </p:nvSpPr>
        <p:spPr>
          <a:xfrm>
            <a:off x="6361430" y="3568700"/>
            <a:ext cx="177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8395B5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66" name="forma_66"/>
          <p:cNvSpPr/>
          <p:nvPr/>
        </p:nvSpPr>
        <p:spPr>
          <a:xfrm>
            <a:off x="6590030" y="35687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E0645C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XLU</a:t>
            </a:r>
          </a:p>
        </p:txBody>
      </p:sp>
      <p:sp>
        <p:nvSpPr>
          <p:cNvPr id="67" name="forma_67"/>
          <p:cNvSpPr/>
          <p:nvPr/>
        </p:nvSpPr>
        <p:spPr>
          <a:xfrm>
            <a:off x="7186930" y="35687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E0645C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XLK</a:t>
            </a:r>
          </a:p>
        </p:txBody>
      </p:sp>
      <p:sp>
        <p:nvSpPr>
          <p:cNvPr id="68" name="txt_68"/>
          <p:cNvSpPr txBox="1"/>
          <p:nvPr/>
        </p:nvSpPr>
        <p:spPr>
          <a:xfrm>
            <a:off x="6361430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DIAS ATIVA</a:t>
            </a:r>
          </a:p>
        </p:txBody>
      </p:sp>
      <p:sp>
        <p:nvSpPr>
          <p:cNvPr id="69" name="txt_69"/>
          <p:cNvSpPr txBox="1"/>
          <p:nvPr/>
        </p:nvSpPr>
        <p:spPr>
          <a:xfrm>
            <a:off x="6361430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neutra</a:t>
            </a:r>
          </a:p>
        </p:txBody>
      </p:sp>
      <p:sp>
        <p:nvSpPr>
          <p:cNvPr id="70" name="txt_70"/>
          <p:cNvSpPr txBox="1"/>
          <p:nvPr/>
        </p:nvSpPr>
        <p:spPr>
          <a:xfrm>
            <a:off x="6361430" y="4152900"/>
            <a:ext cx="2146935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4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154</a:t>
            </a:r>
            <a:r>
              <a:rPr lang="pt-BR" sz="1000" b="0">
                <a:solidFill>
                  <a:srgbClr val="BAC6DA"/>
                </a:solidFill>
                <a:latin typeface="Bahnschrift"/>
                <a:cs typeface="Bahnschrift"/>
              </a:rPr>
              <a:t> / 374</a:t>
            </a:r>
          </a:p>
        </p:txBody>
      </p:sp>
      <p:sp>
        <p:nvSpPr>
          <p:cNvPr id="71" name="forma_71"/>
          <p:cNvSpPr/>
          <p:nvPr/>
        </p:nvSpPr>
        <p:spPr>
          <a:xfrm>
            <a:off x="6361430" y="4597400"/>
            <a:ext cx="2146935" cy="88900"/>
          </a:xfrm>
          <a:prstGeom prst="roundRect">
            <a:avLst>
              <a:gd name="adj" fmla="val 50000"/>
            </a:avLst>
          </a:prstGeom>
          <a:solidFill>
            <a:srgbClr val="1A2A45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2" name="forma_72"/>
          <p:cNvSpPr/>
          <p:nvPr/>
        </p:nvSpPr>
        <p:spPr>
          <a:xfrm>
            <a:off x="6361430" y="4597400"/>
            <a:ext cx="884032" cy="88900"/>
          </a:xfrm>
          <a:prstGeom prst="roundRect">
            <a:avLst>
              <a:gd name="adj" fmla="val 50000"/>
            </a:avLst>
          </a:prstGeom>
          <a:solidFill>
            <a:srgbClr val="FFB531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3" name="forma_73"/>
          <p:cNvSpPr/>
          <p:nvPr/>
        </p:nvSpPr>
        <p:spPr>
          <a:xfrm>
            <a:off x="8863965" y="1295400"/>
            <a:ext cx="2502535" cy="3683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4" name="txt_74"/>
          <p:cNvSpPr txBox="1"/>
          <p:nvPr/>
        </p:nvSpPr>
        <p:spPr>
          <a:xfrm>
            <a:off x="9041765" y="1473200"/>
            <a:ext cx="219773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15b · DÚVIDA NA VÉSPERA</a:t>
            </a:r>
          </a:p>
        </p:txBody>
      </p:sp>
      <p:sp>
        <p:nvSpPr>
          <p:cNvPr id="75" name="forma_75"/>
          <p:cNvSpPr/>
          <p:nvPr/>
        </p:nvSpPr>
        <p:spPr>
          <a:xfrm>
            <a:off x="9041765" y="17272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6" name="txt_76"/>
          <p:cNvSpPr txBox="1"/>
          <p:nvPr/>
        </p:nvSpPr>
        <p:spPr>
          <a:xfrm>
            <a:off x="9168765" y="17907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FFB531"/>
                </a:solidFill>
                <a:latin typeface="Consolas"/>
                <a:cs typeface="Consolas"/>
              </a:rPr>
              <a:t>POLYMARKET</a:t>
            </a:r>
          </a:p>
        </p:txBody>
      </p:sp>
      <p:sp>
        <p:nvSpPr>
          <p:cNvPr id="77" name="txt_77"/>
          <p:cNvSpPr txBox="1"/>
          <p:nvPr/>
        </p:nvSpPr>
        <p:spPr>
          <a:xfrm>
            <a:off x="9168765" y="19431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dúvida antes do anúncio</a:t>
            </a:r>
          </a:p>
        </p:txBody>
      </p:sp>
      <p:sp>
        <p:nvSpPr>
          <p:cNvPr id="78" name="forma_78"/>
          <p:cNvSpPr/>
          <p:nvPr/>
        </p:nvSpPr>
        <p:spPr>
          <a:xfrm>
            <a:off x="9041765" y="24130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4F8EF7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9" name="txt_79"/>
          <p:cNvSpPr txBox="1"/>
          <p:nvPr/>
        </p:nvSpPr>
        <p:spPr>
          <a:xfrm>
            <a:off x="9168765" y="24765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4F8EF7"/>
                </a:solidFill>
                <a:latin typeface="Consolas"/>
                <a:cs typeface="Consolas"/>
              </a:rPr>
              <a:t>MERCADO</a:t>
            </a:r>
          </a:p>
        </p:txBody>
      </p:sp>
      <p:sp>
        <p:nvSpPr>
          <p:cNvPr id="80" name="txt_80"/>
          <p:cNvSpPr txBox="1"/>
          <p:nvPr/>
        </p:nvSpPr>
        <p:spPr>
          <a:xfrm>
            <a:off x="9168765" y="26289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média do tipo de anúncio</a:t>
            </a:r>
          </a:p>
        </p:txBody>
      </p:sp>
      <p:sp>
        <p:nvSpPr>
          <p:cNvPr id="81" name="txt_81"/>
          <p:cNvSpPr txBox="1"/>
          <p:nvPr/>
        </p:nvSpPr>
        <p:spPr>
          <a:xfrm>
            <a:off x="9041765" y="2235200"/>
            <a:ext cx="2146935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FB531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82" name="txt_82"/>
          <p:cNvSpPr txBox="1"/>
          <p:nvPr/>
        </p:nvSpPr>
        <p:spPr>
          <a:xfrm>
            <a:off x="9041765" y="3098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CESTA</a:t>
            </a:r>
          </a:p>
        </p:txBody>
      </p:sp>
      <p:sp>
        <p:nvSpPr>
          <p:cNvPr id="83" name="forma_83"/>
          <p:cNvSpPr/>
          <p:nvPr/>
        </p:nvSpPr>
        <p:spPr>
          <a:xfrm>
            <a:off x="9041765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SPY</a:t>
            </a:r>
          </a:p>
        </p:txBody>
      </p:sp>
      <p:sp>
        <p:nvSpPr>
          <p:cNvPr id="84" name="txt_84"/>
          <p:cNvSpPr txBox="1"/>
          <p:nvPr/>
        </p:nvSpPr>
        <p:spPr>
          <a:xfrm>
            <a:off x="9041765" y="3568700"/>
            <a:ext cx="177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8395B5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85" name="txt_85"/>
          <p:cNvSpPr txBox="1"/>
          <p:nvPr/>
        </p:nvSpPr>
        <p:spPr>
          <a:xfrm>
            <a:off x="9295765" y="3568700"/>
            <a:ext cx="1892935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0">
                <a:solidFill>
                  <a:srgbClr val="BAC6DA"/>
                </a:solidFill>
                <a:latin typeface="Bahnschrift"/>
                <a:cs typeface="Bahnschrift"/>
              </a:rPr>
              <a:t>só o índice</a:t>
            </a:r>
          </a:p>
        </p:txBody>
      </p:sp>
      <p:sp>
        <p:nvSpPr>
          <p:cNvPr id="86" name="txt_86"/>
          <p:cNvSpPr txBox="1"/>
          <p:nvPr/>
        </p:nvSpPr>
        <p:spPr>
          <a:xfrm>
            <a:off x="9041765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DIAS ATIVA</a:t>
            </a:r>
          </a:p>
        </p:txBody>
      </p:sp>
      <p:sp>
        <p:nvSpPr>
          <p:cNvPr id="87" name="txt_87"/>
          <p:cNvSpPr txBox="1"/>
          <p:nvPr/>
        </p:nvSpPr>
        <p:spPr>
          <a:xfrm>
            <a:off x="9041765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FFB531"/>
                </a:solidFill>
                <a:latin typeface="Consolas"/>
                <a:cs typeface="Consolas"/>
              </a:rPr>
              <a:t>direcional</a:t>
            </a:r>
          </a:p>
        </p:txBody>
      </p:sp>
      <p:sp>
        <p:nvSpPr>
          <p:cNvPr id="88" name="txt_88"/>
          <p:cNvSpPr txBox="1"/>
          <p:nvPr/>
        </p:nvSpPr>
        <p:spPr>
          <a:xfrm>
            <a:off x="9041765" y="4152900"/>
            <a:ext cx="2146935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4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26</a:t>
            </a:r>
            <a:r>
              <a:rPr lang="pt-BR" sz="1000" b="0">
                <a:solidFill>
                  <a:srgbClr val="BAC6DA"/>
                </a:solidFill>
                <a:latin typeface="Bahnschrift"/>
                <a:cs typeface="Bahnschrift"/>
              </a:rPr>
              <a:t> / 374</a:t>
            </a:r>
          </a:p>
        </p:txBody>
      </p:sp>
      <p:sp>
        <p:nvSpPr>
          <p:cNvPr id="89" name="forma_89"/>
          <p:cNvSpPr/>
          <p:nvPr/>
        </p:nvSpPr>
        <p:spPr>
          <a:xfrm>
            <a:off x="9041765" y="4597400"/>
            <a:ext cx="2146935" cy="88900"/>
          </a:xfrm>
          <a:prstGeom prst="roundRect">
            <a:avLst>
              <a:gd name="adj" fmla="val 50000"/>
            </a:avLst>
          </a:prstGeom>
          <a:solidFill>
            <a:srgbClr val="1A2A45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90" name="forma_90"/>
          <p:cNvSpPr/>
          <p:nvPr/>
        </p:nvSpPr>
        <p:spPr>
          <a:xfrm>
            <a:off x="9041765" y="4597400"/>
            <a:ext cx="149252" cy="88900"/>
          </a:xfrm>
          <a:prstGeom prst="roundRect">
            <a:avLst>
              <a:gd name="adj" fmla="val 50000"/>
            </a:avLst>
          </a:prstGeom>
          <a:solidFill>
            <a:srgbClr val="FFB531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901" name="!!veu_1"/>
          <p:cNvSpPr/>
          <p:nvPr/>
        </p:nvSpPr>
        <p:spPr>
          <a:xfrm>
            <a:off x="822960" y="1295400"/>
            <a:ext cx="2502535" cy="3683000"/>
          </a:xfrm>
          <a:prstGeom prst="roundRect">
            <a:avLst>
              <a:gd name="adj" fmla="val 6000"/>
            </a:avLst>
          </a:prstGeom>
          <a:solidFill>
            <a:srgbClr val="0A1325">
              <a:alpha val="68000"/>
            </a:srgbClr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902" name="!!veu_3"/>
          <p:cNvSpPr/>
          <p:nvPr/>
        </p:nvSpPr>
        <p:spPr>
          <a:xfrm>
            <a:off x="6183630" y="1295400"/>
            <a:ext cx="2502535" cy="3683000"/>
          </a:xfrm>
          <a:prstGeom prst="roundRect">
            <a:avLst>
              <a:gd name="adj" fmla="val 6000"/>
            </a:avLst>
          </a:prstGeom>
          <a:solidFill>
            <a:srgbClr val="0A1325">
              <a:alpha val="68000"/>
            </a:srgbClr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903" name="!!veu_4"/>
          <p:cNvSpPr/>
          <p:nvPr/>
        </p:nvSpPr>
        <p:spPr>
          <a:xfrm>
            <a:off x="8863965" y="1295400"/>
            <a:ext cx="2502535" cy="3683000"/>
          </a:xfrm>
          <a:prstGeom prst="roundRect">
            <a:avLst>
              <a:gd name="adj" fmla="val 6000"/>
            </a:avLst>
          </a:prstGeom>
          <a:solidFill>
            <a:srgbClr val="0A1325">
              <a:alpha val="68000"/>
            </a:srgbClr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4739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_tl"/>
          <p:cNvSpPr/>
          <p:nvPr/>
        </p:nvSpPr>
        <p:spPr>
          <a:xfrm>
            <a:off x="-2073535" y="-970433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09</a:t>
            </a:r>
          </a:p>
        </p:txBody>
      </p:sp>
      <p:sp>
        <p:nvSpPr>
          <p:cNvPr id="6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8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9" name="cab_titulo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As quatro views, uma a uma</a:t>
            </a:r>
          </a:p>
        </p:txBody>
      </p:sp>
      <p:sp>
        <p:nvSpPr>
          <p:cNvPr id="10" name="cab_numero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8395B5"/>
                </a:solidFill>
                <a:latin typeface="Consolas"/>
              </a:rPr>
              <a:t>09</a:t>
            </a:r>
          </a:p>
        </p:txBody>
      </p:sp>
      <p:cxnSp>
        <p:nvCxnSpPr>
          <p:cNvPr id="11" name="filete_topo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filete_base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h1"/>
          <p:cNvSpPr txBox="1"/>
          <p:nvPr/>
        </p:nvSpPr>
        <p:spPr>
          <a:xfrm>
            <a:off x="822960" y="838200"/>
            <a:ext cx="1054354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b="0">
                <a:solidFill>
                  <a:srgbClr val="F5F7FB"/>
                </a:solidFill>
                <a:latin typeface="Bahnschrift SemiBold"/>
                <a:cs typeface="Bahnschrift SemiBold"/>
              </a:rPr>
              <a:t>Cada view compara o Polymarket com um preço que já existe</a:t>
            </a:r>
          </a:p>
        </p:txBody>
      </p:sp>
      <p:sp>
        <p:nvSpPr>
          <p:cNvPr id="14" name="forma_14"/>
          <p:cNvSpPr/>
          <p:nvPr/>
        </p:nvSpPr>
        <p:spPr>
          <a:xfrm>
            <a:off x="822960" y="1295400"/>
            <a:ext cx="2502535" cy="3683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5" name="txt_15"/>
          <p:cNvSpPr txBox="1"/>
          <p:nvPr/>
        </p:nvSpPr>
        <p:spPr>
          <a:xfrm>
            <a:off x="1000760" y="1473200"/>
            <a:ext cx="219773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2.3 · DECISÃO DO FED</a:t>
            </a:r>
          </a:p>
        </p:txBody>
      </p:sp>
      <p:sp>
        <p:nvSpPr>
          <p:cNvPr id="16" name="forma_16"/>
          <p:cNvSpPr/>
          <p:nvPr/>
        </p:nvSpPr>
        <p:spPr>
          <a:xfrm>
            <a:off x="1000760" y="17272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7" name="txt_17"/>
          <p:cNvSpPr txBox="1"/>
          <p:nvPr/>
        </p:nvSpPr>
        <p:spPr>
          <a:xfrm>
            <a:off x="1127760" y="17907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FFB531"/>
                </a:solidFill>
                <a:latin typeface="Consolas"/>
                <a:cs typeface="Consolas"/>
              </a:rPr>
              <a:t>POLYMARKET</a:t>
            </a:r>
          </a:p>
        </p:txBody>
      </p:sp>
      <p:sp>
        <p:nvSpPr>
          <p:cNvPr id="18" name="txt_18"/>
          <p:cNvSpPr txBox="1"/>
          <p:nvPr/>
        </p:nvSpPr>
        <p:spPr>
          <a:xfrm>
            <a:off x="1127760" y="19431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corte na próxima reunião</a:t>
            </a:r>
          </a:p>
        </p:txBody>
      </p:sp>
      <p:sp>
        <p:nvSpPr>
          <p:cNvPr id="19" name="forma_19"/>
          <p:cNvSpPr/>
          <p:nvPr/>
        </p:nvSpPr>
        <p:spPr>
          <a:xfrm>
            <a:off x="1000760" y="24130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4F8EF7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0" name="txt_20"/>
          <p:cNvSpPr txBox="1"/>
          <p:nvPr/>
        </p:nvSpPr>
        <p:spPr>
          <a:xfrm>
            <a:off x="1127760" y="24765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4F8EF7"/>
                </a:solidFill>
                <a:latin typeface="Consolas"/>
                <a:cs typeface="Consolas"/>
              </a:rPr>
              <a:t>MERCADO</a:t>
            </a:r>
          </a:p>
        </p:txBody>
      </p:sp>
      <p:sp>
        <p:nvSpPr>
          <p:cNvPr id="21" name="txt_21"/>
          <p:cNvSpPr txBox="1"/>
          <p:nvPr/>
        </p:nvSpPr>
        <p:spPr>
          <a:xfrm>
            <a:off x="1127760" y="26289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T-bill 3m − Fed funds</a:t>
            </a:r>
          </a:p>
        </p:txBody>
      </p:sp>
      <p:sp>
        <p:nvSpPr>
          <p:cNvPr id="22" name="txt_22"/>
          <p:cNvSpPr txBox="1"/>
          <p:nvPr/>
        </p:nvSpPr>
        <p:spPr>
          <a:xfrm>
            <a:off x="1000760" y="2235200"/>
            <a:ext cx="2146935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FB531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23" name="txt_23"/>
          <p:cNvSpPr txBox="1"/>
          <p:nvPr/>
        </p:nvSpPr>
        <p:spPr>
          <a:xfrm>
            <a:off x="1000760" y="3098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CESTA</a:t>
            </a:r>
          </a:p>
        </p:txBody>
      </p:sp>
      <p:sp>
        <p:nvSpPr>
          <p:cNvPr id="24" name="forma_24"/>
          <p:cNvSpPr/>
          <p:nvPr/>
        </p:nvSpPr>
        <p:spPr>
          <a:xfrm>
            <a:off x="1000760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XLU</a:t>
            </a:r>
          </a:p>
        </p:txBody>
      </p:sp>
      <p:sp>
        <p:nvSpPr>
          <p:cNvPr id="25" name="forma_25"/>
          <p:cNvSpPr/>
          <p:nvPr/>
        </p:nvSpPr>
        <p:spPr>
          <a:xfrm>
            <a:off x="1597660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TLT</a:t>
            </a:r>
          </a:p>
        </p:txBody>
      </p:sp>
      <p:sp>
        <p:nvSpPr>
          <p:cNvPr id="26" name="forma_26"/>
          <p:cNvSpPr/>
          <p:nvPr/>
        </p:nvSpPr>
        <p:spPr>
          <a:xfrm>
            <a:off x="2194560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TIP</a:t>
            </a:r>
          </a:p>
        </p:txBody>
      </p:sp>
      <p:sp>
        <p:nvSpPr>
          <p:cNvPr id="27" name="txt_27"/>
          <p:cNvSpPr txBox="1"/>
          <p:nvPr/>
        </p:nvSpPr>
        <p:spPr>
          <a:xfrm>
            <a:off x="1000760" y="3568700"/>
            <a:ext cx="177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8395B5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28" name="forma_28"/>
          <p:cNvSpPr/>
          <p:nvPr/>
        </p:nvSpPr>
        <p:spPr>
          <a:xfrm>
            <a:off x="1229360" y="35687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E0645C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XLK</a:t>
            </a:r>
          </a:p>
        </p:txBody>
      </p:sp>
      <p:sp>
        <p:nvSpPr>
          <p:cNvPr id="29" name="txt_29"/>
          <p:cNvSpPr txBox="1"/>
          <p:nvPr/>
        </p:nvSpPr>
        <p:spPr>
          <a:xfrm>
            <a:off x="1000760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DIAS ATIVA</a:t>
            </a:r>
          </a:p>
        </p:txBody>
      </p:sp>
      <p:sp>
        <p:nvSpPr>
          <p:cNvPr id="30" name="txt_30"/>
          <p:cNvSpPr txBox="1"/>
          <p:nvPr/>
        </p:nvSpPr>
        <p:spPr>
          <a:xfrm>
            <a:off x="1000760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neutra</a:t>
            </a:r>
          </a:p>
        </p:txBody>
      </p:sp>
      <p:sp>
        <p:nvSpPr>
          <p:cNvPr id="31" name="txt_31"/>
          <p:cNvSpPr txBox="1"/>
          <p:nvPr/>
        </p:nvSpPr>
        <p:spPr>
          <a:xfrm>
            <a:off x="1000760" y="4152900"/>
            <a:ext cx="2146935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4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312</a:t>
            </a:r>
            <a:r>
              <a:rPr lang="pt-BR" sz="1000" b="0">
                <a:solidFill>
                  <a:srgbClr val="BAC6DA"/>
                </a:solidFill>
                <a:latin typeface="Bahnschrift"/>
                <a:cs typeface="Bahnschrift"/>
              </a:rPr>
              <a:t> / 374</a:t>
            </a:r>
          </a:p>
        </p:txBody>
      </p:sp>
      <p:sp>
        <p:nvSpPr>
          <p:cNvPr id="32" name="forma_32"/>
          <p:cNvSpPr/>
          <p:nvPr/>
        </p:nvSpPr>
        <p:spPr>
          <a:xfrm>
            <a:off x="1000760" y="4597400"/>
            <a:ext cx="2146935" cy="88900"/>
          </a:xfrm>
          <a:prstGeom prst="roundRect">
            <a:avLst>
              <a:gd name="adj" fmla="val 50000"/>
            </a:avLst>
          </a:prstGeom>
          <a:solidFill>
            <a:srgbClr val="1A2A45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3" name="forma_33"/>
          <p:cNvSpPr/>
          <p:nvPr/>
        </p:nvSpPr>
        <p:spPr>
          <a:xfrm>
            <a:off x="1000760" y="4597400"/>
            <a:ext cx="1791026" cy="88900"/>
          </a:xfrm>
          <a:prstGeom prst="roundRect">
            <a:avLst>
              <a:gd name="adj" fmla="val 50000"/>
            </a:avLst>
          </a:prstGeom>
          <a:solidFill>
            <a:srgbClr val="FFB531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4" name="forma_34"/>
          <p:cNvSpPr/>
          <p:nvPr/>
        </p:nvSpPr>
        <p:spPr>
          <a:xfrm>
            <a:off x="3503295" y="1295400"/>
            <a:ext cx="2502535" cy="3683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5" name="txt_35"/>
          <p:cNvSpPr txBox="1"/>
          <p:nvPr/>
        </p:nvSpPr>
        <p:spPr>
          <a:xfrm>
            <a:off x="3681095" y="1473200"/>
            <a:ext cx="219773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2.2 · INFLAÇÃO DO MÊS</a:t>
            </a:r>
          </a:p>
        </p:txBody>
      </p:sp>
      <p:sp>
        <p:nvSpPr>
          <p:cNvPr id="36" name="forma_36"/>
          <p:cNvSpPr/>
          <p:nvPr/>
        </p:nvSpPr>
        <p:spPr>
          <a:xfrm>
            <a:off x="3681095" y="17272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7" name="txt_37"/>
          <p:cNvSpPr txBox="1"/>
          <p:nvPr/>
        </p:nvSpPr>
        <p:spPr>
          <a:xfrm>
            <a:off x="3808095" y="17907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FFB531"/>
                </a:solidFill>
                <a:latin typeface="Consolas"/>
                <a:cs typeface="Consolas"/>
              </a:rPr>
              <a:t>POLYMARKET</a:t>
            </a:r>
          </a:p>
        </p:txBody>
      </p:sp>
      <p:sp>
        <p:nvSpPr>
          <p:cNvPr id="38" name="txt_38"/>
          <p:cNvSpPr txBox="1"/>
          <p:nvPr/>
        </p:nvSpPr>
        <p:spPr>
          <a:xfrm>
            <a:off x="3808095" y="19431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inflação do mês</a:t>
            </a:r>
          </a:p>
        </p:txBody>
      </p:sp>
      <p:sp>
        <p:nvSpPr>
          <p:cNvPr id="39" name="forma_39"/>
          <p:cNvSpPr/>
          <p:nvPr/>
        </p:nvSpPr>
        <p:spPr>
          <a:xfrm>
            <a:off x="3681095" y="24130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4F8EF7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40" name="txt_40"/>
          <p:cNvSpPr txBox="1"/>
          <p:nvPr/>
        </p:nvSpPr>
        <p:spPr>
          <a:xfrm>
            <a:off x="3808095" y="24765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4F8EF7"/>
                </a:solidFill>
                <a:latin typeface="Consolas"/>
                <a:cs typeface="Consolas"/>
              </a:rPr>
              <a:t>MERCADO</a:t>
            </a:r>
          </a:p>
        </p:txBody>
      </p:sp>
      <p:sp>
        <p:nvSpPr>
          <p:cNvPr id="41" name="txt_41"/>
          <p:cNvSpPr txBox="1"/>
          <p:nvPr/>
        </p:nvSpPr>
        <p:spPr>
          <a:xfrm>
            <a:off x="3808095" y="26289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breakeven de 10 anos</a:t>
            </a:r>
          </a:p>
        </p:txBody>
      </p:sp>
      <p:sp>
        <p:nvSpPr>
          <p:cNvPr id="42" name="txt_42"/>
          <p:cNvSpPr txBox="1"/>
          <p:nvPr/>
        </p:nvSpPr>
        <p:spPr>
          <a:xfrm>
            <a:off x="3681095" y="2235200"/>
            <a:ext cx="2146935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FB531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43" name="txt_43"/>
          <p:cNvSpPr txBox="1"/>
          <p:nvPr/>
        </p:nvSpPr>
        <p:spPr>
          <a:xfrm>
            <a:off x="3681095" y="3098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CESTA</a:t>
            </a:r>
          </a:p>
        </p:txBody>
      </p:sp>
      <p:sp>
        <p:nvSpPr>
          <p:cNvPr id="44" name="forma_44"/>
          <p:cNvSpPr/>
          <p:nvPr/>
        </p:nvSpPr>
        <p:spPr>
          <a:xfrm>
            <a:off x="3681095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TIP</a:t>
            </a:r>
          </a:p>
        </p:txBody>
      </p:sp>
      <p:sp>
        <p:nvSpPr>
          <p:cNvPr id="45" name="txt_45"/>
          <p:cNvSpPr txBox="1"/>
          <p:nvPr/>
        </p:nvSpPr>
        <p:spPr>
          <a:xfrm>
            <a:off x="3681095" y="3568700"/>
            <a:ext cx="177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8395B5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46" name="forma_46"/>
          <p:cNvSpPr/>
          <p:nvPr/>
        </p:nvSpPr>
        <p:spPr>
          <a:xfrm>
            <a:off x="3909695" y="35687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E0645C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TLT</a:t>
            </a:r>
          </a:p>
        </p:txBody>
      </p:sp>
      <p:sp>
        <p:nvSpPr>
          <p:cNvPr id="47" name="txt_47"/>
          <p:cNvSpPr txBox="1"/>
          <p:nvPr/>
        </p:nvSpPr>
        <p:spPr>
          <a:xfrm>
            <a:off x="3681095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DIAS ATIVA</a:t>
            </a:r>
          </a:p>
        </p:txBody>
      </p:sp>
      <p:sp>
        <p:nvSpPr>
          <p:cNvPr id="48" name="txt_48"/>
          <p:cNvSpPr txBox="1"/>
          <p:nvPr/>
        </p:nvSpPr>
        <p:spPr>
          <a:xfrm>
            <a:off x="3681095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neutra</a:t>
            </a:r>
          </a:p>
        </p:txBody>
      </p:sp>
      <p:sp>
        <p:nvSpPr>
          <p:cNvPr id="49" name="txt_49"/>
          <p:cNvSpPr txBox="1"/>
          <p:nvPr/>
        </p:nvSpPr>
        <p:spPr>
          <a:xfrm>
            <a:off x="3681095" y="4152900"/>
            <a:ext cx="2146935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4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253</a:t>
            </a:r>
            <a:r>
              <a:rPr lang="pt-BR" sz="1000" b="0">
                <a:solidFill>
                  <a:srgbClr val="BAC6DA"/>
                </a:solidFill>
                <a:latin typeface="Bahnschrift"/>
                <a:cs typeface="Bahnschrift"/>
              </a:rPr>
              <a:t> / 374</a:t>
            </a:r>
          </a:p>
        </p:txBody>
      </p:sp>
      <p:sp>
        <p:nvSpPr>
          <p:cNvPr id="50" name="forma_50"/>
          <p:cNvSpPr/>
          <p:nvPr/>
        </p:nvSpPr>
        <p:spPr>
          <a:xfrm>
            <a:off x="3681095" y="4597400"/>
            <a:ext cx="2146935" cy="88900"/>
          </a:xfrm>
          <a:prstGeom prst="roundRect">
            <a:avLst>
              <a:gd name="adj" fmla="val 50000"/>
            </a:avLst>
          </a:prstGeom>
          <a:solidFill>
            <a:srgbClr val="1A2A45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1" name="forma_51"/>
          <p:cNvSpPr/>
          <p:nvPr/>
        </p:nvSpPr>
        <p:spPr>
          <a:xfrm>
            <a:off x="3681095" y="4597400"/>
            <a:ext cx="1452338" cy="88900"/>
          </a:xfrm>
          <a:prstGeom prst="roundRect">
            <a:avLst>
              <a:gd name="adj" fmla="val 50000"/>
            </a:avLst>
          </a:prstGeom>
          <a:solidFill>
            <a:srgbClr val="FFB531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2" name="forma_52"/>
          <p:cNvSpPr/>
          <p:nvPr/>
        </p:nvSpPr>
        <p:spPr>
          <a:xfrm>
            <a:off x="6183630" y="1295400"/>
            <a:ext cx="2502535" cy="3683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9050">
            <a:solidFill>
              <a:srgbClr val="FFB531"/>
            </a:solidFill>
          </a:ln>
          <a:effectLst>
            <a:glow rad="177800">
              <a:srgbClr val="FFB531">
                <a:alpha val="20000"/>
              </a:srgbClr>
            </a:glow>
          </a:effectLst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3" name="txt_53"/>
          <p:cNvSpPr txBox="1"/>
          <p:nvPr/>
        </p:nvSpPr>
        <p:spPr>
          <a:xfrm>
            <a:off x="6361430" y="1473200"/>
            <a:ext cx="219773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B · TAXA NO FIM DO ANO</a:t>
            </a:r>
          </a:p>
        </p:txBody>
      </p:sp>
      <p:sp>
        <p:nvSpPr>
          <p:cNvPr id="54" name="forma_54"/>
          <p:cNvSpPr/>
          <p:nvPr/>
        </p:nvSpPr>
        <p:spPr>
          <a:xfrm>
            <a:off x="6361430" y="17272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5" name="txt_55"/>
          <p:cNvSpPr txBox="1"/>
          <p:nvPr/>
        </p:nvSpPr>
        <p:spPr>
          <a:xfrm>
            <a:off x="6488430" y="17907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FFB531"/>
                </a:solidFill>
                <a:latin typeface="Consolas"/>
                <a:cs typeface="Consolas"/>
              </a:rPr>
              <a:t>POLYMARKET</a:t>
            </a:r>
          </a:p>
        </p:txBody>
      </p:sp>
      <p:sp>
        <p:nvSpPr>
          <p:cNvPr id="56" name="txt_56"/>
          <p:cNvSpPr txBox="1"/>
          <p:nvPr/>
        </p:nvSpPr>
        <p:spPr>
          <a:xfrm>
            <a:off x="6488430" y="19431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cortes no ano</a:t>
            </a:r>
          </a:p>
        </p:txBody>
      </p:sp>
      <p:sp>
        <p:nvSpPr>
          <p:cNvPr id="57" name="forma_57"/>
          <p:cNvSpPr/>
          <p:nvPr/>
        </p:nvSpPr>
        <p:spPr>
          <a:xfrm>
            <a:off x="6361430" y="24130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4F8EF7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8" name="txt_58"/>
          <p:cNvSpPr txBox="1"/>
          <p:nvPr/>
        </p:nvSpPr>
        <p:spPr>
          <a:xfrm>
            <a:off x="6488430" y="24765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4F8EF7"/>
                </a:solidFill>
                <a:latin typeface="Consolas"/>
                <a:cs typeface="Consolas"/>
              </a:rPr>
              <a:t>MERCADO</a:t>
            </a:r>
          </a:p>
        </p:txBody>
      </p:sp>
      <p:sp>
        <p:nvSpPr>
          <p:cNvPr id="59" name="txt_59"/>
          <p:cNvSpPr txBox="1"/>
          <p:nvPr/>
        </p:nvSpPr>
        <p:spPr>
          <a:xfrm>
            <a:off x="6488430" y="26289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Treasury de 1 ano</a:t>
            </a:r>
          </a:p>
        </p:txBody>
      </p:sp>
      <p:sp>
        <p:nvSpPr>
          <p:cNvPr id="60" name="txt_60"/>
          <p:cNvSpPr txBox="1"/>
          <p:nvPr/>
        </p:nvSpPr>
        <p:spPr>
          <a:xfrm>
            <a:off x="6361430" y="2235200"/>
            <a:ext cx="2146935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FB531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61" name="txt_61"/>
          <p:cNvSpPr txBox="1"/>
          <p:nvPr/>
        </p:nvSpPr>
        <p:spPr>
          <a:xfrm>
            <a:off x="6361430" y="3098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CESTA</a:t>
            </a:r>
          </a:p>
        </p:txBody>
      </p:sp>
      <p:sp>
        <p:nvSpPr>
          <p:cNvPr id="62" name="forma_62"/>
          <p:cNvSpPr/>
          <p:nvPr/>
        </p:nvSpPr>
        <p:spPr>
          <a:xfrm>
            <a:off x="6361430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XLE</a:t>
            </a:r>
          </a:p>
        </p:txBody>
      </p:sp>
      <p:sp>
        <p:nvSpPr>
          <p:cNvPr id="63" name="forma_63"/>
          <p:cNvSpPr/>
          <p:nvPr/>
        </p:nvSpPr>
        <p:spPr>
          <a:xfrm>
            <a:off x="6958330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XLP</a:t>
            </a:r>
          </a:p>
        </p:txBody>
      </p:sp>
      <p:sp>
        <p:nvSpPr>
          <p:cNvPr id="64" name="forma_64"/>
          <p:cNvSpPr/>
          <p:nvPr/>
        </p:nvSpPr>
        <p:spPr>
          <a:xfrm>
            <a:off x="7555230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XLF</a:t>
            </a:r>
          </a:p>
        </p:txBody>
      </p:sp>
      <p:sp>
        <p:nvSpPr>
          <p:cNvPr id="65" name="txt_65"/>
          <p:cNvSpPr txBox="1"/>
          <p:nvPr/>
        </p:nvSpPr>
        <p:spPr>
          <a:xfrm>
            <a:off x="6361430" y="3568700"/>
            <a:ext cx="177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8395B5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66" name="forma_66"/>
          <p:cNvSpPr/>
          <p:nvPr/>
        </p:nvSpPr>
        <p:spPr>
          <a:xfrm>
            <a:off x="6590030" y="35687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E0645C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XLU</a:t>
            </a:r>
          </a:p>
        </p:txBody>
      </p:sp>
      <p:sp>
        <p:nvSpPr>
          <p:cNvPr id="67" name="forma_67"/>
          <p:cNvSpPr/>
          <p:nvPr/>
        </p:nvSpPr>
        <p:spPr>
          <a:xfrm>
            <a:off x="7186930" y="35687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E0645C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XLK</a:t>
            </a:r>
          </a:p>
        </p:txBody>
      </p:sp>
      <p:sp>
        <p:nvSpPr>
          <p:cNvPr id="68" name="txt_68"/>
          <p:cNvSpPr txBox="1"/>
          <p:nvPr/>
        </p:nvSpPr>
        <p:spPr>
          <a:xfrm>
            <a:off x="6361430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DIAS ATIVA</a:t>
            </a:r>
          </a:p>
        </p:txBody>
      </p:sp>
      <p:sp>
        <p:nvSpPr>
          <p:cNvPr id="69" name="txt_69"/>
          <p:cNvSpPr txBox="1"/>
          <p:nvPr/>
        </p:nvSpPr>
        <p:spPr>
          <a:xfrm>
            <a:off x="6361430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neutra</a:t>
            </a:r>
          </a:p>
        </p:txBody>
      </p:sp>
      <p:sp>
        <p:nvSpPr>
          <p:cNvPr id="70" name="txt_70"/>
          <p:cNvSpPr txBox="1"/>
          <p:nvPr/>
        </p:nvSpPr>
        <p:spPr>
          <a:xfrm>
            <a:off x="6361430" y="4152900"/>
            <a:ext cx="2146935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4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154</a:t>
            </a:r>
            <a:r>
              <a:rPr lang="pt-BR" sz="1000" b="0">
                <a:solidFill>
                  <a:srgbClr val="BAC6DA"/>
                </a:solidFill>
                <a:latin typeface="Bahnschrift"/>
                <a:cs typeface="Bahnschrift"/>
              </a:rPr>
              <a:t> / 374</a:t>
            </a:r>
          </a:p>
        </p:txBody>
      </p:sp>
      <p:sp>
        <p:nvSpPr>
          <p:cNvPr id="71" name="forma_71"/>
          <p:cNvSpPr/>
          <p:nvPr/>
        </p:nvSpPr>
        <p:spPr>
          <a:xfrm>
            <a:off x="6361430" y="4597400"/>
            <a:ext cx="2146935" cy="88900"/>
          </a:xfrm>
          <a:prstGeom prst="roundRect">
            <a:avLst>
              <a:gd name="adj" fmla="val 50000"/>
            </a:avLst>
          </a:prstGeom>
          <a:solidFill>
            <a:srgbClr val="1A2A45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2" name="forma_72"/>
          <p:cNvSpPr/>
          <p:nvPr/>
        </p:nvSpPr>
        <p:spPr>
          <a:xfrm>
            <a:off x="6361430" y="4597400"/>
            <a:ext cx="884032" cy="88900"/>
          </a:xfrm>
          <a:prstGeom prst="roundRect">
            <a:avLst>
              <a:gd name="adj" fmla="val 50000"/>
            </a:avLst>
          </a:prstGeom>
          <a:solidFill>
            <a:srgbClr val="FFB531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3" name="forma_73"/>
          <p:cNvSpPr/>
          <p:nvPr/>
        </p:nvSpPr>
        <p:spPr>
          <a:xfrm>
            <a:off x="8863965" y="1295400"/>
            <a:ext cx="2502535" cy="3683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4" name="txt_74"/>
          <p:cNvSpPr txBox="1"/>
          <p:nvPr/>
        </p:nvSpPr>
        <p:spPr>
          <a:xfrm>
            <a:off x="9041765" y="1473200"/>
            <a:ext cx="219773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15b · DÚVIDA NA VÉSPERA</a:t>
            </a:r>
          </a:p>
        </p:txBody>
      </p:sp>
      <p:sp>
        <p:nvSpPr>
          <p:cNvPr id="75" name="forma_75"/>
          <p:cNvSpPr/>
          <p:nvPr/>
        </p:nvSpPr>
        <p:spPr>
          <a:xfrm>
            <a:off x="9041765" y="17272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6" name="txt_76"/>
          <p:cNvSpPr txBox="1"/>
          <p:nvPr/>
        </p:nvSpPr>
        <p:spPr>
          <a:xfrm>
            <a:off x="9168765" y="17907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FFB531"/>
                </a:solidFill>
                <a:latin typeface="Consolas"/>
                <a:cs typeface="Consolas"/>
              </a:rPr>
              <a:t>POLYMARKET</a:t>
            </a:r>
          </a:p>
        </p:txBody>
      </p:sp>
      <p:sp>
        <p:nvSpPr>
          <p:cNvPr id="77" name="txt_77"/>
          <p:cNvSpPr txBox="1"/>
          <p:nvPr/>
        </p:nvSpPr>
        <p:spPr>
          <a:xfrm>
            <a:off x="9168765" y="19431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dúvida antes do anúncio</a:t>
            </a:r>
          </a:p>
        </p:txBody>
      </p:sp>
      <p:sp>
        <p:nvSpPr>
          <p:cNvPr id="78" name="forma_78"/>
          <p:cNvSpPr/>
          <p:nvPr/>
        </p:nvSpPr>
        <p:spPr>
          <a:xfrm>
            <a:off x="9041765" y="24130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4F8EF7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9" name="txt_79"/>
          <p:cNvSpPr txBox="1"/>
          <p:nvPr/>
        </p:nvSpPr>
        <p:spPr>
          <a:xfrm>
            <a:off x="9168765" y="24765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4F8EF7"/>
                </a:solidFill>
                <a:latin typeface="Consolas"/>
                <a:cs typeface="Consolas"/>
              </a:rPr>
              <a:t>MERCADO</a:t>
            </a:r>
          </a:p>
        </p:txBody>
      </p:sp>
      <p:sp>
        <p:nvSpPr>
          <p:cNvPr id="80" name="txt_80"/>
          <p:cNvSpPr txBox="1"/>
          <p:nvPr/>
        </p:nvSpPr>
        <p:spPr>
          <a:xfrm>
            <a:off x="9168765" y="26289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média do tipo de anúncio</a:t>
            </a:r>
          </a:p>
        </p:txBody>
      </p:sp>
      <p:sp>
        <p:nvSpPr>
          <p:cNvPr id="81" name="txt_81"/>
          <p:cNvSpPr txBox="1"/>
          <p:nvPr/>
        </p:nvSpPr>
        <p:spPr>
          <a:xfrm>
            <a:off x="9041765" y="2235200"/>
            <a:ext cx="2146935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FB531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82" name="txt_82"/>
          <p:cNvSpPr txBox="1"/>
          <p:nvPr/>
        </p:nvSpPr>
        <p:spPr>
          <a:xfrm>
            <a:off x="9041765" y="3098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CESTA</a:t>
            </a:r>
          </a:p>
        </p:txBody>
      </p:sp>
      <p:sp>
        <p:nvSpPr>
          <p:cNvPr id="83" name="forma_83"/>
          <p:cNvSpPr/>
          <p:nvPr/>
        </p:nvSpPr>
        <p:spPr>
          <a:xfrm>
            <a:off x="9041765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SPY</a:t>
            </a:r>
          </a:p>
        </p:txBody>
      </p:sp>
      <p:sp>
        <p:nvSpPr>
          <p:cNvPr id="84" name="txt_84"/>
          <p:cNvSpPr txBox="1"/>
          <p:nvPr/>
        </p:nvSpPr>
        <p:spPr>
          <a:xfrm>
            <a:off x="9041765" y="3568700"/>
            <a:ext cx="177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8395B5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85" name="txt_85"/>
          <p:cNvSpPr txBox="1"/>
          <p:nvPr/>
        </p:nvSpPr>
        <p:spPr>
          <a:xfrm>
            <a:off x="9295765" y="3568700"/>
            <a:ext cx="1892935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0">
                <a:solidFill>
                  <a:srgbClr val="BAC6DA"/>
                </a:solidFill>
                <a:latin typeface="Bahnschrift"/>
                <a:cs typeface="Bahnschrift"/>
              </a:rPr>
              <a:t>só o índice</a:t>
            </a:r>
          </a:p>
        </p:txBody>
      </p:sp>
      <p:sp>
        <p:nvSpPr>
          <p:cNvPr id="86" name="txt_86"/>
          <p:cNvSpPr txBox="1"/>
          <p:nvPr/>
        </p:nvSpPr>
        <p:spPr>
          <a:xfrm>
            <a:off x="9041765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DIAS ATIVA</a:t>
            </a:r>
          </a:p>
        </p:txBody>
      </p:sp>
      <p:sp>
        <p:nvSpPr>
          <p:cNvPr id="87" name="txt_87"/>
          <p:cNvSpPr txBox="1"/>
          <p:nvPr/>
        </p:nvSpPr>
        <p:spPr>
          <a:xfrm>
            <a:off x="9041765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FFB531"/>
                </a:solidFill>
                <a:latin typeface="Consolas"/>
                <a:cs typeface="Consolas"/>
              </a:rPr>
              <a:t>direcional</a:t>
            </a:r>
          </a:p>
        </p:txBody>
      </p:sp>
      <p:sp>
        <p:nvSpPr>
          <p:cNvPr id="88" name="txt_88"/>
          <p:cNvSpPr txBox="1"/>
          <p:nvPr/>
        </p:nvSpPr>
        <p:spPr>
          <a:xfrm>
            <a:off x="9041765" y="4152900"/>
            <a:ext cx="2146935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4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26</a:t>
            </a:r>
            <a:r>
              <a:rPr lang="pt-BR" sz="1000" b="0">
                <a:solidFill>
                  <a:srgbClr val="BAC6DA"/>
                </a:solidFill>
                <a:latin typeface="Bahnschrift"/>
                <a:cs typeface="Bahnschrift"/>
              </a:rPr>
              <a:t> / 374</a:t>
            </a:r>
          </a:p>
        </p:txBody>
      </p:sp>
      <p:sp>
        <p:nvSpPr>
          <p:cNvPr id="89" name="forma_89"/>
          <p:cNvSpPr/>
          <p:nvPr/>
        </p:nvSpPr>
        <p:spPr>
          <a:xfrm>
            <a:off x="9041765" y="4597400"/>
            <a:ext cx="2146935" cy="88900"/>
          </a:xfrm>
          <a:prstGeom prst="roundRect">
            <a:avLst>
              <a:gd name="adj" fmla="val 50000"/>
            </a:avLst>
          </a:prstGeom>
          <a:solidFill>
            <a:srgbClr val="1A2A45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90" name="forma_90"/>
          <p:cNvSpPr/>
          <p:nvPr/>
        </p:nvSpPr>
        <p:spPr>
          <a:xfrm>
            <a:off x="9041765" y="4597400"/>
            <a:ext cx="149252" cy="88900"/>
          </a:xfrm>
          <a:prstGeom prst="roundRect">
            <a:avLst>
              <a:gd name="adj" fmla="val 50000"/>
            </a:avLst>
          </a:prstGeom>
          <a:solidFill>
            <a:srgbClr val="FFB531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901" name="!!veu_1"/>
          <p:cNvSpPr/>
          <p:nvPr/>
        </p:nvSpPr>
        <p:spPr>
          <a:xfrm>
            <a:off x="822960" y="1295400"/>
            <a:ext cx="2502535" cy="3683000"/>
          </a:xfrm>
          <a:prstGeom prst="roundRect">
            <a:avLst>
              <a:gd name="adj" fmla="val 6000"/>
            </a:avLst>
          </a:prstGeom>
          <a:solidFill>
            <a:srgbClr val="0A1325">
              <a:alpha val="68000"/>
            </a:srgbClr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902" name="!!veu_2"/>
          <p:cNvSpPr/>
          <p:nvPr/>
        </p:nvSpPr>
        <p:spPr>
          <a:xfrm>
            <a:off x="3503295" y="1295400"/>
            <a:ext cx="2502535" cy="3683000"/>
          </a:xfrm>
          <a:prstGeom prst="roundRect">
            <a:avLst>
              <a:gd name="adj" fmla="val 6000"/>
            </a:avLst>
          </a:prstGeom>
          <a:solidFill>
            <a:srgbClr val="0A1325">
              <a:alpha val="68000"/>
            </a:srgbClr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903" name="!!veu_4"/>
          <p:cNvSpPr/>
          <p:nvPr/>
        </p:nvSpPr>
        <p:spPr>
          <a:xfrm>
            <a:off x="8863965" y="1295400"/>
            <a:ext cx="2502535" cy="3683000"/>
          </a:xfrm>
          <a:prstGeom prst="roundRect">
            <a:avLst>
              <a:gd name="adj" fmla="val 6000"/>
            </a:avLst>
          </a:prstGeom>
          <a:solidFill>
            <a:srgbClr val="0A1325">
              <a:alpha val="68000"/>
            </a:srgbClr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4288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_tl"/>
          <p:cNvSpPr/>
          <p:nvPr/>
        </p:nvSpPr>
        <p:spPr>
          <a:xfrm>
            <a:off x="-2073535" y="-970433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09</a:t>
            </a:r>
          </a:p>
        </p:txBody>
      </p:sp>
      <p:sp>
        <p:nvSpPr>
          <p:cNvPr id="6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8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9" name="cab_titulo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As quatro views, uma a uma</a:t>
            </a:r>
          </a:p>
        </p:txBody>
      </p:sp>
      <p:sp>
        <p:nvSpPr>
          <p:cNvPr id="10" name="cab_numero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8395B5"/>
                </a:solidFill>
                <a:latin typeface="Consolas"/>
              </a:rPr>
              <a:t>09</a:t>
            </a:r>
          </a:p>
        </p:txBody>
      </p:sp>
      <p:cxnSp>
        <p:nvCxnSpPr>
          <p:cNvPr id="11" name="filete_topo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filete_base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h1"/>
          <p:cNvSpPr txBox="1"/>
          <p:nvPr/>
        </p:nvSpPr>
        <p:spPr>
          <a:xfrm>
            <a:off x="822960" y="838200"/>
            <a:ext cx="1054354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b="0">
                <a:solidFill>
                  <a:srgbClr val="F5F7FB"/>
                </a:solidFill>
                <a:latin typeface="Bahnschrift SemiBold"/>
                <a:cs typeface="Bahnschrift SemiBold"/>
              </a:rPr>
              <a:t>Cada view compara o Polymarket com um preço que já existe</a:t>
            </a:r>
          </a:p>
        </p:txBody>
      </p:sp>
      <p:sp>
        <p:nvSpPr>
          <p:cNvPr id="14" name="forma_14"/>
          <p:cNvSpPr/>
          <p:nvPr/>
        </p:nvSpPr>
        <p:spPr>
          <a:xfrm>
            <a:off x="822960" y="1295400"/>
            <a:ext cx="2502535" cy="3683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5" name="txt_15"/>
          <p:cNvSpPr txBox="1"/>
          <p:nvPr/>
        </p:nvSpPr>
        <p:spPr>
          <a:xfrm>
            <a:off x="1000760" y="1473200"/>
            <a:ext cx="219773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2.3 · DECISÃO DO FED</a:t>
            </a:r>
          </a:p>
        </p:txBody>
      </p:sp>
      <p:sp>
        <p:nvSpPr>
          <p:cNvPr id="16" name="forma_16"/>
          <p:cNvSpPr/>
          <p:nvPr/>
        </p:nvSpPr>
        <p:spPr>
          <a:xfrm>
            <a:off x="1000760" y="17272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7" name="txt_17"/>
          <p:cNvSpPr txBox="1"/>
          <p:nvPr/>
        </p:nvSpPr>
        <p:spPr>
          <a:xfrm>
            <a:off x="1127760" y="17907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FFB531"/>
                </a:solidFill>
                <a:latin typeface="Consolas"/>
                <a:cs typeface="Consolas"/>
              </a:rPr>
              <a:t>POLYMARKET</a:t>
            </a:r>
          </a:p>
        </p:txBody>
      </p:sp>
      <p:sp>
        <p:nvSpPr>
          <p:cNvPr id="18" name="txt_18"/>
          <p:cNvSpPr txBox="1"/>
          <p:nvPr/>
        </p:nvSpPr>
        <p:spPr>
          <a:xfrm>
            <a:off x="1127760" y="19431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corte na próxima reunião</a:t>
            </a:r>
          </a:p>
        </p:txBody>
      </p:sp>
      <p:sp>
        <p:nvSpPr>
          <p:cNvPr id="19" name="forma_19"/>
          <p:cNvSpPr/>
          <p:nvPr/>
        </p:nvSpPr>
        <p:spPr>
          <a:xfrm>
            <a:off x="1000760" y="24130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4F8EF7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0" name="txt_20"/>
          <p:cNvSpPr txBox="1"/>
          <p:nvPr/>
        </p:nvSpPr>
        <p:spPr>
          <a:xfrm>
            <a:off x="1127760" y="24765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4F8EF7"/>
                </a:solidFill>
                <a:latin typeface="Consolas"/>
                <a:cs typeface="Consolas"/>
              </a:rPr>
              <a:t>MERCADO</a:t>
            </a:r>
          </a:p>
        </p:txBody>
      </p:sp>
      <p:sp>
        <p:nvSpPr>
          <p:cNvPr id="21" name="txt_21"/>
          <p:cNvSpPr txBox="1"/>
          <p:nvPr/>
        </p:nvSpPr>
        <p:spPr>
          <a:xfrm>
            <a:off x="1127760" y="26289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T-bill 3m − Fed funds</a:t>
            </a:r>
          </a:p>
        </p:txBody>
      </p:sp>
      <p:sp>
        <p:nvSpPr>
          <p:cNvPr id="22" name="txt_22"/>
          <p:cNvSpPr txBox="1"/>
          <p:nvPr/>
        </p:nvSpPr>
        <p:spPr>
          <a:xfrm>
            <a:off x="1000760" y="2235200"/>
            <a:ext cx="2146935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FB531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23" name="txt_23"/>
          <p:cNvSpPr txBox="1"/>
          <p:nvPr/>
        </p:nvSpPr>
        <p:spPr>
          <a:xfrm>
            <a:off x="1000760" y="3098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CESTA</a:t>
            </a:r>
          </a:p>
        </p:txBody>
      </p:sp>
      <p:sp>
        <p:nvSpPr>
          <p:cNvPr id="24" name="forma_24"/>
          <p:cNvSpPr/>
          <p:nvPr/>
        </p:nvSpPr>
        <p:spPr>
          <a:xfrm>
            <a:off x="1000760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XLU</a:t>
            </a:r>
          </a:p>
        </p:txBody>
      </p:sp>
      <p:sp>
        <p:nvSpPr>
          <p:cNvPr id="25" name="forma_25"/>
          <p:cNvSpPr/>
          <p:nvPr/>
        </p:nvSpPr>
        <p:spPr>
          <a:xfrm>
            <a:off x="1597660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TLT</a:t>
            </a:r>
          </a:p>
        </p:txBody>
      </p:sp>
      <p:sp>
        <p:nvSpPr>
          <p:cNvPr id="26" name="forma_26"/>
          <p:cNvSpPr/>
          <p:nvPr/>
        </p:nvSpPr>
        <p:spPr>
          <a:xfrm>
            <a:off x="2194560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TIP</a:t>
            </a:r>
          </a:p>
        </p:txBody>
      </p:sp>
      <p:sp>
        <p:nvSpPr>
          <p:cNvPr id="27" name="txt_27"/>
          <p:cNvSpPr txBox="1"/>
          <p:nvPr/>
        </p:nvSpPr>
        <p:spPr>
          <a:xfrm>
            <a:off x="1000760" y="3568700"/>
            <a:ext cx="177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8395B5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28" name="forma_28"/>
          <p:cNvSpPr/>
          <p:nvPr/>
        </p:nvSpPr>
        <p:spPr>
          <a:xfrm>
            <a:off x="1229360" y="35687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E0645C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XLK</a:t>
            </a:r>
          </a:p>
        </p:txBody>
      </p:sp>
      <p:sp>
        <p:nvSpPr>
          <p:cNvPr id="29" name="txt_29"/>
          <p:cNvSpPr txBox="1"/>
          <p:nvPr/>
        </p:nvSpPr>
        <p:spPr>
          <a:xfrm>
            <a:off x="1000760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DIAS ATIVA</a:t>
            </a:r>
          </a:p>
        </p:txBody>
      </p:sp>
      <p:sp>
        <p:nvSpPr>
          <p:cNvPr id="30" name="txt_30"/>
          <p:cNvSpPr txBox="1"/>
          <p:nvPr/>
        </p:nvSpPr>
        <p:spPr>
          <a:xfrm>
            <a:off x="1000760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neutra</a:t>
            </a:r>
          </a:p>
        </p:txBody>
      </p:sp>
      <p:sp>
        <p:nvSpPr>
          <p:cNvPr id="31" name="txt_31"/>
          <p:cNvSpPr txBox="1"/>
          <p:nvPr/>
        </p:nvSpPr>
        <p:spPr>
          <a:xfrm>
            <a:off x="1000760" y="4152900"/>
            <a:ext cx="2146935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4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312</a:t>
            </a:r>
            <a:r>
              <a:rPr lang="pt-BR" sz="1000" b="0">
                <a:solidFill>
                  <a:srgbClr val="BAC6DA"/>
                </a:solidFill>
                <a:latin typeface="Bahnschrift"/>
                <a:cs typeface="Bahnschrift"/>
              </a:rPr>
              <a:t> / 374</a:t>
            </a:r>
          </a:p>
        </p:txBody>
      </p:sp>
      <p:sp>
        <p:nvSpPr>
          <p:cNvPr id="32" name="forma_32"/>
          <p:cNvSpPr/>
          <p:nvPr/>
        </p:nvSpPr>
        <p:spPr>
          <a:xfrm>
            <a:off x="1000760" y="4597400"/>
            <a:ext cx="2146935" cy="88900"/>
          </a:xfrm>
          <a:prstGeom prst="roundRect">
            <a:avLst>
              <a:gd name="adj" fmla="val 50000"/>
            </a:avLst>
          </a:prstGeom>
          <a:solidFill>
            <a:srgbClr val="1A2A45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3" name="forma_33"/>
          <p:cNvSpPr/>
          <p:nvPr/>
        </p:nvSpPr>
        <p:spPr>
          <a:xfrm>
            <a:off x="1000760" y="4597400"/>
            <a:ext cx="1791026" cy="88900"/>
          </a:xfrm>
          <a:prstGeom prst="roundRect">
            <a:avLst>
              <a:gd name="adj" fmla="val 50000"/>
            </a:avLst>
          </a:prstGeom>
          <a:solidFill>
            <a:srgbClr val="FFB531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4" name="forma_34"/>
          <p:cNvSpPr/>
          <p:nvPr/>
        </p:nvSpPr>
        <p:spPr>
          <a:xfrm>
            <a:off x="3503295" y="1295400"/>
            <a:ext cx="2502535" cy="3683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5" name="txt_35"/>
          <p:cNvSpPr txBox="1"/>
          <p:nvPr/>
        </p:nvSpPr>
        <p:spPr>
          <a:xfrm>
            <a:off x="3681095" y="1473200"/>
            <a:ext cx="219773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2.2 · INFLAÇÃO DO MÊS</a:t>
            </a:r>
          </a:p>
        </p:txBody>
      </p:sp>
      <p:sp>
        <p:nvSpPr>
          <p:cNvPr id="36" name="forma_36"/>
          <p:cNvSpPr/>
          <p:nvPr/>
        </p:nvSpPr>
        <p:spPr>
          <a:xfrm>
            <a:off x="3681095" y="17272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7" name="txt_37"/>
          <p:cNvSpPr txBox="1"/>
          <p:nvPr/>
        </p:nvSpPr>
        <p:spPr>
          <a:xfrm>
            <a:off x="3808095" y="17907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FFB531"/>
                </a:solidFill>
                <a:latin typeface="Consolas"/>
                <a:cs typeface="Consolas"/>
              </a:rPr>
              <a:t>POLYMARKET</a:t>
            </a:r>
          </a:p>
        </p:txBody>
      </p:sp>
      <p:sp>
        <p:nvSpPr>
          <p:cNvPr id="38" name="txt_38"/>
          <p:cNvSpPr txBox="1"/>
          <p:nvPr/>
        </p:nvSpPr>
        <p:spPr>
          <a:xfrm>
            <a:off x="3808095" y="19431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inflação do mês</a:t>
            </a:r>
          </a:p>
        </p:txBody>
      </p:sp>
      <p:sp>
        <p:nvSpPr>
          <p:cNvPr id="39" name="forma_39"/>
          <p:cNvSpPr/>
          <p:nvPr/>
        </p:nvSpPr>
        <p:spPr>
          <a:xfrm>
            <a:off x="3681095" y="24130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4F8EF7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40" name="txt_40"/>
          <p:cNvSpPr txBox="1"/>
          <p:nvPr/>
        </p:nvSpPr>
        <p:spPr>
          <a:xfrm>
            <a:off x="3808095" y="24765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4F8EF7"/>
                </a:solidFill>
                <a:latin typeface="Consolas"/>
                <a:cs typeface="Consolas"/>
              </a:rPr>
              <a:t>MERCADO</a:t>
            </a:r>
          </a:p>
        </p:txBody>
      </p:sp>
      <p:sp>
        <p:nvSpPr>
          <p:cNvPr id="41" name="txt_41"/>
          <p:cNvSpPr txBox="1"/>
          <p:nvPr/>
        </p:nvSpPr>
        <p:spPr>
          <a:xfrm>
            <a:off x="3808095" y="26289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breakeven de 10 anos</a:t>
            </a:r>
          </a:p>
        </p:txBody>
      </p:sp>
      <p:sp>
        <p:nvSpPr>
          <p:cNvPr id="42" name="txt_42"/>
          <p:cNvSpPr txBox="1"/>
          <p:nvPr/>
        </p:nvSpPr>
        <p:spPr>
          <a:xfrm>
            <a:off x="3681095" y="2235200"/>
            <a:ext cx="2146935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FB531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43" name="txt_43"/>
          <p:cNvSpPr txBox="1"/>
          <p:nvPr/>
        </p:nvSpPr>
        <p:spPr>
          <a:xfrm>
            <a:off x="3681095" y="3098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CESTA</a:t>
            </a:r>
          </a:p>
        </p:txBody>
      </p:sp>
      <p:sp>
        <p:nvSpPr>
          <p:cNvPr id="44" name="forma_44"/>
          <p:cNvSpPr/>
          <p:nvPr/>
        </p:nvSpPr>
        <p:spPr>
          <a:xfrm>
            <a:off x="3681095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TIP</a:t>
            </a:r>
          </a:p>
        </p:txBody>
      </p:sp>
      <p:sp>
        <p:nvSpPr>
          <p:cNvPr id="45" name="txt_45"/>
          <p:cNvSpPr txBox="1"/>
          <p:nvPr/>
        </p:nvSpPr>
        <p:spPr>
          <a:xfrm>
            <a:off x="3681095" y="3568700"/>
            <a:ext cx="177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8395B5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46" name="forma_46"/>
          <p:cNvSpPr/>
          <p:nvPr/>
        </p:nvSpPr>
        <p:spPr>
          <a:xfrm>
            <a:off x="3909695" y="35687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E0645C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TLT</a:t>
            </a:r>
          </a:p>
        </p:txBody>
      </p:sp>
      <p:sp>
        <p:nvSpPr>
          <p:cNvPr id="47" name="txt_47"/>
          <p:cNvSpPr txBox="1"/>
          <p:nvPr/>
        </p:nvSpPr>
        <p:spPr>
          <a:xfrm>
            <a:off x="3681095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DIAS ATIVA</a:t>
            </a:r>
          </a:p>
        </p:txBody>
      </p:sp>
      <p:sp>
        <p:nvSpPr>
          <p:cNvPr id="48" name="txt_48"/>
          <p:cNvSpPr txBox="1"/>
          <p:nvPr/>
        </p:nvSpPr>
        <p:spPr>
          <a:xfrm>
            <a:off x="3681095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neutra</a:t>
            </a:r>
          </a:p>
        </p:txBody>
      </p:sp>
      <p:sp>
        <p:nvSpPr>
          <p:cNvPr id="49" name="txt_49"/>
          <p:cNvSpPr txBox="1"/>
          <p:nvPr/>
        </p:nvSpPr>
        <p:spPr>
          <a:xfrm>
            <a:off x="3681095" y="4152900"/>
            <a:ext cx="2146935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4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253</a:t>
            </a:r>
            <a:r>
              <a:rPr lang="pt-BR" sz="1000" b="0">
                <a:solidFill>
                  <a:srgbClr val="BAC6DA"/>
                </a:solidFill>
                <a:latin typeface="Bahnschrift"/>
                <a:cs typeface="Bahnschrift"/>
              </a:rPr>
              <a:t> / 374</a:t>
            </a:r>
          </a:p>
        </p:txBody>
      </p:sp>
      <p:sp>
        <p:nvSpPr>
          <p:cNvPr id="50" name="forma_50"/>
          <p:cNvSpPr/>
          <p:nvPr/>
        </p:nvSpPr>
        <p:spPr>
          <a:xfrm>
            <a:off x="3681095" y="4597400"/>
            <a:ext cx="2146935" cy="88900"/>
          </a:xfrm>
          <a:prstGeom prst="roundRect">
            <a:avLst>
              <a:gd name="adj" fmla="val 50000"/>
            </a:avLst>
          </a:prstGeom>
          <a:solidFill>
            <a:srgbClr val="1A2A45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1" name="forma_51"/>
          <p:cNvSpPr/>
          <p:nvPr/>
        </p:nvSpPr>
        <p:spPr>
          <a:xfrm>
            <a:off x="3681095" y="4597400"/>
            <a:ext cx="1452338" cy="88900"/>
          </a:xfrm>
          <a:prstGeom prst="roundRect">
            <a:avLst>
              <a:gd name="adj" fmla="val 50000"/>
            </a:avLst>
          </a:prstGeom>
          <a:solidFill>
            <a:srgbClr val="FFB531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2" name="forma_52"/>
          <p:cNvSpPr/>
          <p:nvPr/>
        </p:nvSpPr>
        <p:spPr>
          <a:xfrm>
            <a:off x="6183630" y="1295400"/>
            <a:ext cx="2502535" cy="3683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3" name="txt_53"/>
          <p:cNvSpPr txBox="1"/>
          <p:nvPr/>
        </p:nvSpPr>
        <p:spPr>
          <a:xfrm>
            <a:off x="6361430" y="1473200"/>
            <a:ext cx="219773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B · TAXA NO FIM DO ANO</a:t>
            </a:r>
          </a:p>
        </p:txBody>
      </p:sp>
      <p:sp>
        <p:nvSpPr>
          <p:cNvPr id="54" name="forma_54"/>
          <p:cNvSpPr/>
          <p:nvPr/>
        </p:nvSpPr>
        <p:spPr>
          <a:xfrm>
            <a:off x="6361430" y="17272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5" name="txt_55"/>
          <p:cNvSpPr txBox="1"/>
          <p:nvPr/>
        </p:nvSpPr>
        <p:spPr>
          <a:xfrm>
            <a:off x="6488430" y="17907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FFB531"/>
                </a:solidFill>
                <a:latin typeface="Consolas"/>
                <a:cs typeface="Consolas"/>
              </a:rPr>
              <a:t>POLYMARKET</a:t>
            </a:r>
          </a:p>
        </p:txBody>
      </p:sp>
      <p:sp>
        <p:nvSpPr>
          <p:cNvPr id="56" name="txt_56"/>
          <p:cNvSpPr txBox="1"/>
          <p:nvPr/>
        </p:nvSpPr>
        <p:spPr>
          <a:xfrm>
            <a:off x="6488430" y="19431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cortes no ano</a:t>
            </a:r>
          </a:p>
        </p:txBody>
      </p:sp>
      <p:sp>
        <p:nvSpPr>
          <p:cNvPr id="57" name="forma_57"/>
          <p:cNvSpPr/>
          <p:nvPr/>
        </p:nvSpPr>
        <p:spPr>
          <a:xfrm>
            <a:off x="6361430" y="24130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4F8EF7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58" name="txt_58"/>
          <p:cNvSpPr txBox="1"/>
          <p:nvPr/>
        </p:nvSpPr>
        <p:spPr>
          <a:xfrm>
            <a:off x="6488430" y="24765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4F8EF7"/>
                </a:solidFill>
                <a:latin typeface="Consolas"/>
                <a:cs typeface="Consolas"/>
              </a:rPr>
              <a:t>MERCADO</a:t>
            </a:r>
          </a:p>
        </p:txBody>
      </p:sp>
      <p:sp>
        <p:nvSpPr>
          <p:cNvPr id="59" name="txt_59"/>
          <p:cNvSpPr txBox="1"/>
          <p:nvPr/>
        </p:nvSpPr>
        <p:spPr>
          <a:xfrm>
            <a:off x="6488430" y="26289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Treasury de 1 ano</a:t>
            </a:r>
          </a:p>
        </p:txBody>
      </p:sp>
      <p:sp>
        <p:nvSpPr>
          <p:cNvPr id="60" name="txt_60"/>
          <p:cNvSpPr txBox="1"/>
          <p:nvPr/>
        </p:nvSpPr>
        <p:spPr>
          <a:xfrm>
            <a:off x="6361430" y="2235200"/>
            <a:ext cx="2146935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FB531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61" name="txt_61"/>
          <p:cNvSpPr txBox="1"/>
          <p:nvPr/>
        </p:nvSpPr>
        <p:spPr>
          <a:xfrm>
            <a:off x="6361430" y="3098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CESTA</a:t>
            </a:r>
          </a:p>
        </p:txBody>
      </p:sp>
      <p:sp>
        <p:nvSpPr>
          <p:cNvPr id="62" name="forma_62"/>
          <p:cNvSpPr/>
          <p:nvPr/>
        </p:nvSpPr>
        <p:spPr>
          <a:xfrm>
            <a:off x="6361430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XLE</a:t>
            </a:r>
          </a:p>
        </p:txBody>
      </p:sp>
      <p:sp>
        <p:nvSpPr>
          <p:cNvPr id="63" name="forma_63"/>
          <p:cNvSpPr/>
          <p:nvPr/>
        </p:nvSpPr>
        <p:spPr>
          <a:xfrm>
            <a:off x="6958330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XLP</a:t>
            </a:r>
          </a:p>
        </p:txBody>
      </p:sp>
      <p:sp>
        <p:nvSpPr>
          <p:cNvPr id="64" name="forma_64"/>
          <p:cNvSpPr/>
          <p:nvPr/>
        </p:nvSpPr>
        <p:spPr>
          <a:xfrm>
            <a:off x="7555230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XLF</a:t>
            </a:r>
          </a:p>
        </p:txBody>
      </p:sp>
      <p:sp>
        <p:nvSpPr>
          <p:cNvPr id="65" name="txt_65"/>
          <p:cNvSpPr txBox="1"/>
          <p:nvPr/>
        </p:nvSpPr>
        <p:spPr>
          <a:xfrm>
            <a:off x="6361430" y="3568700"/>
            <a:ext cx="177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8395B5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66" name="forma_66"/>
          <p:cNvSpPr/>
          <p:nvPr/>
        </p:nvSpPr>
        <p:spPr>
          <a:xfrm>
            <a:off x="6590030" y="35687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E0645C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XLU</a:t>
            </a:r>
          </a:p>
        </p:txBody>
      </p:sp>
      <p:sp>
        <p:nvSpPr>
          <p:cNvPr id="67" name="forma_67"/>
          <p:cNvSpPr/>
          <p:nvPr/>
        </p:nvSpPr>
        <p:spPr>
          <a:xfrm>
            <a:off x="7186930" y="35687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E0645C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XLK</a:t>
            </a:r>
          </a:p>
        </p:txBody>
      </p:sp>
      <p:sp>
        <p:nvSpPr>
          <p:cNvPr id="68" name="txt_68"/>
          <p:cNvSpPr txBox="1"/>
          <p:nvPr/>
        </p:nvSpPr>
        <p:spPr>
          <a:xfrm>
            <a:off x="6361430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DIAS ATIVA</a:t>
            </a:r>
          </a:p>
        </p:txBody>
      </p:sp>
      <p:sp>
        <p:nvSpPr>
          <p:cNvPr id="69" name="txt_69"/>
          <p:cNvSpPr txBox="1"/>
          <p:nvPr/>
        </p:nvSpPr>
        <p:spPr>
          <a:xfrm>
            <a:off x="6361430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neutra</a:t>
            </a:r>
          </a:p>
        </p:txBody>
      </p:sp>
      <p:sp>
        <p:nvSpPr>
          <p:cNvPr id="70" name="txt_70"/>
          <p:cNvSpPr txBox="1"/>
          <p:nvPr/>
        </p:nvSpPr>
        <p:spPr>
          <a:xfrm>
            <a:off x="6361430" y="4152900"/>
            <a:ext cx="2146935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4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154</a:t>
            </a:r>
            <a:r>
              <a:rPr lang="pt-BR" sz="1000" b="0">
                <a:solidFill>
                  <a:srgbClr val="BAC6DA"/>
                </a:solidFill>
                <a:latin typeface="Bahnschrift"/>
                <a:cs typeface="Bahnschrift"/>
              </a:rPr>
              <a:t> / 374</a:t>
            </a:r>
          </a:p>
        </p:txBody>
      </p:sp>
      <p:sp>
        <p:nvSpPr>
          <p:cNvPr id="71" name="forma_71"/>
          <p:cNvSpPr/>
          <p:nvPr/>
        </p:nvSpPr>
        <p:spPr>
          <a:xfrm>
            <a:off x="6361430" y="4597400"/>
            <a:ext cx="2146935" cy="88900"/>
          </a:xfrm>
          <a:prstGeom prst="roundRect">
            <a:avLst>
              <a:gd name="adj" fmla="val 50000"/>
            </a:avLst>
          </a:prstGeom>
          <a:solidFill>
            <a:srgbClr val="1A2A45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2" name="forma_72"/>
          <p:cNvSpPr/>
          <p:nvPr/>
        </p:nvSpPr>
        <p:spPr>
          <a:xfrm>
            <a:off x="6361430" y="4597400"/>
            <a:ext cx="884032" cy="88900"/>
          </a:xfrm>
          <a:prstGeom prst="roundRect">
            <a:avLst>
              <a:gd name="adj" fmla="val 50000"/>
            </a:avLst>
          </a:prstGeom>
          <a:solidFill>
            <a:srgbClr val="FFB531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3" name="forma_73"/>
          <p:cNvSpPr/>
          <p:nvPr/>
        </p:nvSpPr>
        <p:spPr>
          <a:xfrm>
            <a:off x="8863965" y="1295400"/>
            <a:ext cx="2502535" cy="36830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9050">
            <a:solidFill>
              <a:srgbClr val="FFB531"/>
            </a:solidFill>
          </a:ln>
          <a:effectLst>
            <a:glow rad="177800">
              <a:srgbClr val="FFB531">
                <a:alpha val="20000"/>
              </a:srgbClr>
            </a:glow>
          </a:effectLst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4" name="txt_74"/>
          <p:cNvSpPr txBox="1"/>
          <p:nvPr/>
        </p:nvSpPr>
        <p:spPr>
          <a:xfrm>
            <a:off x="9041765" y="1473200"/>
            <a:ext cx="2197735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50" b="1" spc="140">
                <a:solidFill>
                  <a:srgbClr val="FFB531"/>
                </a:solidFill>
                <a:latin typeface="Consolas"/>
                <a:cs typeface="Consolas"/>
              </a:rPr>
              <a:t>15b · DÚVIDA NA VÉSPERA</a:t>
            </a:r>
          </a:p>
        </p:txBody>
      </p:sp>
      <p:sp>
        <p:nvSpPr>
          <p:cNvPr id="75" name="forma_75"/>
          <p:cNvSpPr/>
          <p:nvPr/>
        </p:nvSpPr>
        <p:spPr>
          <a:xfrm>
            <a:off x="9041765" y="17272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6" name="txt_76"/>
          <p:cNvSpPr txBox="1"/>
          <p:nvPr/>
        </p:nvSpPr>
        <p:spPr>
          <a:xfrm>
            <a:off x="9168765" y="17907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FFB531"/>
                </a:solidFill>
                <a:latin typeface="Consolas"/>
                <a:cs typeface="Consolas"/>
              </a:rPr>
              <a:t>POLYMARKET</a:t>
            </a:r>
          </a:p>
        </p:txBody>
      </p:sp>
      <p:sp>
        <p:nvSpPr>
          <p:cNvPr id="77" name="txt_77"/>
          <p:cNvSpPr txBox="1"/>
          <p:nvPr/>
        </p:nvSpPr>
        <p:spPr>
          <a:xfrm>
            <a:off x="9168765" y="19431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dúvida antes do anúncio</a:t>
            </a:r>
          </a:p>
        </p:txBody>
      </p:sp>
      <p:sp>
        <p:nvSpPr>
          <p:cNvPr id="78" name="forma_78"/>
          <p:cNvSpPr/>
          <p:nvPr/>
        </p:nvSpPr>
        <p:spPr>
          <a:xfrm>
            <a:off x="9041765" y="2413000"/>
            <a:ext cx="2146935" cy="508000"/>
          </a:xfrm>
          <a:prstGeom prst="roundRect">
            <a:avLst>
              <a:gd name="adj" fmla="val 14000"/>
            </a:avLst>
          </a:prstGeom>
          <a:solidFill>
            <a:srgbClr val="13213A"/>
          </a:solidFill>
          <a:ln w="11430">
            <a:solidFill>
              <a:srgbClr val="4F8EF7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9" name="txt_79"/>
          <p:cNvSpPr txBox="1"/>
          <p:nvPr/>
        </p:nvSpPr>
        <p:spPr>
          <a:xfrm>
            <a:off x="9168765" y="2476500"/>
            <a:ext cx="19437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4F8EF7"/>
                </a:solidFill>
                <a:latin typeface="Consolas"/>
                <a:cs typeface="Consolas"/>
              </a:rPr>
              <a:t>MERCADO</a:t>
            </a:r>
          </a:p>
        </p:txBody>
      </p:sp>
      <p:sp>
        <p:nvSpPr>
          <p:cNvPr id="80" name="txt_80"/>
          <p:cNvSpPr txBox="1"/>
          <p:nvPr/>
        </p:nvSpPr>
        <p:spPr>
          <a:xfrm>
            <a:off x="9168765" y="2628900"/>
            <a:ext cx="1943735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F5F7FB"/>
                </a:solidFill>
                <a:latin typeface="Bahnschrift SemiBold"/>
                <a:cs typeface="Bahnschrift SemiBold"/>
              </a:rPr>
              <a:t>média do tipo de anúncio</a:t>
            </a:r>
          </a:p>
        </p:txBody>
      </p:sp>
      <p:sp>
        <p:nvSpPr>
          <p:cNvPr id="81" name="txt_81"/>
          <p:cNvSpPr txBox="1"/>
          <p:nvPr/>
        </p:nvSpPr>
        <p:spPr>
          <a:xfrm>
            <a:off x="9041765" y="2235200"/>
            <a:ext cx="2146935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200" b="0">
                <a:solidFill>
                  <a:srgbClr val="FFB531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82" name="txt_82"/>
          <p:cNvSpPr txBox="1"/>
          <p:nvPr/>
        </p:nvSpPr>
        <p:spPr>
          <a:xfrm>
            <a:off x="9041765" y="3098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CESTA</a:t>
            </a:r>
          </a:p>
        </p:txBody>
      </p:sp>
      <p:sp>
        <p:nvSpPr>
          <p:cNvPr id="83" name="forma_83"/>
          <p:cNvSpPr/>
          <p:nvPr/>
        </p:nvSpPr>
        <p:spPr>
          <a:xfrm>
            <a:off x="9041765" y="3263900"/>
            <a:ext cx="533400" cy="254000"/>
          </a:xfrm>
          <a:prstGeom prst="roundRect">
            <a:avLst>
              <a:gd name="adj" fmla="val 30000"/>
            </a:avLst>
          </a:prstGeom>
          <a:solidFill>
            <a:srgbClr val="13213A"/>
          </a:solidFill>
          <a:ln w="1143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>
                <a:solidFill>
                  <a:srgbClr val="F5F7FB"/>
                </a:solidFill>
                <a:latin typeface="Consolas"/>
                <a:cs typeface="Consolas"/>
              </a:rPr>
              <a:t>SPY</a:t>
            </a:r>
          </a:p>
        </p:txBody>
      </p:sp>
      <p:sp>
        <p:nvSpPr>
          <p:cNvPr id="84" name="txt_84"/>
          <p:cNvSpPr txBox="1"/>
          <p:nvPr/>
        </p:nvSpPr>
        <p:spPr>
          <a:xfrm>
            <a:off x="9041765" y="3568700"/>
            <a:ext cx="1778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00" b="0">
                <a:solidFill>
                  <a:srgbClr val="8395B5"/>
                </a:solidFill>
                <a:latin typeface="Bahnschrift SemiBold"/>
                <a:cs typeface="Bahnschrift SemiBold"/>
              </a:rPr>
              <a:t>×</a:t>
            </a:r>
          </a:p>
        </p:txBody>
      </p:sp>
      <p:sp>
        <p:nvSpPr>
          <p:cNvPr id="85" name="txt_85"/>
          <p:cNvSpPr txBox="1"/>
          <p:nvPr/>
        </p:nvSpPr>
        <p:spPr>
          <a:xfrm>
            <a:off x="9295765" y="3568700"/>
            <a:ext cx="1892935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0">
                <a:solidFill>
                  <a:srgbClr val="BAC6DA"/>
                </a:solidFill>
                <a:latin typeface="Bahnschrift"/>
                <a:cs typeface="Bahnschrift"/>
              </a:rPr>
              <a:t>só o índice</a:t>
            </a:r>
          </a:p>
        </p:txBody>
      </p:sp>
      <p:sp>
        <p:nvSpPr>
          <p:cNvPr id="86" name="txt_86"/>
          <p:cNvSpPr txBox="1"/>
          <p:nvPr/>
        </p:nvSpPr>
        <p:spPr>
          <a:xfrm>
            <a:off x="9041765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8395B5"/>
                </a:solidFill>
                <a:latin typeface="Consolas"/>
                <a:cs typeface="Consolas"/>
              </a:rPr>
              <a:t>DIAS ATIVA</a:t>
            </a:r>
          </a:p>
        </p:txBody>
      </p:sp>
      <p:sp>
        <p:nvSpPr>
          <p:cNvPr id="87" name="txt_87"/>
          <p:cNvSpPr txBox="1"/>
          <p:nvPr/>
        </p:nvSpPr>
        <p:spPr>
          <a:xfrm>
            <a:off x="9041765" y="3987800"/>
            <a:ext cx="2146935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50" b="0" spc="80">
                <a:solidFill>
                  <a:srgbClr val="FFB531"/>
                </a:solidFill>
                <a:latin typeface="Consolas"/>
                <a:cs typeface="Consolas"/>
              </a:rPr>
              <a:t>direcional</a:t>
            </a:r>
          </a:p>
        </p:txBody>
      </p:sp>
      <p:sp>
        <p:nvSpPr>
          <p:cNvPr id="88" name="txt_88"/>
          <p:cNvSpPr txBox="1"/>
          <p:nvPr/>
        </p:nvSpPr>
        <p:spPr>
          <a:xfrm>
            <a:off x="9041765" y="4152900"/>
            <a:ext cx="2146935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4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26</a:t>
            </a:r>
            <a:r>
              <a:rPr lang="pt-BR" sz="1000" b="0">
                <a:solidFill>
                  <a:srgbClr val="BAC6DA"/>
                </a:solidFill>
                <a:latin typeface="Bahnschrift"/>
                <a:cs typeface="Bahnschrift"/>
              </a:rPr>
              <a:t> / 374</a:t>
            </a:r>
          </a:p>
        </p:txBody>
      </p:sp>
      <p:sp>
        <p:nvSpPr>
          <p:cNvPr id="89" name="forma_89"/>
          <p:cNvSpPr/>
          <p:nvPr/>
        </p:nvSpPr>
        <p:spPr>
          <a:xfrm>
            <a:off x="9041765" y="4597400"/>
            <a:ext cx="2146935" cy="88900"/>
          </a:xfrm>
          <a:prstGeom prst="roundRect">
            <a:avLst>
              <a:gd name="adj" fmla="val 50000"/>
            </a:avLst>
          </a:prstGeom>
          <a:solidFill>
            <a:srgbClr val="1A2A45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90" name="forma_90"/>
          <p:cNvSpPr/>
          <p:nvPr/>
        </p:nvSpPr>
        <p:spPr>
          <a:xfrm>
            <a:off x="9041765" y="4597400"/>
            <a:ext cx="149252" cy="88900"/>
          </a:xfrm>
          <a:prstGeom prst="roundRect">
            <a:avLst>
              <a:gd name="adj" fmla="val 50000"/>
            </a:avLst>
          </a:prstGeom>
          <a:solidFill>
            <a:srgbClr val="FFB531"/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901" name="!!veu_1"/>
          <p:cNvSpPr/>
          <p:nvPr/>
        </p:nvSpPr>
        <p:spPr>
          <a:xfrm>
            <a:off x="822960" y="1295400"/>
            <a:ext cx="2502535" cy="3683000"/>
          </a:xfrm>
          <a:prstGeom prst="roundRect">
            <a:avLst>
              <a:gd name="adj" fmla="val 6000"/>
            </a:avLst>
          </a:prstGeom>
          <a:solidFill>
            <a:srgbClr val="0A1325">
              <a:alpha val="68000"/>
            </a:srgbClr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902" name="!!veu_2"/>
          <p:cNvSpPr/>
          <p:nvPr/>
        </p:nvSpPr>
        <p:spPr>
          <a:xfrm>
            <a:off x="3503295" y="1295400"/>
            <a:ext cx="2502535" cy="3683000"/>
          </a:xfrm>
          <a:prstGeom prst="roundRect">
            <a:avLst>
              <a:gd name="adj" fmla="val 6000"/>
            </a:avLst>
          </a:prstGeom>
          <a:solidFill>
            <a:srgbClr val="0A1325">
              <a:alpha val="68000"/>
            </a:srgbClr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903" name="!!veu_3"/>
          <p:cNvSpPr/>
          <p:nvPr/>
        </p:nvSpPr>
        <p:spPr>
          <a:xfrm>
            <a:off x="6183630" y="1295400"/>
            <a:ext cx="2502535" cy="3683000"/>
          </a:xfrm>
          <a:prstGeom prst="roundRect">
            <a:avLst>
              <a:gd name="adj" fmla="val 6000"/>
            </a:avLst>
          </a:prstGeom>
          <a:solidFill>
            <a:srgbClr val="0A1325">
              <a:alpha val="68000"/>
            </a:srgbClr>
          </a:soli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1034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r>
              <a:rPr lang="en-US"/>
              <a:t> </a:t>
            </a:r>
            <a:endParaRPr/>
          </a:p>
        </p:txBody>
      </p:sp>
      <p:sp>
        <p:nvSpPr>
          <p:cNvPr id="40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06</a:t>
            </a:r>
          </a:p>
        </p:txBody>
      </p:sp>
      <p:sp>
        <p:nvSpPr>
          <p:cNvPr id="42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SEMIFINAL 2026</a:t>
            </a:r>
          </a:p>
        </p:txBody>
      </p:sp>
      <p:sp>
        <p:nvSpPr>
          <p:cNvPr id="44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2" name="s6_0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A camada tática e o teto de risco</a:t>
            </a:r>
          </a:p>
        </p:txBody>
      </p:sp>
      <p:sp>
        <p:nvSpPr>
          <p:cNvPr id="3" name="s6_1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8395B5"/>
                </a:solidFill>
                <a:latin typeface="Consolas"/>
              </a:rPr>
              <a:t>06</a:t>
            </a:r>
          </a:p>
        </p:txBody>
      </p:sp>
      <p:cxnSp>
        <p:nvCxnSpPr>
          <p:cNvPr id="4" name="s6_2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6_3"/>
          <p:cNvCxnSpPr/>
          <p:nvPr/>
        </p:nvCxnSpPr>
        <p:spPr>
          <a:xfrm>
            <a:off x="822960" y="393192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6_4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!!halo"/>
          <p:cNvSpPr/>
          <p:nvPr/>
        </p:nvSpPr>
        <p:spPr>
          <a:xfrm>
            <a:off x="996696" y="2468880"/>
            <a:ext cx="5303520" cy="1335024"/>
          </a:xfrm>
          <a:prstGeom prst="ellipse">
            <a:avLst/>
          </a:prstGeom>
          <a:solidFill>
            <a:srgbClr val="FFB531">
              <a:alpha val="15000"/>
            </a:srgbClr>
          </a:solidFill>
          <a:ln>
            <a:noFill/>
          </a:ln>
          <a:effectLst>
            <a:softEdge rad="13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9" name="!!eq"/>
          <p:cNvSpPr/>
          <p:nvPr/>
        </p:nvSpPr>
        <p:spPr>
          <a:xfrm>
            <a:off x="822960" y="1133856"/>
            <a:ext cx="1700784" cy="548640"/>
          </a:xfrm>
          <a:prstGeom prst="roundRect">
            <a:avLst>
              <a:gd name="adj" fmla="val 11000"/>
            </a:avLst>
          </a:prstGeom>
          <a:solidFill>
            <a:srgbClr val="0B1426"/>
          </a:solidFill>
          <a:ln w="12700">
            <a:solidFill>
              <a:srgbClr val="1C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8328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">
                <a:solidFill>
                  <a:srgbClr val="BAC6DA"/>
                </a:solidFill>
                <a:latin typeface="Consolas"/>
              </a:rPr>
              <a:t>EQUILÍBRIO</a:t>
            </a:r>
          </a:p>
        </p:txBody>
      </p:sp>
      <p:sp>
        <p:nvSpPr>
          <p:cNvPr id="10" name="!!bar_eq"/>
          <p:cNvSpPr/>
          <p:nvPr/>
        </p:nvSpPr>
        <p:spPr>
          <a:xfrm>
            <a:off x="1005840" y="1265529"/>
            <a:ext cx="45720" cy="28529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D4F84"/>
              </a:gs>
              <a:gs pos="100000">
                <a:srgbClr val="2D4F84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1" name="!!q"/>
          <p:cNvSpPr/>
          <p:nvPr/>
        </p:nvSpPr>
        <p:spPr>
          <a:xfrm>
            <a:off x="2798064" y="1133856"/>
            <a:ext cx="1700784" cy="548640"/>
          </a:xfrm>
          <a:prstGeom prst="roundRect">
            <a:avLst>
              <a:gd name="adj" fmla="val 11000"/>
            </a:avLst>
          </a:prstGeom>
          <a:solidFill>
            <a:srgbClr val="0B1426"/>
          </a:solidFill>
          <a:ln w="12700">
            <a:solidFill>
              <a:srgbClr val="1C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8328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b="1" spc="50">
                <a:solidFill>
                  <a:srgbClr val="BAC6DA"/>
                </a:solidFill>
                <a:latin typeface="Consolas"/>
              </a:rPr>
              <a:t>PREVISÃO</a:t>
            </a:r>
            <a:r>
              <a:rPr sz="850" b="1" spc="50">
                <a:solidFill>
                  <a:srgbClr val="BAC6DA"/>
                </a:solidFill>
                <a:latin typeface="Consolas"/>
              </a:rPr>
              <a:t>    </a:t>
            </a:r>
            <a:r>
              <a:rPr lang="en-US" sz="850" b="1" spc="50">
                <a:solidFill>
                  <a:srgbClr val="BAC6DA"/>
                </a:solidFill>
                <a:latin typeface="Consolas"/>
              </a:rPr>
              <a:t>(</a:t>
            </a:r>
            <a:r>
              <a:rPr sz="850" b="1" spc="50">
                <a:solidFill>
                  <a:srgbClr val="BAC6DA"/>
                </a:solidFill>
                <a:latin typeface="Consolas"/>
              </a:rPr>
              <a:t>Q</a:t>
            </a:r>
            <a:r>
              <a:rPr lang="en-US" sz="850" b="1" spc="50">
                <a:solidFill>
                  <a:srgbClr val="BAC6DA"/>
                </a:solidFill>
                <a:latin typeface="Consolas"/>
              </a:rPr>
              <a:t>)</a:t>
            </a:r>
            <a:endParaRPr sz="850" b="1" spc="50">
              <a:solidFill>
                <a:srgbClr val="BAC6DA"/>
              </a:solidFill>
              <a:latin typeface="Consolas"/>
            </a:endParaRPr>
          </a:p>
        </p:txBody>
      </p:sp>
      <p:sp>
        <p:nvSpPr>
          <p:cNvPr id="12" name="!!bar_q"/>
          <p:cNvSpPr/>
          <p:nvPr/>
        </p:nvSpPr>
        <p:spPr>
          <a:xfrm>
            <a:off x="2980944" y="1265529"/>
            <a:ext cx="45720" cy="28529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E5220"/>
              </a:gs>
              <a:gs pos="100000">
                <a:srgbClr val="6E5220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3" name="!!om"/>
          <p:cNvSpPr/>
          <p:nvPr/>
        </p:nvSpPr>
        <p:spPr>
          <a:xfrm>
            <a:off x="4773168" y="1133856"/>
            <a:ext cx="1700784" cy="548640"/>
          </a:xfrm>
          <a:prstGeom prst="roundRect">
            <a:avLst>
              <a:gd name="adj" fmla="val 11000"/>
            </a:avLst>
          </a:prstGeom>
          <a:solidFill>
            <a:srgbClr val="0B1426"/>
          </a:solidFill>
          <a:ln w="12700">
            <a:solidFill>
              <a:srgbClr val="1C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8328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">
                <a:solidFill>
                  <a:srgbClr val="BAC6DA"/>
                </a:solidFill>
                <a:latin typeface="Consolas"/>
              </a:rPr>
              <a:t>CONFIANÇA    </a:t>
            </a:r>
            <a:r>
              <a:rPr lang="en-US" sz="850" b="1" spc="50">
                <a:solidFill>
                  <a:srgbClr val="BAC6DA"/>
                </a:solidFill>
                <a:latin typeface="Consolas"/>
              </a:rPr>
              <a:t>(</a:t>
            </a:r>
            <a:r>
              <a:rPr sz="850" b="1" spc="50">
                <a:solidFill>
                  <a:srgbClr val="BAC6DA"/>
                </a:solidFill>
                <a:latin typeface="Consolas"/>
              </a:rPr>
              <a:t>Ω</a:t>
            </a:r>
            <a:r>
              <a:rPr lang="en-US" sz="850" b="1" spc="50">
                <a:solidFill>
                  <a:srgbClr val="BAC6DA"/>
                </a:solidFill>
                <a:latin typeface="Consolas"/>
              </a:rPr>
              <a:t>)</a:t>
            </a:r>
            <a:endParaRPr sz="850" b="1" spc="50">
              <a:solidFill>
                <a:srgbClr val="BAC6DA"/>
              </a:solidFill>
              <a:latin typeface="Consolas"/>
            </a:endParaRPr>
          </a:p>
        </p:txBody>
      </p:sp>
      <p:sp>
        <p:nvSpPr>
          <p:cNvPr id="14" name="!!bar_om"/>
          <p:cNvSpPr/>
          <p:nvPr/>
        </p:nvSpPr>
        <p:spPr>
          <a:xfrm>
            <a:off x="4956048" y="1265529"/>
            <a:ext cx="45720" cy="285292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E5220"/>
              </a:gs>
              <a:gs pos="100000">
                <a:srgbClr val="6E5220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5" name="!!cart"/>
          <p:cNvSpPr/>
          <p:nvPr/>
        </p:nvSpPr>
        <p:spPr>
          <a:xfrm>
            <a:off x="2798064" y="2011680"/>
            <a:ext cx="1700784" cy="512064"/>
          </a:xfrm>
          <a:prstGeom prst="roundRect">
            <a:avLst>
              <a:gd name="adj" fmla="val 11000"/>
            </a:avLst>
          </a:prstGeom>
          <a:solidFill>
            <a:srgbClr val="0B1426"/>
          </a:solidFill>
          <a:ln w="12700">
            <a:solidFill>
              <a:srgbClr val="1C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8328" tIns="0" rIns="128016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50">
                <a:solidFill>
                  <a:srgbClr val="BAC6DA"/>
                </a:solidFill>
                <a:latin typeface="Consolas"/>
              </a:rPr>
              <a:t>CARTEIRA  BL</a:t>
            </a:r>
          </a:p>
        </p:txBody>
      </p:sp>
      <p:sp>
        <p:nvSpPr>
          <p:cNvPr id="16" name="!!bar_cart"/>
          <p:cNvSpPr/>
          <p:nvPr/>
        </p:nvSpPr>
        <p:spPr>
          <a:xfrm>
            <a:off x="2980944" y="2134575"/>
            <a:ext cx="45720" cy="266273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E5C52"/>
              </a:gs>
              <a:gs pos="100000">
                <a:srgbClr val="1E5C52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7" name="!!op_mais"/>
          <p:cNvSpPr/>
          <p:nvPr/>
        </p:nvSpPr>
        <p:spPr>
          <a:xfrm>
            <a:off x="2560320" y="1307592"/>
            <a:ext cx="201168" cy="201168"/>
          </a:xfrm>
          <a:prstGeom prst="ellipse">
            <a:avLst/>
          </a:prstGeom>
          <a:solidFill>
            <a:srgbClr val="080D18"/>
          </a:solidFill>
          <a:ln w="9525">
            <a:solidFill>
              <a:srgbClr val="1C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395B5"/>
                </a:solidFill>
                <a:latin typeface="Bahnschrift"/>
              </a:rPr>
              <a:t>+</a:t>
            </a:r>
          </a:p>
        </p:txBody>
      </p:sp>
      <p:sp>
        <p:nvSpPr>
          <p:cNvPr id="18" name="!!op_vezes"/>
          <p:cNvSpPr/>
          <p:nvPr/>
        </p:nvSpPr>
        <p:spPr>
          <a:xfrm>
            <a:off x="4535424" y="1307592"/>
            <a:ext cx="201168" cy="201168"/>
          </a:xfrm>
          <a:prstGeom prst="ellipse">
            <a:avLst/>
          </a:prstGeom>
          <a:solidFill>
            <a:srgbClr val="080D18"/>
          </a:solidFill>
          <a:ln w="9525">
            <a:solidFill>
              <a:srgbClr val="1C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395B5"/>
                </a:solidFill>
                <a:latin typeface="Bahnschrift"/>
              </a:rPr>
              <a:t>×</a:t>
            </a:r>
          </a:p>
        </p:txBody>
      </p:sp>
      <p:sp>
        <p:nvSpPr>
          <p:cNvPr id="19" name="!!chave"/>
          <p:cNvSpPr/>
          <p:nvPr/>
        </p:nvSpPr>
        <p:spPr>
          <a:xfrm rot="5400000">
            <a:off x="3577132" y="-980236"/>
            <a:ext cx="142646" cy="5650992"/>
          </a:xfrm>
          <a:prstGeom prst="rightBrace">
            <a:avLst>
              <a:gd name="adj1" fmla="val 30000"/>
              <a:gd name="adj2" fmla="val 50000"/>
            </a:avLst>
          </a:prstGeom>
          <a:noFill/>
          <a:ln w="15875">
            <a:solidFill>
              <a:srgbClr val="476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cxnSp>
        <p:nvCxnSpPr>
          <p:cNvPr id="20" name="!!seta_cart"/>
          <p:cNvCxnSpPr/>
          <p:nvPr/>
        </p:nvCxnSpPr>
        <p:spPr>
          <a:xfrm>
            <a:off x="3648456" y="1916582"/>
            <a:ext cx="0" cy="76810"/>
          </a:xfrm>
          <a:prstGeom prst="line">
            <a:avLst/>
          </a:prstGeom>
          <a:ln w="15875">
            <a:solidFill>
              <a:srgbClr val="4760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6_19"/>
          <p:cNvSpPr txBox="1"/>
          <p:nvPr/>
        </p:nvSpPr>
        <p:spPr>
          <a:xfrm>
            <a:off x="822960" y="859536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00">
                <a:solidFill>
                  <a:srgbClr val="8395B5"/>
                </a:solidFill>
                <a:latin typeface="Consolas"/>
              </a:rPr>
              <a:t>CAMADA ESTRUTURAL  ·  LÊ O NÍVEL</a:t>
            </a:r>
          </a:p>
        </p:txBody>
      </p:sp>
      <p:sp>
        <p:nvSpPr>
          <p:cNvPr id="22" name="!!tat"/>
          <p:cNvSpPr/>
          <p:nvPr/>
        </p:nvSpPr>
        <p:spPr>
          <a:xfrm>
            <a:off x="822960" y="2798064"/>
            <a:ext cx="5650992" cy="658368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FFB531"/>
            </a:solidFill>
          </a:ln>
          <a:effectLst>
            <a:glow rad="110000">
              <a:srgbClr val="FFB531">
                <a:alpha val="2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rIns="109728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spc="130">
                <a:solidFill>
                  <a:srgbClr val="FFB531"/>
                </a:solidFill>
                <a:latin typeface="Bahnschrift SemiBold"/>
              </a:rPr>
              <a:t>CAMADA TÁTICA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BAC6DA"/>
                </a:solidFill>
                <a:latin typeface="Bahnschrift"/>
              </a:rPr>
              <a:t>lê o movimento da probabilidade</a:t>
            </a:r>
          </a:p>
        </p:txBody>
      </p:sp>
      <p:sp>
        <p:nvSpPr>
          <p:cNvPr id="23" name="!!tat_bar"/>
          <p:cNvSpPr/>
          <p:nvPr/>
        </p:nvSpPr>
        <p:spPr>
          <a:xfrm>
            <a:off x="1042416" y="2956072"/>
            <a:ext cx="77724" cy="342351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24" name="!!teto"/>
          <p:cNvSpPr/>
          <p:nvPr/>
        </p:nvSpPr>
        <p:spPr>
          <a:xfrm>
            <a:off x="7223760" y="2048256"/>
            <a:ext cx="1874519" cy="786384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FFB531"/>
            </a:solidFill>
          </a:ln>
          <a:effectLst>
            <a:glow rad="110000">
              <a:srgbClr val="FFB531">
                <a:alpha val="2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0" rIns="109728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80">
                <a:solidFill>
                  <a:srgbClr val="FFB531"/>
                </a:solidFill>
                <a:latin typeface="Bahnschrift SemiBold"/>
              </a:rPr>
              <a:t>TETO DE RISCO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>
                <a:solidFill>
                  <a:srgbClr val="BAC6DA"/>
                </a:solidFill>
                <a:latin typeface="Bahnschrift"/>
              </a:rPr>
              <a:t>divide o espaço entre as duas</a:t>
            </a:r>
          </a:p>
        </p:txBody>
      </p:sp>
      <p:sp>
        <p:nvSpPr>
          <p:cNvPr id="25" name="!!teto_bar"/>
          <p:cNvSpPr/>
          <p:nvPr/>
        </p:nvSpPr>
        <p:spPr>
          <a:xfrm>
            <a:off x="7443216" y="2236988"/>
            <a:ext cx="77724" cy="40891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26" name="!!final"/>
          <p:cNvSpPr/>
          <p:nvPr/>
        </p:nvSpPr>
        <p:spPr>
          <a:xfrm>
            <a:off x="9491472" y="2048256"/>
            <a:ext cx="1874519" cy="786384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2FD3B0"/>
            </a:solidFill>
          </a:ln>
          <a:effectLst>
            <a:glow rad="110000">
              <a:srgbClr val="2FD3B0">
                <a:alpha val="26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4048" tIns="0" rIns="109728" bIns="0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80">
                <a:solidFill>
                  <a:srgbClr val="2FD3B0"/>
                </a:solidFill>
                <a:latin typeface="Bahnschrift SemiBold"/>
              </a:rPr>
              <a:t>CARTEIRA DO DIA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850" b="0">
                <a:solidFill>
                  <a:srgbClr val="BAC6DA"/>
                </a:solidFill>
                <a:latin typeface="Bahnschrift"/>
              </a:rPr>
              <a:t>9 ETFs, uma alocação só</a:t>
            </a:r>
          </a:p>
        </p:txBody>
      </p:sp>
      <p:sp>
        <p:nvSpPr>
          <p:cNvPr id="27" name="!!final_bar"/>
          <p:cNvSpPr/>
          <p:nvPr/>
        </p:nvSpPr>
        <p:spPr>
          <a:xfrm>
            <a:off x="9710928" y="2236988"/>
            <a:ext cx="77724" cy="40891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FD3B0"/>
              </a:gs>
              <a:gs pos="100000">
                <a:srgbClr val="2FD3B0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cxnSp>
        <p:nvCxnSpPr>
          <p:cNvPr id="28" name="s6_26"/>
          <p:cNvCxnSpPr/>
          <p:nvPr/>
        </p:nvCxnSpPr>
        <p:spPr>
          <a:xfrm>
            <a:off x="4498848" y="2267712"/>
            <a:ext cx="2724912" cy="173736"/>
          </a:xfrm>
          <a:prstGeom prst="curvedConnector3">
            <a:avLst/>
          </a:prstGeom>
          <a:ln w="15875">
            <a:solidFill>
              <a:srgbClr val="BAC6D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6_27"/>
          <p:cNvCxnSpPr/>
          <p:nvPr/>
        </p:nvCxnSpPr>
        <p:spPr>
          <a:xfrm flipV="1">
            <a:off x="6473952" y="2441448"/>
            <a:ext cx="749808" cy="685800"/>
          </a:xfrm>
          <a:prstGeom prst="curvedConnector3">
            <a:avLst/>
          </a:prstGeom>
          <a:ln w="15875">
            <a:solidFill>
              <a:srgbClr val="BAC6D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6_28"/>
          <p:cNvCxnSpPr/>
          <p:nvPr/>
        </p:nvCxnSpPr>
        <p:spPr>
          <a:xfrm>
            <a:off x="9098280" y="2441448"/>
            <a:ext cx="356616" cy="0"/>
          </a:xfrm>
          <a:prstGeom prst="line">
            <a:avLst/>
          </a:prstGeom>
          <a:ln w="15875">
            <a:solidFill>
              <a:srgbClr val="BAC6D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6_29"/>
          <p:cNvSpPr txBox="1"/>
          <p:nvPr/>
        </p:nvSpPr>
        <p:spPr>
          <a:xfrm>
            <a:off x="822960" y="4041648"/>
            <a:ext cx="3931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FB531"/>
                </a:solidFill>
                <a:latin typeface="Consolas"/>
              </a:rPr>
              <a:t>O QUE A CAMADA TÁTICA NEGOCIA</a:t>
            </a:r>
          </a:p>
        </p:txBody>
      </p:sp>
      <p:sp>
        <p:nvSpPr>
          <p:cNvPr id="32" name="s6_30"/>
          <p:cNvSpPr txBox="1"/>
          <p:nvPr/>
        </p:nvSpPr>
        <p:spPr>
          <a:xfrm>
            <a:off x="1005840" y="4352544"/>
            <a:ext cx="3931920" cy="746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150" b="0">
                <a:solidFill>
                  <a:srgbClr val="F5F7FB"/>
                </a:solidFill>
                <a:latin typeface="Bahnschrift SemiBold"/>
              </a:rPr>
              <a:t>Se prepara para mudanças rápidas </a:t>
            </a:r>
            <a:endParaRPr sz="1150" b="0">
              <a:solidFill>
                <a:srgbClr val="BAC6DA"/>
              </a:solidFill>
              <a:latin typeface="Bahnschrift SemiLight"/>
            </a:endParaRPr>
          </a:p>
          <a:p>
            <a:pPr algn="l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150" b="0" err="1">
                <a:solidFill>
                  <a:srgbClr val="F5F7FB"/>
                </a:solidFill>
                <a:latin typeface="Bahnschrift SemiBold"/>
              </a:rPr>
              <a:t>Maioria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na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Câmara. 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A mesma compra e venda de setores, agora seguindo a aposta eleitoral.</a:t>
            </a:r>
          </a:p>
        </p:txBody>
      </p:sp>
      <p:sp>
        <p:nvSpPr>
          <p:cNvPr id="33" name="s6_31"/>
          <p:cNvSpPr txBox="1"/>
          <p:nvPr/>
        </p:nvSpPr>
        <p:spPr>
          <a:xfrm>
            <a:off x="5120640" y="4041648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FB531"/>
                </a:solidFill>
                <a:latin typeface="Consolas"/>
              </a:rPr>
              <a:t>ABRIL DE 2025</a:t>
            </a:r>
          </a:p>
        </p:txBody>
      </p:sp>
      <p:sp>
        <p:nvSpPr>
          <p:cNvPr id="34" name="s6_32"/>
          <p:cNvSpPr/>
          <p:nvPr/>
        </p:nvSpPr>
        <p:spPr>
          <a:xfrm>
            <a:off x="5120640" y="4389120"/>
            <a:ext cx="45720" cy="13898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35" name="s6_33"/>
          <p:cNvSpPr txBox="1"/>
          <p:nvPr/>
        </p:nvSpPr>
        <p:spPr>
          <a:xfrm>
            <a:off x="5340096" y="4352544"/>
            <a:ext cx="2798063" cy="14747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5F7FB"/>
                </a:solidFill>
                <a:latin typeface="Bahnschrift SemiBold"/>
              </a:rPr>
              <a:t>De 37% para 65% </a:t>
            </a:r>
            <a:r>
              <a:rPr lang="pt-BR" sz="1150" b="0">
                <a:solidFill>
                  <a:srgbClr val="F5F7FB"/>
                </a:solidFill>
                <a:latin typeface="Bahnschrift SemiBold"/>
              </a:rPr>
              <a:t>em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lang="pt-BR" sz="1150" b="0">
                <a:solidFill>
                  <a:srgbClr val="F5F7FB"/>
                </a:solidFill>
                <a:latin typeface="Bahnschrift SemiBold"/>
              </a:rPr>
              <a:t>uma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</a:t>
            </a:r>
            <a:r>
              <a:rPr lang="pt-BR" sz="1150" b="0">
                <a:solidFill>
                  <a:srgbClr val="F5F7FB"/>
                </a:solidFill>
                <a:latin typeface="Bahnschrift SemiBold"/>
              </a:rPr>
              <a:t>semana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É o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salto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da chance de </a:t>
            </a:r>
            <a:r>
              <a:rPr lang="pt-BR" sz="1150" b="0">
                <a:solidFill>
                  <a:srgbClr val="BAC6DA"/>
                </a:solidFill>
                <a:latin typeface="Bahnschrift SemiLight"/>
              </a:rPr>
              <a:t>recessão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no </a:t>
            </a:r>
            <a:r>
              <a:rPr lang="pt-BR" sz="1150" b="0" err="1">
                <a:solidFill>
                  <a:srgbClr val="BAC6DA"/>
                </a:solidFill>
                <a:latin typeface="Bahnschrift SemiLight"/>
              </a:rPr>
              <a:t>Polymarket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sz="1150" b="0">
                <a:solidFill>
                  <a:srgbClr val="F5F7FB"/>
                </a:solidFill>
                <a:latin typeface="Bahnschrift SemiBold"/>
              </a:rPr>
              <a:t>Compra o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defensivo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,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vende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o </a:t>
            </a:r>
            <a:r>
              <a:rPr sz="1150" b="0" err="1">
                <a:solidFill>
                  <a:srgbClr val="F5F7FB"/>
                </a:solidFill>
                <a:latin typeface="Bahnschrift SemiBold"/>
              </a:rPr>
              <a:t>cíclico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No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dia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3 de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abril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a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bolsa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cai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5%</a:t>
            </a:r>
            <a:r>
              <a:rPr lang="en-US" sz="1150">
                <a:solidFill>
                  <a:srgbClr val="BAC6DA"/>
                </a:solidFill>
                <a:latin typeface="Bahnschrift SemiLight"/>
              </a:rPr>
              <a:t> 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e a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camada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150" b="0" err="1">
                <a:solidFill>
                  <a:srgbClr val="BAC6DA"/>
                </a:solidFill>
                <a:latin typeface="Bahnschrift SemiLight"/>
              </a:rPr>
              <a:t>ganha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.</a:t>
            </a:r>
            <a:endParaRPr sz="1150" b="0">
              <a:solidFill>
                <a:srgbClr val="BAC6DA"/>
              </a:solidFill>
              <a:latin typeface="Bahnschrift SemiLight"/>
              <a:cs typeface="Bahnschrift SemiLight"/>
            </a:endParaRPr>
          </a:p>
        </p:txBody>
      </p:sp>
      <p:sp>
        <p:nvSpPr>
          <p:cNvPr id="36" name="s6_34"/>
          <p:cNvSpPr txBox="1"/>
          <p:nvPr/>
        </p:nvSpPr>
        <p:spPr>
          <a:xfrm>
            <a:off x="8503920" y="4041648"/>
            <a:ext cx="28620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FB531"/>
                </a:solidFill>
                <a:latin typeface="Consolas"/>
              </a:rPr>
              <a:t>O TETO DE RISCO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s6_35"/>
              <p:cNvSpPr txBox="1"/>
              <p:nvPr/>
            </p:nvSpPr>
            <p:spPr>
              <a:xfrm>
                <a:off x="8503920" y="4297680"/>
                <a:ext cx="286207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pt-BR" b="1" i="0" dirty="0" smtClean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r>
                        <a:rPr lang="pt-BR" b="1" i="1" dirty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 | </m:t>
                      </m:r>
                      <m:r>
                        <a:rPr lang="pt-BR" b="1" i="1" dirty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pt-BR" b="1" i="1" dirty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pt-BR" b="1" i="1" dirty="0" err="1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pt-BR" b="1" i="1" dirty="0" err="1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pt-BR" b="1" i="1" dirty="0" err="1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𝒎𝒌𝒕</m:t>
                      </m:r>
                      <m:r>
                        <a:rPr lang="pt-BR" b="1" i="1" dirty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 |  ≤  </m:t>
                      </m:r>
                      <m:r>
                        <a:rPr lang="pt-BR" b="1" i="1" dirty="0">
                          <a:solidFill>
                            <a:srgbClr val="FFB53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pt-BR">
                  <a:latin typeface="Bahnschrift SemiLight"/>
                </a:endParaRPr>
              </a:p>
            </p:txBody>
          </p:sp>
        </mc:Choice>
        <mc:Fallback>
          <p:sp>
            <p:nvSpPr>
              <p:cNvPr id="37" name="s6_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3920" y="4297680"/>
                <a:ext cx="2862072" cy="276999"/>
              </a:xfrm>
              <a:prstGeom prst="rect">
                <a:avLst/>
              </a:prstGeom>
              <a:blipFill>
                <a:blip r:embed="rId3"/>
                <a:stretch>
                  <a:fillRect t="-26667" b="-5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s6_36"/>
          <p:cNvSpPr txBox="1"/>
          <p:nvPr/>
        </p:nvSpPr>
        <p:spPr>
          <a:xfrm>
            <a:off x="8503920" y="4773168"/>
            <a:ext cx="2862072" cy="439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0">
                <a:solidFill>
                  <a:srgbClr val="F5F7FB"/>
                </a:solidFill>
                <a:latin typeface="Bahnschrift SemiBold"/>
              </a:rPr>
              <a:t>O Ω </a:t>
            </a:r>
            <a:r>
              <a:rPr lang="pt-BR" sz="1150" b="0" err="1">
                <a:solidFill>
                  <a:srgbClr val="F5F7FB"/>
                </a:solidFill>
                <a:latin typeface="Bahnschrift SemiBold"/>
              </a:rPr>
              <a:t>diz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 quanta </a:t>
            </a:r>
            <a:r>
              <a:rPr lang="pt-BR" sz="1150" b="0" err="1">
                <a:solidFill>
                  <a:srgbClr val="F5F7FB"/>
                </a:solidFill>
                <a:latin typeface="Bahnschrift SemiBold"/>
              </a:rPr>
              <a:t>confiança</a:t>
            </a:r>
            <a:r>
              <a:rPr sz="1150" b="0">
                <a:solidFill>
                  <a:srgbClr val="F5F7FB"/>
                </a:solidFill>
                <a:latin typeface="Bahnschrift SemiBold"/>
              </a:rPr>
              <a:t>;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o </a:t>
            </a:r>
            <a:r>
              <a:rPr lang="pt-BR" sz="1150" b="0" err="1">
                <a:solidFill>
                  <a:srgbClr val="BAC6DA"/>
                </a:solidFill>
                <a:latin typeface="Bahnschrift SemiLight"/>
              </a:rPr>
              <a:t>teto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lang="pt-BR" sz="1150" b="0" err="1">
                <a:solidFill>
                  <a:srgbClr val="BAC6DA"/>
                </a:solidFill>
                <a:latin typeface="Bahnschrift SemiLight"/>
              </a:rPr>
              <a:t>diz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lang="pt-BR" sz="1150" b="0" err="1">
                <a:solidFill>
                  <a:srgbClr val="BAC6DA"/>
                </a:solidFill>
                <a:latin typeface="Bahnschrift SemiLight"/>
              </a:rPr>
              <a:t>quanto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lang="pt-BR" sz="1150" b="0" err="1">
                <a:solidFill>
                  <a:srgbClr val="BAC6DA"/>
                </a:solidFill>
                <a:latin typeface="Bahnschrift SemiLight"/>
              </a:rPr>
              <a:t>espaço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lang="pt-BR" sz="1150" b="0" err="1">
                <a:solidFill>
                  <a:srgbClr val="BAC6DA"/>
                </a:solidFill>
                <a:latin typeface="Bahnschrift SemiLight"/>
              </a:rPr>
              <a:t>cada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lang="pt-BR" sz="1150" b="0" err="1">
                <a:solidFill>
                  <a:srgbClr val="BAC6DA"/>
                </a:solidFill>
                <a:latin typeface="Bahnschrift SemiLight"/>
              </a:rPr>
              <a:t>camada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 </a:t>
            </a:r>
            <a:r>
              <a:rPr lang="pt-BR" sz="1150" b="0" err="1">
                <a:solidFill>
                  <a:srgbClr val="BAC6DA"/>
                </a:solidFill>
                <a:latin typeface="Bahnschrift SemiLight"/>
              </a:rPr>
              <a:t>ocupa</a:t>
            </a:r>
            <a:r>
              <a:rPr sz="1150" b="0">
                <a:solidFill>
                  <a:srgbClr val="BAC6DA"/>
                </a:solidFill>
                <a:latin typeface="Bahnschrift SemiLight"/>
              </a:rPr>
              <a:t>.</a:t>
            </a:r>
          </a:p>
        </p:txBody>
      </p:sp>
      <p:sp>
        <p:nvSpPr>
          <p:cNvPr id="45" name="s6_32">
            <a:extLst>
              <a:ext uri="{FF2B5EF4-FFF2-40B4-BE49-F238E27FC236}">
                <a16:creationId xmlns:a16="http://schemas.microsoft.com/office/drawing/2014/main" id="{C40C90AD-EF42-9A63-8D84-666CA8306616}"/>
              </a:ext>
            </a:extLst>
          </p:cNvPr>
          <p:cNvSpPr/>
          <p:nvPr/>
        </p:nvSpPr>
        <p:spPr>
          <a:xfrm>
            <a:off x="832104" y="4373128"/>
            <a:ext cx="45720" cy="138988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Ligh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9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2_0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Setup de IA</a:t>
            </a:r>
          </a:p>
        </p:txBody>
      </p:sp>
      <p:sp>
        <p:nvSpPr>
          <p:cNvPr id="7" name="s12_0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12</a:t>
            </a:r>
          </a:p>
        </p:txBody>
      </p:sp>
      <p:cxnSp>
        <p:nvCxnSpPr>
          <p:cNvPr id="8" name="s12_0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0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5F7FB"/>
                </a:solidFill>
                <a:latin typeface="Bahnschrift SemiBold"/>
              </a:rPr>
              <a:t>Um prompt não lê o repositório inteiro: acende um caminho.</a:t>
            </a:r>
          </a:p>
        </p:txBody>
      </p:sp>
      <p:cxnSp>
        <p:nvCxnSpPr>
          <p:cNvPr id="10" name="s12_0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98A"/>
                </a:solidFill>
                <a:latin typeface="Consolas"/>
              </a:rPr>
              <a:t>209 arquivos  ·  719 ligações  ·  medido no branch por grafo_repo.py</a:t>
            </a:r>
          </a:p>
        </p:txBody>
      </p:sp>
      <p:sp>
        <p:nvSpPr>
          <p:cNvPr id="16" name="s12_0_14"/>
          <p:cNvSpPr txBox="1"/>
          <p:nvPr/>
        </p:nvSpPr>
        <p:spPr>
          <a:xfrm>
            <a:off x="5897880" y="1572768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SETUP</a:t>
            </a:r>
          </a:p>
        </p:txBody>
      </p:sp>
      <p:sp>
        <p:nvSpPr>
          <p:cNvPr id="17" name="s12_0_15"/>
          <p:cNvSpPr txBox="1"/>
          <p:nvPr/>
        </p:nvSpPr>
        <p:spPr>
          <a:xfrm>
            <a:off x="5897880" y="1828800"/>
            <a:ext cx="5559551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CLAUDE.md.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Regras e papéis, lidos no começo de toda sessão.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Ritual de fim.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Toda sessão fecha escrevendo no LOG e nas decisões pendentes.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Pesquisa vira arquivo.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E cita os arquivos que usou — foi isso que virou o grafo.</a:t>
            </a:r>
          </a:p>
        </p:txBody>
      </p:sp>
      <p:sp>
        <p:nvSpPr>
          <p:cNvPr id="18" name="s12_0_16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s12_0_17"/>
          <p:cNvSpPr txBox="1"/>
          <p:nvPr/>
        </p:nvSpPr>
        <p:spPr>
          <a:xfrm>
            <a:off x="6135624" y="3246120"/>
            <a:ext cx="5102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PROMPT REAL  ·  SESSÃO 9ed8510d  ·  08/09/2026</a:t>
            </a:r>
          </a:p>
        </p:txBody>
      </p:sp>
      <p:sp>
        <p:nvSpPr>
          <p:cNvPr id="20" name="s12_0_18"/>
          <p:cNvSpPr txBox="1"/>
          <p:nvPr/>
        </p:nvSpPr>
        <p:spPr>
          <a:xfrm>
            <a:off x="6135624" y="3493008"/>
            <a:ext cx="510235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BAC6DA"/>
                </a:solidFill>
                <a:latin typeface="Georgia"/>
              </a:rPr>
              <a:t>“Estou preparando minha fala para o slide de retorno e preciso trazer uma explicação o porque o nosso Beta foi tão alto. analise a estratégia e explique porque ficamos tão expostos quando queriamos montar uma carteira neutra. …”</a:t>
            </a:r>
          </a:p>
        </p:txBody>
      </p:sp>
      <p:sp>
        <p:nvSpPr>
          <p:cNvPr id="21" name="s12_0_19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QUE ACENDEU, NA ORDEM</a:t>
            </a:r>
          </a:p>
        </p:txBody>
      </p:sp>
      <p:sp>
        <p:nvSpPr>
          <p:cNvPr id="22" name="s12_0_20"/>
          <p:cNvSpPr txBox="1"/>
          <p:nvPr/>
        </p:nvSpPr>
        <p:spPr>
          <a:xfrm>
            <a:off x="5897880" y="4809744"/>
            <a:ext cx="555955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8698A"/>
                </a:solidFill>
                <a:latin typeface="Consolas"/>
              </a:rPr>
              <a:t>clique para ver o caminho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2_1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Setup de IA</a:t>
            </a:r>
          </a:p>
        </p:txBody>
      </p:sp>
      <p:sp>
        <p:nvSpPr>
          <p:cNvPr id="7" name="s12_1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12</a:t>
            </a:r>
          </a:p>
        </p:txBody>
      </p:sp>
      <p:cxnSp>
        <p:nvCxnSpPr>
          <p:cNvPr id="8" name="s12_1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1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5F7FB"/>
                </a:solidFill>
                <a:latin typeface="Bahnschrift SemiBold"/>
              </a:rPr>
              <a:t>Um prompt não lê o repositório inteiro: acende um caminho.</a:t>
            </a:r>
          </a:p>
        </p:txBody>
      </p:sp>
      <p:cxnSp>
        <p:nvCxnSpPr>
          <p:cNvPr id="10" name="s12_1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98A"/>
                </a:solidFill>
                <a:latin typeface="Consola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!!pulso"/>
          <p:cNvSpPr/>
          <p:nvPr/>
        </p:nvSpPr>
        <p:spPr>
          <a:xfrm>
            <a:off x="2530300" y="3728807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s12_1_16"/>
          <p:cNvSpPr txBox="1"/>
          <p:nvPr/>
        </p:nvSpPr>
        <p:spPr>
          <a:xfrm>
            <a:off x="5897880" y="1572768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SETUP</a:t>
            </a:r>
          </a:p>
        </p:txBody>
      </p:sp>
      <p:sp>
        <p:nvSpPr>
          <p:cNvPr id="19" name="s12_1_17"/>
          <p:cNvSpPr txBox="1"/>
          <p:nvPr/>
        </p:nvSpPr>
        <p:spPr>
          <a:xfrm>
            <a:off x="5897880" y="1828800"/>
            <a:ext cx="5559551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CLAUDE.md.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Regras e papéis, lidos no começo de toda sessão.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Ritual de fim.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Toda sessão fecha escrevendo no LOG e nas decisões pendentes.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Pesquisa vira arquivo.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E cita os arquivos que usou — foi isso que virou o grafo.</a:t>
            </a:r>
          </a:p>
        </p:txBody>
      </p:sp>
      <p:sp>
        <p:nvSpPr>
          <p:cNvPr id="20" name="s12_1_18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s12_1_19"/>
          <p:cNvSpPr txBox="1"/>
          <p:nvPr/>
        </p:nvSpPr>
        <p:spPr>
          <a:xfrm>
            <a:off x="6135624" y="3246120"/>
            <a:ext cx="5102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PROMPT REAL  ·  SESSÃO 9ed8510d  ·  08/09/2026</a:t>
            </a:r>
          </a:p>
        </p:txBody>
      </p:sp>
      <p:sp>
        <p:nvSpPr>
          <p:cNvPr id="22" name="s12_1_20"/>
          <p:cNvSpPr txBox="1"/>
          <p:nvPr/>
        </p:nvSpPr>
        <p:spPr>
          <a:xfrm>
            <a:off x="6135624" y="3493008"/>
            <a:ext cx="510235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BAC6DA"/>
                </a:solidFill>
                <a:latin typeface="Georgia"/>
              </a:rPr>
              <a:t>“Estou preparando minha fala para o slide de retorno e preciso trazer uma explicação o porque o nosso Beta foi tão alto. analise a estratégia e explique porque ficamos tão expostos quando queriamos montar uma carteira neutra. …”</a:t>
            </a:r>
          </a:p>
        </p:txBody>
      </p:sp>
      <p:sp>
        <p:nvSpPr>
          <p:cNvPr id="23" name="s12_1_21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QUE ACENDEU, NA ORDEM</a:t>
            </a:r>
          </a:p>
        </p:txBody>
      </p:sp>
      <p:sp>
        <p:nvSpPr>
          <p:cNvPr id="24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01  </a:t>
            </a:r>
            <a:r>
              <a:rPr sz="900" b="0" i="0">
                <a:solidFill>
                  <a:srgbClr val="FFB531"/>
                </a:solidFill>
                <a:latin typeface="Consolas"/>
              </a:rPr>
              <a:t>Decisoes_pendentes.md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550" advTm="320">
        <p159:morph option="byObject"/>
      </p:transition>
    </mc:Choice>
    <mc:Fallback>
      <p:transition spd="med" advTm="32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2_2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Setup de IA</a:t>
            </a:r>
          </a:p>
        </p:txBody>
      </p:sp>
      <p:sp>
        <p:nvSpPr>
          <p:cNvPr id="7" name="s12_2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12</a:t>
            </a:r>
          </a:p>
        </p:txBody>
      </p:sp>
      <p:cxnSp>
        <p:nvCxnSpPr>
          <p:cNvPr id="8" name="s12_2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2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5F7FB"/>
                </a:solidFill>
                <a:latin typeface="Bahnschrift SemiBold"/>
              </a:rPr>
              <a:t>Um prompt não lê o repositório inteiro: acende um caminho.</a:t>
            </a:r>
          </a:p>
        </p:txBody>
      </p:sp>
      <p:cxnSp>
        <p:nvCxnSpPr>
          <p:cNvPr id="10" name="s12_2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98A"/>
                </a:solidFill>
                <a:latin typeface="Consola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!!pulso"/>
          <p:cNvSpPr/>
          <p:nvPr/>
        </p:nvSpPr>
        <p:spPr>
          <a:xfrm>
            <a:off x="1449603" y="2626447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s12_2_18"/>
          <p:cNvSpPr txBox="1"/>
          <p:nvPr/>
        </p:nvSpPr>
        <p:spPr>
          <a:xfrm>
            <a:off x="5897880" y="1572768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SETUP</a:t>
            </a:r>
          </a:p>
        </p:txBody>
      </p:sp>
      <p:sp>
        <p:nvSpPr>
          <p:cNvPr id="21" name="s12_2_19"/>
          <p:cNvSpPr txBox="1"/>
          <p:nvPr/>
        </p:nvSpPr>
        <p:spPr>
          <a:xfrm>
            <a:off x="5897880" y="1828800"/>
            <a:ext cx="5559551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CLAUDE.md.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Regras e papéis, lidos no começo de toda sessão.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Ritual de fim.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Toda sessão fecha escrevendo no LOG e nas decisões pendentes.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Pesquisa vira arquivo.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E cita os arquivos que usou — foi isso que virou o grafo.</a:t>
            </a:r>
          </a:p>
        </p:txBody>
      </p:sp>
      <p:sp>
        <p:nvSpPr>
          <p:cNvPr id="22" name="s12_2_20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s12_2_21"/>
          <p:cNvSpPr txBox="1"/>
          <p:nvPr/>
        </p:nvSpPr>
        <p:spPr>
          <a:xfrm>
            <a:off x="6135624" y="3246120"/>
            <a:ext cx="5102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PROMPT REAL  ·  SESSÃO 9ed8510d  ·  08/09/2026</a:t>
            </a:r>
          </a:p>
        </p:txBody>
      </p:sp>
      <p:sp>
        <p:nvSpPr>
          <p:cNvPr id="24" name="s12_2_22"/>
          <p:cNvSpPr txBox="1"/>
          <p:nvPr/>
        </p:nvSpPr>
        <p:spPr>
          <a:xfrm>
            <a:off x="6135624" y="3493008"/>
            <a:ext cx="510235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BAC6DA"/>
                </a:solidFill>
                <a:latin typeface="Georgia"/>
              </a:rPr>
              <a:t>“Estou preparando minha fala para o slide de retorno e preciso trazer uma explicação o porque o nosso Beta foi tão alto. analise a estratégia e explique porque ficamos tão expostos quando queriamos montar uma carteira neutra. …”</a:t>
            </a:r>
          </a:p>
        </p:txBody>
      </p:sp>
      <p:sp>
        <p:nvSpPr>
          <p:cNvPr id="25" name="s12_2_23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QUE ACENDEU, NA ORDEM</a:t>
            </a:r>
          </a:p>
        </p:txBody>
      </p:sp>
      <p:sp>
        <p:nvSpPr>
          <p:cNvPr id="26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01  </a:t>
            </a:r>
            <a:r>
              <a:rPr sz="900" b="0" i="0">
                <a:solidFill>
                  <a:srgbClr val="FFB531"/>
                </a:solidFill>
                <a:latin typeface="Consolas"/>
              </a:rPr>
              <a:t>Decisoes_pendentes.md</a:t>
            </a:r>
          </a:p>
        </p:txBody>
      </p:sp>
      <p:sp>
        <p:nvSpPr>
          <p:cNvPr id="27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02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Metricas_p4.md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550" advTm="320">
        <p159:morph option="byObject"/>
      </p:transition>
    </mc:Choice>
    <mc:Fallback>
      <p:transition spd="med" advTm="32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2_3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Setup de IA</a:t>
            </a:r>
          </a:p>
        </p:txBody>
      </p:sp>
      <p:sp>
        <p:nvSpPr>
          <p:cNvPr id="7" name="s12_3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12</a:t>
            </a:r>
          </a:p>
        </p:txBody>
      </p:sp>
      <p:cxnSp>
        <p:nvCxnSpPr>
          <p:cNvPr id="8" name="s12_3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3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5F7FB"/>
                </a:solidFill>
                <a:latin typeface="Bahnschrift SemiBold"/>
              </a:rPr>
              <a:t>Um prompt não lê o repositório inteiro: acende um caminho.</a:t>
            </a:r>
          </a:p>
        </p:txBody>
      </p:sp>
      <p:cxnSp>
        <p:nvCxnSpPr>
          <p:cNvPr id="10" name="s12_3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98A"/>
                </a:solidFill>
                <a:latin typeface="Consola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!!pulso"/>
          <p:cNvSpPr/>
          <p:nvPr/>
        </p:nvSpPr>
        <p:spPr>
          <a:xfrm>
            <a:off x="1382760" y="3616475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s12_3_20"/>
          <p:cNvSpPr txBox="1"/>
          <p:nvPr/>
        </p:nvSpPr>
        <p:spPr>
          <a:xfrm>
            <a:off x="5897880" y="1572768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SETUP</a:t>
            </a:r>
          </a:p>
        </p:txBody>
      </p:sp>
      <p:sp>
        <p:nvSpPr>
          <p:cNvPr id="23" name="s12_3_21"/>
          <p:cNvSpPr txBox="1"/>
          <p:nvPr/>
        </p:nvSpPr>
        <p:spPr>
          <a:xfrm>
            <a:off x="5897880" y="1828800"/>
            <a:ext cx="5559551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CLAUDE.md.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Regras e papéis, lidos no começo de toda sessão.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Ritual de fim.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Toda sessão fecha escrevendo no LOG e nas decisões pendentes.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Pesquisa vira arquivo.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E cita os arquivos que usou — foi isso que virou o grafo.</a:t>
            </a:r>
          </a:p>
        </p:txBody>
      </p:sp>
      <p:sp>
        <p:nvSpPr>
          <p:cNvPr id="24" name="s12_3_22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s12_3_23"/>
          <p:cNvSpPr txBox="1"/>
          <p:nvPr/>
        </p:nvSpPr>
        <p:spPr>
          <a:xfrm>
            <a:off x="6135624" y="3246120"/>
            <a:ext cx="5102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PROMPT REAL  ·  SESSÃO 9ed8510d  ·  08/09/2026</a:t>
            </a:r>
          </a:p>
        </p:txBody>
      </p:sp>
      <p:sp>
        <p:nvSpPr>
          <p:cNvPr id="26" name="s12_3_24"/>
          <p:cNvSpPr txBox="1"/>
          <p:nvPr/>
        </p:nvSpPr>
        <p:spPr>
          <a:xfrm>
            <a:off x="6135624" y="3493008"/>
            <a:ext cx="510235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BAC6DA"/>
                </a:solidFill>
                <a:latin typeface="Georgia"/>
              </a:rPr>
              <a:t>“Estou preparando minha fala para o slide de retorno e preciso trazer uma explicação o porque o nosso Beta foi tão alto. analise a estratégia e explique porque ficamos tão expostos quando queriamos montar uma carteira neutra. …”</a:t>
            </a:r>
          </a:p>
        </p:txBody>
      </p:sp>
      <p:sp>
        <p:nvSpPr>
          <p:cNvPr id="27" name="s12_3_25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QUE ACENDEU, NA ORDEM</a:t>
            </a:r>
          </a:p>
        </p:txBody>
      </p:sp>
      <p:sp>
        <p:nvSpPr>
          <p:cNvPr id="28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01  </a:t>
            </a:r>
            <a:r>
              <a:rPr sz="900" b="0" i="0">
                <a:solidFill>
                  <a:srgbClr val="FFB531"/>
                </a:solidFill>
                <a:latin typeface="Consolas"/>
              </a:rPr>
              <a:t>Decisoes_pendentes.md</a:t>
            </a:r>
          </a:p>
        </p:txBody>
      </p:sp>
      <p:sp>
        <p:nvSpPr>
          <p:cNvPr id="29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02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Metricas_p4.md</a:t>
            </a:r>
          </a:p>
        </p:txBody>
      </p:sp>
      <p:sp>
        <p:nvSpPr>
          <p:cNvPr id="30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03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Metricas_p5.md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550" advTm="320">
        <p159:morph option="byObject"/>
      </p:transition>
    </mc:Choice>
    <mc:Fallback>
      <p:transition spd="med" advTm="32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2_4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Setup de IA</a:t>
            </a:r>
          </a:p>
        </p:txBody>
      </p:sp>
      <p:sp>
        <p:nvSpPr>
          <p:cNvPr id="7" name="s12_4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12</a:t>
            </a:r>
          </a:p>
        </p:txBody>
      </p:sp>
      <p:cxnSp>
        <p:nvCxnSpPr>
          <p:cNvPr id="8" name="s12_4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4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5F7FB"/>
                </a:solidFill>
                <a:latin typeface="Bahnschrift SemiBold"/>
              </a:rPr>
              <a:t>Um prompt não lê o repositório inteiro: acende um caminho.</a:t>
            </a:r>
          </a:p>
        </p:txBody>
      </p:sp>
      <p:cxnSp>
        <p:nvCxnSpPr>
          <p:cNvPr id="10" name="s12_4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98A"/>
                </a:solidFill>
                <a:latin typeface="Consola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!!pulso"/>
          <p:cNvSpPr/>
          <p:nvPr/>
        </p:nvSpPr>
        <p:spPr>
          <a:xfrm>
            <a:off x="2146815" y="3319776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s12_4_22"/>
          <p:cNvSpPr txBox="1"/>
          <p:nvPr/>
        </p:nvSpPr>
        <p:spPr>
          <a:xfrm>
            <a:off x="5897880" y="1572768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SETUP</a:t>
            </a:r>
          </a:p>
        </p:txBody>
      </p:sp>
      <p:sp>
        <p:nvSpPr>
          <p:cNvPr id="25" name="s12_4_23"/>
          <p:cNvSpPr txBox="1"/>
          <p:nvPr/>
        </p:nvSpPr>
        <p:spPr>
          <a:xfrm>
            <a:off x="5897880" y="1828800"/>
            <a:ext cx="5559551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CLAUDE.md.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Regras e papéis, lidos no começo de toda sessão.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Ritual de fim.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Toda sessão fecha escrevendo no LOG e nas decisões pendentes.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Pesquisa vira arquivo.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E cita os arquivos que usou — foi isso que virou o grafo.</a:t>
            </a:r>
          </a:p>
        </p:txBody>
      </p:sp>
      <p:sp>
        <p:nvSpPr>
          <p:cNvPr id="26" name="s12_4_24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s12_4_25"/>
          <p:cNvSpPr txBox="1"/>
          <p:nvPr/>
        </p:nvSpPr>
        <p:spPr>
          <a:xfrm>
            <a:off x="6135624" y="3246120"/>
            <a:ext cx="5102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PROMPT REAL  ·  SESSÃO 9ed8510d  ·  08/09/2026</a:t>
            </a:r>
          </a:p>
        </p:txBody>
      </p:sp>
      <p:sp>
        <p:nvSpPr>
          <p:cNvPr id="28" name="s12_4_26"/>
          <p:cNvSpPr txBox="1"/>
          <p:nvPr/>
        </p:nvSpPr>
        <p:spPr>
          <a:xfrm>
            <a:off x="6135624" y="3493008"/>
            <a:ext cx="510235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BAC6DA"/>
                </a:solidFill>
                <a:latin typeface="Georgia"/>
              </a:rPr>
              <a:t>“Estou preparando minha fala para o slide de retorno e preciso trazer uma explicação o porque o nosso Beta foi tão alto. analise a estratégia e explique porque ficamos tão expostos quando queriamos montar uma carteira neutra. …”</a:t>
            </a:r>
          </a:p>
        </p:txBody>
      </p:sp>
      <p:sp>
        <p:nvSpPr>
          <p:cNvPr id="29" name="s12_4_27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QUE ACENDEU, NA ORDEM</a:t>
            </a:r>
          </a:p>
        </p:txBody>
      </p:sp>
      <p:sp>
        <p:nvSpPr>
          <p:cNvPr id="30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01  </a:t>
            </a:r>
            <a:r>
              <a:rPr sz="900" b="0" i="0">
                <a:solidFill>
                  <a:srgbClr val="FFB531"/>
                </a:solidFill>
                <a:latin typeface="Consolas"/>
              </a:rPr>
              <a:t>Decisoes_pendentes.md</a:t>
            </a:r>
          </a:p>
        </p:txBody>
      </p:sp>
      <p:sp>
        <p:nvSpPr>
          <p:cNvPr id="31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02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Metricas_p4.md</a:t>
            </a:r>
          </a:p>
        </p:txBody>
      </p:sp>
      <p:sp>
        <p:nvSpPr>
          <p:cNvPr id="32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03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Metricas_p5.md</a:t>
            </a:r>
          </a:p>
        </p:txBody>
      </p:sp>
      <p:sp>
        <p:nvSpPr>
          <p:cNvPr id="33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04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Backtest_v1.md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550" advTm="320">
        <p159:morph option="byObject"/>
      </p:transition>
    </mc:Choice>
    <mc:Fallback>
      <p:transition spd="med" advTm="32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2_5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Setup de IA</a:t>
            </a:r>
          </a:p>
        </p:txBody>
      </p:sp>
      <p:sp>
        <p:nvSpPr>
          <p:cNvPr id="7" name="s12_5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12</a:t>
            </a:r>
          </a:p>
        </p:txBody>
      </p:sp>
      <p:cxnSp>
        <p:nvCxnSpPr>
          <p:cNvPr id="8" name="s12_5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5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5F7FB"/>
                </a:solidFill>
                <a:latin typeface="Bahnschrift SemiBold"/>
              </a:rPr>
              <a:t>Um prompt não lê o repositório inteiro: acende um caminho.</a:t>
            </a:r>
          </a:p>
        </p:txBody>
      </p:sp>
      <p:cxnSp>
        <p:nvCxnSpPr>
          <p:cNvPr id="10" name="s12_5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98A"/>
                </a:solidFill>
                <a:latin typeface="Consola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!!pulso"/>
          <p:cNvSpPr/>
          <p:nvPr/>
        </p:nvSpPr>
        <p:spPr>
          <a:xfrm>
            <a:off x="2211553" y="3958052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s12_5_24"/>
          <p:cNvSpPr txBox="1"/>
          <p:nvPr/>
        </p:nvSpPr>
        <p:spPr>
          <a:xfrm>
            <a:off x="5897880" y="1572768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SETUP</a:t>
            </a:r>
          </a:p>
        </p:txBody>
      </p:sp>
      <p:sp>
        <p:nvSpPr>
          <p:cNvPr id="27" name="s12_5_25"/>
          <p:cNvSpPr txBox="1"/>
          <p:nvPr/>
        </p:nvSpPr>
        <p:spPr>
          <a:xfrm>
            <a:off x="5897880" y="1828800"/>
            <a:ext cx="5559551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CLAUDE.md.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Regras e papéis, lidos no começo de toda sessão.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Ritual de fim.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Toda sessão fecha escrevendo no LOG e nas decisões pendentes.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Pesquisa vira arquivo.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E cita os arquivos que usou — foi isso que virou o grafo.</a:t>
            </a:r>
          </a:p>
        </p:txBody>
      </p:sp>
      <p:sp>
        <p:nvSpPr>
          <p:cNvPr id="28" name="s12_5_26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s12_5_27"/>
          <p:cNvSpPr txBox="1"/>
          <p:nvPr/>
        </p:nvSpPr>
        <p:spPr>
          <a:xfrm>
            <a:off x="6135624" y="3246120"/>
            <a:ext cx="5102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PROMPT REAL  ·  SESSÃO 9ed8510d  ·  08/09/2026</a:t>
            </a:r>
          </a:p>
        </p:txBody>
      </p:sp>
      <p:sp>
        <p:nvSpPr>
          <p:cNvPr id="30" name="s12_5_28"/>
          <p:cNvSpPr txBox="1"/>
          <p:nvPr/>
        </p:nvSpPr>
        <p:spPr>
          <a:xfrm>
            <a:off x="6135624" y="3493008"/>
            <a:ext cx="510235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BAC6DA"/>
                </a:solidFill>
                <a:latin typeface="Georgia"/>
              </a:rPr>
              <a:t>“Estou preparando minha fala para o slide de retorno e preciso trazer uma explicação o porque o nosso Beta foi tão alto. analise a estratégia e explique porque ficamos tão expostos quando queriamos montar uma carteira neutra. …”</a:t>
            </a:r>
          </a:p>
        </p:txBody>
      </p:sp>
      <p:sp>
        <p:nvSpPr>
          <p:cNvPr id="31" name="s12_5_29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QUE ACENDEU, NA ORDEM</a:t>
            </a:r>
          </a:p>
        </p:txBody>
      </p:sp>
      <p:sp>
        <p:nvSpPr>
          <p:cNvPr id="32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01  </a:t>
            </a:r>
            <a:r>
              <a:rPr sz="900" b="0" i="0">
                <a:solidFill>
                  <a:srgbClr val="FFB531"/>
                </a:solidFill>
                <a:latin typeface="Consolas"/>
              </a:rPr>
              <a:t>Decisoes_pendentes.md</a:t>
            </a:r>
          </a:p>
        </p:txBody>
      </p:sp>
      <p:sp>
        <p:nvSpPr>
          <p:cNvPr id="33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02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Metricas_p4.md</a:t>
            </a:r>
          </a:p>
        </p:txBody>
      </p:sp>
      <p:sp>
        <p:nvSpPr>
          <p:cNvPr id="34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03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Metricas_p5.md</a:t>
            </a:r>
          </a:p>
        </p:txBody>
      </p:sp>
      <p:sp>
        <p:nvSpPr>
          <p:cNvPr id="35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04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Backtest_v1.md</a:t>
            </a:r>
          </a:p>
        </p:txBody>
      </p:sp>
      <p:sp>
        <p:nvSpPr>
          <p:cNvPr id="36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05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Ortogonalidade.md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550" advTm="320">
        <p159:morph option="byObject"/>
      </p:transition>
    </mc:Choice>
    <mc:Fallback>
      <p:transition spd="med" advTm="32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2_6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Setup de IA</a:t>
            </a:r>
          </a:p>
        </p:txBody>
      </p:sp>
      <p:sp>
        <p:nvSpPr>
          <p:cNvPr id="7" name="s12_6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12</a:t>
            </a:r>
          </a:p>
        </p:txBody>
      </p:sp>
      <p:cxnSp>
        <p:nvCxnSpPr>
          <p:cNvPr id="8" name="s12_6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6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5F7FB"/>
                </a:solidFill>
                <a:latin typeface="Bahnschrift SemiBold"/>
              </a:rPr>
              <a:t>Um prompt não lê o repositório inteiro: acende um caminho.</a:t>
            </a:r>
          </a:p>
        </p:txBody>
      </p:sp>
      <p:cxnSp>
        <p:nvCxnSpPr>
          <p:cNvPr id="10" name="s12_6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98A"/>
                </a:solidFill>
                <a:latin typeface="Consola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!!pulso"/>
          <p:cNvSpPr/>
          <p:nvPr/>
        </p:nvSpPr>
        <p:spPr>
          <a:xfrm>
            <a:off x="1747201" y="3146458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s12_6_26"/>
          <p:cNvSpPr txBox="1"/>
          <p:nvPr/>
        </p:nvSpPr>
        <p:spPr>
          <a:xfrm>
            <a:off x="5897880" y="1572768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SETUP</a:t>
            </a:r>
          </a:p>
        </p:txBody>
      </p:sp>
      <p:sp>
        <p:nvSpPr>
          <p:cNvPr id="29" name="s12_6_27"/>
          <p:cNvSpPr txBox="1"/>
          <p:nvPr/>
        </p:nvSpPr>
        <p:spPr>
          <a:xfrm>
            <a:off x="5897880" y="1828800"/>
            <a:ext cx="5559551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CLAUDE.md.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Regras e papéis, lidos no começo de toda sessão.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Ritual de fim.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Toda sessão fecha escrevendo no LOG e nas decisões pendentes.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Pesquisa vira arquivo.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E cita os arquivos que usou — foi isso que virou o grafo.</a:t>
            </a:r>
          </a:p>
        </p:txBody>
      </p:sp>
      <p:sp>
        <p:nvSpPr>
          <p:cNvPr id="30" name="s12_6_28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s12_6_29"/>
          <p:cNvSpPr txBox="1"/>
          <p:nvPr/>
        </p:nvSpPr>
        <p:spPr>
          <a:xfrm>
            <a:off x="6135624" y="3246120"/>
            <a:ext cx="5102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PROMPT REAL  ·  SESSÃO 9ed8510d  ·  08/09/2026</a:t>
            </a:r>
          </a:p>
        </p:txBody>
      </p:sp>
      <p:sp>
        <p:nvSpPr>
          <p:cNvPr id="32" name="s12_6_30"/>
          <p:cNvSpPr txBox="1"/>
          <p:nvPr/>
        </p:nvSpPr>
        <p:spPr>
          <a:xfrm>
            <a:off x="6135624" y="3493008"/>
            <a:ext cx="510235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BAC6DA"/>
                </a:solidFill>
                <a:latin typeface="Georgia"/>
              </a:rPr>
              <a:t>“Estou preparando minha fala para o slide de retorno e preciso trazer uma explicação o porque o nosso Beta foi tão alto. analise a estratégia e explique porque ficamos tão expostos quando queriamos montar uma carteira neutra. …”</a:t>
            </a:r>
          </a:p>
        </p:txBody>
      </p:sp>
      <p:sp>
        <p:nvSpPr>
          <p:cNvPr id="33" name="s12_6_31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QUE ACENDEU, NA ORDEM</a:t>
            </a:r>
          </a:p>
        </p:txBody>
      </p:sp>
      <p:sp>
        <p:nvSpPr>
          <p:cNvPr id="34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01  </a:t>
            </a:r>
            <a:r>
              <a:rPr sz="900" b="0" i="0">
                <a:solidFill>
                  <a:srgbClr val="FFB531"/>
                </a:solidFill>
                <a:latin typeface="Consolas"/>
              </a:rPr>
              <a:t>Decisoes_pendentes.md</a:t>
            </a:r>
          </a:p>
        </p:txBody>
      </p:sp>
      <p:sp>
        <p:nvSpPr>
          <p:cNvPr id="35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02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Metricas_p4.md</a:t>
            </a:r>
          </a:p>
        </p:txBody>
      </p:sp>
      <p:sp>
        <p:nvSpPr>
          <p:cNvPr id="36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03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Metricas_p5.md</a:t>
            </a:r>
          </a:p>
        </p:txBody>
      </p:sp>
      <p:sp>
        <p:nvSpPr>
          <p:cNvPr id="37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04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Backtest_v1.md</a:t>
            </a:r>
          </a:p>
        </p:txBody>
      </p:sp>
      <p:sp>
        <p:nvSpPr>
          <p:cNvPr id="38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05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Ortogonalidade.md</a:t>
            </a:r>
          </a:p>
        </p:txBody>
      </p:sp>
      <p:sp>
        <p:nvSpPr>
          <p:cNvPr id="39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06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bl_optimizer.py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550" advTm="320">
        <p159:morph option="byObject"/>
      </p:transition>
    </mc:Choice>
    <mc:Fallback>
      <p:transition spd="med" advTm="32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2_7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Setup de IA</a:t>
            </a:r>
          </a:p>
        </p:txBody>
      </p:sp>
      <p:sp>
        <p:nvSpPr>
          <p:cNvPr id="7" name="s12_7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12</a:t>
            </a:r>
          </a:p>
        </p:txBody>
      </p:sp>
      <p:cxnSp>
        <p:nvCxnSpPr>
          <p:cNvPr id="8" name="s12_7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7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5F7FB"/>
                </a:solidFill>
                <a:latin typeface="Bahnschrift SemiBold"/>
              </a:rPr>
              <a:t>Um prompt não lê o repositório inteiro: acende um caminho.</a:t>
            </a:r>
          </a:p>
        </p:txBody>
      </p:sp>
      <p:cxnSp>
        <p:nvCxnSpPr>
          <p:cNvPr id="10" name="s12_7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98A"/>
                </a:solidFill>
                <a:latin typeface="Consola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7" name="!!e_6"/>
          <p:cNvCxnSpPr/>
          <p:nvPr/>
        </p:nvCxnSpPr>
        <p:spPr>
          <a:xfrm>
            <a:off x="1998661" y="3397918"/>
            <a:ext cx="1489538" cy="9489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!!n_6"/>
          <p:cNvSpPr/>
          <p:nvPr/>
        </p:nvSpPr>
        <p:spPr>
          <a:xfrm>
            <a:off x="3396759" y="340136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!!pulso"/>
          <p:cNvSpPr/>
          <p:nvPr/>
        </p:nvSpPr>
        <p:spPr>
          <a:xfrm>
            <a:off x="3236739" y="3241348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s12_7_28"/>
          <p:cNvSpPr txBox="1"/>
          <p:nvPr/>
        </p:nvSpPr>
        <p:spPr>
          <a:xfrm>
            <a:off x="5897880" y="1572768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SETUP</a:t>
            </a:r>
          </a:p>
        </p:txBody>
      </p:sp>
      <p:sp>
        <p:nvSpPr>
          <p:cNvPr id="31" name="s12_7_29"/>
          <p:cNvSpPr txBox="1"/>
          <p:nvPr/>
        </p:nvSpPr>
        <p:spPr>
          <a:xfrm>
            <a:off x="5897880" y="1828800"/>
            <a:ext cx="5559551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CLAUDE.md.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Regras e papéis, lidos no começo de toda sessão.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Ritual de fim.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Toda sessão fecha escrevendo no LOG e nas decisões pendentes.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Pesquisa vira arquivo.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E cita os arquivos que usou — foi isso que virou o grafo.</a:t>
            </a:r>
          </a:p>
        </p:txBody>
      </p:sp>
      <p:sp>
        <p:nvSpPr>
          <p:cNvPr id="32" name="s12_7_30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s12_7_31"/>
          <p:cNvSpPr txBox="1"/>
          <p:nvPr/>
        </p:nvSpPr>
        <p:spPr>
          <a:xfrm>
            <a:off x="6135624" y="3246120"/>
            <a:ext cx="5102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PROMPT REAL  ·  SESSÃO 9ed8510d  ·  08/09/2026</a:t>
            </a:r>
          </a:p>
        </p:txBody>
      </p:sp>
      <p:sp>
        <p:nvSpPr>
          <p:cNvPr id="34" name="s12_7_32"/>
          <p:cNvSpPr txBox="1"/>
          <p:nvPr/>
        </p:nvSpPr>
        <p:spPr>
          <a:xfrm>
            <a:off x="6135624" y="3493008"/>
            <a:ext cx="510235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BAC6DA"/>
                </a:solidFill>
                <a:latin typeface="Georgia"/>
              </a:rPr>
              <a:t>“Estou preparando minha fala para o slide de retorno e preciso trazer uma explicação o porque o nosso Beta foi tão alto. analise a estratégia e explique porque ficamos tão expostos quando queriamos montar uma carteira neutra. …”</a:t>
            </a:r>
          </a:p>
        </p:txBody>
      </p:sp>
      <p:sp>
        <p:nvSpPr>
          <p:cNvPr id="35" name="s12_7_33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QUE ACENDEU, NA ORDEM</a:t>
            </a:r>
          </a:p>
        </p:txBody>
      </p:sp>
      <p:sp>
        <p:nvSpPr>
          <p:cNvPr id="36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01  </a:t>
            </a:r>
            <a:r>
              <a:rPr sz="900" b="0" i="0">
                <a:solidFill>
                  <a:srgbClr val="FFB531"/>
                </a:solidFill>
                <a:latin typeface="Consolas"/>
              </a:rPr>
              <a:t>Decisoes_pendentes.md</a:t>
            </a:r>
          </a:p>
        </p:txBody>
      </p:sp>
      <p:sp>
        <p:nvSpPr>
          <p:cNvPr id="37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02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Metricas_p4.md</a:t>
            </a:r>
          </a:p>
        </p:txBody>
      </p:sp>
      <p:sp>
        <p:nvSpPr>
          <p:cNvPr id="38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03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Metricas_p5.md</a:t>
            </a:r>
          </a:p>
        </p:txBody>
      </p:sp>
      <p:sp>
        <p:nvSpPr>
          <p:cNvPr id="39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04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Backtest_v1.md</a:t>
            </a:r>
          </a:p>
        </p:txBody>
      </p:sp>
      <p:sp>
        <p:nvSpPr>
          <p:cNvPr id="40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05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Ortogonalidade.md</a:t>
            </a:r>
          </a:p>
        </p:txBody>
      </p:sp>
      <p:sp>
        <p:nvSpPr>
          <p:cNvPr id="41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06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bl_optimizer.py</a:t>
            </a:r>
          </a:p>
        </p:txBody>
      </p:sp>
      <p:sp>
        <p:nvSpPr>
          <p:cNvPr id="42" name="!!li_6"/>
          <p:cNvSpPr txBox="1"/>
          <p:nvPr/>
        </p:nvSpPr>
        <p:spPr>
          <a:xfrm>
            <a:off x="8677656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07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views_common.py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550" advTm="320">
        <p159:morph option="byObject"/>
      </p:transition>
    </mc:Choice>
    <mc:Fallback>
      <p:transition spd="med" advTm="32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2_8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Setup de IA</a:t>
            </a:r>
          </a:p>
        </p:txBody>
      </p:sp>
      <p:sp>
        <p:nvSpPr>
          <p:cNvPr id="7" name="s12_8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12</a:t>
            </a:r>
          </a:p>
        </p:txBody>
      </p:sp>
      <p:cxnSp>
        <p:nvCxnSpPr>
          <p:cNvPr id="8" name="s12_8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8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5F7FB"/>
                </a:solidFill>
                <a:latin typeface="Bahnschrift SemiBold"/>
              </a:rPr>
              <a:t>Um prompt não lê o repositório inteiro: acende um caminho.</a:t>
            </a:r>
          </a:p>
        </p:txBody>
      </p:sp>
      <p:cxnSp>
        <p:nvCxnSpPr>
          <p:cNvPr id="10" name="s12_8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98A"/>
                </a:solidFill>
                <a:latin typeface="Consola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7" name="!!e_6"/>
          <p:cNvCxnSpPr/>
          <p:nvPr/>
        </p:nvCxnSpPr>
        <p:spPr>
          <a:xfrm>
            <a:off x="1998661" y="3397918"/>
            <a:ext cx="1489538" cy="9489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!!n_6"/>
          <p:cNvSpPr/>
          <p:nvPr/>
        </p:nvSpPr>
        <p:spPr>
          <a:xfrm>
            <a:off x="3396759" y="340136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9" name="!!e_7"/>
          <p:cNvCxnSpPr/>
          <p:nvPr/>
        </p:nvCxnSpPr>
        <p:spPr>
          <a:xfrm flipH="1">
            <a:off x="2315891" y="3492808"/>
            <a:ext cx="1172308" cy="33770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!!n_7"/>
          <p:cNvSpPr/>
          <p:nvPr/>
        </p:nvSpPr>
        <p:spPr>
          <a:xfrm>
            <a:off x="2224451" y="3739076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!!pulso"/>
          <p:cNvSpPr/>
          <p:nvPr/>
        </p:nvSpPr>
        <p:spPr>
          <a:xfrm>
            <a:off x="2064431" y="3579056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s12_8_30"/>
          <p:cNvSpPr txBox="1"/>
          <p:nvPr/>
        </p:nvSpPr>
        <p:spPr>
          <a:xfrm>
            <a:off x="5897880" y="1572768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SETUP</a:t>
            </a:r>
          </a:p>
        </p:txBody>
      </p:sp>
      <p:sp>
        <p:nvSpPr>
          <p:cNvPr id="33" name="s12_8_31"/>
          <p:cNvSpPr txBox="1"/>
          <p:nvPr/>
        </p:nvSpPr>
        <p:spPr>
          <a:xfrm>
            <a:off x="5897880" y="1828800"/>
            <a:ext cx="5559551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CLAUDE.md.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Regras e papéis, lidos no começo de toda sessão.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Ritual de fim.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Toda sessão fecha escrevendo no LOG e nas decisões pendentes.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Pesquisa vira arquivo.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E cita os arquivos que usou — foi isso que virou o grafo.</a:t>
            </a:r>
          </a:p>
        </p:txBody>
      </p:sp>
      <p:sp>
        <p:nvSpPr>
          <p:cNvPr id="34" name="s12_8_32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s12_8_33"/>
          <p:cNvSpPr txBox="1"/>
          <p:nvPr/>
        </p:nvSpPr>
        <p:spPr>
          <a:xfrm>
            <a:off x="6135624" y="3246120"/>
            <a:ext cx="5102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PROMPT REAL  ·  SESSÃO 9ed8510d  ·  08/09/2026</a:t>
            </a:r>
          </a:p>
        </p:txBody>
      </p:sp>
      <p:sp>
        <p:nvSpPr>
          <p:cNvPr id="36" name="s12_8_34"/>
          <p:cNvSpPr txBox="1"/>
          <p:nvPr/>
        </p:nvSpPr>
        <p:spPr>
          <a:xfrm>
            <a:off x="6135624" y="3493008"/>
            <a:ext cx="510235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BAC6DA"/>
                </a:solidFill>
                <a:latin typeface="Georgia"/>
              </a:rPr>
              <a:t>“Estou preparando minha fala para o slide de retorno e preciso trazer uma explicação o porque o nosso Beta foi tão alto. analise a estratégia e explique porque ficamos tão expostos quando queriamos montar uma carteira neutra. …”</a:t>
            </a:r>
          </a:p>
        </p:txBody>
      </p:sp>
      <p:sp>
        <p:nvSpPr>
          <p:cNvPr id="37" name="s12_8_35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QUE ACENDEU, NA ORDEM</a:t>
            </a:r>
          </a:p>
        </p:txBody>
      </p:sp>
      <p:sp>
        <p:nvSpPr>
          <p:cNvPr id="38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01  </a:t>
            </a:r>
            <a:r>
              <a:rPr sz="900" b="0" i="0">
                <a:solidFill>
                  <a:srgbClr val="FFB531"/>
                </a:solidFill>
                <a:latin typeface="Consolas"/>
              </a:rPr>
              <a:t>Decisoes_pendentes.md</a:t>
            </a:r>
          </a:p>
        </p:txBody>
      </p:sp>
      <p:sp>
        <p:nvSpPr>
          <p:cNvPr id="39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02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Metricas_p4.md</a:t>
            </a:r>
          </a:p>
        </p:txBody>
      </p:sp>
      <p:sp>
        <p:nvSpPr>
          <p:cNvPr id="40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03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Metricas_p5.md</a:t>
            </a:r>
          </a:p>
        </p:txBody>
      </p:sp>
      <p:sp>
        <p:nvSpPr>
          <p:cNvPr id="41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04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Backtest_v1.md</a:t>
            </a:r>
          </a:p>
        </p:txBody>
      </p:sp>
      <p:sp>
        <p:nvSpPr>
          <p:cNvPr id="42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05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Ortogonalidade.md</a:t>
            </a:r>
          </a:p>
        </p:txBody>
      </p:sp>
      <p:sp>
        <p:nvSpPr>
          <p:cNvPr id="43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06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bl_optimizer.py</a:t>
            </a:r>
          </a:p>
        </p:txBody>
      </p:sp>
      <p:sp>
        <p:nvSpPr>
          <p:cNvPr id="44" name="!!li_6"/>
          <p:cNvSpPr txBox="1"/>
          <p:nvPr/>
        </p:nvSpPr>
        <p:spPr>
          <a:xfrm>
            <a:off x="8677656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07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views_common.py</a:t>
            </a:r>
          </a:p>
        </p:txBody>
      </p:sp>
      <p:sp>
        <p:nvSpPr>
          <p:cNvPr id="45" name="!!li_7"/>
          <p:cNvSpPr txBox="1"/>
          <p:nvPr/>
        </p:nvSpPr>
        <p:spPr>
          <a:xfrm>
            <a:off x="8677656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08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backtest_v1.py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550" advTm="320">
        <p159:morph option="byObject"/>
      </p:transition>
    </mc:Choice>
    <mc:Fallback>
      <p:transition spd="med" advTm="32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2_9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Setup de IA</a:t>
            </a:r>
          </a:p>
        </p:txBody>
      </p:sp>
      <p:sp>
        <p:nvSpPr>
          <p:cNvPr id="7" name="s12_9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12</a:t>
            </a:r>
          </a:p>
        </p:txBody>
      </p:sp>
      <p:cxnSp>
        <p:nvCxnSpPr>
          <p:cNvPr id="8" name="s12_9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9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5F7FB"/>
                </a:solidFill>
                <a:latin typeface="Bahnschrift SemiBold"/>
              </a:rPr>
              <a:t>Um prompt não lê o repositório inteiro: acende um caminho.</a:t>
            </a:r>
          </a:p>
        </p:txBody>
      </p:sp>
      <p:cxnSp>
        <p:nvCxnSpPr>
          <p:cNvPr id="10" name="s12_9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98A"/>
                </a:solidFill>
                <a:latin typeface="Consola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7" name="!!e_6"/>
          <p:cNvCxnSpPr/>
          <p:nvPr/>
        </p:nvCxnSpPr>
        <p:spPr>
          <a:xfrm>
            <a:off x="1998661" y="3397918"/>
            <a:ext cx="1489538" cy="9489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!!n_6"/>
          <p:cNvSpPr/>
          <p:nvPr/>
        </p:nvSpPr>
        <p:spPr>
          <a:xfrm>
            <a:off x="3396759" y="340136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9" name="!!e_7"/>
          <p:cNvCxnSpPr/>
          <p:nvPr/>
        </p:nvCxnSpPr>
        <p:spPr>
          <a:xfrm flipH="1">
            <a:off x="2315891" y="3492808"/>
            <a:ext cx="1172308" cy="33770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!!n_7"/>
          <p:cNvSpPr/>
          <p:nvPr/>
        </p:nvSpPr>
        <p:spPr>
          <a:xfrm>
            <a:off x="2224451" y="3739076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1" name="!!e_8"/>
          <p:cNvCxnSpPr/>
          <p:nvPr/>
        </p:nvCxnSpPr>
        <p:spPr>
          <a:xfrm flipV="1">
            <a:off x="2315891" y="2848077"/>
            <a:ext cx="337499" cy="98243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!!n_8"/>
          <p:cNvSpPr/>
          <p:nvPr/>
        </p:nvSpPr>
        <p:spPr>
          <a:xfrm>
            <a:off x="2561950" y="2756637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!!pulso"/>
          <p:cNvSpPr/>
          <p:nvPr/>
        </p:nvSpPr>
        <p:spPr>
          <a:xfrm>
            <a:off x="2401930" y="2596617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s12_9_32"/>
          <p:cNvSpPr txBox="1"/>
          <p:nvPr/>
        </p:nvSpPr>
        <p:spPr>
          <a:xfrm>
            <a:off x="5897880" y="1572768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SETUP</a:t>
            </a:r>
          </a:p>
        </p:txBody>
      </p:sp>
      <p:sp>
        <p:nvSpPr>
          <p:cNvPr id="35" name="s12_9_33"/>
          <p:cNvSpPr txBox="1"/>
          <p:nvPr/>
        </p:nvSpPr>
        <p:spPr>
          <a:xfrm>
            <a:off x="5897880" y="1828800"/>
            <a:ext cx="5559551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CLAUDE.md.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Regras e papéis, lidos no começo de toda sessão.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Ritual de fim.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Toda sessão fecha escrevendo no LOG e nas decisões pendentes.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Pesquisa vira arquivo.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E cita os arquivos que usou — foi isso que virou o grafo.</a:t>
            </a:r>
          </a:p>
        </p:txBody>
      </p:sp>
      <p:sp>
        <p:nvSpPr>
          <p:cNvPr id="36" name="s12_9_34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s12_9_35"/>
          <p:cNvSpPr txBox="1"/>
          <p:nvPr/>
        </p:nvSpPr>
        <p:spPr>
          <a:xfrm>
            <a:off x="6135624" y="3246120"/>
            <a:ext cx="5102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PROMPT REAL  ·  SESSÃO 9ed8510d  ·  08/09/2026</a:t>
            </a:r>
          </a:p>
        </p:txBody>
      </p:sp>
      <p:sp>
        <p:nvSpPr>
          <p:cNvPr id="38" name="s12_9_36"/>
          <p:cNvSpPr txBox="1"/>
          <p:nvPr/>
        </p:nvSpPr>
        <p:spPr>
          <a:xfrm>
            <a:off x="6135624" y="3493008"/>
            <a:ext cx="510235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BAC6DA"/>
                </a:solidFill>
                <a:latin typeface="Georgia"/>
              </a:rPr>
              <a:t>“Estou preparando minha fala para o slide de retorno e preciso trazer uma explicação o porque o nosso Beta foi tão alto. analise a estratégia e explique porque ficamos tão expostos quando queriamos montar uma carteira neutra. …”</a:t>
            </a:r>
          </a:p>
        </p:txBody>
      </p:sp>
      <p:sp>
        <p:nvSpPr>
          <p:cNvPr id="39" name="s12_9_37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QUE ACENDEU, NA ORDEM</a:t>
            </a:r>
          </a:p>
        </p:txBody>
      </p:sp>
      <p:sp>
        <p:nvSpPr>
          <p:cNvPr id="40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01  </a:t>
            </a:r>
            <a:r>
              <a:rPr sz="900" b="0" i="0">
                <a:solidFill>
                  <a:srgbClr val="FFB531"/>
                </a:solidFill>
                <a:latin typeface="Consolas"/>
              </a:rPr>
              <a:t>Decisoes_pendentes.md</a:t>
            </a:r>
          </a:p>
        </p:txBody>
      </p:sp>
      <p:sp>
        <p:nvSpPr>
          <p:cNvPr id="41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02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Metricas_p4.md</a:t>
            </a:r>
          </a:p>
        </p:txBody>
      </p:sp>
      <p:sp>
        <p:nvSpPr>
          <p:cNvPr id="42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03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Metricas_p5.md</a:t>
            </a:r>
          </a:p>
        </p:txBody>
      </p:sp>
      <p:sp>
        <p:nvSpPr>
          <p:cNvPr id="43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04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Backtest_v1.md</a:t>
            </a:r>
          </a:p>
        </p:txBody>
      </p:sp>
      <p:sp>
        <p:nvSpPr>
          <p:cNvPr id="44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05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Ortogonalidade.md</a:t>
            </a:r>
          </a:p>
        </p:txBody>
      </p:sp>
      <p:sp>
        <p:nvSpPr>
          <p:cNvPr id="45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06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bl_optimizer.py</a:t>
            </a:r>
          </a:p>
        </p:txBody>
      </p:sp>
      <p:sp>
        <p:nvSpPr>
          <p:cNvPr id="46" name="!!li_6"/>
          <p:cNvSpPr txBox="1"/>
          <p:nvPr/>
        </p:nvSpPr>
        <p:spPr>
          <a:xfrm>
            <a:off x="8677656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07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views_common.py</a:t>
            </a:r>
          </a:p>
        </p:txBody>
      </p:sp>
      <p:sp>
        <p:nvSpPr>
          <p:cNvPr id="47" name="!!li_7"/>
          <p:cNvSpPr txBox="1"/>
          <p:nvPr/>
        </p:nvSpPr>
        <p:spPr>
          <a:xfrm>
            <a:off x="8677656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08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backtest_v1.py</a:t>
            </a:r>
          </a:p>
        </p:txBody>
      </p:sp>
      <p:sp>
        <p:nvSpPr>
          <p:cNvPr id="48" name="!!li_8"/>
          <p:cNvSpPr txBox="1"/>
          <p:nvPr/>
        </p:nvSpPr>
        <p:spPr>
          <a:xfrm>
            <a:off x="8677656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09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view_B_trajetoria_propria.py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550" advTm="320">
        <p159:morph option="byObject"/>
      </p:transition>
    </mc:Choice>
    <mc:Fallback>
      <p:transition spd="med" advTm="32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2_10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Setup de IA</a:t>
            </a:r>
          </a:p>
        </p:txBody>
      </p:sp>
      <p:sp>
        <p:nvSpPr>
          <p:cNvPr id="7" name="s12_10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12</a:t>
            </a:r>
          </a:p>
        </p:txBody>
      </p:sp>
      <p:cxnSp>
        <p:nvCxnSpPr>
          <p:cNvPr id="8" name="s12_10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10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5F7FB"/>
                </a:solidFill>
                <a:latin typeface="Bahnschrift SemiBold"/>
              </a:rPr>
              <a:t>Um prompt não lê o repositório inteiro: acende um caminho.</a:t>
            </a:r>
          </a:p>
        </p:txBody>
      </p:sp>
      <p:cxnSp>
        <p:nvCxnSpPr>
          <p:cNvPr id="10" name="s12_10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98A"/>
                </a:solidFill>
                <a:latin typeface="Consola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7" name="!!e_6"/>
          <p:cNvCxnSpPr/>
          <p:nvPr/>
        </p:nvCxnSpPr>
        <p:spPr>
          <a:xfrm>
            <a:off x="1998661" y="3397918"/>
            <a:ext cx="1489538" cy="9489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!!n_6"/>
          <p:cNvSpPr/>
          <p:nvPr/>
        </p:nvSpPr>
        <p:spPr>
          <a:xfrm>
            <a:off x="3396759" y="340136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9" name="!!e_7"/>
          <p:cNvCxnSpPr/>
          <p:nvPr/>
        </p:nvCxnSpPr>
        <p:spPr>
          <a:xfrm flipH="1">
            <a:off x="2315891" y="3492808"/>
            <a:ext cx="1172308" cy="33770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!!n_7"/>
          <p:cNvSpPr/>
          <p:nvPr/>
        </p:nvSpPr>
        <p:spPr>
          <a:xfrm>
            <a:off x="2224451" y="3739076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1" name="!!e_8"/>
          <p:cNvCxnSpPr/>
          <p:nvPr/>
        </p:nvCxnSpPr>
        <p:spPr>
          <a:xfrm flipV="1">
            <a:off x="2315891" y="2848077"/>
            <a:ext cx="337499" cy="98243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!!n_8"/>
          <p:cNvSpPr/>
          <p:nvPr/>
        </p:nvSpPr>
        <p:spPr>
          <a:xfrm>
            <a:off x="2561950" y="2756637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3" name="!!e_9"/>
          <p:cNvCxnSpPr/>
          <p:nvPr/>
        </p:nvCxnSpPr>
        <p:spPr>
          <a:xfrm>
            <a:off x="2653390" y="2848077"/>
            <a:ext cx="290913" cy="839565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!!n_9"/>
          <p:cNvSpPr/>
          <p:nvPr/>
        </p:nvSpPr>
        <p:spPr>
          <a:xfrm>
            <a:off x="2852863" y="3596202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!!pulso"/>
          <p:cNvSpPr/>
          <p:nvPr/>
        </p:nvSpPr>
        <p:spPr>
          <a:xfrm>
            <a:off x="2692843" y="3436182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s12_10_34"/>
          <p:cNvSpPr txBox="1"/>
          <p:nvPr/>
        </p:nvSpPr>
        <p:spPr>
          <a:xfrm>
            <a:off x="5897880" y="1572768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SETUP</a:t>
            </a:r>
          </a:p>
        </p:txBody>
      </p:sp>
      <p:sp>
        <p:nvSpPr>
          <p:cNvPr id="37" name="s12_10_35"/>
          <p:cNvSpPr txBox="1"/>
          <p:nvPr/>
        </p:nvSpPr>
        <p:spPr>
          <a:xfrm>
            <a:off x="5897880" y="1828800"/>
            <a:ext cx="5559551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CLAUDE.md.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Regras e papéis, lidos no começo de toda sessão.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Ritual de fim.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Toda sessão fecha escrevendo no LOG e nas decisões pendentes.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Pesquisa vira arquivo.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E cita os arquivos que usou — foi isso que virou o grafo.</a:t>
            </a:r>
          </a:p>
        </p:txBody>
      </p:sp>
      <p:sp>
        <p:nvSpPr>
          <p:cNvPr id="38" name="s12_10_36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s12_10_37"/>
          <p:cNvSpPr txBox="1"/>
          <p:nvPr/>
        </p:nvSpPr>
        <p:spPr>
          <a:xfrm>
            <a:off x="6135624" y="3246120"/>
            <a:ext cx="5102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PROMPT REAL  ·  SESSÃO 9ed8510d  ·  08/09/2026</a:t>
            </a:r>
          </a:p>
        </p:txBody>
      </p:sp>
      <p:sp>
        <p:nvSpPr>
          <p:cNvPr id="40" name="s12_10_38"/>
          <p:cNvSpPr txBox="1"/>
          <p:nvPr/>
        </p:nvSpPr>
        <p:spPr>
          <a:xfrm>
            <a:off x="6135624" y="3493008"/>
            <a:ext cx="510235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BAC6DA"/>
                </a:solidFill>
                <a:latin typeface="Georgia"/>
              </a:rPr>
              <a:t>“Estou preparando minha fala para o slide de retorno e preciso trazer uma explicação o porque o nosso Beta foi tão alto. analise a estratégia e explique porque ficamos tão expostos quando queriamos montar uma carteira neutra. …”</a:t>
            </a:r>
          </a:p>
        </p:txBody>
      </p:sp>
      <p:sp>
        <p:nvSpPr>
          <p:cNvPr id="41" name="s12_10_39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QUE ACENDEU, NA ORDEM</a:t>
            </a:r>
          </a:p>
        </p:txBody>
      </p:sp>
      <p:sp>
        <p:nvSpPr>
          <p:cNvPr id="42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01  </a:t>
            </a:r>
            <a:r>
              <a:rPr sz="900" b="0" i="0">
                <a:solidFill>
                  <a:srgbClr val="FFB531"/>
                </a:solidFill>
                <a:latin typeface="Consolas"/>
              </a:rPr>
              <a:t>Decisoes_pendentes.md</a:t>
            </a:r>
          </a:p>
        </p:txBody>
      </p:sp>
      <p:sp>
        <p:nvSpPr>
          <p:cNvPr id="43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02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Metricas_p4.md</a:t>
            </a:r>
          </a:p>
        </p:txBody>
      </p:sp>
      <p:sp>
        <p:nvSpPr>
          <p:cNvPr id="44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03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Metricas_p5.md</a:t>
            </a:r>
          </a:p>
        </p:txBody>
      </p:sp>
      <p:sp>
        <p:nvSpPr>
          <p:cNvPr id="45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04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Backtest_v1.md</a:t>
            </a:r>
          </a:p>
        </p:txBody>
      </p:sp>
      <p:sp>
        <p:nvSpPr>
          <p:cNvPr id="46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05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Ortogonalidade.md</a:t>
            </a:r>
          </a:p>
        </p:txBody>
      </p:sp>
      <p:sp>
        <p:nvSpPr>
          <p:cNvPr id="47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06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bl_optimizer.py</a:t>
            </a:r>
          </a:p>
        </p:txBody>
      </p:sp>
      <p:sp>
        <p:nvSpPr>
          <p:cNvPr id="48" name="!!li_6"/>
          <p:cNvSpPr txBox="1"/>
          <p:nvPr/>
        </p:nvSpPr>
        <p:spPr>
          <a:xfrm>
            <a:off x="8677656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07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views_common.py</a:t>
            </a:r>
          </a:p>
        </p:txBody>
      </p:sp>
      <p:sp>
        <p:nvSpPr>
          <p:cNvPr id="49" name="!!li_7"/>
          <p:cNvSpPr txBox="1"/>
          <p:nvPr/>
        </p:nvSpPr>
        <p:spPr>
          <a:xfrm>
            <a:off x="8677656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08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backtest_v1.py</a:t>
            </a:r>
          </a:p>
        </p:txBody>
      </p:sp>
      <p:sp>
        <p:nvSpPr>
          <p:cNvPr id="50" name="!!li_8"/>
          <p:cNvSpPr txBox="1"/>
          <p:nvPr/>
        </p:nvSpPr>
        <p:spPr>
          <a:xfrm>
            <a:off x="8677656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09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view_B_trajetoria_propria.py</a:t>
            </a:r>
          </a:p>
        </p:txBody>
      </p:sp>
      <p:sp>
        <p:nvSpPr>
          <p:cNvPr id="51" name="!!li_9"/>
          <p:cNvSpPr txBox="1"/>
          <p:nvPr/>
        </p:nvSpPr>
        <p:spPr>
          <a:xfrm>
            <a:off x="8677656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10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view_incerteza_anuncio.py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550" advTm="320">
        <p159:morph option="byObject"/>
      </p:transition>
    </mc:Choice>
    <mc:Fallback>
      <p:transition spd="med" advTm="32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2_11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Setup de IA</a:t>
            </a:r>
          </a:p>
        </p:txBody>
      </p:sp>
      <p:sp>
        <p:nvSpPr>
          <p:cNvPr id="7" name="s12_11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12</a:t>
            </a:r>
          </a:p>
        </p:txBody>
      </p:sp>
      <p:cxnSp>
        <p:nvCxnSpPr>
          <p:cNvPr id="8" name="s12_11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11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5F7FB"/>
                </a:solidFill>
                <a:latin typeface="Bahnschrift SemiBold"/>
              </a:rPr>
              <a:t>Um prompt não lê o repositório inteiro: acende um caminho.</a:t>
            </a:r>
          </a:p>
        </p:txBody>
      </p:sp>
      <p:cxnSp>
        <p:nvCxnSpPr>
          <p:cNvPr id="10" name="s12_11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98A"/>
                </a:solidFill>
                <a:latin typeface="Consola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7" name="!!e_6"/>
          <p:cNvCxnSpPr/>
          <p:nvPr/>
        </p:nvCxnSpPr>
        <p:spPr>
          <a:xfrm>
            <a:off x="1998661" y="3397918"/>
            <a:ext cx="1489538" cy="9489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!!n_6"/>
          <p:cNvSpPr/>
          <p:nvPr/>
        </p:nvSpPr>
        <p:spPr>
          <a:xfrm>
            <a:off x="3396759" y="340136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9" name="!!e_7"/>
          <p:cNvCxnSpPr/>
          <p:nvPr/>
        </p:nvCxnSpPr>
        <p:spPr>
          <a:xfrm flipH="1">
            <a:off x="2315891" y="3492808"/>
            <a:ext cx="1172308" cy="33770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!!n_7"/>
          <p:cNvSpPr/>
          <p:nvPr/>
        </p:nvSpPr>
        <p:spPr>
          <a:xfrm>
            <a:off x="2224451" y="3739076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1" name="!!e_8"/>
          <p:cNvCxnSpPr/>
          <p:nvPr/>
        </p:nvCxnSpPr>
        <p:spPr>
          <a:xfrm flipV="1">
            <a:off x="2315891" y="2848077"/>
            <a:ext cx="337499" cy="98243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!!n_8"/>
          <p:cNvSpPr/>
          <p:nvPr/>
        </p:nvSpPr>
        <p:spPr>
          <a:xfrm>
            <a:off x="2561950" y="2756637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3" name="!!e_9"/>
          <p:cNvCxnSpPr/>
          <p:nvPr/>
        </p:nvCxnSpPr>
        <p:spPr>
          <a:xfrm>
            <a:off x="2653390" y="2848077"/>
            <a:ext cx="290913" cy="839565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!!n_9"/>
          <p:cNvSpPr/>
          <p:nvPr/>
        </p:nvSpPr>
        <p:spPr>
          <a:xfrm>
            <a:off x="2852863" y="3596202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5" name="!!e_10"/>
          <p:cNvCxnSpPr/>
          <p:nvPr/>
        </p:nvCxnSpPr>
        <p:spPr>
          <a:xfrm>
            <a:off x="2944303" y="3687642"/>
            <a:ext cx="998310" cy="147994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!!n_10"/>
          <p:cNvSpPr/>
          <p:nvPr/>
        </p:nvSpPr>
        <p:spPr>
          <a:xfrm>
            <a:off x="3851173" y="507614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!!pulso"/>
          <p:cNvSpPr/>
          <p:nvPr/>
        </p:nvSpPr>
        <p:spPr>
          <a:xfrm>
            <a:off x="3691153" y="4916128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s12_11_36"/>
          <p:cNvSpPr txBox="1"/>
          <p:nvPr/>
        </p:nvSpPr>
        <p:spPr>
          <a:xfrm>
            <a:off x="5897880" y="1572768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SETUP</a:t>
            </a:r>
          </a:p>
        </p:txBody>
      </p:sp>
      <p:sp>
        <p:nvSpPr>
          <p:cNvPr id="39" name="s12_11_37"/>
          <p:cNvSpPr txBox="1"/>
          <p:nvPr/>
        </p:nvSpPr>
        <p:spPr>
          <a:xfrm>
            <a:off x="5897880" y="1828800"/>
            <a:ext cx="5559551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CLAUDE.md.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Regras e papéis, lidos no começo de toda sessão.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Ritual de fim.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Toda sessão fecha escrevendo no LOG e nas decisões pendentes.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Pesquisa vira arquivo.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E cita os arquivos que usou — foi isso que virou o grafo.</a:t>
            </a:r>
          </a:p>
        </p:txBody>
      </p:sp>
      <p:sp>
        <p:nvSpPr>
          <p:cNvPr id="40" name="s12_11_38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s12_11_39"/>
          <p:cNvSpPr txBox="1"/>
          <p:nvPr/>
        </p:nvSpPr>
        <p:spPr>
          <a:xfrm>
            <a:off x="6135624" y="3246120"/>
            <a:ext cx="5102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PROMPT REAL  ·  SESSÃO 9ed8510d  ·  08/09/2026</a:t>
            </a:r>
          </a:p>
        </p:txBody>
      </p:sp>
      <p:sp>
        <p:nvSpPr>
          <p:cNvPr id="42" name="s12_11_40"/>
          <p:cNvSpPr txBox="1"/>
          <p:nvPr/>
        </p:nvSpPr>
        <p:spPr>
          <a:xfrm>
            <a:off x="6135624" y="3493008"/>
            <a:ext cx="510235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BAC6DA"/>
                </a:solidFill>
                <a:latin typeface="Georgia"/>
              </a:rPr>
              <a:t>“Estou preparando minha fala para o slide de retorno e preciso trazer uma explicação o porque o nosso Beta foi tão alto. analise a estratégia e explique porque ficamos tão expostos quando queriamos montar uma carteira neutra. …”</a:t>
            </a:r>
          </a:p>
        </p:txBody>
      </p:sp>
      <p:sp>
        <p:nvSpPr>
          <p:cNvPr id="43" name="s12_11_41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QUE ACENDEU, NA ORDEM</a:t>
            </a:r>
          </a:p>
        </p:txBody>
      </p:sp>
      <p:sp>
        <p:nvSpPr>
          <p:cNvPr id="44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01  </a:t>
            </a:r>
            <a:r>
              <a:rPr sz="900" b="0" i="0">
                <a:solidFill>
                  <a:srgbClr val="FFB531"/>
                </a:solidFill>
                <a:latin typeface="Consolas"/>
              </a:rPr>
              <a:t>Decisoes_pendentes.md</a:t>
            </a:r>
          </a:p>
        </p:txBody>
      </p:sp>
      <p:sp>
        <p:nvSpPr>
          <p:cNvPr id="45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02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Metricas_p4.md</a:t>
            </a:r>
          </a:p>
        </p:txBody>
      </p:sp>
      <p:sp>
        <p:nvSpPr>
          <p:cNvPr id="46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03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Metricas_p5.md</a:t>
            </a:r>
          </a:p>
        </p:txBody>
      </p:sp>
      <p:sp>
        <p:nvSpPr>
          <p:cNvPr id="47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04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Backtest_v1.md</a:t>
            </a:r>
          </a:p>
        </p:txBody>
      </p:sp>
      <p:sp>
        <p:nvSpPr>
          <p:cNvPr id="48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05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Ortogonalidade.md</a:t>
            </a:r>
          </a:p>
        </p:txBody>
      </p:sp>
      <p:sp>
        <p:nvSpPr>
          <p:cNvPr id="49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06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bl_optimizer.py</a:t>
            </a:r>
          </a:p>
        </p:txBody>
      </p:sp>
      <p:sp>
        <p:nvSpPr>
          <p:cNvPr id="50" name="!!li_6"/>
          <p:cNvSpPr txBox="1"/>
          <p:nvPr/>
        </p:nvSpPr>
        <p:spPr>
          <a:xfrm>
            <a:off x="8677656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07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views_common.py</a:t>
            </a:r>
          </a:p>
        </p:txBody>
      </p:sp>
      <p:sp>
        <p:nvSpPr>
          <p:cNvPr id="51" name="!!li_7"/>
          <p:cNvSpPr txBox="1"/>
          <p:nvPr/>
        </p:nvSpPr>
        <p:spPr>
          <a:xfrm>
            <a:off x="8677656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08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backtest_v1.py</a:t>
            </a:r>
          </a:p>
        </p:txBody>
      </p:sp>
      <p:sp>
        <p:nvSpPr>
          <p:cNvPr id="52" name="!!li_8"/>
          <p:cNvSpPr txBox="1"/>
          <p:nvPr/>
        </p:nvSpPr>
        <p:spPr>
          <a:xfrm>
            <a:off x="8677656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09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view_B_trajetoria_propria.py</a:t>
            </a:r>
          </a:p>
        </p:txBody>
      </p:sp>
      <p:sp>
        <p:nvSpPr>
          <p:cNvPr id="53" name="!!li_9"/>
          <p:cNvSpPr txBox="1"/>
          <p:nvPr/>
        </p:nvSpPr>
        <p:spPr>
          <a:xfrm>
            <a:off x="8677656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10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view_incerteza_anuncio.py</a:t>
            </a:r>
          </a:p>
        </p:txBody>
      </p:sp>
      <p:sp>
        <p:nvSpPr>
          <p:cNvPr id="54" name="!!li_10"/>
          <p:cNvSpPr txBox="1"/>
          <p:nvPr/>
        </p:nvSpPr>
        <p:spPr>
          <a:xfrm>
            <a:off x="8677656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11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tatica_sleeves.py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550" advTm="320">
        <p159:morph option="byObject"/>
      </p:transition>
    </mc:Choice>
    <mc:Fallback>
      <p:transition spd="med" advTm="32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2_12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Setup de IA</a:t>
            </a:r>
          </a:p>
        </p:txBody>
      </p:sp>
      <p:sp>
        <p:nvSpPr>
          <p:cNvPr id="7" name="s12_12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12</a:t>
            </a:r>
          </a:p>
        </p:txBody>
      </p:sp>
      <p:cxnSp>
        <p:nvCxnSpPr>
          <p:cNvPr id="8" name="s12_12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12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5F7FB"/>
                </a:solidFill>
                <a:latin typeface="Bahnschrift SemiBold"/>
              </a:rPr>
              <a:t>Um prompt não lê o repositório inteiro: acende um caminho.</a:t>
            </a:r>
          </a:p>
        </p:txBody>
      </p:sp>
      <p:cxnSp>
        <p:nvCxnSpPr>
          <p:cNvPr id="10" name="s12_12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98A"/>
                </a:solidFill>
                <a:latin typeface="Consola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7" name="!!e_6"/>
          <p:cNvCxnSpPr/>
          <p:nvPr/>
        </p:nvCxnSpPr>
        <p:spPr>
          <a:xfrm>
            <a:off x="1998661" y="3397918"/>
            <a:ext cx="1489538" cy="9489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!!n_6"/>
          <p:cNvSpPr/>
          <p:nvPr/>
        </p:nvSpPr>
        <p:spPr>
          <a:xfrm>
            <a:off x="3396759" y="340136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9" name="!!e_7"/>
          <p:cNvCxnSpPr/>
          <p:nvPr/>
        </p:nvCxnSpPr>
        <p:spPr>
          <a:xfrm flipH="1">
            <a:off x="2315891" y="3492808"/>
            <a:ext cx="1172308" cy="33770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!!n_7"/>
          <p:cNvSpPr/>
          <p:nvPr/>
        </p:nvSpPr>
        <p:spPr>
          <a:xfrm>
            <a:off x="2224451" y="3739076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1" name="!!e_8"/>
          <p:cNvCxnSpPr/>
          <p:nvPr/>
        </p:nvCxnSpPr>
        <p:spPr>
          <a:xfrm flipV="1">
            <a:off x="2315891" y="2848077"/>
            <a:ext cx="337499" cy="98243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!!n_8"/>
          <p:cNvSpPr/>
          <p:nvPr/>
        </p:nvSpPr>
        <p:spPr>
          <a:xfrm>
            <a:off x="2561950" y="2756637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3" name="!!e_9"/>
          <p:cNvCxnSpPr/>
          <p:nvPr/>
        </p:nvCxnSpPr>
        <p:spPr>
          <a:xfrm>
            <a:off x="2653390" y="2848077"/>
            <a:ext cx="290913" cy="839565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!!n_9"/>
          <p:cNvSpPr/>
          <p:nvPr/>
        </p:nvSpPr>
        <p:spPr>
          <a:xfrm>
            <a:off x="2852863" y="3596202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5" name="!!e_10"/>
          <p:cNvCxnSpPr/>
          <p:nvPr/>
        </p:nvCxnSpPr>
        <p:spPr>
          <a:xfrm>
            <a:off x="2944303" y="3687642"/>
            <a:ext cx="998310" cy="147994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!!n_10"/>
          <p:cNvSpPr/>
          <p:nvPr/>
        </p:nvSpPr>
        <p:spPr>
          <a:xfrm>
            <a:off x="3851173" y="507614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s12_12_35"/>
          <p:cNvSpPr txBox="1"/>
          <p:nvPr/>
        </p:nvSpPr>
        <p:spPr>
          <a:xfrm>
            <a:off x="5897880" y="1572768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SETUP</a:t>
            </a:r>
          </a:p>
        </p:txBody>
      </p:sp>
      <p:sp>
        <p:nvSpPr>
          <p:cNvPr id="38" name="s12_12_36"/>
          <p:cNvSpPr txBox="1"/>
          <p:nvPr/>
        </p:nvSpPr>
        <p:spPr>
          <a:xfrm>
            <a:off x="5897880" y="1828800"/>
            <a:ext cx="5559551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CLAUDE.md.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Regras e papéis, lidos no começo de toda sessão.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Ritual de fim.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Toda sessão fecha escrevendo no LOG e nas decisões pendentes.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Pesquisa vira arquivo. </a:t>
            </a:r>
            <a:r>
              <a:rPr sz="1100" b="0" i="0">
                <a:solidFill>
                  <a:srgbClr val="BAC6DA"/>
                </a:solidFill>
                <a:latin typeface="Bahnschrift SemiLight"/>
              </a:rPr>
              <a:t>E cita os arquivos que usou — foi isso que virou o grafo.</a:t>
            </a:r>
          </a:p>
        </p:txBody>
      </p:sp>
      <p:sp>
        <p:nvSpPr>
          <p:cNvPr id="39" name="s12_12_37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s12_12_38"/>
          <p:cNvSpPr txBox="1"/>
          <p:nvPr/>
        </p:nvSpPr>
        <p:spPr>
          <a:xfrm>
            <a:off x="6135624" y="3246120"/>
            <a:ext cx="5102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PROMPT REAL  ·  SESSÃO 9ed8510d  ·  08/09/2026</a:t>
            </a:r>
          </a:p>
        </p:txBody>
      </p:sp>
      <p:sp>
        <p:nvSpPr>
          <p:cNvPr id="41" name="s12_12_39"/>
          <p:cNvSpPr txBox="1"/>
          <p:nvPr/>
        </p:nvSpPr>
        <p:spPr>
          <a:xfrm>
            <a:off x="6135624" y="3493008"/>
            <a:ext cx="510235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BAC6DA"/>
                </a:solidFill>
                <a:latin typeface="Georgia"/>
              </a:rPr>
              <a:t>“Estou preparando minha fala para o slide de retorno e preciso trazer uma explicação o porque o nosso Beta foi tão alto. analise a estratégia e explique porque ficamos tão expostos quando queriamos montar uma carteira neutra. …”</a:t>
            </a:r>
          </a:p>
        </p:txBody>
      </p:sp>
      <p:sp>
        <p:nvSpPr>
          <p:cNvPr id="42" name="s12_12_40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QUE ACENDEU, NA ORDEM</a:t>
            </a:r>
          </a:p>
        </p:txBody>
      </p:sp>
      <p:sp>
        <p:nvSpPr>
          <p:cNvPr id="43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01  </a:t>
            </a:r>
            <a:r>
              <a:rPr sz="900" b="0" i="0">
                <a:solidFill>
                  <a:srgbClr val="FFB531"/>
                </a:solidFill>
                <a:latin typeface="Consolas"/>
              </a:rPr>
              <a:t>Decisoes_pendentes.md</a:t>
            </a:r>
          </a:p>
        </p:txBody>
      </p:sp>
      <p:sp>
        <p:nvSpPr>
          <p:cNvPr id="44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02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Metricas_p4.md</a:t>
            </a:r>
          </a:p>
        </p:txBody>
      </p:sp>
      <p:sp>
        <p:nvSpPr>
          <p:cNvPr id="45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03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Metricas_p5.md</a:t>
            </a:r>
          </a:p>
        </p:txBody>
      </p:sp>
      <p:sp>
        <p:nvSpPr>
          <p:cNvPr id="46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04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Backtest_v1.md</a:t>
            </a:r>
          </a:p>
        </p:txBody>
      </p:sp>
      <p:sp>
        <p:nvSpPr>
          <p:cNvPr id="47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05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Ortogonalidade.md</a:t>
            </a:r>
          </a:p>
        </p:txBody>
      </p:sp>
      <p:sp>
        <p:nvSpPr>
          <p:cNvPr id="48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06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bl_optimizer.py</a:t>
            </a:r>
          </a:p>
        </p:txBody>
      </p:sp>
      <p:sp>
        <p:nvSpPr>
          <p:cNvPr id="49" name="!!li_6"/>
          <p:cNvSpPr txBox="1"/>
          <p:nvPr/>
        </p:nvSpPr>
        <p:spPr>
          <a:xfrm>
            <a:off x="8677656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07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views_common.py</a:t>
            </a:r>
          </a:p>
        </p:txBody>
      </p:sp>
      <p:sp>
        <p:nvSpPr>
          <p:cNvPr id="50" name="!!li_7"/>
          <p:cNvSpPr txBox="1"/>
          <p:nvPr/>
        </p:nvSpPr>
        <p:spPr>
          <a:xfrm>
            <a:off x="8677656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08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backtest_v1.py</a:t>
            </a:r>
          </a:p>
        </p:txBody>
      </p:sp>
      <p:sp>
        <p:nvSpPr>
          <p:cNvPr id="51" name="!!li_8"/>
          <p:cNvSpPr txBox="1"/>
          <p:nvPr/>
        </p:nvSpPr>
        <p:spPr>
          <a:xfrm>
            <a:off x="8677656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09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view_B_trajetoria_propria.py</a:t>
            </a:r>
          </a:p>
        </p:txBody>
      </p:sp>
      <p:sp>
        <p:nvSpPr>
          <p:cNvPr id="52" name="!!li_9"/>
          <p:cNvSpPr txBox="1"/>
          <p:nvPr/>
        </p:nvSpPr>
        <p:spPr>
          <a:xfrm>
            <a:off x="8677656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10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view_incerteza_anuncio.py</a:t>
            </a:r>
          </a:p>
        </p:txBody>
      </p:sp>
      <p:sp>
        <p:nvSpPr>
          <p:cNvPr id="53" name="!!li_10"/>
          <p:cNvSpPr txBox="1"/>
          <p:nvPr/>
        </p:nvSpPr>
        <p:spPr>
          <a:xfrm>
            <a:off x="8677656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11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tatica_sleeves.py</a:t>
            </a:r>
          </a:p>
        </p:txBody>
      </p:sp>
      <p:sp>
        <p:nvSpPr>
          <p:cNvPr id="54" name="s12_12_52"/>
          <p:cNvSpPr txBox="1"/>
          <p:nvPr/>
        </p:nvSpPr>
        <p:spPr>
          <a:xfrm>
            <a:off x="5897880" y="6144768"/>
            <a:ext cx="555955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7FB"/>
                </a:solidFill>
                <a:latin typeface="Consolas"/>
              </a:rPr>
              <a:t>23 comandos · 11 arquivos · </a:t>
            </a:r>
            <a:r>
              <a:rPr sz="900" b="1" i="0">
                <a:solidFill>
                  <a:srgbClr val="FFB531"/>
                </a:solidFill>
                <a:latin typeface="Consolas"/>
              </a:rPr>
              <a:t>contrato  →  análise  →  código  →  dado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550">
        <p159:morph option="byObject"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13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3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IA em números</a:t>
            </a:r>
          </a:p>
        </p:txBody>
      </p:sp>
      <p:sp>
        <p:nvSpPr>
          <p:cNvPr id="7" name="s13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13</a:t>
            </a:r>
          </a:p>
        </p:txBody>
      </p:sp>
      <p:cxnSp>
        <p:nvCxnSpPr>
          <p:cNvPr id="8" name="s13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3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5F7FB"/>
                </a:solidFill>
                <a:latin typeface="Bahnschrift SemiBold"/>
              </a:rPr>
              <a:t>Medimos o uso de IA como medimos a estratégia: pelo registro.</a:t>
            </a:r>
          </a:p>
        </p:txBody>
      </p:sp>
      <p:cxnSp>
        <p:nvCxnSpPr>
          <p:cNvPr id="10" name="s13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13" name="s13_11"/>
          <p:cNvSpPr/>
          <p:nvPr/>
        </p:nvSpPr>
        <p:spPr>
          <a:xfrm>
            <a:off x="731520" y="1481328"/>
            <a:ext cx="2599182" cy="786384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s13_12"/>
          <p:cNvSpPr txBox="1"/>
          <p:nvPr/>
        </p:nvSpPr>
        <p:spPr>
          <a:xfrm>
            <a:off x="932688" y="1517904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B531"/>
                </a:solidFill>
                <a:latin typeface="Bahnschrift SemiBold Condensed"/>
              </a:rPr>
              <a:t>91</a:t>
            </a:r>
          </a:p>
        </p:txBody>
      </p:sp>
      <p:sp>
        <p:nvSpPr>
          <p:cNvPr id="15" name="s13_13"/>
          <p:cNvSpPr txBox="1"/>
          <p:nvPr/>
        </p:nvSpPr>
        <p:spPr>
          <a:xfrm>
            <a:off x="1965960" y="1591056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60">
                <a:solidFill>
                  <a:srgbClr val="F5F7FB"/>
                </a:solidFill>
                <a:latin typeface="Consolas"/>
              </a:rPr>
              <a:t>SESSÕES DE IA</a:t>
            </a:r>
          </a:p>
        </p:txBody>
      </p:sp>
      <p:sp>
        <p:nvSpPr>
          <p:cNvPr id="16" name="s13_14"/>
          <p:cNvSpPr txBox="1"/>
          <p:nvPr/>
        </p:nvSpPr>
        <p:spPr>
          <a:xfrm>
            <a:off x="1965960" y="1847088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395B5"/>
                </a:solidFill>
                <a:latin typeface="Bahnschrift SemiLight"/>
              </a:rPr>
              <a:t>Felipe 55 · Lia 18 · Paulo 18</a:t>
            </a:r>
          </a:p>
        </p:txBody>
      </p:sp>
      <p:sp>
        <p:nvSpPr>
          <p:cNvPr id="17" name="s13_15"/>
          <p:cNvSpPr/>
          <p:nvPr/>
        </p:nvSpPr>
        <p:spPr>
          <a:xfrm>
            <a:off x="3440430" y="1481328"/>
            <a:ext cx="2599182" cy="786384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s13_16"/>
          <p:cNvSpPr txBox="1"/>
          <p:nvPr/>
        </p:nvSpPr>
        <p:spPr>
          <a:xfrm>
            <a:off x="3641598" y="1517904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B531"/>
                </a:solidFill>
                <a:latin typeface="Bahnschrift SemiBold Condensed"/>
              </a:rPr>
              <a:t>232k</a:t>
            </a:r>
          </a:p>
        </p:txBody>
      </p:sp>
      <p:sp>
        <p:nvSpPr>
          <p:cNvPr id="19" name="s13_17"/>
          <p:cNvSpPr txBox="1"/>
          <p:nvPr/>
        </p:nvSpPr>
        <p:spPr>
          <a:xfrm>
            <a:off x="4674870" y="1591056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60">
                <a:solidFill>
                  <a:srgbClr val="F5F7FB"/>
                </a:solidFill>
                <a:latin typeface="Consolas"/>
              </a:rPr>
              <a:t>TOKENS POR SESSÃO</a:t>
            </a:r>
          </a:p>
        </p:txBody>
      </p:sp>
      <p:sp>
        <p:nvSpPr>
          <p:cNvPr id="20" name="s13_18"/>
          <p:cNvSpPr txBox="1"/>
          <p:nvPr/>
        </p:nvSpPr>
        <p:spPr>
          <a:xfrm>
            <a:off x="4674870" y="1847088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395B5"/>
                </a:solidFill>
                <a:latin typeface="Bahnschrift SemiLight"/>
              </a:rPr>
              <a:t>média · 19,7M no total</a:t>
            </a:r>
          </a:p>
        </p:txBody>
      </p:sp>
      <p:sp>
        <p:nvSpPr>
          <p:cNvPr id="21" name="s13_19"/>
          <p:cNvSpPr/>
          <p:nvPr/>
        </p:nvSpPr>
        <p:spPr>
          <a:xfrm>
            <a:off x="6149340" y="1481328"/>
            <a:ext cx="2599182" cy="786384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s13_20"/>
          <p:cNvSpPr txBox="1"/>
          <p:nvPr/>
        </p:nvSpPr>
        <p:spPr>
          <a:xfrm>
            <a:off x="6350507" y="1517904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B531"/>
                </a:solidFill>
                <a:latin typeface="Bahnschrift SemiBold Condensed"/>
              </a:rPr>
              <a:t>81</a:t>
            </a:r>
          </a:p>
        </p:txBody>
      </p:sp>
      <p:sp>
        <p:nvSpPr>
          <p:cNvPr id="23" name="s13_21"/>
          <p:cNvSpPr txBox="1"/>
          <p:nvPr/>
        </p:nvSpPr>
        <p:spPr>
          <a:xfrm>
            <a:off x="7383779" y="1591056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60">
                <a:solidFill>
                  <a:srgbClr val="F5F7FB"/>
                </a:solidFill>
                <a:latin typeface="Consolas"/>
              </a:rPr>
              <a:t>DECISÕES REGISTRADAS</a:t>
            </a:r>
          </a:p>
        </p:txBody>
      </p:sp>
      <p:sp>
        <p:nvSpPr>
          <p:cNvPr id="24" name="s13_22"/>
          <p:cNvSpPr txBox="1"/>
          <p:nvPr/>
        </p:nvSpPr>
        <p:spPr>
          <a:xfrm>
            <a:off x="7383779" y="1847088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395B5"/>
                </a:solidFill>
                <a:latin typeface="Bahnschrift SemiLight"/>
              </a:rPr>
              <a:t>escaladas ao humano</a:t>
            </a:r>
          </a:p>
        </p:txBody>
      </p:sp>
      <p:sp>
        <p:nvSpPr>
          <p:cNvPr id="25" name="s13_23"/>
          <p:cNvSpPr/>
          <p:nvPr/>
        </p:nvSpPr>
        <p:spPr>
          <a:xfrm>
            <a:off x="8858250" y="1481328"/>
            <a:ext cx="2599182" cy="786384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s13_24"/>
          <p:cNvSpPr txBox="1"/>
          <p:nvPr/>
        </p:nvSpPr>
        <p:spPr>
          <a:xfrm>
            <a:off x="9059418" y="1517904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B531"/>
                </a:solidFill>
                <a:latin typeface="Bahnschrift SemiBold Condensed"/>
              </a:rPr>
              <a:t>37%</a:t>
            </a:r>
          </a:p>
        </p:txBody>
      </p:sp>
      <p:sp>
        <p:nvSpPr>
          <p:cNvPr id="27" name="s13_25"/>
          <p:cNvSpPr txBox="1"/>
          <p:nvPr/>
        </p:nvSpPr>
        <p:spPr>
          <a:xfrm>
            <a:off x="10092690" y="1591056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60">
                <a:solidFill>
                  <a:srgbClr val="F5F7FB"/>
                </a:solidFill>
                <a:latin typeface="Consolas"/>
              </a:rPr>
              <a:t>TAXA DE RECORREÇÃO</a:t>
            </a:r>
          </a:p>
        </p:txBody>
      </p:sp>
      <p:sp>
        <p:nvSpPr>
          <p:cNvPr id="28" name="s13_26"/>
          <p:cNvSpPr txBox="1"/>
          <p:nvPr/>
        </p:nvSpPr>
        <p:spPr>
          <a:xfrm>
            <a:off x="10092690" y="1847088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395B5"/>
                </a:solidFill>
                <a:latin typeface="Bahnschrift SemiLight"/>
              </a:rPr>
              <a:t>pediram 2ª rodada</a:t>
            </a:r>
          </a:p>
        </p:txBody>
      </p:sp>
      <p:sp>
        <p:nvSpPr>
          <p:cNvPr id="29" name="s13_27"/>
          <p:cNvSpPr txBox="1"/>
          <p:nvPr/>
        </p:nvSpPr>
        <p:spPr>
          <a:xfrm>
            <a:off x="731520" y="2432304"/>
            <a:ext cx="5669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CONTEXTO POR DIA  ·  DECISÕES ACUMULADAS</a:t>
            </a:r>
          </a:p>
        </p:txBody>
      </p:sp>
      <p:pic>
        <p:nvPicPr>
          <p:cNvPr id="30" name="s13_28" descr="p5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51760"/>
            <a:ext cx="5715000" cy="2395334"/>
          </a:xfrm>
          <a:prstGeom prst="rect">
            <a:avLst/>
          </a:prstGeom>
        </p:spPr>
      </p:pic>
      <p:sp>
        <p:nvSpPr>
          <p:cNvPr id="31" name="s13_29"/>
          <p:cNvSpPr txBox="1"/>
          <p:nvPr/>
        </p:nvSpPr>
        <p:spPr>
          <a:xfrm>
            <a:off x="6793992" y="2432304"/>
            <a:ext cx="4663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145 ERROS DA IA  ·  QUEM PEGOU</a:t>
            </a:r>
          </a:p>
        </p:txBody>
      </p:sp>
      <p:pic>
        <p:nvPicPr>
          <p:cNvPr id="32" name="s13_30" descr="p5_err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2670048"/>
            <a:ext cx="4663440" cy="2238174"/>
          </a:xfrm>
          <a:prstGeom prst="rect">
            <a:avLst/>
          </a:prstGeom>
        </p:spPr>
      </p:pic>
      <p:sp>
        <p:nvSpPr>
          <p:cNvPr id="33" name="s13_31"/>
          <p:cNvSpPr txBox="1"/>
          <p:nvPr/>
        </p:nvSpPr>
        <p:spPr>
          <a:xfrm>
            <a:off x="731520" y="5120640"/>
            <a:ext cx="5669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ONDE FOI O ESFORÇO</a:t>
            </a:r>
          </a:p>
        </p:txBody>
      </p:sp>
      <p:sp>
        <p:nvSpPr>
          <p:cNvPr id="34" name="s13_32"/>
          <p:cNvSpPr txBox="1"/>
          <p:nvPr/>
        </p:nvSpPr>
        <p:spPr>
          <a:xfrm>
            <a:off x="731520" y="5376672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395B5"/>
                </a:solidFill>
                <a:latin typeface="Bahnschrift SemiLight"/>
              </a:rPr>
              <a:t>por sessão</a:t>
            </a:r>
          </a:p>
        </p:txBody>
      </p:sp>
      <p:sp>
        <p:nvSpPr>
          <p:cNvPr id="35" name="s13_33"/>
          <p:cNvSpPr/>
          <p:nvPr/>
        </p:nvSpPr>
        <p:spPr>
          <a:xfrm>
            <a:off x="1600200" y="5376672"/>
            <a:ext cx="1491175" cy="219456"/>
          </a:xfrm>
          <a:prstGeom prst="rect">
            <a:avLst/>
          </a:prstGeom>
          <a:solidFill>
            <a:srgbClr val="FFB531"/>
          </a:solidFill>
          <a:ln w="9525">
            <a:solidFill>
              <a:srgbClr val="0A13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s13_34"/>
          <p:cNvSpPr txBox="1"/>
          <p:nvPr/>
        </p:nvSpPr>
        <p:spPr>
          <a:xfrm>
            <a:off x="1600200" y="5376672"/>
            <a:ext cx="1491175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A1325"/>
                </a:solidFill>
                <a:latin typeface="Consolas"/>
              </a:rPr>
              <a:t>31%</a:t>
            </a:r>
          </a:p>
        </p:txBody>
      </p:sp>
      <p:sp>
        <p:nvSpPr>
          <p:cNvPr id="37" name="s13_35"/>
          <p:cNvSpPr/>
          <p:nvPr/>
        </p:nvSpPr>
        <p:spPr>
          <a:xfrm>
            <a:off x="3091375" y="5376672"/>
            <a:ext cx="2609556" cy="219456"/>
          </a:xfrm>
          <a:prstGeom prst="rect">
            <a:avLst/>
          </a:prstGeom>
          <a:solidFill>
            <a:srgbClr val="4F8EF7"/>
          </a:solidFill>
          <a:ln w="9525">
            <a:solidFill>
              <a:srgbClr val="0A13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s13_36"/>
          <p:cNvSpPr txBox="1"/>
          <p:nvPr/>
        </p:nvSpPr>
        <p:spPr>
          <a:xfrm>
            <a:off x="3091375" y="5376672"/>
            <a:ext cx="2609556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A1325"/>
                </a:solidFill>
                <a:latin typeface="Consolas"/>
              </a:rPr>
              <a:t>54%</a:t>
            </a:r>
          </a:p>
        </p:txBody>
      </p:sp>
      <p:sp>
        <p:nvSpPr>
          <p:cNvPr id="39" name="s13_37"/>
          <p:cNvSpPr/>
          <p:nvPr/>
        </p:nvSpPr>
        <p:spPr>
          <a:xfrm>
            <a:off x="5700932" y="5376672"/>
            <a:ext cx="745587" cy="219456"/>
          </a:xfrm>
          <a:prstGeom prst="rect">
            <a:avLst/>
          </a:prstGeom>
          <a:solidFill>
            <a:srgbClr val="2FD3B0"/>
          </a:solidFill>
          <a:ln w="9525">
            <a:solidFill>
              <a:srgbClr val="0A13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s13_38"/>
          <p:cNvSpPr txBox="1"/>
          <p:nvPr/>
        </p:nvSpPr>
        <p:spPr>
          <a:xfrm>
            <a:off x="5700932" y="5376672"/>
            <a:ext cx="745587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A1325"/>
                </a:solidFill>
                <a:latin typeface="Consolas"/>
              </a:rPr>
              <a:t>15%</a:t>
            </a:r>
          </a:p>
        </p:txBody>
      </p:sp>
      <p:sp>
        <p:nvSpPr>
          <p:cNvPr id="41" name="s13_39"/>
          <p:cNvSpPr txBox="1"/>
          <p:nvPr/>
        </p:nvSpPr>
        <p:spPr>
          <a:xfrm>
            <a:off x="731520" y="5687568"/>
            <a:ext cx="8229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395B5"/>
                </a:solidFill>
                <a:latin typeface="Bahnschrift SemiLight"/>
              </a:rPr>
              <a:t>por token</a:t>
            </a:r>
          </a:p>
        </p:txBody>
      </p:sp>
      <p:sp>
        <p:nvSpPr>
          <p:cNvPr id="42" name="s13_40"/>
          <p:cNvSpPr/>
          <p:nvPr/>
        </p:nvSpPr>
        <p:spPr>
          <a:xfrm>
            <a:off x="1600200" y="5687568"/>
            <a:ext cx="1196847" cy="219456"/>
          </a:xfrm>
          <a:prstGeom prst="rect">
            <a:avLst/>
          </a:prstGeom>
          <a:solidFill>
            <a:srgbClr val="FFB531"/>
          </a:solidFill>
          <a:ln w="9525">
            <a:solidFill>
              <a:srgbClr val="0A13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s13_41"/>
          <p:cNvSpPr txBox="1"/>
          <p:nvPr/>
        </p:nvSpPr>
        <p:spPr>
          <a:xfrm>
            <a:off x="1600200" y="5687568"/>
            <a:ext cx="1196847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A1325"/>
                </a:solidFill>
                <a:latin typeface="Consolas"/>
              </a:rPr>
              <a:t>25%</a:t>
            </a:r>
          </a:p>
        </p:txBody>
      </p:sp>
      <p:sp>
        <p:nvSpPr>
          <p:cNvPr id="44" name="s13_42"/>
          <p:cNvSpPr/>
          <p:nvPr/>
        </p:nvSpPr>
        <p:spPr>
          <a:xfrm>
            <a:off x="2797047" y="5687568"/>
            <a:ext cx="3454923" cy="219456"/>
          </a:xfrm>
          <a:prstGeom prst="rect">
            <a:avLst/>
          </a:prstGeom>
          <a:solidFill>
            <a:srgbClr val="4F8EF7"/>
          </a:solidFill>
          <a:ln w="9525">
            <a:solidFill>
              <a:srgbClr val="0A13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s13_43"/>
          <p:cNvSpPr txBox="1"/>
          <p:nvPr/>
        </p:nvSpPr>
        <p:spPr>
          <a:xfrm>
            <a:off x="2797047" y="5687568"/>
            <a:ext cx="3454923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A1325"/>
                </a:solidFill>
                <a:latin typeface="Consolas"/>
              </a:rPr>
              <a:t>71%</a:t>
            </a:r>
          </a:p>
        </p:txBody>
      </p:sp>
      <p:sp>
        <p:nvSpPr>
          <p:cNvPr id="46" name="s13_44"/>
          <p:cNvSpPr/>
          <p:nvPr/>
        </p:nvSpPr>
        <p:spPr>
          <a:xfrm>
            <a:off x="6251970" y="5687568"/>
            <a:ext cx="194549" cy="219456"/>
          </a:xfrm>
          <a:prstGeom prst="rect">
            <a:avLst/>
          </a:prstGeom>
          <a:solidFill>
            <a:srgbClr val="2FD3B0"/>
          </a:solidFill>
          <a:ln w="9525">
            <a:solidFill>
              <a:srgbClr val="0A13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s13_45"/>
          <p:cNvSpPr/>
          <p:nvPr/>
        </p:nvSpPr>
        <p:spPr>
          <a:xfrm>
            <a:off x="1604772" y="6094476"/>
            <a:ext cx="100584" cy="100584"/>
          </a:xfrm>
          <a:prstGeom prst="ellipse">
            <a:avLst/>
          </a:prstGeom>
          <a:solidFill>
            <a:srgbClr val="FFB5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s13_46"/>
          <p:cNvSpPr txBox="1"/>
          <p:nvPr/>
        </p:nvSpPr>
        <p:spPr>
          <a:xfrm>
            <a:off x="1773936" y="6053328"/>
            <a:ext cx="219456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395B5"/>
                </a:solidFill>
                <a:latin typeface="Bahnschrift SemiLight"/>
              </a:rPr>
              <a:t>pesquisa e decisão</a:t>
            </a:r>
          </a:p>
        </p:txBody>
      </p:sp>
      <p:sp>
        <p:nvSpPr>
          <p:cNvPr id="49" name="s13_47"/>
          <p:cNvSpPr/>
          <p:nvPr/>
        </p:nvSpPr>
        <p:spPr>
          <a:xfrm>
            <a:off x="2963570" y="6094476"/>
            <a:ext cx="100584" cy="100584"/>
          </a:xfrm>
          <a:prstGeom prst="ellipse">
            <a:avLst/>
          </a:prstGeom>
          <a:solidFill>
            <a:srgbClr val="4F8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s13_48"/>
          <p:cNvSpPr txBox="1"/>
          <p:nvPr/>
        </p:nvSpPr>
        <p:spPr>
          <a:xfrm>
            <a:off x="3132734" y="6053328"/>
            <a:ext cx="219456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395B5"/>
                </a:solidFill>
                <a:latin typeface="Bahnschrift SemiLight"/>
              </a:rPr>
              <a:t>análise e medição</a:t>
            </a:r>
          </a:p>
        </p:txBody>
      </p:sp>
      <p:sp>
        <p:nvSpPr>
          <p:cNvPr id="51" name="s13_49"/>
          <p:cNvSpPr/>
          <p:nvPr/>
        </p:nvSpPr>
        <p:spPr>
          <a:xfrm>
            <a:off x="4265676" y="6094476"/>
            <a:ext cx="100584" cy="100584"/>
          </a:xfrm>
          <a:prstGeom prst="ellipse">
            <a:avLst/>
          </a:prstGeom>
          <a:solidFill>
            <a:srgbClr val="2FD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s13_50"/>
          <p:cNvSpPr txBox="1"/>
          <p:nvPr/>
        </p:nvSpPr>
        <p:spPr>
          <a:xfrm>
            <a:off x="4434840" y="6053328"/>
            <a:ext cx="219456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395B5"/>
                </a:solidFill>
                <a:latin typeface="Bahnschrift SemiLight"/>
              </a:rPr>
              <a:t>código</a:t>
            </a:r>
          </a:p>
        </p:txBody>
      </p:sp>
      <p:sp>
        <p:nvSpPr>
          <p:cNvPr id="53" name="s13_51"/>
          <p:cNvSpPr txBox="1"/>
          <p:nvPr/>
        </p:nvSpPr>
        <p:spPr>
          <a:xfrm>
            <a:off x="6793992" y="5120640"/>
            <a:ext cx="4663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PESQUISA  ·  31 HIPÓTESES MEDIDAS, 7 ENTRARAM</a:t>
            </a:r>
          </a:p>
        </p:txBody>
      </p:sp>
      <p:sp>
        <p:nvSpPr>
          <p:cNvPr id="54" name="s13_52"/>
          <p:cNvSpPr txBox="1"/>
          <p:nvPr/>
        </p:nvSpPr>
        <p:spPr>
          <a:xfrm>
            <a:off x="6793992" y="537667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AC6DA"/>
                </a:solidFill>
                <a:latin typeface="Bahnschrift SemiLight"/>
              </a:rPr>
              <a:t>13 ideias de sinal</a:t>
            </a:r>
          </a:p>
        </p:txBody>
      </p:sp>
      <p:sp>
        <p:nvSpPr>
          <p:cNvPr id="55" name="s13_53"/>
          <p:cNvSpPr/>
          <p:nvPr/>
        </p:nvSpPr>
        <p:spPr>
          <a:xfrm>
            <a:off x="8398764" y="5426964"/>
            <a:ext cx="82296" cy="82296"/>
          </a:xfrm>
          <a:prstGeom prst="ellipse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s13_54"/>
          <p:cNvSpPr/>
          <p:nvPr/>
        </p:nvSpPr>
        <p:spPr>
          <a:xfrm>
            <a:off x="8581644" y="5426964"/>
            <a:ext cx="82296" cy="82296"/>
          </a:xfrm>
          <a:prstGeom prst="ellipse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s13_55"/>
          <p:cNvSpPr/>
          <p:nvPr/>
        </p:nvSpPr>
        <p:spPr>
          <a:xfrm>
            <a:off x="8764524" y="5426964"/>
            <a:ext cx="82296" cy="82296"/>
          </a:xfrm>
          <a:prstGeom prst="ellipse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s13_56"/>
          <p:cNvSpPr/>
          <p:nvPr/>
        </p:nvSpPr>
        <p:spPr>
          <a:xfrm>
            <a:off x="8947404" y="5426964"/>
            <a:ext cx="82296" cy="82296"/>
          </a:xfrm>
          <a:prstGeom prst="ellipse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s13_57"/>
          <p:cNvSpPr/>
          <p:nvPr/>
        </p:nvSpPr>
        <p:spPr>
          <a:xfrm>
            <a:off x="9130284" y="5426964"/>
            <a:ext cx="82296" cy="82296"/>
          </a:xfrm>
          <a:prstGeom prst="ellipse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s13_58"/>
          <p:cNvSpPr/>
          <p:nvPr/>
        </p:nvSpPr>
        <p:spPr>
          <a:xfrm>
            <a:off x="9313164" y="5426964"/>
            <a:ext cx="82296" cy="82296"/>
          </a:xfrm>
          <a:prstGeom prst="ellipse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s13_59"/>
          <p:cNvSpPr/>
          <p:nvPr/>
        </p:nvSpPr>
        <p:spPr>
          <a:xfrm>
            <a:off x="9477756" y="5408676"/>
            <a:ext cx="118872" cy="118872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50000">
              <a:srgbClr val="FFB531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s13_60"/>
          <p:cNvSpPr/>
          <p:nvPr/>
        </p:nvSpPr>
        <p:spPr>
          <a:xfrm>
            <a:off x="9678924" y="5426964"/>
            <a:ext cx="82296" cy="82296"/>
          </a:xfrm>
          <a:prstGeom prst="ellipse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s13_61"/>
          <p:cNvSpPr/>
          <p:nvPr/>
        </p:nvSpPr>
        <p:spPr>
          <a:xfrm>
            <a:off x="9861804" y="5426964"/>
            <a:ext cx="82296" cy="82296"/>
          </a:xfrm>
          <a:prstGeom prst="ellipse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s13_62"/>
          <p:cNvSpPr/>
          <p:nvPr/>
        </p:nvSpPr>
        <p:spPr>
          <a:xfrm>
            <a:off x="10044684" y="5426964"/>
            <a:ext cx="82296" cy="82296"/>
          </a:xfrm>
          <a:prstGeom prst="ellipse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s13_63"/>
          <p:cNvSpPr/>
          <p:nvPr/>
        </p:nvSpPr>
        <p:spPr>
          <a:xfrm>
            <a:off x="10227564" y="5426964"/>
            <a:ext cx="82296" cy="82296"/>
          </a:xfrm>
          <a:prstGeom prst="ellipse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s13_64"/>
          <p:cNvSpPr/>
          <p:nvPr/>
        </p:nvSpPr>
        <p:spPr>
          <a:xfrm>
            <a:off x="10410444" y="5426964"/>
            <a:ext cx="82296" cy="82296"/>
          </a:xfrm>
          <a:prstGeom prst="ellipse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s13_65"/>
          <p:cNvSpPr/>
          <p:nvPr/>
        </p:nvSpPr>
        <p:spPr>
          <a:xfrm>
            <a:off x="10593324" y="5426964"/>
            <a:ext cx="82296" cy="82296"/>
          </a:xfrm>
          <a:prstGeom prst="ellipse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s13_66"/>
          <p:cNvSpPr txBox="1"/>
          <p:nvPr/>
        </p:nvSpPr>
        <p:spPr>
          <a:xfrm>
            <a:off x="10908792" y="537667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B531"/>
                </a:solidFill>
                <a:latin typeface="Consolas"/>
              </a:rPr>
              <a:t>1 de 13</a:t>
            </a:r>
          </a:p>
        </p:txBody>
      </p:sp>
      <p:sp>
        <p:nvSpPr>
          <p:cNvPr id="69" name="s13_67"/>
          <p:cNvSpPr txBox="1"/>
          <p:nvPr/>
        </p:nvSpPr>
        <p:spPr>
          <a:xfrm>
            <a:off x="6793992" y="560527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AC6DA"/>
                </a:solidFill>
                <a:latin typeface="Bahnschrift SemiLight"/>
              </a:rPr>
              <a:t>4 critérios do Ω</a:t>
            </a:r>
          </a:p>
        </p:txBody>
      </p:sp>
      <p:sp>
        <p:nvSpPr>
          <p:cNvPr id="70" name="s13_68"/>
          <p:cNvSpPr/>
          <p:nvPr/>
        </p:nvSpPr>
        <p:spPr>
          <a:xfrm>
            <a:off x="8398764" y="5655564"/>
            <a:ext cx="82296" cy="82296"/>
          </a:xfrm>
          <a:prstGeom prst="ellipse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s13_69"/>
          <p:cNvSpPr/>
          <p:nvPr/>
        </p:nvSpPr>
        <p:spPr>
          <a:xfrm>
            <a:off x="8563356" y="5637276"/>
            <a:ext cx="118872" cy="118872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50000">
              <a:srgbClr val="FFB531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s13_70"/>
          <p:cNvSpPr/>
          <p:nvPr/>
        </p:nvSpPr>
        <p:spPr>
          <a:xfrm>
            <a:off x="8746236" y="5637276"/>
            <a:ext cx="118872" cy="118872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50000">
              <a:srgbClr val="FFB531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s13_71"/>
          <p:cNvSpPr/>
          <p:nvPr/>
        </p:nvSpPr>
        <p:spPr>
          <a:xfrm>
            <a:off x="8947404" y="5655564"/>
            <a:ext cx="82296" cy="82296"/>
          </a:xfrm>
          <a:prstGeom prst="ellipse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s13_72"/>
          <p:cNvSpPr txBox="1"/>
          <p:nvPr/>
        </p:nvSpPr>
        <p:spPr>
          <a:xfrm>
            <a:off x="10908792" y="560527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B531"/>
                </a:solidFill>
                <a:latin typeface="Consolas"/>
              </a:rPr>
              <a:t>2 de 4</a:t>
            </a:r>
          </a:p>
        </p:txBody>
      </p:sp>
      <p:sp>
        <p:nvSpPr>
          <p:cNvPr id="75" name="s13_73"/>
          <p:cNvSpPr txBox="1"/>
          <p:nvPr/>
        </p:nvSpPr>
        <p:spPr>
          <a:xfrm>
            <a:off x="6793992" y="583387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AC6DA"/>
                </a:solidFill>
                <a:latin typeface="Bahnschrift SemiLight"/>
              </a:rPr>
              <a:t>6 janelas</a:t>
            </a:r>
          </a:p>
        </p:txBody>
      </p:sp>
      <p:sp>
        <p:nvSpPr>
          <p:cNvPr id="76" name="s13_74"/>
          <p:cNvSpPr/>
          <p:nvPr/>
        </p:nvSpPr>
        <p:spPr>
          <a:xfrm>
            <a:off x="8398764" y="5884164"/>
            <a:ext cx="82296" cy="82296"/>
          </a:xfrm>
          <a:prstGeom prst="ellipse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s13_75"/>
          <p:cNvSpPr/>
          <p:nvPr/>
        </p:nvSpPr>
        <p:spPr>
          <a:xfrm>
            <a:off x="8563356" y="5865876"/>
            <a:ext cx="118872" cy="118872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50000">
              <a:srgbClr val="FFB531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s13_76"/>
          <p:cNvSpPr/>
          <p:nvPr/>
        </p:nvSpPr>
        <p:spPr>
          <a:xfrm>
            <a:off x="8746236" y="5865876"/>
            <a:ext cx="118872" cy="118872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50000">
              <a:srgbClr val="FFB531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s13_77"/>
          <p:cNvSpPr/>
          <p:nvPr/>
        </p:nvSpPr>
        <p:spPr>
          <a:xfrm>
            <a:off x="8929116" y="5865876"/>
            <a:ext cx="118872" cy="118872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50000">
              <a:srgbClr val="FFB531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0" name="s13_78"/>
          <p:cNvSpPr/>
          <p:nvPr/>
        </p:nvSpPr>
        <p:spPr>
          <a:xfrm>
            <a:off x="9130284" y="5884164"/>
            <a:ext cx="82296" cy="82296"/>
          </a:xfrm>
          <a:prstGeom prst="ellipse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s13_79"/>
          <p:cNvSpPr/>
          <p:nvPr/>
        </p:nvSpPr>
        <p:spPr>
          <a:xfrm>
            <a:off x="9313164" y="5884164"/>
            <a:ext cx="82296" cy="82296"/>
          </a:xfrm>
          <a:prstGeom prst="ellipse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s13_80"/>
          <p:cNvSpPr txBox="1"/>
          <p:nvPr/>
        </p:nvSpPr>
        <p:spPr>
          <a:xfrm>
            <a:off x="10908792" y="583387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B531"/>
                </a:solidFill>
                <a:latin typeface="Consolas"/>
              </a:rPr>
              <a:t>3 de 6</a:t>
            </a:r>
          </a:p>
        </p:txBody>
      </p:sp>
      <p:sp>
        <p:nvSpPr>
          <p:cNvPr id="83" name="s13_81"/>
          <p:cNvSpPr txBox="1"/>
          <p:nvPr/>
        </p:nvSpPr>
        <p:spPr>
          <a:xfrm>
            <a:off x="6793992" y="6062472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AC6DA"/>
                </a:solidFill>
                <a:latin typeface="Bahnschrift SemiLight"/>
              </a:rPr>
              <a:t>8 tetos de risco</a:t>
            </a:r>
          </a:p>
        </p:txBody>
      </p:sp>
      <p:sp>
        <p:nvSpPr>
          <p:cNvPr id="84" name="s13_82"/>
          <p:cNvSpPr/>
          <p:nvPr/>
        </p:nvSpPr>
        <p:spPr>
          <a:xfrm>
            <a:off x="8398764" y="6112764"/>
            <a:ext cx="82296" cy="82296"/>
          </a:xfrm>
          <a:prstGeom prst="ellipse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5" name="s13_83"/>
          <p:cNvSpPr/>
          <p:nvPr/>
        </p:nvSpPr>
        <p:spPr>
          <a:xfrm>
            <a:off x="8581644" y="6112764"/>
            <a:ext cx="82296" cy="82296"/>
          </a:xfrm>
          <a:prstGeom prst="ellipse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s13_84"/>
          <p:cNvSpPr/>
          <p:nvPr/>
        </p:nvSpPr>
        <p:spPr>
          <a:xfrm>
            <a:off x="8764524" y="6112764"/>
            <a:ext cx="82296" cy="82296"/>
          </a:xfrm>
          <a:prstGeom prst="ellipse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s13_85"/>
          <p:cNvSpPr/>
          <p:nvPr/>
        </p:nvSpPr>
        <p:spPr>
          <a:xfrm>
            <a:off x="8929116" y="6094476"/>
            <a:ext cx="118872" cy="118872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50000">
              <a:srgbClr val="FFB531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8" name="s13_86"/>
          <p:cNvSpPr/>
          <p:nvPr/>
        </p:nvSpPr>
        <p:spPr>
          <a:xfrm>
            <a:off x="9130284" y="6112764"/>
            <a:ext cx="82296" cy="82296"/>
          </a:xfrm>
          <a:prstGeom prst="ellipse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s13_87"/>
          <p:cNvSpPr/>
          <p:nvPr/>
        </p:nvSpPr>
        <p:spPr>
          <a:xfrm>
            <a:off x="9313164" y="6112764"/>
            <a:ext cx="82296" cy="82296"/>
          </a:xfrm>
          <a:prstGeom prst="ellipse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" name="s13_88"/>
          <p:cNvSpPr/>
          <p:nvPr/>
        </p:nvSpPr>
        <p:spPr>
          <a:xfrm>
            <a:off x="9496044" y="6112764"/>
            <a:ext cx="82296" cy="82296"/>
          </a:xfrm>
          <a:prstGeom prst="ellipse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s13_89"/>
          <p:cNvSpPr/>
          <p:nvPr/>
        </p:nvSpPr>
        <p:spPr>
          <a:xfrm>
            <a:off x="9678924" y="6112764"/>
            <a:ext cx="82296" cy="82296"/>
          </a:xfrm>
          <a:prstGeom prst="ellipse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" name="s13_90"/>
          <p:cNvSpPr txBox="1"/>
          <p:nvPr/>
        </p:nvSpPr>
        <p:spPr>
          <a:xfrm>
            <a:off x="10908792" y="606247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B531"/>
                </a:solidFill>
                <a:latin typeface="Consolas"/>
              </a:rPr>
              <a:t>1 de 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14</a:t>
            </a:r>
          </a:p>
        </p:txBody>
      </p:sp>
      <p:sp>
        <p:nvSpPr>
          <p:cNvPr id="62" name="!!tick"/>
          <p:cNvSpPr/>
          <p:nvPr/>
        </p:nvSpPr>
        <p:spPr>
          <a:xfrm>
            <a:off x="4384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!!foot_l"/>
          <p:cNvSpPr txBox="1"/>
          <p:nvPr/>
        </p:nvSpPr>
        <p:spPr>
          <a:xfrm>
            <a:off x="57150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64" name="!!foot_r"/>
          <p:cNvSpPr txBox="1"/>
          <p:nvPr/>
        </p:nvSpPr>
        <p:spPr>
          <a:xfrm>
            <a:off x="562050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66420" y="426720"/>
            <a:ext cx="83820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0660" y="426720"/>
            <a:ext cx="381000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0" spc="72">
                <a:solidFill>
                  <a:srgbClr val="8395B5"/>
                </a:solidFill>
                <a:latin typeface="Consolas"/>
              </a:rPr>
              <a:t>Backtest e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50500" y="467359"/>
            <a:ext cx="1270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00" b="0" spc="45">
                <a:solidFill>
                  <a:srgbClr val="8395B5"/>
                </a:solidFill>
                <a:latin typeface="Consolas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704850"/>
            <a:ext cx="11049000" cy="9525"/>
          </a:xfrm>
          <a:prstGeom prst="rect">
            <a:avLst/>
          </a:prstGeom>
          <a:gradFill rotWithShape="1">
            <a:gsLst>
              <a:gs pos="0">
                <a:srgbClr val="FFB531"/>
              </a:gs>
              <a:gs pos="30000">
                <a:srgbClr val="2A3F63"/>
              </a:gs>
              <a:gs pos="100000">
                <a:srgbClr val="2A3F63">
                  <a:alpha val="30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420" y="850900"/>
            <a:ext cx="44450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000" b="0">
                <a:solidFill>
                  <a:srgbClr val="F5F7FB"/>
                </a:solidFill>
                <a:latin typeface="Bahnschrift SemiBold"/>
              </a:rPr>
              <a:t>+3,0 pp sobre o SPY, ao mesmo risco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5200" y="1295400"/>
            <a:ext cx="10160" cy="5118100"/>
          </a:xfrm>
          <a:prstGeom prst="rect">
            <a:avLst/>
          </a:prstGeom>
          <a:gradFill rotWithShape="1">
            <a:gsLst>
              <a:gs pos="0">
                <a:srgbClr val="2A3F63"/>
              </a:gs>
              <a:gs pos="100000">
                <a:srgbClr val="2A3F63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420" y="1295400"/>
            <a:ext cx="27686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144">
                <a:solidFill>
                  <a:srgbClr val="FFB531"/>
                </a:solidFill>
                <a:latin typeface="Consolas"/>
              </a:rPr>
              <a:t>O PLACAR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420" y="3594100"/>
            <a:ext cx="27686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144">
                <a:solidFill>
                  <a:srgbClr val="FFB531"/>
                </a:solidFill>
                <a:latin typeface="Consolas"/>
              </a:rPr>
              <a:t>DE ONDE VEM O RESULTADO</a:t>
            </a:r>
          </a:p>
        </p:txBody>
      </p:sp>
      <p:pic>
        <p:nvPicPr>
          <p:cNvPr id="47" name="Picture 46" descr="p9_atribui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20" y="3810000"/>
            <a:ext cx="2933700" cy="19304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66420" y="5842000"/>
            <a:ext cx="2768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40"/>
              </a:lnSpc>
            </a:pPr>
            <a:r>
              <a:rPr sz="720" b="0">
                <a:solidFill>
                  <a:srgbClr val="F5F7FB"/>
                </a:solidFill>
                <a:latin typeface="Bahnschrift"/>
              </a:rPr>
              <a:t>Soma dos retornos diários, não capitalização</a:t>
            </a:r>
            <a:r>
              <a:rPr sz="720" b="0">
                <a:solidFill>
                  <a:srgbClr val="8395B5"/>
                </a:solidFill>
                <a:latin typeface="Bahnschrift"/>
              </a:rPr>
              <a:t> — daí +30,9 pp aqui e +33,2% na curva.</a:t>
            </a:r>
          </a:p>
          <a:p>
            <a:pPr algn="l">
              <a:lnSpc>
                <a:spcPts val="940"/>
              </a:lnSpc>
            </a:pPr>
            <a:r>
              <a:rPr sz="720" b="0">
                <a:solidFill>
                  <a:srgbClr val="F5F7FB"/>
                </a:solidFill>
                <a:latin typeface="Bahnschrift"/>
              </a:rPr>
              <a:t>E sem juros:</a:t>
            </a:r>
            <a:r>
              <a:rPr sz="720" b="0">
                <a:solidFill>
                  <a:srgbClr val="8395B5"/>
                </a:solidFill>
                <a:latin typeface="Bahnschrift"/>
              </a:rPr>
              <a:t> o caixa não é remunerado e o Sharpe usa taxa livre de risco zero, igual para Kairos e SPY.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83000" y="1295400"/>
            <a:ext cx="3556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spc="144">
                <a:solidFill>
                  <a:srgbClr val="FFB531"/>
                </a:solidFill>
                <a:latin typeface="Consolas"/>
              </a:rPr>
              <a:t>CURVA ACUMULADA E DRAWDOWN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14920" y="1488439"/>
            <a:ext cx="4000500" cy="152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40" b="0">
                <a:solidFill>
                  <a:srgbClr val="8395B5"/>
                </a:solidFill>
                <a:latin typeface="Consolas"/>
              </a:rPr>
              <a:t>374 </a:t>
            </a:r>
            <a:r>
              <a:rPr sz="740" b="0" err="1">
                <a:solidFill>
                  <a:srgbClr val="8395B5"/>
                </a:solidFill>
                <a:latin typeface="Bahnschrift"/>
              </a:rPr>
              <a:t>pregões</a:t>
            </a:r>
            <a:r>
              <a:rPr sz="740" b="0">
                <a:solidFill>
                  <a:srgbClr val="8395B5"/>
                </a:solidFill>
                <a:latin typeface="Bahnschrift"/>
              </a:rPr>
              <a:t> · 10/02/2025 a 06/08/2026 · </a:t>
            </a:r>
            <a:r>
              <a:rPr sz="740" b="0" err="1">
                <a:solidFill>
                  <a:srgbClr val="8395B5"/>
                </a:solidFill>
                <a:latin typeface="Bahnschrift"/>
              </a:rPr>
              <a:t>líquido</a:t>
            </a:r>
            <a:r>
              <a:rPr sz="740" b="0">
                <a:solidFill>
                  <a:srgbClr val="8395B5"/>
                </a:solidFill>
                <a:latin typeface="Bahnschrift"/>
              </a:rPr>
              <a:t> de </a:t>
            </a:r>
            <a:r>
              <a:rPr sz="740" b="0" err="1">
                <a:solidFill>
                  <a:srgbClr val="8395B5"/>
                </a:solidFill>
                <a:latin typeface="Bahnschrift"/>
              </a:rPr>
              <a:t>custo</a:t>
            </a:r>
            <a:endParaRPr sz="740" b="0">
              <a:solidFill>
                <a:srgbClr val="8395B5"/>
              </a:solidFill>
              <a:latin typeface="Bahnschrift"/>
            </a:endParaRPr>
          </a:p>
        </p:txBody>
      </p:sp>
      <p:pic>
        <p:nvPicPr>
          <p:cNvPr id="51" name="Picture 50" descr="p9_curv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7920" y="1667510"/>
            <a:ext cx="7937500" cy="4446270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571500" y="6553200"/>
            <a:ext cx="11049000" cy="9525"/>
          </a:xfrm>
          <a:prstGeom prst="rect">
            <a:avLst/>
          </a:prstGeom>
          <a:solidFill>
            <a:srgbClr val="2A3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>
              <a:latin typeface="Bahnschrift SemiLight"/>
            </a:endParaRPr>
          </a:p>
        </p:txBody>
      </p:sp>
      <p:sp>
        <p:nvSpPr>
          <p:cNvPr id="66" name="forma_66"/>
          <p:cNvSpPr/>
          <p:nvPr/>
        </p:nvSpPr>
        <p:spPr>
          <a:xfrm>
            <a:off x="566420" y="1511300"/>
            <a:ext cx="1320800" cy="863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67" name="txt_67"/>
          <p:cNvSpPr txBox="1"/>
          <p:nvPr/>
        </p:nvSpPr>
        <p:spPr>
          <a:xfrm>
            <a:off x="693420" y="16256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00" b="0" spc="80">
                <a:solidFill>
                  <a:srgbClr val="8395B5"/>
                </a:solidFill>
                <a:latin typeface="Consolas"/>
                <a:cs typeface="Consolas"/>
              </a:rPr>
              <a:t>RETORNO LÍQUIDO</a:t>
            </a:r>
          </a:p>
        </p:txBody>
      </p:sp>
      <p:sp>
        <p:nvSpPr>
          <p:cNvPr id="68" name="txt_68"/>
          <p:cNvSpPr txBox="1"/>
          <p:nvPr/>
        </p:nvSpPr>
        <p:spPr>
          <a:xfrm>
            <a:off x="693420" y="17907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4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+33,2%</a:t>
            </a:r>
          </a:p>
        </p:txBody>
      </p:sp>
      <p:sp>
        <p:nvSpPr>
          <p:cNvPr id="69" name="txt_69"/>
          <p:cNvSpPr txBox="1"/>
          <p:nvPr/>
        </p:nvSpPr>
        <p:spPr>
          <a:xfrm>
            <a:off x="693420" y="2146300"/>
            <a:ext cx="11176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00" b="0">
                <a:solidFill>
                  <a:srgbClr val="BAC6DA"/>
                </a:solidFill>
                <a:latin typeface="Bahnschrift"/>
                <a:cs typeface="Bahnschrift"/>
              </a:rPr>
              <a:t>SPY +30,1%</a:t>
            </a:r>
          </a:p>
        </p:txBody>
      </p:sp>
      <p:sp>
        <p:nvSpPr>
          <p:cNvPr id="70" name="forma_70"/>
          <p:cNvSpPr/>
          <p:nvPr/>
        </p:nvSpPr>
        <p:spPr>
          <a:xfrm>
            <a:off x="2014220" y="1511300"/>
            <a:ext cx="1320800" cy="863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1" name="txt_71"/>
          <p:cNvSpPr txBox="1"/>
          <p:nvPr/>
        </p:nvSpPr>
        <p:spPr>
          <a:xfrm>
            <a:off x="2141220" y="16256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00" b="0" spc="80">
                <a:solidFill>
                  <a:srgbClr val="8395B5"/>
                </a:solidFill>
                <a:latin typeface="Consolas"/>
                <a:cs typeface="Consolas"/>
              </a:rPr>
              <a:t>SHARPE</a:t>
            </a:r>
          </a:p>
        </p:txBody>
      </p:sp>
      <p:sp>
        <p:nvSpPr>
          <p:cNvPr id="72" name="txt_72"/>
          <p:cNvSpPr txBox="1"/>
          <p:nvPr/>
        </p:nvSpPr>
        <p:spPr>
          <a:xfrm>
            <a:off x="2141220" y="17907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4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1,18</a:t>
            </a:r>
          </a:p>
        </p:txBody>
      </p:sp>
      <p:sp>
        <p:nvSpPr>
          <p:cNvPr id="73" name="txt_73"/>
          <p:cNvSpPr txBox="1"/>
          <p:nvPr/>
        </p:nvSpPr>
        <p:spPr>
          <a:xfrm>
            <a:off x="2141220" y="2146300"/>
            <a:ext cx="11176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00" b="0">
                <a:solidFill>
                  <a:srgbClr val="BAC6DA"/>
                </a:solidFill>
                <a:latin typeface="Bahnschrift"/>
                <a:cs typeface="Bahnschrift"/>
              </a:rPr>
              <a:t>SPY 1,08</a:t>
            </a:r>
          </a:p>
        </p:txBody>
      </p:sp>
      <p:sp>
        <p:nvSpPr>
          <p:cNvPr id="74" name="forma_74"/>
          <p:cNvSpPr/>
          <p:nvPr/>
        </p:nvSpPr>
        <p:spPr>
          <a:xfrm>
            <a:off x="566420" y="2451100"/>
            <a:ext cx="1320800" cy="863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5" name="txt_75"/>
          <p:cNvSpPr txBox="1"/>
          <p:nvPr/>
        </p:nvSpPr>
        <p:spPr>
          <a:xfrm>
            <a:off x="693420" y="25654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00" b="0" spc="80">
                <a:solidFill>
                  <a:srgbClr val="8395B5"/>
                </a:solidFill>
                <a:latin typeface="Consolas"/>
                <a:cs typeface="Consolas"/>
              </a:rPr>
              <a:t>VOLATILIDADE</a:t>
            </a:r>
          </a:p>
        </p:txBody>
      </p:sp>
      <p:sp>
        <p:nvSpPr>
          <p:cNvPr id="76" name="txt_76"/>
          <p:cNvSpPr txBox="1"/>
          <p:nvPr/>
        </p:nvSpPr>
        <p:spPr>
          <a:xfrm>
            <a:off x="693420" y="27305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400" b="0">
                <a:solidFill>
                  <a:srgbClr val="FFB531"/>
                </a:solidFill>
                <a:latin typeface="Bahnschrift SemiBold Condensed"/>
                <a:cs typeface="Bahnschrift SemiBold Condensed"/>
              </a:rPr>
              <a:t>17,6%</a:t>
            </a:r>
          </a:p>
        </p:txBody>
      </p:sp>
      <p:sp>
        <p:nvSpPr>
          <p:cNvPr id="77" name="txt_77"/>
          <p:cNvSpPr txBox="1"/>
          <p:nvPr/>
        </p:nvSpPr>
        <p:spPr>
          <a:xfrm>
            <a:off x="693420" y="3086100"/>
            <a:ext cx="11176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00" b="0">
                <a:solidFill>
                  <a:srgbClr val="BAC6DA"/>
                </a:solidFill>
                <a:latin typeface="Bahnschrift"/>
                <a:cs typeface="Bahnschrift"/>
              </a:rPr>
              <a:t>SPY 17,9%</a:t>
            </a:r>
          </a:p>
        </p:txBody>
      </p:sp>
      <p:sp>
        <p:nvSpPr>
          <p:cNvPr id="78" name="forma_78"/>
          <p:cNvSpPr/>
          <p:nvPr/>
        </p:nvSpPr>
        <p:spPr>
          <a:xfrm>
            <a:off x="2014220" y="2451100"/>
            <a:ext cx="1320800" cy="8636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79" name="txt_79"/>
          <p:cNvSpPr txBox="1"/>
          <p:nvPr/>
        </p:nvSpPr>
        <p:spPr>
          <a:xfrm>
            <a:off x="2141220" y="2565400"/>
            <a:ext cx="1117600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00" b="0" spc="80">
                <a:solidFill>
                  <a:srgbClr val="8395B5"/>
                </a:solidFill>
                <a:latin typeface="Consolas"/>
                <a:cs typeface="Consolas"/>
              </a:rPr>
              <a:t>MÁX. QUEDA</a:t>
            </a:r>
          </a:p>
        </p:txBody>
      </p:sp>
      <p:sp>
        <p:nvSpPr>
          <p:cNvPr id="80" name="txt_80"/>
          <p:cNvSpPr txBox="1"/>
          <p:nvPr/>
        </p:nvSpPr>
        <p:spPr>
          <a:xfrm>
            <a:off x="2141220" y="2730500"/>
            <a:ext cx="11176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400" b="0">
                <a:solidFill>
                  <a:srgbClr val="E0645C"/>
                </a:solidFill>
                <a:latin typeface="Bahnschrift SemiBold Condensed"/>
                <a:cs typeface="Bahnschrift SemiBold Condensed"/>
              </a:rPr>
              <a:t>–19,6%</a:t>
            </a:r>
          </a:p>
        </p:txBody>
      </p:sp>
      <p:sp>
        <p:nvSpPr>
          <p:cNvPr id="81" name="txt_81"/>
          <p:cNvSpPr txBox="1"/>
          <p:nvPr/>
        </p:nvSpPr>
        <p:spPr>
          <a:xfrm>
            <a:off x="2141220" y="3086100"/>
            <a:ext cx="11176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800" b="0">
                <a:solidFill>
                  <a:srgbClr val="BAC6DA"/>
                </a:solidFill>
                <a:latin typeface="Bahnschrift"/>
                <a:cs typeface="Bahnschrift"/>
              </a:rPr>
              <a:t>SPY −18,8%</a:t>
            </a:r>
          </a:p>
        </p:txBody>
      </p:sp>
      <p:sp>
        <p:nvSpPr>
          <p:cNvPr id="82" name="txt_82"/>
          <p:cNvSpPr txBox="1"/>
          <p:nvPr/>
        </p:nvSpPr>
        <p:spPr>
          <a:xfrm>
            <a:off x="566420" y="3352800"/>
            <a:ext cx="2768600" cy="12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720" b="0">
                <a:solidFill>
                  <a:srgbClr val="8395B5"/>
                </a:solidFill>
                <a:latin typeface="Bahnschrift"/>
                <a:cs typeface="Bahnschrift"/>
              </a:rPr>
              <a:t>placar completo no apêndice A8</a:t>
            </a:r>
          </a:p>
        </p:txBody>
      </p:sp>
    </p:spTree>
    <p:extLst>
      <p:ext uri="{BB962C8B-B14F-4D97-AF65-F5344CB8AC3E}">
        <p14:creationId xmlns:p14="http://schemas.microsoft.com/office/powerpoint/2010/main" val="19203237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1A8FF-BF37-4702-3430-D3284905E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815393-A439-23D9-B546-C45A49E7F7A5}"/>
              </a:ext>
            </a:extLst>
          </p:cNvPr>
          <p:cNvSpPr txBox="1"/>
          <p:nvPr/>
        </p:nvSpPr>
        <p:spPr>
          <a:xfrm>
            <a:off x="3064020" y="1629561"/>
            <a:ext cx="656642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/>
              <a:t>Análise</a:t>
            </a:r>
            <a:r>
              <a:rPr lang="en-US"/>
              <a:t> </a:t>
            </a:r>
            <a:r>
              <a:rPr lang="en-US" err="1"/>
              <a:t>critica</a:t>
            </a:r>
            <a:r>
              <a:rPr lang="en-US"/>
              <a:t> dos </a:t>
            </a:r>
            <a:r>
              <a:rPr lang="en-US" err="1"/>
              <a:t>resultados</a:t>
            </a:r>
            <a:r>
              <a:rPr lang="en-US"/>
              <a:t>  e da </a:t>
            </a:r>
            <a:r>
              <a:rPr lang="en-US" err="1"/>
              <a:t>estratégia</a:t>
            </a:r>
            <a:endParaRPr lang="en-US"/>
          </a:p>
          <a:p>
            <a:pPr marL="285750" indent="-285750">
              <a:buFontTx/>
              <a:buChar char="-"/>
            </a:pPr>
            <a:r>
              <a:rPr lang="en-US" err="1"/>
              <a:t>Entrar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detalhes</a:t>
            </a:r>
            <a:r>
              <a:rPr lang="en-US"/>
              <a:t> </a:t>
            </a:r>
            <a:r>
              <a:rPr lang="en-US" err="1"/>
              <a:t>nos</a:t>
            </a:r>
            <a:r>
              <a:rPr lang="en-US"/>
              <a:t> </a:t>
            </a:r>
            <a:r>
              <a:rPr lang="en-US" err="1"/>
              <a:t>nossos</a:t>
            </a:r>
            <a:r>
              <a:rPr lang="en-US"/>
              <a:t> </a:t>
            </a:r>
            <a:r>
              <a:rPr lang="en-US" err="1"/>
              <a:t>pontos</a:t>
            </a:r>
            <a:r>
              <a:rPr lang="en-US"/>
              <a:t> </a:t>
            </a:r>
            <a:r>
              <a:rPr lang="en-US" err="1"/>
              <a:t>fracos</a:t>
            </a:r>
            <a:r>
              <a:rPr lang="en-US"/>
              <a:t> e fortes.</a:t>
            </a:r>
          </a:p>
          <a:p>
            <a:pPr marL="285750" indent="-285750">
              <a:buFontTx/>
              <a:buChar char="-"/>
            </a:pPr>
            <a:r>
              <a:rPr lang="en-US"/>
              <a:t>O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faria</a:t>
            </a:r>
            <a:r>
              <a:rPr lang="en-US"/>
              <a:t> </a:t>
            </a:r>
            <a:r>
              <a:rPr lang="en-US" err="1"/>
              <a:t>diferente</a:t>
            </a:r>
            <a:r>
              <a:rPr lang="en-US"/>
              <a:t> o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faria</a:t>
            </a:r>
            <a:r>
              <a:rPr lang="en-US"/>
              <a:t> </a:t>
            </a:r>
            <a:r>
              <a:rPr lang="en-US" err="1"/>
              <a:t>igual</a:t>
            </a:r>
            <a:r>
              <a:rPr lang="en-US"/>
              <a:t> </a:t>
            </a:r>
          </a:p>
          <a:p>
            <a:pPr marL="285750" indent="-285750">
              <a:buFontTx/>
              <a:buChar char="-"/>
            </a:pPr>
            <a:r>
              <a:rPr lang="en-US" err="1"/>
              <a:t>Análise</a:t>
            </a:r>
            <a:r>
              <a:rPr lang="en-US"/>
              <a:t> </a:t>
            </a:r>
            <a:r>
              <a:rPr lang="en-US" err="1"/>
              <a:t>como</a:t>
            </a:r>
            <a:r>
              <a:rPr lang="en-US"/>
              <a:t> um </a:t>
            </a:r>
            <a:r>
              <a:rPr lang="en-US" err="1"/>
              <a:t>fundo</a:t>
            </a:r>
            <a:r>
              <a:rPr lang="en-US"/>
              <a:t>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1999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B1A8FF-BF37-4702-3430-D3284905E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glow_tl"/>
          <p:cNvSpPr/>
          <p:nvPr/>
        </p:nvSpPr>
        <p:spPr>
          <a:xfrm>
            <a:off x="-2073535" y="-970433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!!ghost"/>
          <p:cNvSpPr txBox="1"/>
          <p:nvPr/>
        </p:nvSpPr>
        <p:spPr>
          <a:xfrm>
            <a:off x="6900000" y="-230000"/>
            <a:ext cx="4950000" cy="200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15000" b="0" spc="0">
                <a:solidFill>
                  <a:srgbClr val="101A2E"/>
                </a:solidFill>
                <a:latin typeface="Bahnschrift SemiBold Condensed"/>
              </a:rPr>
              <a:t>15</a:t>
            </a:r>
          </a:p>
        </p:txBody>
      </p:sp>
      <p:sp>
        <p:nvSpPr>
          <p:cNvPr id="6" name="!!tick"/>
          <p:cNvSpPr/>
          <p:nvPr/>
        </p:nvSpPr>
        <p:spPr>
          <a:xfrm>
            <a:off x="69494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!!foot_l"/>
          <p:cNvSpPr txBox="1"/>
          <p:nvPr/>
        </p:nvSpPr>
        <p:spPr>
          <a:xfrm>
            <a:off x="82296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8" name="!!foot_r"/>
          <p:cNvSpPr txBox="1"/>
          <p:nvPr/>
        </p:nvSpPr>
        <p:spPr>
          <a:xfrm>
            <a:off x="536599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9" name="cab_titulo"/>
          <p:cNvSpPr txBox="1"/>
          <p:nvPr/>
        </p:nvSpPr>
        <p:spPr>
          <a:xfrm>
            <a:off x="822960" y="426720"/>
            <a:ext cx="82296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Análise crítica</a:t>
            </a:r>
          </a:p>
        </p:txBody>
      </p:sp>
      <p:sp>
        <p:nvSpPr>
          <p:cNvPr id="10" name="cab_numero"/>
          <p:cNvSpPr txBox="1"/>
          <p:nvPr/>
        </p:nvSpPr>
        <p:spPr>
          <a:xfrm>
            <a:off x="8988552" y="467359"/>
            <a:ext cx="2377440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45">
                <a:solidFill>
                  <a:srgbClr val="8395B5"/>
                </a:solidFill>
                <a:latin typeface="Consolas"/>
              </a:rPr>
              <a:t>15</a:t>
            </a:r>
          </a:p>
        </p:txBody>
      </p:sp>
      <p:cxnSp>
        <p:nvCxnSpPr>
          <p:cNvPr id="11" name="filete_topo"/>
          <p:cNvCxnSpPr/>
          <p:nvPr/>
        </p:nvCxnSpPr>
        <p:spPr>
          <a:xfrm>
            <a:off x="822960" y="704850"/>
            <a:ext cx="1054303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filete_base"/>
          <p:cNvCxnSpPr/>
          <p:nvPr/>
        </p:nvCxnSpPr>
        <p:spPr>
          <a:xfrm>
            <a:off x="822960" y="6553200"/>
            <a:ext cx="1054303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h1"/>
          <p:cNvSpPr txBox="1"/>
          <p:nvPr/>
        </p:nvSpPr>
        <p:spPr>
          <a:xfrm>
            <a:off x="822960" y="838200"/>
            <a:ext cx="1054354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b="0">
                <a:solidFill>
                  <a:srgbClr val="F5F7FB"/>
                </a:solidFill>
                <a:latin typeface="Bahnschrift SemiBold"/>
                <a:cs typeface="Bahnschrift SemiBold"/>
              </a:rPr>
              <a:t>O que o número diz, e o que ele não diz</a:t>
            </a:r>
          </a:p>
        </p:txBody>
      </p:sp>
      <p:sp>
        <p:nvSpPr>
          <p:cNvPr id="14" name="forma_14"/>
          <p:cNvSpPr/>
          <p:nvPr/>
        </p:nvSpPr>
        <p:spPr>
          <a:xfrm>
            <a:off x="822960" y="1295400"/>
            <a:ext cx="5182870" cy="167640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5" name="forma_15"/>
          <p:cNvSpPr/>
          <p:nvPr/>
        </p:nvSpPr>
        <p:spPr>
          <a:xfrm>
            <a:off x="975360" y="1473200"/>
            <a:ext cx="45720" cy="1320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FD3B0"/>
              </a:gs>
              <a:gs pos="100000">
                <a:srgbClr val="2FD3B0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6" name="txt_16"/>
          <p:cNvSpPr txBox="1"/>
          <p:nvPr/>
        </p:nvSpPr>
        <p:spPr>
          <a:xfrm>
            <a:off x="1153160" y="1460500"/>
            <a:ext cx="467487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 spc="140">
                <a:solidFill>
                  <a:srgbClr val="2FD3B0"/>
                </a:solidFill>
                <a:latin typeface="Consolas"/>
                <a:cs typeface="Consolas"/>
              </a:rPr>
              <a:t>PONTOS FORTES</a:t>
            </a:r>
          </a:p>
        </p:txBody>
      </p:sp>
      <p:sp>
        <p:nvSpPr>
          <p:cNvPr id="17" name="txt_17"/>
          <p:cNvSpPr txBox="1"/>
          <p:nvPr/>
        </p:nvSpPr>
        <p:spPr>
          <a:xfrm>
            <a:off x="1153160" y="1727200"/>
            <a:ext cx="4674870" cy="1168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14300" indent="-11430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FD3B0"/>
              </a:buClr>
              <a:buFont typeface="Arial"/>
              <a:buChar char="•"/>
            </a:pPr>
            <a:r>
              <a:rPr lang="pt-BR" sz="1350" b="0">
                <a:solidFill>
                  <a:srgbClr val="F5F7FB"/>
                </a:solidFill>
                <a:latin typeface="Bahnschrift SemiLight"/>
                <a:cs typeface="Bahnschrift SemiLight"/>
              </a:rPr>
              <a:t>Q e Ω medidos, não digitados</a:t>
            </a:r>
          </a:p>
          <a:p>
            <a:pPr marL="114300" indent="-1143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2FD3B0"/>
              </a:buClr>
              <a:buFont typeface="Arial"/>
              <a:buChar char="•"/>
            </a:pPr>
            <a:r>
              <a:rPr lang="pt-BR" sz="1350" b="0">
                <a:solidFill>
                  <a:srgbClr val="F5F7FB"/>
                </a:solidFill>
                <a:latin typeface="Bahnschrift SemiLight"/>
                <a:cs typeface="Bahnschrift SemiLight"/>
              </a:rPr>
              <a:t>Nunca perde do SPY nos 4 botões girados</a:t>
            </a:r>
          </a:p>
          <a:p>
            <a:pPr marL="114300" indent="-1143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2FD3B0"/>
              </a:buClr>
              <a:buFont typeface="Arial"/>
              <a:buChar char="•"/>
            </a:pPr>
            <a:r>
              <a:rPr lang="pt-BR" sz="1350" b="0">
                <a:solidFill>
                  <a:srgbClr val="F5F7FB"/>
                </a:solidFill>
                <a:latin typeface="Bahnschrift SemiLight"/>
                <a:cs typeface="Bahnschrift SemiLight"/>
              </a:rPr>
              <a:t>Custo teria de ser 11× maior para zerar</a:t>
            </a:r>
          </a:p>
        </p:txBody>
      </p:sp>
      <p:sp>
        <p:nvSpPr>
          <p:cNvPr id="18" name="forma_18"/>
          <p:cNvSpPr/>
          <p:nvPr/>
        </p:nvSpPr>
        <p:spPr>
          <a:xfrm>
            <a:off x="6183630" y="1295400"/>
            <a:ext cx="5182870" cy="167640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19" name="forma_19"/>
          <p:cNvSpPr/>
          <p:nvPr/>
        </p:nvSpPr>
        <p:spPr>
          <a:xfrm>
            <a:off x="6336030" y="1473200"/>
            <a:ext cx="45720" cy="1320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0645C"/>
              </a:gs>
              <a:gs pos="100000">
                <a:srgbClr val="E0645C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0" name="txt_20"/>
          <p:cNvSpPr txBox="1"/>
          <p:nvPr/>
        </p:nvSpPr>
        <p:spPr>
          <a:xfrm>
            <a:off x="6513830" y="1460500"/>
            <a:ext cx="467487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 spc="140">
                <a:solidFill>
                  <a:srgbClr val="E0645C"/>
                </a:solidFill>
                <a:latin typeface="Consolas"/>
                <a:cs typeface="Consolas"/>
              </a:rPr>
              <a:t>PONTOS FRACOS</a:t>
            </a:r>
          </a:p>
        </p:txBody>
      </p:sp>
      <p:sp>
        <p:nvSpPr>
          <p:cNvPr id="21" name="txt_21"/>
          <p:cNvSpPr txBox="1"/>
          <p:nvPr/>
        </p:nvSpPr>
        <p:spPr>
          <a:xfrm>
            <a:off x="6513830" y="1727200"/>
            <a:ext cx="4674870" cy="1168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14300" indent="-11430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E0645C"/>
              </a:buClr>
              <a:buFont typeface="Arial"/>
              <a:buChar char="•"/>
            </a:pPr>
            <a:r>
              <a:rPr lang="pt-BR" sz="1350" b="0">
                <a:solidFill>
                  <a:srgbClr val="F5F7FB"/>
                </a:solidFill>
                <a:latin typeface="Bahnschrift SemiLight"/>
                <a:cs typeface="Bahnschrift SemiLight"/>
              </a:rPr>
              <a:t>O ganho veio da alta, não da defesa</a:t>
            </a:r>
          </a:p>
          <a:p>
            <a:pPr marL="114300" indent="-1143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E0645C"/>
              </a:buClr>
              <a:buFont typeface="Arial"/>
              <a:buChar char="•"/>
            </a:pPr>
            <a:r>
              <a:rPr lang="pt-BR" sz="1350" b="0">
                <a:solidFill>
                  <a:srgbClr val="F5F7FB"/>
                </a:solidFill>
                <a:latin typeface="Bahnschrift SemiLight"/>
                <a:cs typeface="Bahnschrift SemiLight"/>
              </a:rPr>
              <a:t>Uma janela só, um regime só</a:t>
            </a:r>
          </a:p>
          <a:p>
            <a:pPr marL="114300" indent="-1143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E0645C"/>
              </a:buClr>
              <a:buFont typeface="Arial"/>
              <a:buChar char="•"/>
            </a:pPr>
            <a:r>
              <a:rPr lang="pt-BR" sz="1350" b="0">
                <a:solidFill>
                  <a:srgbClr val="F5F7FB"/>
                </a:solidFill>
                <a:latin typeface="Bahnschrift SemiLight"/>
                <a:cs typeface="Bahnschrift SemiLight"/>
              </a:rPr>
              <a:t>A camada tática soma −2,94 pp</a:t>
            </a:r>
          </a:p>
        </p:txBody>
      </p:sp>
      <p:sp>
        <p:nvSpPr>
          <p:cNvPr id="22" name="forma_22"/>
          <p:cNvSpPr/>
          <p:nvPr/>
        </p:nvSpPr>
        <p:spPr>
          <a:xfrm>
            <a:off x="822960" y="3098800"/>
            <a:ext cx="5182870" cy="167640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3" name="forma_23"/>
          <p:cNvSpPr/>
          <p:nvPr/>
        </p:nvSpPr>
        <p:spPr>
          <a:xfrm>
            <a:off x="975360" y="3276600"/>
            <a:ext cx="45720" cy="1320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4" name="txt_24"/>
          <p:cNvSpPr txBox="1"/>
          <p:nvPr/>
        </p:nvSpPr>
        <p:spPr>
          <a:xfrm>
            <a:off x="1153160" y="3263900"/>
            <a:ext cx="467487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 spc="140">
                <a:solidFill>
                  <a:srgbClr val="FFB531"/>
                </a:solidFill>
                <a:latin typeface="Consolas"/>
                <a:cs typeface="Consolas"/>
              </a:rPr>
              <a:t>FARÍAMOS IGUAL</a:t>
            </a:r>
          </a:p>
        </p:txBody>
      </p:sp>
      <p:sp>
        <p:nvSpPr>
          <p:cNvPr id="25" name="txt_25"/>
          <p:cNvSpPr txBox="1"/>
          <p:nvPr/>
        </p:nvSpPr>
        <p:spPr>
          <a:xfrm>
            <a:off x="1153160" y="3530600"/>
            <a:ext cx="4674870" cy="1168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14300" indent="-11430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B531"/>
              </a:buClr>
              <a:buFont typeface="Arial"/>
              <a:buChar char="•"/>
            </a:pPr>
            <a:r>
              <a:rPr lang="pt-BR" sz="1350" b="0">
                <a:solidFill>
                  <a:srgbClr val="F5F7FB"/>
                </a:solidFill>
                <a:latin typeface="Bahnschrift SemiLight"/>
                <a:cs typeface="Bahnschrift SemiLight"/>
              </a:rPr>
              <a:t>Critério escrito antes de medir</a:t>
            </a:r>
          </a:p>
          <a:p>
            <a:pPr marL="114300" indent="-1143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FFB531"/>
              </a:buClr>
              <a:buFont typeface="Arial"/>
              <a:buChar char="•"/>
            </a:pPr>
            <a:r>
              <a:rPr lang="pt-BR" sz="1350" b="0">
                <a:solidFill>
                  <a:srgbClr val="F5F7FB"/>
                </a:solidFill>
                <a:latin typeface="Bahnschrift SemiLight"/>
                <a:cs typeface="Bahnschrift SemiLight"/>
              </a:rPr>
              <a:t>Parâmetros fixados uma vez, em reunião</a:t>
            </a:r>
          </a:p>
          <a:p>
            <a:pPr marL="114300" indent="-1143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FFB531"/>
              </a:buClr>
              <a:buFont typeface="Arial"/>
              <a:buChar char="•"/>
            </a:pPr>
            <a:r>
              <a:rPr lang="pt-BR" sz="1350" b="0">
                <a:solidFill>
                  <a:srgbClr val="F5F7FB"/>
                </a:solidFill>
                <a:latin typeface="Bahnschrift SemiLight"/>
                <a:cs typeface="Bahnschrift SemiLight"/>
              </a:rPr>
              <a:t>A IA varre, o humano decide</a:t>
            </a:r>
          </a:p>
        </p:txBody>
      </p:sp>
      <p:sp>
        <p:nvSpPr>
          <p:cNvPr id="26" name="forma_26"/>
          <p:cNvSpPr/>
          <p:nvPr/>
        </p:nvSpPr>
        <p:spPr>
          <a:xfrm>
            <a:off x="6183630" y="3098800"/>
            <a:ext cx="5182870" cy="167640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7" name="forma_27"/>
          <p:cNvSpPr/>
          <p:nvPr/>
        </p:nvSpPr>
        <p:spPr>
          <a:xfrm>
            <a:off x="6336030" y="3276600"/>
            <a:ext cx="45720" cy="13208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F8EF7"/>
              </a:gs>
              <a:gs pos="100000">
                <a:srgbClr val="4F8EF7">
                  <a:alpha val="35000"/>
                </a:srgbClr>
              </a:gs>
            </a:gsLst>
            <a:lin ang="5400000" scaled="0"/>
          </a:gradFill>
          <a:ln>
            <a:noFill/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28" name="txt_28"/>
          <p:cNvSpPr txBox="1"/>
          <p:nvPr/>
        </p:nvSpPr>
        <p:spPr>
          <a:xfrm>
            <a:off x="6513830" y="3263900"/>
            <a:ext cx="467487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 spc="140">
                <a:solidFill>
                  <a:srgbClr val="4F8EF7"/>
                </a:solidFill>
                <a:latin typeface="Consolas"/>
                <a:cs typeface="Consolas"/>
              </a:rPr>
              <a:t>FARÍAMOS DIFERENTE</a:t>
            </a:r>
          </a:p>
        </p:txBody>
      </p:sp>
      <p:sp>
        <p:nvSpPr>
          <p:cNvPr id="29" name="txt_29"/>
          <p:cNvSpPr txBox="1"/>
          <p:nvPr/>
        </p:nvSpPr>
        <p:spPr>
          <a:xfrm>
            <a:off x="6513830" y="3530600"/>
            <a:ext cx="4674870" cy="1168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14300" indent="-11430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F8EF7"/>
              </a:buClr>
              <a:buFont typeface="Arial"/>
              <a:buChar char="•"/>
            </a:pPr>
            <a:r>
              <a:rPr lang="pt-BR" sz="1350" b="0">
                <a:solidFill>
                  <a:srgbClr val="F5F7FB"/>
                </a:solidFill>
                <a:latin typeface="Bahnschrift SemiLight"/>
                <a:cs typeface="Bahnschrift SemiLight"/>
              </a:rPr>
              <a:t>Confiança com correlação entre views</a:t>
            </a:r>
          </a:p>
          <a:p>
            <a:pPr marL="114300" indent="-1143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4F8EF7"/>
              </a:buClr>
              <a:buFont typeface="Arial"/>
              <a:buChar char="•"/>
            </a:pPr>
            <a:r>
              <a:rPr lang="pt-BR" sz="1350" b="0">
                <a:solidFill>
                  <a:srgbClr val="F5F7FB"/>
                </a:solidFill>
                <a:latin typeface="Bahnschrift SemiLight"/>
                <a:cs typeface="Bahnschrift SemiLight"/>
              </a:rPr>
              <a:t>Banda contra o giro desfeito (42%)</a:t>
            </a:r>
          </a:p>
          <a:p>
            <a:pPr marL="114300" indent="-114300" algn="l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Clr>
                <a:srgbClr val="4F8EF7"/>
              </a:buClr>
              <a:buFont typeface="Arial"/>
              <a:buChar char="•"/>
            </a:pPr>
            <a:r>
              <a:rPr lang="pt-BR" sz="1350" b="0">
                <a:solidFill>
                  <a:srgbClr val="F5F7FB"/>
                </a:solidFill>
                <a:latin typeface="Bahnschrift SemiLight"/>
                <a:cs typeface="Bahnschrift SemiLight"/>
              </a:rPr>
              <a:t>Testar em mercado de queda</a:t>
            </a:r>
          </a:p>
        </p:txBody>
      </p:sp>
      <p:sp>
        <p:nvSpPr>
          <p:cNvPr id="30" name="txt_30"/>
          <p:cNvSpPr txBox="1"/>
          <p:nvPr/>
        </p:nvSpPr>
        <p:spPr>
          <a:xfrm>
            <a:off x="822960" y="4978400"/>
            <a:ext cx="3810000" cy="165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50" b="1" spc="100">
                <a:solidFill>
                  <a:srgbClr val="FFB531"/>
                </a:solidFill>
                <a:latin typeface="Consolas"/>
                <a:cs typeface="Consolas"/>
              </a:rPr>
              <a:t>COMO UM FUNDO</a:t>
            </a:r>
          </a:p>
        </p:txBody>
      </p:sp>
      <p:sp>
        <p:nvSpPr>
          <p:cNvPr id="31" name="forma_31"/>
          <p:cNvSpPr/>
          <p:nvPr/>
        </p:nvSpPr>
        <p:spPr>
          <a:xfrm>
            <a:off x="822960" y="5207000"/>
            <a:ext cx="3395980" cy="11938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E0645C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2" name="txt_32"/>
          <p:cNvSpPr txBox="1"/>
          <p:nvPr/>
        </p:nvSpPr>
        <p:spPr>
          <a:xfrm>
            <a:off x="1026160" y="5384800"/>
            <a:ext cx="306578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 spc="140">
                <a:solidFill>
                  <a:srgbClr val="E0645C"/>
                </a:solidFill>
                <a:latin typeface="Consolas"/>
                <a:cs typeface="Consolas"/>
              </a:rPr>
              <a:t>CONSERVADOR</a:t>
            </a:r>
          </a:p>
        </p:txBody>
      </p:sp>
      <p:sp>
        <p:nvSpPr>
          <p:cNvPr id="33" name="txt_33"/>
          <p:cNvSpPr txBox="1"/>
          <p:nvPr/>
        </p:nvSpPr>
        <p:spPr>
          <a:xfrm>
            <a:off x="1026160" y="5664200"/>
            <a:ext cx="306578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0">
                <a:solidFill>
                  <a:srgbClr val="F5F7FB"/>
                </a:solidFill>
                <a:latin typeface="Bahnschrift SemiBold"/>
                <a:cs typeface="Bahnschrift SemiBold"/>
              </a:rPr>
              <a:t>não adere: queda e alavancagem</a:t>
            </a:r>
          </a:p>
        </p:txBody>
      </p:sp>
      <p:sp>
        <p:nvSpPr>
          <p:cNvPr id="34" name="forma_34"/>
          <p:cNvSpPr/>
          <p:nvPr/>
        </p:nvSpPr>
        <p:spPr>
          <a:xfrm>
            <a:off x="4396740" y="5207000"/>
            <a:ext cx="3395980" cy="11938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FFB531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5" name="txt_35"/>
          <p:cNvSpPr txBox="1"/>
          <p:nvPr/>
        </p:nvSpPr>
        <p:spPr>
          <a:xfrm>
            <a:off x="4599940" y="5384800"/>
            <a:ext cx="306578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 spc="140">
                <a:solidFill>
                  <a:srgbClr val="FFB531"/>
                </a:solidFill>
                <a:latin typeface="Consolas"/>
                <a:cs typeface="Consolas"/>
              </a:rPr>
              <a:t>INSTITUCIONAL</a:t>
            </a:r>
          </a:p>
        </p:txBody>
      </p:sp>
      <p:sp>
        <p:nvSpPr>
          <p:cNvPr id="36" name="txt_36"/>
          <p:cNvSpPr txBox="1"/>
          <p:nvPr/>
        </p:nvSpPr>
        <p:spPr>
          <a:xfrm>
            <a:off x="4599940" y="5664200"/>
            <a:ext cx="306578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0">
                <a:solidFill>
                  <a:srgbClr val="F5F7FB"/>
                </a:solidFill>
                <a:latin typeface="Bahnschrift SemiBold"/>
                <a:cs typeface="Bahnschrift SemiBold"/>
              </a:rPr>
              <a:t>compra só o alpha (+2,6% a.a.)</a:t>
            </a:r>
          </a:p>
        </p:txBody>
      </p:sp>
      <p:sp>
        <p:nvSpPr>
          <p:cNvPr id="37" name="forma_37"/>
          <p:cNvSpPr/>
          <p:nvPr/>
        </p:nvSpPr>
        <p:spPr>
          <a:xfrm>
            <a:off x="7970520" y="5207000"/>
            <a:ext cx="3395980" cy="11938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12700">
            <a:solidFill>
              <a:srgbClr val="2FD3B0"/>
            </a:solidFill>
          </a:ln>
          <a:effectLst/>
        </p:spPr>
        <p:txBody>
          <a:bodyPr wrap="square" lIns="0" tIns="0" rIns="0" bIns="0" anchor="ctr">
            <a:noAutofit/>
          </a:bodyPr>
          <a:lstStyle/>
          <a:p>
            <a:endParaRPr lang="pt-BR"/>
          </a:p>
        </p:txBody>
      </p:sp>
      <p:sp>
        <p:nvSpPr>
          <p:cNvPr id="38" name="txt_38"/>
          <p:cNvSpPr txBox="1"/>
          <p:nvPr/>
        </p:nvSpPr>
        <p:spPr>
          <a:xfrm>
            <a:off x="8173720" y="5384800"/>
            <a:ext cx="306578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900" b="1" spc="140">
                <a:solidFill>
                  <a:srgbClr val="2FD3B0"/>
                </a:solidFill>
                <a:latin typeface="Consolas"/>
                <a:cs typeface="Consolas"/>
              </a:rPr>
              <a:t>ORIENTADO A EVENTO</a:t>
            </a:r>
          </a:p>
        </p:txBody>
      </p:sp>
      <p:sp>
        <p:nvSpPr>
          <p:cNvPr id="39" name="txt_39"/>
          <p:cNvSpPr txBox="1"/>
          <p:nvPr/>
        </p:nvSpPr>
        <p:spPr>
          <a:xfrm>
            <a:off x="8173720" y="5664200"/>
            <a:ext cx="306578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1400" b="0">
                <a:solidFill>
                  <a:srgbClr val="F5F7FB"/>
                </a:solidFill>
                <a:latin typeface="Bahnschrift SemiBold"/>
                <a:cs typeface="Bahnschrift SemiBold"/>
              </a:rPr>
              <a:t>adere: +3,0 pp ao mesmo risco</a:t>
            </a:r>
          </a:p>
        </p:txBody>
      </p:sp>
    </p:spTree>
    <p:extLst>
      <p:ext uri="{BB962C8B-B14F-4D97-AF65-F5344CB8AC3E}">
        <p14:creationId xmlns:p14="http://schemas.microsoft.com/office/powerpoint/2010/main" val="21619187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16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6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O Polymarket como fonte de dados</a:t>
            </a:r>
          </a:p>
        </p:txBody>
      </p:sp>
      <p:sp>
        <p:nvSpPr>
          <p:cNvPr id="7" name="s16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16</a:t>
            </a:r>
          </a:p>
        </p:txBody>
      </p:sp>
      <p:cxnSp>
        <p:nvCxnSpPr>
          <p:cNvPr id="8" name="s16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6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5F7FB"/>
                </a:solidFill>
                <a:latin typeface="Bahnschrift SemiBold"/>
              </a:rPr>
              <a:t>Calibrado e mais preciso que o mercado de juros.</a:t>
            </a:r>
          </a:p>
        </p:txBody>
      </p:sp>
      <p:cxnSp>
        <p:nvCxnSpPr>
          <p:cNvPr id="10" name="s16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13" name="s16_11"/>
          <p:cNvSpPr txBox="1"/>
          <p:nvPr/>
        </p:nvSpPr>
        <p:spPr>
          <a:xfrm>
            <a:off x="731520" y="1417320"/>
            <a:ext cx="51343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OBSERVAÇÃO 1  ·  CALIBRAÇÃO</a:t>
            </a:r>
          </a:p>
        </p:txBody>
      </p:sp>
      <p:sp>
        <p:nvSpPr>
          <p:cNvPr id="14" name="s16_12"/>
          <p:cNvSpPr txBox="1"/>
          <p:nvPr/>
        </p:nvSpPr>
        <p:spPr>
          <a:xfrm>
            <a:off x="731520" y="1645920"/>
            <a:ext cx="51343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5F7FB"/>
                </a:solidFill>
                <a:latin typeface="Bahnschrift SemiBold"/>
              </a:rPr>
              <a:t>Quando o Polymarket diz X %, acontece X % das vezes.</a:t>
            </a:r>
          </a:p>
        </p:txBody>
      </p:sp>
      <p:sp>
        <p:nvSpPr>
          <p:cNvPr id="15" name="s16_13"/>
          <p:cNvSpPr txBox="1"/>
          <p:nvPr/>
        </p:nvSpPr>
        <p:spPr>
          <a:xfrm>
            <a:off x="731520" y="2212848"/>
            <a:ext cx="1554480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FB531"/>
                </a:solidFill>
                <a:latin typeface="Bahnschrift SemiBold Condensed"/>
              </a:rPr>
              <a:t>0,043</a:t>
            </a:r>
          </a:p>
        </p:txBody>
      </p:sp>
      <p:sp>
        <p:nvSpPr>
          <p:cNvPr id="16" name="s16_14"/>
          <p:cNvSpPr txBox="1"/>
          <p:nvPr/>
        </p:nvSpPr>
        <p:spPr>
          <a:xfrm>
            <a:off x="1874519" y="2258568"/>
            <a:ext cx="3488435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40">
                <a:solidFill>
                  <a:srgbClr val="F5F7FB"/>
                </a:solidFill>
                <a:latin typeface="Consolas"/>
              </a:rPr>
              <a:t>BRIER NA VÉSPERA</a:t>
            </a:r>
          </a:p>
        </p:txBody>
      </p:sp>
      <p:sp>
        <p:nvSpPr>
          <p:cNvPr id="17" name="s16_15"/>
          <p:cNvSpPr txBox="1"/>
          <p:nvPr/>
        </p:nvSpPr>
        <p:spPr>
          <a:xfrm>
            <a:off x="1874519" y="2496312"/>
            <a:ext cx="3488435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395B5"/>
                </a:solidFill>
                <a:latin typeface="Bahnschrift SemiLight"/>
              </a:rPr>
              <a:t>Kalshi a 1 h: 0,045</a:t>
            </a:r>
          </a:p>
        </p:txBody>
      </p:sp>
      <p:pic>
        <p:nvPicPr>
          <p:cNvPr id="18" name="s16_16" descr="estudo_s0_calibr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52928"/>
            <a:ext cx="5134355" cy="2616594"/>
          </a:xfrm>
          <a:prstGeom prst="rect">
            <a:avLst/>
          </a:prstGeom>
        </p:spPr>
      </p:pic>
      <p:sp>
        <p:nvSpPr>
          <p:cNvPr id="19" name="s16_17"/>
          <p:cNvSpPr txBox="1"/>
          <p:nvPr/>
        </p:nvSpPr>
        <p:spPr>
          <a:xfrm>
            <a:off x="6323075" y="1417320"/>
            <a:ext cx="51343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OBSERVAÇÃO 2  ·  DECISÃO DO FED</a:t>
            </a:r>
          </a:p>
        </p:txBody>
      </p:sp>
      <p:sp>
        <p:nvSpPr>
          <p:cNvPr id="20" name="s16_18"/>
          <p:cNvSpPr txBox="1"/>
          <p:nvPr/>
        </p:nvSpPr>
        <p:spPr>
          <a:xfrm>
            <a:off x="6323075" y="1645920"/>
            <a:ext cx="51343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5F7FB"/>
                </a:solidFill>
                <a:latin typeface="Bahnschrift SemiBold"/>
              </a:rPr>
              <a:t>Na decisão do Fed, o Polymarket erra 0,9 bps; o mercado de juros, 4,8.</a:t>
            </a:r>
          </a:p>
        </p:txBody>
      </p:sp>
      <p:sp>
        <p:nvSpPr>
          <p:cNvPr id="21" name="s16_19"/>
          <p:cNvSpPr txBox="1"/>
          <p:nvPr/>
        </p:nvSpPr>
        <p:spPr>
          <a:xfrm>
            <a:off x="6323075" y="2212848"/>
            <a:ext cx="1554480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FB531"/>
                </a:solidFill>
                <a:latin typeface="Bahnschrift SemiBold Condensed"/>
              </a:rPr>
              <a:t>0,9 × 4,8</a:t>
            </a:r>
          </a:p>
        </p:txBody>
      </p:sp>
      <p:sp>
        <p:nvSpPr>
          <p:cNvPr id="22" name="s16_20"/>
          <p:cNvSpPr txBox="1"/>
          <p:nvPr/>
        </p:nvSpPr>
        <p:spPr>
          <a:xfrm>
            <a:off x="7923275" y="2258568"/>
            <a:ext cx="3488435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40">
                <a:solidFill>
                  <a:srgbClr val="F5F7FB"/>
                </a:solidFill>
                <a:latin typeface="Consolas"/>
              </a:rPr>
              <a:t>BPS DE ERRO NA VÉSPERA</a:t>
            </a:r>
          </a:p>
        </p:txBody>
      </p:sp>
      <p:sp>
        <p:nvSpPr>
          <p:cNvPr id="23" name="s16_21"/>
          <p:cNvSpPr txBox="1"/>
          <p:nvPr/>
        </p:nvSpPr>
        <p:spPr>
          <a:xfrm>
            <a:off x="7923275" y="2496312"/>
            <a:ext cx="3488435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395B5"/>
                </a:solidFill>
                <a:latin typeface="Bahnschrift SemiLight"/>
              </a:rPr>
              <a:t>Polymarket × futuro de FF</a:t>
            </a:r>
          </a:p>
        </p:txBody>
      </p:sp>
      <p:pic>
        <p:nvPicPr>
          <p:cNvPr id="24" name="s16_22" descr="estudo_s2_m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075" y="2852928"/>
            <a:ext cx="5134355" cy="2615335"/>
          </a:xfrm>
          <a:prstGeom prst="rect">
            <a:avLst/>
          </a:prstGeom>
        </p:spPr>
      </p:pic>
      <p:sp>
        <p:nvSpPr>
          <p:cNvPr id="25" name="s16_23"/>
          <p:cNvSpPr/>
          <p:nvPr/>
        </p:nvSpPr>
        <p:spPr>
          <a:xfrm>
            <a:off x="731520" y="5596128"/>
            <a:ext cx="10725911" cy="65836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s16_24"/>
          <p:cNvSpPr txBox="1"/>
          <p:nvPr/>
        </p:nvSpPr>
        <p:spPr>
          <a:xfrm>
            <a:off x="960120" y="565099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2FD3B0"/>
                </a:solidFill>
                <a:latin typeface="Consolas"/>
              </a:rPr>
              <a:t>CONCLUSÃO</a:t>
            </a:r>
          </a:p>
        </p:txBody>
      </p:sp>
      <p:sp>
        <p:nvSpPr>
          <p:cNvPr id="27" name="s16_25"/>
          <p:cNvSpPr txBox="1"/>
          <p:nvPr/>
        </p:nvSpPr>
        <p:spPr>
          <a:xfrm>
            <a:off x="960120" y="5824728"/>
            <a:ext cx="10268711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B"/>
                </a:solidFill>
                <a:latin typeface="Bahnschrift SemiBold"/>
              </a:rPr>
              <a:t>É uma probabilidade confiável — e melhor que os juros no que os dois precificam. </a:t>
            </a:r>
            <a:r>
              <a:rPr sz="1300" b="0" i="0">
                <a:solidFill>
                  <a:srgbClr val="FFB531"/>
                </a:solidFill>
                <a:latin typeface="Bahnschrift SemiBold"/>
              </a:rPr>
              <a:t>Por isso ela é a opinião do Black-Litterman.</a:t>
            </a:r>
          </a:p>
        </p:txBody>
      </p:sp>
      <p:sp>
        <p:nvSpPr>
          <p:cNvPr id="28" name="s16_26"/>
          <p:cNvSpPr txBox="1"/>
          <p:nvPr/>
        </p:nvSpPr>
        <p:spPr>
          <a:xfrm>
            <a:off x="731520" y="6336792"/>
            <a:ext cx="10725911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395B5"/>
                </a:solidFill>
                <a:latin typeface="Consolas"/>
              </a:rPr>
              <a:t>150 contratos do Polymarket (Fed e CPI) · 30 eventos · 1416 leituras em 11 horizontes · resolução no FRED · apêndice A1–A3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6CA4CB-FC8F-E7CE-BF85-D20C627AA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!!halo_robo"/>
          <p:cNvSpPr/>
          <p:nvPr/>
        </p:nvSpPr>
        <p:spPr>
          <a:xfrm>
            <a:off x="5322792" y="326358"/>
            <a:ext cx="6600000" cy="6600000"/>
          </a:xfrm>
          <a:prstGeom prst="ellipse">
            <a:avLst/>
          </a:prstGeom>
          <a:gradFill rotWithShape="1">
            <a:gsLst>
              <a:gs pos="0">
                <a:srgbClr val="FFB531">
                  <a:alpha val="11000"/>
                </a:srgbClr>
              </a:gs>
              <a:gs pos="35000">
                <a:srgbClr val="FFB531">
                  <a:alpha val="4500"/>
                </a:srgbClr>
              </a:gs>
              <a:gs pos="65000">
                <a:srgbClr val="FFB531">
                  <a:alpha val="1500"/>
                </a:srgbClr>
              </a:gs>
              <a:gs pos="85000">
                <a:srgbClr val="FFB531">
                  <a:alpha val="5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30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!!foot_l"/>
          <p:cNvSpPr txBox="1"/>
          <p:nvPr/>
        </p:nvSpPr>
        <p:spPr>
          <a:xfrm>
            <a:off x="731520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pt-BR" sz="700" b="0" spc="120">
                <a:solidFill>
                  <a:srgbClr val="58698A"/>
                </a:solidFill>
                <a:latin typeface="Consolas"/>
              </a:rPr>
              <a:t>ITAÚ QUANT AI CHALLENGE  ·  SEMIFINAL 2026</a:t>
            </a:r>
          </a:p>
        </p:txBody>
      </p:sp>
      <p:sp>
        <p:nvSpPr>
          <p:cNvPr id="28" name="!!foot_r"/>
          <p:cNvSpPr txBox="1"/>
          <p:nvPr/>
        </p:nvSpPr>
        <p:spPr>
          <a:xfrm>
            <a:off x="5457432" y="6653200"/>
            <a:ext cx="6000000" cy="1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lang="pt-BR" sz="700" b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30" name="!!risca"/>
          <p:cNvSpPr/>
          <p:nvPr/>
        </p:nvSpPr>
        <p:spPr>
          <a:xfrm>
            <a:off x="731520" y="3230000"/>
            <a:ext cx="1005840" cy="36576"/>
          </a:xfrm>
          <a:prstGeom prst="rect">
            <a:avLst/>
          </a:prstGeom>
          <a:gradFill rotWithShape="1">
            <a:gsLst>
              <a:gs pos="0">
                <a:srgbClr val="FFB531"/>
              </a:gs>
              <a:gs pos="100000">
                <a:srgbClr val="FFB531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2AEB71-E81B-F9D0-B1D6-9F0DF9E870EB}"/>
              </a:ext>
            </a:extLst>
          </p:cNvPr>
          <p:cNvSpPr txBox="1"/>
          <p:nvPr/>
        </p:nvSpPr>
        <p:spPr>
          <a:xfrm>
            <a:off x="731520" y="426720"/>
            <a:ext cx="73152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200" b="1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spc="72">
                <a:solidFill>
                  <a:srgbClr val="8395B5"/>
                </a:solidFill>
                <a:latin typeface="Consolas"/>
              </a:rPr>
              <a:t>   </a:t>
            </a:r>
            <a:r>
              <a:rPr sz="1100" b="0" spc="72" err="1">
                <a:solidFill>
                  <a:srgbClr val="8395B5"/>
                </a:solidFill>
                <a:latin typeface="Consolas"/>
              </a:rPr>
              <a:t>Fechamento</a:t>
            </a:r>
            <a:endParaRPr sz="1000" b="0" spc="50">
              <a:solidFill>
                <a:srgbClr val="BAC6DA"/>
              </a:solidFill>
              <a:latin typeface="Consola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8F7E83-1878-C6AE-87BA-2472312350CC}"/>
              </a:ext>
            </a:extLst>
          </p:cNvPr>
          <p:cNvSpPr txBox="1"/>
          <p:nvPr/>
        </p:nvSpPr>
        <p:spPr>
          <a:xfrm>
            <a:off x="0" y="467359"/>
            <a:ext cx="11457432" cy="152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900" b="0" spc="45">
                <a:solidFill>
                  <a:srgbClr val="8395B5"/>
                </a:solidFill>
                <a:latin typeface="Consolas"/>
              </a:rPr>
              <a:t>10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3A137472-E872-EFA6-A9AC-37E1822B6C24}"/>
              </a:ext>
            </a:extLst>
          </p:cNvPr>
          <p:cNvCxnSpPr/>
          <p:nvPr/>
        </p:nvCxnSpPr>
        <p:spPr>
          <a:xfrm>
            <a:off x="731520" y="704850"/>
            <a:ext cx="10725912" cy="0"/>
          </a:xfrm>
          <a:prstGeom prst="bentConnector3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B599A72-77AC-8217-4D08-A8B49FEEE24E}"/>
              </a:ext>
            </a:extLst>
          </p:cNvPr>
          <p:cNvSpPr txBox="1"/>
          <p:nvPr/>
        </p:nvSpPr>
        <p:spPr>
          <a:xfrm>
            <a:off x="731520" y="1750000"/>
            <a:ext cx="578815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0" b="0" spc="500">
                <a:solidFill>
                  <a:srgbClr val="FFB531"/>
                </a:solidFill>
                <a:latin typeface="Bahnschrift SemiBold Condensed"/>
              </a:rPr>
              <a:t>KAIROS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5290D6-2EB0-BB5D-D448-220E46A92B64}"/>
              </a:ext>
            </a:extLst>
          </p:cNvPr>
          <p:cNvSpPr txBox="1"/>
          <p:nvPr/>
        </p:nvSpPr>
        <p:spPr>
          <a:xfrm>
            <a:off x="731520" y="3420000"/>
            <a:ext cx="57881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200" b="0" spc="20">
                <a:solidFill>
                  <a:srgbClr val="F5F7FB"/>
                </a:solidFill>
                <a:latin typeface="Bahnschrift SemiBold"/>
              </a:rPr>
              <a:t>A opinião vem de quem tem dinheiro em risco. A medida vem do Black-Litterman.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2231AA-A8C0-C4DA-F7CD-E18C762D8673}"/>
              </a:ext>
            </a:extLst>
          </p:cNvPr>
          <p:cNvSpPr txBox="1"/>
          <p:nvPr/>
        </p:nvSpPr>
        <p:spPr>
          <a:xfrm>
            <a:off x="731520" y="4600000"/>
            <a:ext cx="5788152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800" b="1" i="1" err="1">
                <a:solidFill>
                  <a:srgbClr val="FFB531"/>
                </a:solidFill>
                <a:latin typeface="Georgia"/>
              </a:rPr>
              <a:t>Kairós</a:t>
            </a:r>
            <a:r>
              <a:rPr sz="1800" b="0" i="1">
                <a:solidFill>
                  <a:srgbClr val="BAC6DA"/>
                </a:solidFill>
                <a:latin typeface="Georgia"/>
              </a:rPr>
              <a:t>: a </a:t>
            </a:r>
            <a:r>
              <a:rPr sz="1800" b="0" i="1" err="1">
                <a:solidFill>
                  <a:srgbClr val="BAC6DA"/>
                </a:solidFill>
                <a:latin typeface="Georgia"/>
              </a:rPr>
              <a:t>carteira</a:t>
            </a:r>
            <a:r>
              <a:rPr sz="1800" b="0" i="1">
                <a:solidFill>
                  <a:srgbClr val="BAC6DA"/>
                </a:solidFill>
                <a:latin typeface="Georgia"/>
              </a:rPr>
              <a:t> </a:t>
            </a:r>
            <a:r>
              <a:rPr sz="1800" b="0" i="1" err="1">
                <a:solidFill>
                  <a:srgbClr val="BAC6DA"/>
                </a:solidFill>
                <a:latin typeface="Georgia"/>
              </a:rPr>
              <a:t>só</a:t>
            </a:r>
            <a:r>
              <a:rPr sz="1800" b="0" i="1">
                <a:solidFill>
                  <a:srgbClr val="BAC6DA"/>
                </a:solidFill>
                <a:latin typeface="Georgia"/>
              </a:rPr>
              <a:t> se move </a:t>
            </a:r>
            <a:r>
              <a:rPr sz="1800" b="0" i="1" err="1">
                <a:solidFill>
                  <a:srgbClr val="BAC6DA"/>
                </a:solidFill>
                <a:latin typeface="Georgia"/>
              </a:rPr>
              <a:t>quando</a:t>
            </a:r>
            <a:r>
              <a:rPr sz="1800" b="0" i="1">
                <a:solidFill>
                  <a:srgbClr val="BAC6DA"/>
                </a:solidFill>
                <a:latin typeface="Georgia"/>
              </a:rPr>
              <a:t> a </a:t>
            </a:r>
            <a:r>
              <a:rPr sz="1800" b="0" i="1" err="1">
                <a:solidFill>
                  <a:srgbClr val="BAC6DA"/>
                </a:solidFill>
                <a:latin typeface="Georgia"/>
              </a:rPr>
              <a:t>probabilidade</a:t>
            </a:r>
            <a:r>
              <a:rPr sz="1800" b="0" i="1">
                <a:solidFill>
                  <a:srgbClr val="BAC6DA"/>
                </a:solidFill>
                <a:latin typeface="Georgia"/>
              </a:rPr>
              <a:t> se move. </a:t>
            </a:r>
            <a:r>
              <a:rPr sz="1800" b="0" i="1" err="1">
                <a:solidFill>
                  <a:srgbClr val="BAC6DA"/>
                </a:solidFill>
                <a:latin typeface="Georgia"/>
              </a:rPr>
              <a:t>Obrigado</a:t>
            </a:r>
            <a:r>
              <a:rPr sz="1800" b="0" i="1">
                <a:solidFill>
                  <a:srgbClr val="BAC6DA"/>
                </a:solidFill>
                <a:latin typeface="Georgia"/>
              </a:rPr>
              <a:t> pela </a:t>
            </a:r>
            <a:r>
              <a:rPr sz="1800" b="0" i="1" err="1">
                <a:solidFill>
                  <a:srgbClr val="BAC6DA"/>
                </a:solidFill>
                <a:latin typeface="Georgia"/>
              </a:rPr>
              <a:t>oportunidade</a:t>
            </a:r>
            <a:r>
              <a:rPr sz="1800" b="0" i="1">
                <a:solidFill>
                  <a:srgbClr val="BAC6DA"/>
                </a:solidFill>
                <a:latin typeface="Georgia"/>
              </a:rPr>
              <a:t>.</a:t>
            </a:r>
          </a:p>
        </p:txBody>
      </p: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CCB5ED1E-9847-784C-70E6-939D37736474}"/>
              </a:ext>
            </a:extLst>
          </p:cNvPr>
          <p:cNvCxnSpPr/>
          <p:nvPr/>
        </p:nvCxnSpPr>
        <p:spPr>
          <a:xfrm>
            <a:off x="731520" y="6553200"/>
            <a:ext cx="10725912" cy="0"/>
          </a:xfrm>
          <a:prstGeom prst="bentConnector3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881CF7BA-CCFB-7A3B-4C58-E2143E1F305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5728716" y="732282"/>
            <a:ext cx="5788152" cy="578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2720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D9D52D9-1779-4941-B3DA-5CEB1F4AA406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ee9944b0-24b6-4375-a098-1dec6af89d51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2EDF0E61071D4A988766A1D842EE02" ma:contentTypeVersion="11" ma:contentTypeDescription="Create a new document." ma:contentTypeScope="" ma:versionID="f60ea137259014db3749b1426b44c72e">
  <xsd:schema xmlns:xsd="http://www.w3.org/2001/XMLSchema" xmlns:xs="http://www.w3.org/2001/XMLSchema" xmlns:p="http://schemas.microsoft.com/office/2006/metadata/properties" xmlns:ns3="3635a1f2-045e-406e-9012-0da5bc3d6757" targetNamespace="http://schemas.microsoft.com/office/2006/metadata/properties" ma:root="true" ma:fieldsID="a9b12bf162acc9ff7f28d876283cec31" ns3:_="">
    <xsd:import namespace="3635a1f2-045e-406e-9012-0da5bc3d675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35a1f2-045e-406e-9012-0da5bc3d675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635a1f2-045e-406e-9012-0da5bc3d675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B6C67F8-F3DB-4580-A708-6B16170404A8}">
  <ds:schemaRefs>
    <ds:schemaRef ds:uri="3635a1f2-045e-406e-9012-0da5bc3d675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359ED2E-B235-4138-9298-B5C9246350F2}">
  <ds:schemaRefs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3635a1f2-045e-406e-9012-0da5bc3d6757"/>
    <ds:schemaRef ds:uri="http://schemas.microsoft.com/office/infopath/2007/PartnerControls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71013D8-329A-4C6F-975A-30CCA4B191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KAIROS_FINAL</Template>
  <TotalTime>3</TotalTime>
  <Words>6250</Words>
  <Application>Microsoft Office PowerPoint</Application>
  <PresentationFormat>Widescreen</PresentationFormat>
  <Paragraphs>883</Paragraphs>
  <Slides>32</Slides>
  <Notes>28</Notes>
  <HiddenSlides>0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45" baseType="lpstr">
      <vt:lpstr>Aptos</vt:lpstr>
      <vt:lpstr>Aptos Display</vt:lpstr>
      <vt:lpstr>Arial</vt:lpstr>
      <vt:lpstr>Bahnschrift</vt:lpstr>
      <vt:lpstr>Bahnschrift SemiBold</vt:lpstr>
      <vt:lpstr>Bahnschrift SemiBold Condensed</vt:lpstr>
      <vt:lpstr>Bahnschrift SemiLight</vt:lpstr>
      <vt:lpstr>Cambria Math</vt:lpstr>
      <vt:lpstr>Consolas</vt:lpstr>
      <vt:lpstr>Georgia</vt:lpstr>
      <vt:lpstr>Segoe UI</vt:lpstr>
      <vt:lpstr>Segoe UI Semibold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Felipe da Costa Menusier</dc:creator>
  <cp:keywords/>
  <dc:description>generated using python-pptx</dc:description>
  <cp:lastModifiedBy>Felipe da Costa Menusier</cp:lastModifiedBy>
  <cp:revision>1</cp:revision>
  <dcterms:created xsi:type="dcterms:W3CDTF">2026-09-18T16:10:27Z</dcterms:created>
  <dcterms:modified xsi:type="dcterms:W3CDTF">2026-09-18T16:13:28Z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0x0101004A2EDF0E61071D4A988766A1D842EE02</vt:lpwstr>
  </property>
</Properties>
</file>