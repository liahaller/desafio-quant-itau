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2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 Haller Vasconcellos" userId="c90b8273486b5863" providerId="LiveId" clId="{73F4049E-BE77-45A5-A845-D17D84CEADBC}"/>
    <pc:docChg chg="undo custSel modSld">
      <pc:chgData name="Lia Haller Vasconcellos" userId="c90b8273486b5863" providerId="LiveId" clId="{73F4049E-BE77-45A5-A845-D17D84CEADBC}" dt="2026-08-16T18:49:09.521" v="5" actId="1076"/>
      <pc:docMkLst>
        <pc:docMk/>
      </pc:docMkLst>
      <pc:sldChg chg="delSp modSp mod">
        <pc:chgData name="Lia Haller Vasconcellos" userId="c90b8273486b5863" providerId="LiveId" clId="{73F4049E-BE77-45A5-A845-D17D84CEADBC}" dt="2026-08-16T18:49:09.521" v="5" actId="1076"/>
        <pc:sldMkLst>
          <pc:docMk/>
          <pc:sldMk cId="0" sldId="256"/>
        </pc:sldMkLst>
        <pc:spChg chg="mod">
          <ac:chgData name="Lia Haller Vasconcellos" userId="c90b8273486b5863" providerId="LiveId" clId="{73F4049E-BE77-45A5-A845-D17D84CEADBC}" dt="2026-08-16T18:48:06.091" v="1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Lia Haller Vasconcellos" userId="c90b8273486b5863" providerId="LiveId" clId="{73F4049E-BE77-45A5-A845-D17D84CEADBC}" dt="2026-08-16T18:48:10.630" v="3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Lia Haller Vasconcellos" userId="c90b8273486b5863" providerId="LiveId" clId="{73F4049E-BE77-45A5-A845-D17D84CEADBC}" dt="2026-08-16T18:48:08.587" v="2" actId="478"/>
          <ac:spMkLst>
            <pc:docMk/>
            <pc:sldMk cId="0" sldId="256"/>
            <ac:spMk id="8" creationId="{00000000-0000-0000-0000-000000000000}"/>
          </ac:spMkLst>
        </pc:spChg>
        <pc:picChg chg="mod">
          <ac:chgData name="Lia Haller Vasconcellos" userId="c90b8273486b5863" providerId="LiveId" clId="{73F4049E-BE77-45A5-A845-D17D84CEADBC}" dt="2026-08-16T18:49:09.521" v="5" actId="1076"/>
          <ac:picMkLst>
            <pc:docMk/>
            <pc:sldMk cId="0" sldId="256"/>
            <ac:picMk id="9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420" y="426720"/>
            <a:ext cx="1016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spc="240">
                <a:solidFill>
                  <a:srgbClr val="F5A623"/>
                </a:solidFill>
                <a:latin typeface="Segoe UI"/>
              </a:rPr>
              <a:t>KAIROS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0660" y="42672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spc="72">
                <a:solidFill>
                  <a:srgbClr val="6B8299"/>
                </a:solidFill>
                <a:latin typeface="Segoe UI"/>
              </a:rPr>
              <a:t>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0500" y="467359"/>
            <a:ext cx="127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6B8299"/>
                </a:solidFill>
                <a:latin typeface="Segoe U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04850"/>
            <a:ext cx="11049000" cy="9525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420" y="876300"/>
            <a:ext cx="431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50" b="0">
                <a:solidFill>
                  <a:srgbClr val="E8EDF2"/>
                </a:solidFill>
                <a:latin typeface="Segoe UI Semibold"/>
              </a:rPr>
              <a:t>Duas camadas, um orçamento de risco</a:t>
            </a:r>
          </a:p>
        </p:txBody>
      </p:sp>
      <p:pic>
        <p:nvPicPr>
          <p:cNvPr id="9" name="Picture 8" descr="_arquitetura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267079"/>
            <a:ext cx="11054080" cy="10855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1500" y="2410460"/>
            <a:ext cx="19050" cy="132080"/>
          </a:xfrm>
          <a:prstGeom prst="rect">
            <a:avLst/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670" y="2391410"/>
            <a:ext cx="109601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0"/>
              </a:lnSpc>
            </a:pPr>
            <a:r>
              <a:rPr sz="810" b="0">
                <a:solidFill>
                  <a:srgbClr val="9BAEC0"/>
                </a:solidFill>
                <a:latin typeface="Segoe UI Semibold"/>
              </a:rPr>
              <a:t>Por que somar a tática, e não dar um orçamento a ela:</a:t>
            </a:r>
            <a:r>
              <a:rPr sz="810" b="0">
                <a:solidFill>
                  <a:srgbClr val="6B8299"/>
                </a:solidFill>
                <a:latin typeface="Segoe UI"/>
              </a:rPr>
              <a:t> o tamanho sai da mesma conta que dimensiona uma view, e um orçamento em % do patrimônio exigiria escolher um número.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18740"/>
            <a:ext cx="10160" cy="186690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4734560"/>
            <a:ext cx="10160" cy="1761489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2740" y="2618740"/>
            <a:ext cx="10160" cy="204851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2740" y="4734560"/>
            <a:ext cx="10160" cy="152400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420" y="2620010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5A623"/>
                </a:solidFill>
                <a:latin typeface="Segoe UI"/>
              </a:rPr>
              <a:t>DA PROBABILIDADE AO VETOR 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420" y="2840990"/>
            <a:ext cx="2667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0">
                <a:solidFill>
                  <a:srgbClr val="E8EDF2"/>
                </a:solidFill>
                <a:latin typeface="Segoe UI"/>
              </a:rPr>
              <a:t>Q = ( E</a:t>
            </a:r>
            <a:r>
              <a:rPr sz="800" b="0" baseline="-25000">
                <a:solidFill>
                  <a:srgbClr val="9BAEC0"/>
                </a:solidFill>
                <a:latin typeface="Segoe UI"/>
              </a:rPr>
              <a:t>poly</a:t>
            </a:r>
            <a:r>
              <a:rPr sz="1300" b="0">
                <a:solidFill>
                  <a:srgbClr val="E8EDF2"/>
                </a:solidFill>
                <a:latin typeface="Segoe UI"/>
              </a:rPr>
              <a:t> − âncora ) · Σ P</a:t>
            </a:r>
            <a:r>
              <a:rPr sz="800" b="0" baseline="-25000">
                <a:solidFill>
                  <a:srgbClr val="9BAEC0"/>
                </a:solidFill>
                <a:latin typeface="Segoe UI"/>
              </a:rPr>
              <a:t>i</a:t>
            </a:r>
            <a:r>
              <a:rPr sz="1300" b="0">
                <a:solidFill>
                  <a:srgbClr val="E8EDF2"/>
                </a:solidFill>
                <a:latin typeface="Segoe UI"/>
              </a:rPr>
              <a:t> β</a:t>
            </a:r>
            <a:r>
              <a:rPr sz="800" b="0" baseline="-25000">
                <a:solidFill>
                  <a:srgbClr val="9BAEC0"/>
                </a:solidFill>
                <a:latin typeface="Segoe UI"/>
              </a:rPr>
              <a:t>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580" y="3205480"/>
            <a:ext cx="2656840" cy="218440"/>
          </a:xfrm>
          <a:prstGeom prst="roundRect">
            <a:avLst>
              <a:gd name="adj" fmla="val 23255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780" y="3205480"/>
            <a:ext cx="2540000" cy="218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19" b="0">
                <a:solidFill>
                  <a:srgbClr val="E8EDF2"/>
                </a:solidFill>
                <a:latin typeface="Segoe UI"/>
              </a:rPr>
              <a:t>o que o mercado espera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580" y="3614420"/>
            <a:ext cx="2656840" cy="218440"/>
          </a:xfrm>
          <a:prstGeom prst="roundRect">
            <a:avLst>
              <a:gd name="adj" fmla="val 23255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2780" y="3614420"/>
            <a:ext cx="2540000" cy="218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19" b="0">
                <a:solidFill>
                  <a:srgbClr val="E8EDF2"/>
                </a:solidFill>
                <a:latin typeface="Segoe UI"/>
              </a:rPr>
              <a:t>a surpresa, em bps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580" y="4024629"/>
            <a:ext cx="2656840" cy="218440"/>
          </a:xfrm>
          <a:prstGeom prst="roundRect">
            <a:avLst>
              <a:gd name="adj" fmla="val 23255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2780" y="4024629"/>
            <a:ext cx="2540000" cy="218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19" b="0">
                <a:solidFill>
                  <a:srgbClr val="E8EDF2"/>
                </a:solidFill>
                <a:latin typeface="Segoe UI"/>
              </a:rPr>
              <a:t>retorno esperado, por 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780" y="3435350"/>
            <a:ext cx="25781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0" b="0">
                <a:solidFill>
                  <a:srgbClr val="C9820C"/>
                </a:solidFill>
                <a:latin typeface="Segoe UI"/>
              </a:rPr>
              <a:t>↓  menos a âncora que o preço já embute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780" y="3845560"/>
            <a:ext cx="25781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0" b="0">
                <a:solidFill>
                  <a:srgbClr val="C9820C"/>
                </a:solidFill>
                <a:latin typeface="Segoe UI"/>
              </a:rPr>
              <a:t>↓  vezes o β medido nos anúncios passados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4305300"/>
            <a:ext cx="19050" cy="276860"/>
          </a:xfrm>
          <a:prstGeom prst="rect">
            <a:avLst/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1670" y="4286250"/>
            <a:ext cx="2571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0"/>
              </a:lnSpc>
            </a:pPr>
            <a:r>
              <a:rPr sz="810" b="0">
                <a:solidFill>
                  <a:srgbClr val="9BAEC0"/>
                </a:solidFill>
                <a:latin typeface="Segoe UI Semibold"/>
              </a:rPr>
              <a:t>Por que β medido, e não magnitude declarada:</a:t>
            </a:r>
            <a:r>
              <a:rPr sz="810" b="0">
                <a:solidFill>
                  <a:srgbClr val="6B8299"/>
                </a:solidFill>
                <a:latin typeface="Segoe UI"/>
              </a:rPr>
              <a:t> opinião trocada por medição, agora do lado do retorno.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7120" y="2620010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5A623"/>
                </a:solidFill>
                <a:latin typeface="Segoe UI"/>
              </a:rPr>
              <a:t>AS VIEWS ESTRUTURAIS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7120" y="2829560"/>
            <a:ext cx="2032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60" b="0" spc="53">
                <a:solidFill>
                  <a:srgbClr val="6B8299"/>
                </a:solidFill>
                <a:latin typeface="Segoe UI Semibold"/>
              </a:rPr>
              <a:t>VIEW: O QUE ELA LÊ NO MERCADO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0500" y="2829560"/>
            <a:ext cx="127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60" b="0" spc="53">
                <a:solidFill>
                  <a:srgbClr val="6B8299"/>
                </a:solidFill>
                <a:latin typeface="Segoe UI Semibold"/>
              </a:rPr>
              <a:t>PREGÕES ATIVA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9700" y="2829560"/>
            <a:ext cx="127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60" b="0" spc="53">
                <a:solidFill>
                  <a:srgbClr val="6B8299"/>
                </a:solidFill>
                <a:latin typeface="Segoe UI Semibold"/>
              </a:rPr>
              <a:t>EXPOSIÇÃO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29660" y="2999740"/>
            <a:ext cx="4132579" cy="1016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27120" y="3044190"/>
            <a:ext cx="254000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>
                <a:solidFill>
                  <a:srgbClr val="E8EDF2"/>
                </a:solidFill>
                <a:latin typeface="Segoe UI Semibold"/>
              </a:rPr>
              <a:t>2.3 · a decisão do Fed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0500" y="3044190"/>
            <a:ext cx="12738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E8EDF2"/>
                </a:solidFill>
                <a:latin typeface="Segoe UI Semibold"/>
              </a:rPr>
              <a:t>312 </a:t>
            </a:r>
            <a:r>
              <a:rPr sz="760" b="0">
                <a:solidFill>
                  <a:srgbClr val="6B8299"/>
                </a:solidFill>
                <a:latin typeface="Segoe UI Semibold"/>
              </a:rPr>
              <a:t>de 374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57340" y="3096260"/>
            <a:ext cx="439420" cy="46990"/>
          </a:xfrm>
          <a:prstGeom prst="roundRect">
            <a:avLst>
              <a:gd name="adj" fmla="val 48648"/>
            </a:avLst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657340" y="3096260"/>
            <a:ext cx="364718" cy="46990"/>
          </a:xfrm>
          <a:prstGeom prst="roundRect">
            <a:avLst>
              <a:gd name="adj" fmla="val 48648"/>
            </a:avLst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89700" y="3044190"/>
            <a:ext cx="12738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9BAEC0"/>
                </a:solidFill>
                <a:latin typeface="Segoe UI"/>
              </a:rPr>
              <a:t>neutra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29660" y="3228340"/>
            <a:ext cx="4132579" cy="1016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27120" y="3272790"/>
            <a:ext cx="254000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>
                <a:solidFill>
                  <a:srgbClr val="E8EDF2"/>
                </a:solidFill>
                <a:latin typeface="Segoe UI Semibold"/>
              </a:rPr>
              <a:t>2.2 · a inflação do mês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0500" y="3272790"/>
            <a:ext cx="12738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E8EDF2"/>
                </a:solidFill>
                <a:latin typeface="Segoe UI Semibold"/>
              </a:rPr>
              <a:t>253 </a:t>
            </a:r>
            <a:r>
              <a:rPr sz="760" b="0">
                <a:solidFill>
                  <a:srgbClr val="6B8299"/>
                </a:solidFill>
                <a:latin typeface="Segoe UI Semibold"/>
              </a:rPr>
              <a:t>de 374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57340" y="3324860"/>
            <a:ext cx="439420" cy="46990"/>
          </a:xfrm>
          <a:prstGeom prst="roundRect">
            <a:avLst>
              <a:gd name="adj" fmla="val 48648"/>
            </a:avLst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57340" y="3324860"/>
            <a:ext cx="298805" cy="46990"/>
          </a:xfrm>
          <a:prstGeom prst="roundRect">
            <a:avLst>
              <a:gd name="adj" fmla="val 48648"/>
            </a:avLst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89700" y="3272790"/>
            <a:ext cx="12738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9BAEC0"/>
                </a:solidFill>
                <a:latin typeface="Segoe UI"/>
              </a:rPr>
              <a:t>neutra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29660" y="3456940"/>
            <a:ext cx="4132579" cy="1016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27120" y="3501390"/>
            <a:ext cx="254000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>
                <a:solidFill>
                  <a:srgbClr val="E8EDF2"/>
                </a:solidFill>
                <a:latin typeface="Segoe UI Semibold"/>
              </a:rPr>
              <a:t>B · a taxa no fim do ano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70500" y="3501390"/>
            <a:ext cx="12738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E8EDF2"/>
                </a:solidFill>
                <a:latin typeface="Segoe UI Semibold"/>
              </a:rPr>
              <a:t>154 </a:t>
            </a:r>
            <a:r>
              <a:rPr sz="760" b="0">
                <a:solidFill>
                  <a:srgbClr val="6B8299"/>
                </a:solidFill>
                <a:latin typeface="Segoe UI Semibold"/>
              </a:rPr>
              <a:t>de 374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57340" y="3553460"/>
            <a:ext cx="439420" cy="46990"/>
          </a:xfrm>
          <a:prstGeom prst="roundRect">
            <a:avLst>
              <a:gd name="adj" fmla="val 48648"/>
            </a:avLst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657340" y="3553460"/>
            <a:ext cx="180162" cy="46990"/>
          </a:xfrm>
          <a:prstGeom prst="roundRect">
            <a:avLst>
              <a:gd name="adj" fmla="val 48648"/>
            </a:avLst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89700" y="3501390"/>
            <a:ext cx="12738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9BAEC0"/>
                </a:solidFill>
                <a:latin typeface="Segoe UI"/>
              </a:rPr>
              <a:t>neutra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9660" y="3685540"/>
            <a:ext cx="4132579" cy="1016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27120" y="3729990"/>
            <a:ext cx="254000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>
                <a:solidFill>
                  <a:srgbClr val="E8EDF2"/>
                </a:solidFill>
                <a:latin typeface="Segoe UI Semibold"/>
              </a:rPr>
              <a:t>15b · a dúvida na véspera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70500" y="3729990"/>
            <a:ext cx="12738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E8EDF2"/>
                </a:solidFill>
                <a:latin typeface="Segoe UI Semibold"/>
              </a:rPr>
              <a:t>26 </a:t>
            </a:r>
            <a:r>
              <a:rPr sz="760" b="0">
                <a:solidFill>
                  <a:srgbClr val="6B8299"/>
                </a:solidFill>
                <a:latin typeface="Segoe UI Semibold"/>
              </a:rPr>
              <a:t>de 374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57340" y="3782060"/>
            <a:ext cx="439420" cy="46990"/>
          </a:xfrm>
          <a:prstGeom prst="roundRect">
            <a:avLst>
              <a:gd name="adj" fmla="val 48648"/>
            </a:avLst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657340" y="3782060"/>
            <a:ext cx="30759" cy="46990"/>
          </a:xfrm>
          <a:prstGeom prst="roundRect">
            <a:avLst>
              <a:gd name="adj" fmla="val 74318"/>
            </a:avLst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89700" y="3729990"/>
            <a:ext cx="12738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F5A623"/>
                </a:solidFill>
                <a:latin typeface="Segoe UI"/>
              </a:rPr>
              <a:t>direcional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27120" y="3968750"/>
            <a:ext cx="413512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>
                <a:solidFill>
                  <a:srgbClr val="6B8299"/>
                </a:solidFill>
                <a:latin typeface="Segoe UI"/>
              </a:rPr>
              <a:t>Em </a:t>
            </a:r>
            <a:r>
              <a:rPr sz="860" b="0">
                <a:solidFill>
                  <a:srgbClr val="F5A623"/>
                </a:solidFill>
                <a:latin typeface="Segoe UI"/>
              </a:rPr>
              <a:t>28 dos 374</a:t>
            </a:r>
            <a:r>
              <a:rPr sz="860" b="0">
                <a:solidFill>
                  <a:srgbClr val="6B8299"/>
                </a:solidFill>
                <a:latin typeface="Segoe UI"/>
              </a:rPr>
              <a:t> a carteira é só a de equilíbrio.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29660" y="4210050"/>
            <a:ext cx="19050" cy="275590"/>
          </a:xfrm>
          <a:prstGeom prst="rect">
            <a:avLst/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19830" y="4191000"/>
            <a:ext cx="403987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0"/>
              </a:lnSpc>
            </a:pPr>
            <a:r>
              <a:rPr sz="810" b="0">
                <a:solidFill>
                  <a:srgbClr val="9BAEC0"/>
                </a:solidFill>
                <a:latin typeface="Segoe UI Semibold"/>
              </a:rPr>
              <a:t>Por que neutras, com uma exceção:</a:t>
            </a:r>
            <a:r>
              <a:rPr sz="810" b="0">
                <a:solidFill>
                  <a:srgbClr val="6B8299"/>
                </a:solidFill>
                <a:latin typeface="Segoe UI"/>
              </a:rPr>
              <a:t> sem exposição ao índice, a view de prêmio se esvazia.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54670" y="2622550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5A623"/>
                </a:solidFill>
                <a:latin typeface="Segoe UI"/>
              </a:rPr>
              <a:t>A RÉGUA DE CONFIANÇA (Ω)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73030" y="2623820"/>
            <a:ext cx="419100" cy="19050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73030" y="2623820"/>
            <a:ext cx="4191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spc="68">
                <a:solidFill>
                  <a:srgbClr val="6B8299"/>
                </a:solidFill>
                <a:latin typeface="Segoe UI"/>
              </a:rPr>
              <a:t>C ≥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54670" y="2879090"/>
            <a:ext cx="3465829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0" dirty="0">
                <a:solidFill>
                  <a:srgbClr val="E8EDF2"/>
                </a:solidFill>
                <a:latin typeface="Segoe UI"/>
              </a:rPr>
              <a:t>c = ( (1 + </a:t>
            </a:r>
            <a:r>
              <a:rPr sz="1300" b="0" dirty="0">
                <a:solidFill>
                  <a:srgbClr val="F5A623"/>
                </a:solidFill>
                <a:latin typeface="Segoe UI"/>
              </a:rPr>
              <a:t>v̄</a:t>
            </a:r>
            <a:r>
              <a:rPr sz="1300" b="0" dirty="0">
                <a:solidFill>
                  <a:srgbClr val="E8EDF2"/>
                </a:solidFill>
                <a:latin typeface="Segoe UI"/>
              </a:rPr>
              <a:t>) · (1 + |</a:t>
            </a:r>
            <a:r>
              <a:rPr sz="1300" b="0" dirty="0" err="1">
                <a:solidFill>
                  <a:srgbClr val="F5A623"/>
                </a:solidFill>
                <a:latin typeface="Segoe UI"/>
              </a:rPr>
              <a:t>Σp</a:t>
            </a:r>
            <a:r>
              <a:rPr sz="1300" b="0" dirty="0">
                <a:solidFill>
                  <a:srgbClr val="F5A623"/>
                </a:solidFill>
                <a:latin typeface="Segoe UI"/>
              </a:rPr>
              <a:t> − 1</a:t>
            </a:r>
            <a:r>
              <a:rPr sz="1300" b="0" dirty="0">
                <a:solidFill>
                  <a:srgbClr val="E8EDF2"/>
                </a:solidFill>
                <a:latin typeface="Segoe UI"/>
              </a:rPr>
              <a:t>| ) )</a:t>
            </a:r>
            <a:r>
              <a:rPr sz="800" b="0" baseline="30000" dirty="0" err="1">
                <a:solidFill>
                  <a:srgbClr val="9BAEC0"/>
                </a:solidFill>
                <a:latin typeface="Segoe UI"/>
              </a:rPr>
              <a:t>nível</a:t>
            </a:r>
            <a:r>
              <a:rPr sz="800" b="0" baseline="30000" dirty="0">
                <a:solidFill>
                  <a:srgbClr val="9BAEC0"/>
                </a:solidFill>
                <a:latin typeface="Segoe UI"/>
              </a:rPr>
              <a:t> 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54670" y="3124200"/>
            <a:ext cx="1676400" cy="1016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54670" y="3177540"/>
            <a:ext cx="167640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dirty="0">
                <a:solidFill>
                  <a:srgbClr val="F5A623"/>
                </a:solidFill>
                <a:latin typeface="Segoe UI"/>
              </a:rPr>
              <a:t>v̄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54670" y="3314700"/>
            <a:ext cx="16764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0"/>
              </a:lnSpc>
            </a:pPr>
            <a:r>
              <a:rPr sz="810" b="0">
                <a:solidFill>
                  <a:srgbClr val="6B8299"/>
                </a:solidFill>
                <a:latin typeface="Segoe UI"/>
              </a:rPr>
              <a:t>quanto a distribuição se moveu nas 5 últimas leituras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946640" y="3124200"/>
            <a:ext cx="1676400" cy="1016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946640" y="3177540"/>
            <a:ext cx="167640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>
                <a:solidFill>
                  <a:srgbClr val="F5A623"/>
                </a:solidFill>
                <a:latin typeface="Segoe UI"/>
              </a:rPr>
              <a:t>Σp − 1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46640" y="3314700"/>
            <a:ext cx="16764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0"/>
              </a:lnSpc>
            </a:pPr>
            <a:r>
              <a:rPr sz="810" b="0">
                <a:solidFill>
                  <a:srgbClr val="6B8299"/>
                </a:solidFill>
                <a:latin typeface="Segoe UI"/>
              </a:rPr>
              <a:t>o quanto o livro deixa de somar 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54670" y="3653790"/>
            <a:ext cx="3465829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>
                <a:solidFill>
                  <a:srgbClr val="6B8299"/>
                </a:solidFill>
                <a:latin typeface="Segoe UI"/>
              </a:rPr>
              <a:t>O BL clássico é o </a:t>
            </a:r>
            <a:r>
              <a:rPr sz="860" b="0">
                <a:solidFill>
                  <a:srgbClr val="E8EDF2"/>
                </a:solidFill>
                <a:latin typeface="Segoe UI Semibold"/>
              </a:rPr>
              <a:t>teto</a:t>
            </a:r>
            <a:r>
              <a:rPr sz="860" b="0">
                <a:solidFill>
                  <a:srgbClr val="6B8299"/>
                </a:solidFill>
                <a:latin typeface="Segoe UI"/>
              </a:rPr>
              <a:t> de confiança, nunca o piso.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58480" y="3900170"/>
            <a:ext cx="1056640" cy="181610"/>
          </a:xfrm>
          <a:prstGeom prst="roundRect">
            <a:avLst>
              <a:gd name="adj" fmla="val 20979"/>
            </a:avLst>
          </a:prstGeom>
          <a:noFill/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158480" y="3900170"/>
            <a:ext cx="1056640" cy="1816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90" b="0">
                <a:solidFill>
                  <a:srgbClr val="F5A623"/>
                </a:solidFill>
                <a:latin typeface="Segoe UI"/>
              </a:rPr>
              <a:t>185</a:t>
            </a:r>
            <a:r>
              <a:rPr sz="790" b="0">
                <a:solidFill>
                  <a:srgbClr val="9BAEC0"/>
                </a:solidFill>
                <a:latin typeface="Segoe UI"/>
              </a:rPr>
              <a:t> de 2.795 vetadas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53220" y="3900170"/>
            <a:ext cx="1428750" cy="181610"/>
          </a:xfrm>
          <a:prstGeom prst="roundRect">
            <a:avLst>
              <a:gd name="adj" fmla="val 20979"/>
            </a:avLst>
          </a:prstGeom>
          <a:noFill/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53220" y="3900170"/>
            <a:ext cx="1428750" cy="1816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90" b="0">
                <a:solidFill>
                  <a:srgbClr val="9BAEC0"/>
                </a:solidFill>
                <a:latin typeface="Segoe UI"/>
              </a:rPr>
              <a:t>4% do Fed · </a:t>
            </a:r>
            <a:r>
              <a:rPr sz="790" b="0">
                <a:solidFill>
                  <a:srgbClr val="F5A623"/>
                </a:solidFill>
                <a:latin typeface="Segoe UI"/>
              </a:rPr>
              <a:t>27%</a:t>
            </a:r>
            <a:r>
              <a:rPr sz="790" b="0">
                <a:solidFill>
                  <a:srgbClr val="9BAEC0"/>
                </a:solidFill>
                <a:latin typeface="Segoe UI"/>
              </a:rPr>
              <a:t> da trajetória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58480" y="4119879"/>
            <a:ext cx="1418590" cy="19050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158480" y="4119879"/>
            <a:ext cx="141859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90" b="0">
                <a:solidFill>
                  <a:srgbClr val="9BAEC0"/>
                </a:solidFill>
                <a:latin typeface="Segoe UI"/>
              </a:rPr>
              <a:t>expoente 1, fechado uma vez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53400" y="4400550"/>
            <a:ext cx="19050" cy="266700"/>
          </a:xfrm>
          <a:prstGeom prst="rect">
            <a:avLst/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43570" y="4381500"/>
            <a:ext cx="3370579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0"/>
              </a:lnSpc>
            </a:pPr>
            <a:r>
              <a:rPr sz="810" b="0">
                <a:solidFill>
                  <a:srgbClr val="9BAEC0"/>
                </a:solidFill>
                <a:latin typeface="Segoe UI Semibold"/>
              </a:rPr>
              <a:t>Por que contra o erro da probabilidade, e não contra o retorno:</a:t>
            </a:r>
            <a:r>
              <a:rPr sz="810" b="0">
                <a:solidFill>
                  <a:srgbClr val="6B8299"/>
                </a:solidFill>
                <a:latin typeface="Segoe UI"/>
              </a:rPr>
              <a:t> senão a régua herda o resultado que deveria julgar.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420" y="4734560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5A623"/>
                </a:solidFill>
                <a:latin typeface="Segoe UI"/>
              </a:rPr>
              <a:t>CONTROLE DE RISCO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71500" y="4972050"/>
            <a:ext cx="1361440" cy="410209"/>
          </a:xfrm>
          <a:prstGeom prst="roundRect">
            <a:avLst>
              <a:gd name="adj" fmla="val 9287"/>
            </a:avLst>
          </a:prstGeom>
          <a:solidFill>
            <a:srgbClr val="1F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2620" y="5010150"/>
            <a:ext cx="12192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10" b="0">
                <a:solidFill>
                  <a:srgbClr val="9BAEC0"/>
                </a:solidFill>
                <a:latin typeface="Segoe UI"/>
              </a:rPr>
              <a:t>carteira de equilíbrio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620" y="5134610"/>
            <a:ext cx="12192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10" b="0">
                <a:solidFill>
                  <a:srgbClr val="9BAEC0"/>
                </a:solidFill>
                <a:latin typeface="Segoe UI"/>
              </a:rPr>
              <a:t>o teto não corta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962150" y="4972050"/>
            <a:ext cx="1276350" cy="410209"/>
          </a:xfrm>
          <a:prstGeom prst="roundRect">
            <a:avLst>
              <a:gd name="adj" fmla="val 9287"/>
            </a:avLst>
          </a:prstGeom>
          <a:solidFill>
            <a:srgbClr val="302D22"/>
          </a:solidFill>
          <a:ln w="9525">
            <a:solidFill>
              <a:srgbClr val="745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047239" y="5020310"/>
            <a:ext cx="1143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10" b="0">
                <a:solidFill>
                  <a:srgbClr val="F5A623"/>
                </a:solidFill>
                <a:latin typeface="Segoe UI Semibold"/>
              </a:rPr>
              <a:t>desvio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47239" y="5143500"/>
            <a:ext cx="1143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10" b="0">
                <a:solidFill>
                  <a:srgbClr val="F5A623"/>
                </a:solidFill>
                <a:latin typeface="Segoe UI Semibold"/>
              </a:rPr>
              <a:t>Σ|w − w</a:t>
            </a:r>
            <a:r>
              <a:rPr sz="650" b="0" baseline="-25000">
                <a:solidFill>
                  <a:srgbClr val="F5A623"/>
                </a:solidFill>
                <a:latin typeface="Segoe UI Semibold"/>
              </a:rPr>
              <a:t>mkt</a:t>
            </a:r>
            <a:r>
              <a:rPr sz="810" b="0">
                <a:solidFill>
                  <a:srgbClr val="F5A623"/>
                </a:solidFill>
                <a:latin typeface="Segoe UI Semibold"/>
              </a:rPr>
              <a:t>| ≤ 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71500" y="5438140"/>
            <a:ext cx="19050" cy="276860"/>
          </a:xfrm>
          <a:prstGeom prst="rect">
            <a:avLst/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61670" y="5419090"/>
            <a:ext cx="2571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0"/>
              </a:lnSpc>
            </a:pPr>
            <a:r>
              <a:rPr sz="810" b="0">
                <a:solidFill>
                  <a:srgbClr val="9BAEC0"/>
                </a:solidFill>
                <a:latin typeface="Segoe UI Semibold"/>
              </a:rPr>
              <a:t>Por que só no desvio:</a:t>
            </a:r>
            <a:r>
              <a:rPr sz="810" b="0">
                <a:solidFill>
                  <a:srgbClr val="6B8299"/>
                </a:solidFill>
                <a:latin typeface="Segoe UI"/>
              </a:rPr>
              <a:t> cortar a carteira inteira misturava a aposta da view com a perna de mercado.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420" y="5778500"/>
            <a:ext cx="2667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0"/>
              </a:lnSpc>
            </a:pPr>
            <a:r>
              <a:rPr sz="860" b="0">
                <a:solidFill>
                  <a:srgbClr val="6B8299"/>
                </a:solidFill>
                <a:latin typeface="Segoe UI"/>
              </a:rPr>
              <a:t>Pesos pela </a:t>
            </a:r>
            <a:r>
              <a:rPr sz="860" b="0">
                <a:solidFill>
                  <a:srgbClr val="E8EDF2"/>
                </a:solidFill>
                <a:latin typeface="Segoe UI Semibold"/>
              </a:rPr>
              <a:t>covariância amostral</a:t>
            </a:r>
            <a:r>
              <a:rPr sz="860" b="0">
                <a:solidFill>
                  <a:srgbClr val="6B8299"/>
                </a:solidFill>
                <a:latin typeface="Segoe UI"/>
              </a:rPr>
              <a:t>, não pela posterior do modelo.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1500" y="6182360"/>
            <a:ext cx="19050" cy="266700"/>
          </a:xfrm>
          <a:prstGeom prst="rect">
            <a:avLst/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61670" y="6163310"/>
            <a:ext cx="2571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0"/>
              </a:lnSpc>
            </a:pPr>
            <a:r>
              <a:rPr sz="810" b="0">
                <a:solidFill>
                  <a:srgbClr val="9BAEC0"/>
                </a:solidFill>
                <a:latin typeface="Segoe UI Semibold"/>
              </a:rPr>
              <a:t>Por que a amostral:</a:t>
            </a:r>
            <a:r>
              <a:rPr sz="810" b="0">
                <a:solidFill>
                  <a:srgbClr val="6B8299"/>
                </a:solidFill>
                <a:latin typeface="Segoe UI"/>
              </a:rPr>
              <a:t> confiança zero devolve o equilíbrio exato, e a incerteza mora num lugar só, o Ω.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27120" y="4734560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5A623"/>
                </a:solidFill>
                <a:latin typeface="Segoe UI"/>
              </a:rPr>
              <a:t>A CAMADA TÁTICA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27120" y="4954270"/>
            <a:ext cx="2032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60" b="0" spc="53">
                <a:solidFill>
                  <a:srgbClr val="6B8299"/>
                </a:solidFill>
                <a:latin typeface="Segoe UI Semibold"/>
              </a:rPr>
              <a:t>MERCADO QUE ELA LÊ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00600" y="4954270"/>
            <a:ext cx="127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60" b="0" spc="53">
                <a:solidFill>
                  <a:srgbClr val="6B8299"/>
                </a:solidFill>
                <a:latin typeface="Segoe UI Semibold"/>
              </a:rPr>
              <a:t>JANELA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70600" y="4954270"/>
            <a:ext cx="16891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60" b="0" spc="53">
                <a:solidFill>
                  <a:srgbClr val="6B8299"/>
                </a:solidFill>
                <a:latin typeface="Segoe UI Semibold"/>
              </a:rPr>
              <a:t>LIVRO, NEUTRO AO ÍNDICE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29660" y="5124450"/>
            <a:ext cx="4132579" cy="1016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627120" y="5168900"/>
            <a:ext cx="203200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>
                <a:solidFill>
                  <a:srgbClr val="E8EDF2"/>
                </a:solidFill>
                <a:latin typeface="Segoe UI Semibold"/>
              </a:rPr>
              <a:t>recessão nos EUA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00600" y="5168900"/>
            <a:ext cx="127000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E8EDF2"/>
                </a:solidFill>
                <a:latin typeface="Segoe UI Semibold"/>
              </a:rPr>
              <a:t>3 · 5 · 10 pregões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70600" y="5168900"/>
            <a:ext cx="16929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9BAEC0"/>
                </a:solidFill>
                <a:latin typeface="Segoe UI"/>
              </a:rPr>
              <a:t>XLP defensivo × XLK cíclico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29660" y="5353050"/>
            <a:ext cx="4132579" cy="1016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27120" y="5397500"/>
            <a:ext cx="203200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>
                <a:solidFill>
                  <a:srgbClr val="E8EDF2"/>
                </a:solidFill>
                <a:latin typeface="Segoe UI Semibold"/>
              </a:rPr>
              <a:t>maioria na Câmara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00600" y="5397500"/>
            <a:ext cx="127000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E8EDF2"/>
                </a:solidFill>
                <a:latin typeface="Segoe UI Semibold"/>
              </a:rPr>
              <a:t>20 pregões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70600" y="5397500"/>
            <a:ext cx="16929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0" b="0">
                <a:solidFill>
                  <a:srgbClr val="9BAEC0"/>
                </a:solidFill>
                <a:latin typeface="Segoe UI"/>
              </a:rPr>
              <a:t>XLP defensivo × XLK cíclico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633470" y="5652770"/>
            <a:ext cx="800100" cy="181610"/>
          </a:xfrm>
          <a:prstGeom prst="roundRect">
            <a:avLst>
              <a:gd name="adj" fmla="val 20979"/>
            </a:avLst>
          </a:prstGeom>
          <a:noFill/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633470" y="5652770"/>
            <a:ext cx="800100" cy="1816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90" b="0">
                <a:solidFill>
                  <a:srgbClr val="9BAEC0"/>
                </a:solidFill>
                <a:latin typeface="Segoe UI"/>
              </a:rPr>
              <a:t>lê o Polymarket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471670" y="5652770"/>
            <a:ext cx="723900" cy="181610"/>
          </a:xfrm>
          <a:prstGeom prst="roundRect">
            <a:avLst>
              <a:gd name="adj" fmla="val 20979"/>
            </a:avLst>
          </a:prstGeom>
          <a:noFill/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471670" y="5652770"/>
            <a:ext cx="723900" cy="1816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90" b="0">
                <a:solidFill>
                  <a:srgbClr val="9BAEC0"/>
                </a:solidFill>
                <a:latin typeface="Segoe UI"/>
              </a:rPr>
              <a:t>atua na bolsa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233670" y="5652770"/>
            <a:ext cx="1038860" cy="181610"/>
          </a:xfrm>
          <a:prstGeom prst="roundRect">
            <a:avLst>
              <a:gd name="adj" fmla="val 20979"/>
            </a:avLst>
          </a:prstGeom>
          <a:noFill/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233670" y="5652770"/>
            <a:ext cx="1038860" cy="1816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90" b="0">
                <a:solidFill>
                  <a:srgbClr val="9BAEC0"/>
                </a:solidFill>
                <a:latin typeface="Segoe UI"/>
              </a:rPr>
              <a:t>tese não desprovada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10630" y="5652770"/>
            <a:ext cx="1209040" cy="181610"/>
          </a:xfrm>
          <a:prstGeom prst="roundRect">
            <a:avLst>
              <a:gd name="adj" fmla="val 20979"/>
            </a:avLst>
          </a:prstGeom>
          <a:noFill/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10630" y="5652770"/>
            <a:ext cx="1209040" cy="1816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90" b="0">
                <a:solidFill>
                  <a:srgbClr val="9BAEC0"/>
                </a:solidFill>
                <a:latin typeface="Segoe UI"/>
              </a:rPr>
              <a:t>não repete o que entrou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33470" y="5938520"/>
            <a:ext cx="1314450" cy="361950"/>
          </a:xfrm>
          <a:prstGeom prst="roundRect">
            <a:avLst>
              <a:gd name="adj" fmla="val 14035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703320" y="5949950"/>
            <a:ext cx="1174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Segoe UI"/>
              </a:rPr>
              <a:t>+42,6 pp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03320" y="6121400"/>
            <a:ext cx="117475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860"/>
              </a:lnSpc>
            </a:pPr>
            <a:r>
              <a:rPr sz="720" b="0">
                <a:solidFill>
                  <a:srgbClr val="6B8299"/>
                </a:solidFill>
                <a:latin typeface="Segoe UI"/>
              </a:rPr>
              <a:t>sozinha, sem teto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034280" y="5938520"/>
            <a:ext cx="1323340" cy="361950"/>
          </a:xfrm>
          <a:prstGeom prst="roundRect">
            <a:avLst>
              <a:gd name="adj" fmla="val 14035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104130" y="5949950"/>
            <a:ext cx="118364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>
                <a:solidFill>
                  <a:srgbClr val="C2544D"/>
                </a:solidFill>
                <a:latin typeface="Segoe UI"/>
              </a:rPr>
              <a:t>−2,94 pp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104130" y="6121400"/>
            <a:ext cx="118364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860"/>
              </a:lnSpc>
            </a:pPr>
            <a:r>
              <a:rPr sz="720" b="0">
                <a:solidFill>
                  <a:srgbClr val="6B8299"/>
                </a:solidFill>
                <a:latin typeface="Segoe UI"/>
              </a:rPr>
              <a:t>dentro da carteira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443980" y="5938520"/>
            <a:ext cx="1314450" cy="361950"/>
          </a:xfrm>
          <a:prstGeom prst="roundRect">
            <a:avLst>
              <a:gd name="adj" fmla="val 14035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513830" y="5949950"/>
            <a:ext cx="1174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>
                <a:solidFill>
                  <a:srgbClr val="E8EDF2"/>
                </a:solidFill>
                <a:latin typeface="Segoe UI"/>
              </a:rPr>
              <a:t>8 de 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513830" y="6121400"/>
            <a:ext cx="117475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860"/>
              </a:lnSpc>
            </a:pPr>
            <a:r>
              <a:rPr sz="720" b="0">
                <a:solidFill>
                  <a:srgbClr val="6B8299"/>
                </a:solidFill>
                <a:latin typeface="Segoe UI"/>
              </a:rPr>
              <a:t>caíram no corte da amostra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29660" y="6362700"/>
            <a:ext cx="19050" cy="133350"/>
          </a:xfrm>
          <a:prstGeom prst="rect">
            <a:avLst/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719830" y="6343650"/>
            <a:ext cx="403987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0"/>
              </a:lnSpc>
            </a:pPr>
            <a:r>
              <a:rPr sz="810" b="0">
                <a:solidFill>
                  <a:srgbClr val="9BAEC0"/>
                </a:solidFill>
                <a:latin typeface="Segoe UI Semibold"/>
              </a:rPr>
              <a:t>Por que ligada assim mesmo:</a:t>
            </a:r>
            <a:r>
              <a:rPr sz="810" b="0">
                <a:solidFill>
                  <a:srgbClr val="6B8299"/>
                </a:solidFill>
                <a:latin typeface="Segoe UI"/>
              </a:rPr>
              <a:t> a régua julga o mecanismo, não o resultado.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154670" y="4734560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5A623"/>
                </a:solidFill>
                <a:latin typeface="Segoe UI"/>
              </a:rPr>
              <a:t>COMO CADA INGREDIENTE FOI JULGADO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154670" y="4954270"/>
            <a:ext cx="2286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60" b="0">
                <a:solidFill>
                  <a:srgbClr val="6B8299"/>
                </a:solidFill>
                <a:latin typeface="Segoe UI"/>
              </a:rPr>
              <a:t>← confiança maior prevê erro menor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543540" y="5001260"/>
            <a:ext cx="58419" cy="55880"/>
          </a:xfrm>
          <a:prstGeom prst="roundRect">
            <a:avLst>
              <a:gd name="adj" fmla="val 34090"/>
            </a:avLst>
          </a:prstGeom>
          <a:solidFill>
            <a:srgbClr val="3D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638790" y="4954270"/>
            <a:ext cx="508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60" b="0">
                <a:solidFill>
                  <a:srgbClr val="6B8299"/>
                </a:solidFill>
                <a:latin typeface="Segoe UI"/>
              </a:rPr>
              <a:t>2.3 Fed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1049000" y="5001260"/>
            <a:ext cx="57150" cy="55880"/>
          </a:xfrm>
          <a:prstGeom prst="roundRect">
            <a:avLst>
              <a:gd name="adj" fmla="val 34090"/>
            </a:avLst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1141710" y="4954270"/>
            <a:ext cx="5715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60" b="0">
                <a:solidFill>
                  <a:srgbClr val="6B8299"/>
                </a:solidFill>
                <a:latin typeface="Segoe UI"/>
              </a:rPr>
              <a:t>2.2 inflação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154670" y="5118100"/>
            <a:ext cx="1104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810" b="0">
                <a:solidFill>
                  <a:srgbClr val="E8EDF2"/>
                </a:solidFill>
                <a:latin typeface="Segoe UI"/>
              </a:rPr>
              <a:t>Estabilidade da distribuição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544050" y="520954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D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9448800" y="52679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10077450" y="5191760"/>
            <a:ext cx="8890" cy="114300"/>
          </a:xfrm>
          <a:prstGeom prst="rect">
            <a:avLst/>
          </a:prstGeom>
          <a:solidFill>
            <a:srgbClr val="9B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350500" y="5185410"/>
            <a:ext cx="1270000" cy="127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40" b="1" spc="37">
                <a:solidFill>
                  <a:srgbClr val="F5A623"/>
                </a:solidFill>
                <a:latin typeface="Segoe UI"/>
              </a:rPr>
              <a:t>ENTRA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154670" y="5384800"/>
            <a:ext cx="1104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810" b="0">
                <a:solidFill>
                  <a:srgbClr val="E8EDF2"/>
                </a:solidFill>
                <a:latin typeface="Segoe UI"/>
              </a:rPr>
              <a:t>Coerência do livro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829800" y="5420360"/>
            <a:ext cx="48260" cy="38100"/>
          </a:xfrm>
          <a:prstGeom prst="roundRect">
            <a:avLst>
              <a:gd name="adj" fmla="val 50000"/>
            </a:avLst>
          </a:prstGeom>
          <a:solidFill>
            <a:srgbClr val="3D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9648190" y="5476240"/>
            <a:ext cx="124460" cy="38100"/>
          </a:xfrm>
          <a:prstGeom prst="roundRect">
            <a:avLst>
              <a:gd name="adj" fmla="val 50000"/>
            </a:avLst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0077450" y="5400040"/>
            <a:ext cx="8890" cy="114300"/>
          </a:xfrm>
          <a:prstGeom prst="rect">
            <a:avLst/>
          </a:prstGeom>
          <a:solidFill>
            <a:srgbClr val="9B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0350500" y="5384800"/>
            <a:ext cx="1270000" cy="127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40" b="1" spc="37">
                <a:solidFill>
                  <a:srgbClr val="F5A623"/>
                </a:solidFill>
                <a:latin typeface="Segoe UI"/>
              </a:rPr>
              <a:t>ENTRA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54670" y="5537200"/>
            <a:ext cx="1104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810" b="0">
                <a:solidFill>
                  <a:srgbClr val="E8EDF2"/>
                </a:solidFill>
                <a:latin typeface="Segoe UI"/>
              </a:rPr>
              <a:t>Volume negociado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944100" y="557276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D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9925050" y="5628640"/>
            <a:ext cx="334010" cy="38100"/>
          </a:xfrm>
          <a:prstGeom prst="roundRect">
            <a:avLst>
              <a:gd name="adj" fmla="val 50000"/>
            </a:avLst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0077450" y="5552440"/>
            <a:ext cx="8890" cy="114300"/>
          </a:xfrm>
          <a:prstGeom prst="rect">
            <a:avLst/>
          </a:prstGeom>
          <a:solidFill>
            <a:srgbClr val="9B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350500" y="5547360"/>
            <a:ext cx="1270000" cy="127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40" b="1" spc="37">
                <a:solidFill>
                  <a:srgbClr val="6B8299"/>
                </a:solidFill>
                <a:latin typeface="Segoe UI"/>
              </a:rPr>
              <a:t>VIRA VETO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154670" y="5689600"/>
            <a:ext cx="1104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sz="810" b="0">
                <a:solidFill>
                  <a:srgbClr val="E8EDF2"/>
                </a:solidFill>
                <a:latin typeface="Segoe UI"/>
              </a:rPr>
              <a:t>Proximidade do evento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162540" y="5725160"/>
            <a:ext cx="200660" cy="38100"/>
          </a:xfrm>
          <a:prstGeom prst="roundRect">
            <a:avLst>
              <a:gd name="adj" fmla="val 50000"/>
            </a:avLst>
          </a:prstGeom>
          <a:solidFill>
            <a:srgbClr val="3D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10219690" y="5781040"/>
            <a:ext cx="344170" cy="38100"/>
          </a:xfrm>
          <a:prstGeom prst="roundRect">
            <a:avLst>
              <a:gd name="adj" fmla="val 50000"/>
            </a:avLst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10077450" y="5704840"/>
            <a:ext cx="8890" cy="114300"/>
          </a:xfrm>
          <a:prstGeom prst="rect">
            <a:avLst/>
          </a:prstGeom>
          <a:solidFill>
            <a:srgbClr val="9B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0350500" y="5699760"/>
            <a:ext cx="1270000" cy="127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40" b="1" spc="37">
                <a:solidFill>
                  <a:srgbClr val="C2544D"/>
                </a:solidFill>
                <a:latin typeface="Segoe UI"/>
              </a:rPr>
              <a:t>REPROVADO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224645" y="5835650"/>
            <a:ext cx="635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20" b="0">
                <a:solidFill>
                  <a:srgbClr val="6B8299"/>
                </a:solidFill>
                <a:latin typeface="Segoe UI"/>
              </a:rPr>
              <a:t>−0,4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55505" y="5835650"/>
            <a:ext cx="635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20" b="0">
                <a:solidFill>
                  <a:srgbClr val="6B8299"/>
                </a:solidFill>
                <a:latin typeface="Segoe UI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285730" y="5835650"/>
            <a:ext cx="635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20" b="0">
                <a:solidFill>
                  <a:srgbClr val="6B8299"/>
                </a:solidFill>
                <a:latin typeface="Segoe UI"/>
              </a:rPr>
              <a:t>+0,4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153400" y="5981700"/>
            <a:ext cx="19050" cy="276860"/>
          </a:xfrm>
          <a:prstGeom prst="rect">
            <a:avLst/>
          </a:prstGeom>
          <a:solidFill>
            <a:srgbClr val="C9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8243570" y="5962650"/>
            <a:ext cx="3370579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0"/>
              </a:lnSpc>
            </a:pPr>
            <a:r>
              <a:rPr sz="810" b="0">
                <a:solidFill>
                  <a:srgbClr val="9BAEC0"/>
                </a:solidFill>
                <a:latin typeface="Segoe UI Semibold"/>
              </a:rPr>
              <a:t>Por que dois, e não quatro:</a:t>
            </a:r>
            <a:r>
              <a:rPr sz="810" b="0">
                <a:solidFill>
                  <a:srgbClr val="6B8299"/>
                </a:solidFill>
                <a:latin typeface="Segoe UI"/>
              </a:rPr>
              <a:t> critério declarado antes de calibrar; a proximidade reprovou invertida nas duas.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533</Words>
  <Application>Microsoft Office PowerPoint</Application>
  <PresentationFormat>Widescreen</PresentationFormat>
  <Paragraphs>88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Lia Haller Vasconcellos</cp:lastModifiedBy>
  <cp:revision>1</cp:revision>
  <dcterms:created xsi:type="dcterms:W3CDTF">2013-01-27T09:14:16Z</dcterms:created>
  <dcterms:modified xsi:type="dcterms:W3CDTF">2026-08-16T18:49:28Z</dcterms:modified>
  <cp:category/>
</cp:coreProperties>
</file>