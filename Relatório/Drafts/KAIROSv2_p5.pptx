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41" autoAdjust="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6459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80" dirty="0">
                <a:solidFill>
                  <a:srgbClr val="F5A623"/>
                </a:solidFill>
                <a:latin typeface="Segoe UI"/>
              </a:rPr>
              <a:t>KAIRÓS</a:t>
            </a:r>
            <a:r>
              <a:rPr sz="1200" b="0" spc="80" dirty="0">
                <a:solidFill>
                  <a:srgbClr val="9BAEC0"/>
                </a:solidFill>
                <a:latin typeface="Segoe UI"/>
              </a:rPr>
              <a:t>   Uso de IA </a:t>
            </a:r>
            <a:r>
              <a:rPr sz="1200" b="0" spc="80" dirty="0" err="1">
                <a:solidFill>
                  <a:srgbClr val="9BAEC0"/>
                </a:solidFill>
                <a:latin typeface="Segoe UI"/>
              </a:rPr>
              <a:t>generativa</a:t>
            </a:r>
            <a:r>
              <a:rPr sz="1200" b="0" spc="80" dirty="0">
                <a:solidFill>
                  <a:srgbClr val="9BAEC0"/>
                </a:solidFill>
                <a:latin typeface="Segoe UI"/>
              </a:rPr>
              <a:t> e </a:t>
            </a:r>
            <a:r>
              <a:rPr sz="1200" b="0" spc="80" dirty="0" err="1">
                <a:solidFill>
                  <a:srgbClr val="9BAEC0"/>
                </a:solidFill>
                <a:latin typeface="Segoe UI"/>
              </a:rPr>
              <a:t>próximos</a:t>
            </a:r>
            <a:r>
              <a:rPr sz="1200" b="0" spc="80" dirty="0">
                <a:solidFill>
                  <a:srgbClr val="9BAEC0"/>
                </a:solidFill>
                <a:latin typeface="Segoe UI"/>
              </a:rPr>
              <a:t> </a:t>
            </a:r>
            <a:r>
              <a:rPr sz="1200" b="0" spc="80" dirty="0" err="1">
                <a:solidFill>
                  <a:srgbClr val="9BAEC0"/>
                </a:solidFill>
                <a:latin typeface="Segoe UI"/>
              </a:rPr>
              <a:t>passos</a:t>
            </a:r>
            <a:endParaRPr sz="1200" b="0" spc="80" dirty="0">
              <a:solidFill>
                <a:srgbClr val="9BAEC0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451592" y="260151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6B8299"/>
                </a:solidFill>
                <a:latin typeface="Segoe UI"/>
              </a:rPr>
              <a:t>05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04672" y="46589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530428"/>
            <a:ext cx="47548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spc="100" dirty="0">
                <a:solidFill>
                  <a:srgbClr val="F5A623"/>
                </a:solidFill>
                <a:latin typeface="Segoe UI"/>
              </a:rPr>
              <a:t>A REGRA QUE ORGANIZOU O TRABALHO COM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761614"/>
            <a:ext cx="47548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err="1">
                <a:solidFill>
                  <a:srgbClr val="6B8299"/>
                </a:solidFill>
                <a:latin typeface="Segoe UI"/>
              </a:rPr>
              <a:t>Três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frentes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em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paralelo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,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cada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uma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dona dos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seus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módulos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e do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seu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branch, com as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regras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versionadas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no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próprio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repositório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— o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mesmo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arquivo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lido no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início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de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toda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sessão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,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em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qualquer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máquina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. A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regra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central é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uma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só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: </a:t>
            </a:r>
            <a:r>
              <a:rPr sz="700" b="1" dirty="0">
                <a:solidFill>
                  <a:srgbClr val="E8EDF2"/>
                </a:solidFill>
                <a:latin typeface="Segoe UI"/>
              </a:rPr>
              <a:t>a IA </a:t>
            </a:r>
            <a:r>
              <a:rPr sz="700" b="1" dirty="0" err="1">
                <a:solidFill>
                  <a:srgbClr val="E8EDF2"/>
                </a:solidFill>
                <a:latin typeface="Segoe UI"/>
              </a:rPr>
              <a:t>nunca</a:t>
            </a:r>
            <a:r>
              <a:rPr sz="7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700" b="1" dirty="0" err="1">
                <a:solidFill>
                  <a:srgbClr val="E8EDF2"/>
                </a:solidFill>
                <a:latin typeface="Segoe UI"/>
              </a:rPr>
              <a:t>fecha</a:t>
            </a:r>
            <a:r>
              <a:rPr sz="7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700" b="1" dirty="0" err="1">
                <a:solidFill>
                  <a:srgbClr val="E8EDF2"/>
                </a:solidFill>
                <a:latin typeface="Segoe UI"/>
              </a:rPr>
              <a:t>decisão</a:t>
            </a:r>
            <a:r>
              <a:rPr sz="7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700" b="1" dirty="0" err="1">
                <a:solidFill>
                  <a:srgbClr val="E8EDF2"/>
                </a:solidFill>
                <a:latin typeface="Segoe UI"/>
              </a:rPr>
              <a:t>metodológica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. Fonte,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universo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, forma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funcional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e valor de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parâmetro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saem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de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decisão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humana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registrada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;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até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ela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existir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, o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agente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escreve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TODO(DECISAO-N) e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toca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 o resto da </a:t>
            </a:r>
            <a:r>
              <a:rPr sz="700" b="0" dirty="0" err="1">
                <a:solidFill>
                  <a:srgbClr val="6B8299"/>
                </a:solidFill>
                <a:latin typeface="Segoe UI"/>
              </a:rPr>
              <a:t>tarefa</a:t>
            </a:r>
            <a:r>
              <a:rPr sz="700" b="0" dirty="0">
                <a:solidFill>
                  <a:srgbClr val="6B8299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3184" y="775143"/>
            <a:ext cx="2788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F5A623"/>
                </a:solidFill>
                <a:latin typeface="Segoe UI"/>
              </a:rPr>
              <a:t>· </a:t>
            </a:r>
            <a:r>
              <a:rPr sz="610" b="1">
                <a:solidFill>
                  <a:srgbClr val="E8EDF2"/>
                </a:solidFill>
                <a:latin typeface="Segoe UI"/>
              </a:rPr>
              <a:t>Um dono por módulo.</a:t>
            </a:r>
            <a:r>
              <a:rPr sz="610" b="0">
                <a:solidFill>
                  <a:srgbClr val="6B8299"/>
                </a:solidFill>
                <a:latin typeface="Segoe UI"/>
              </a:rPr>
              <a:t> Código de outro dono não se edita: o defeito vira observação no LOG dele.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9264" y="775143"/>
            <a:ext cx="2788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F5A623"/>
                </a:solidFill>
                <a:latin typeface="Segoe UI"/>
              </a:rPr>
              <a:t>· </a:t>
            </a:r>
            <a:r>
              <a:rPr sz="610" b="1">
                <a:solidFill>
                  <a:srgbClr val="E8EDF2"/>
                </a:solidFill>
                <a:latin typeface="Segoe UI"/>
              </a:rPr>
              <a:t>Ritual de sessão obrigatório.</a:t>
            </a:r>
            <a:r>
              <a:rPr sz="610" b="0">
                <a:solidFill>
                  <a:srgbClr val="6B8299"/>
                </a:solidFill>
                <a:latin typeface="Segoe UI"/>
              </a:rPr>
              <a:t> Toda sessão fecha com entrada no LOG e um bloco “Uso de IA”. Esta página sai dele.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3184" y="1031175"/>
            <a:ext cx="2788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F5A623"/>
                </a:solidFill>
                <a:latin typeface="Segoe UI"/>
              </a:rPr>
              <a:t>· </a:t>
            </a:r>
            <a:r>
              <a:rPr sz="610" b="1">
                <a:solidFill>
                  <a:srgbClr val="E8EDF2"/>
                </a:solidFill>
                <a:latin typeface="Segoe UI"/>
              </a:rPr>
              <a:t>Second-brain por branch.</a:t>
            </a:r>
            <a:r>
              <a:rPr sz="610" b="0">
                <a:solidFill>
                  <a:srgbClr val="6B8299"/>
                </a:solidFill>
                <a:latin typeface="Segoe UI"/>
              </a:rPr>
              <a:t> 40 análises e o registro de decisões versionados: a sessão nova lê o estado, não relembra a conversa.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89264" y="1031175"/>
            <a:ext cx="2788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F5A623"/>
                </a:solidFill>
                <a:latin typeface="Segoe UI"/>
              </a:rPr>
              <a:t>· </a:t>
            </a:r>
            <a:r>
              <a:rPr sz="610" b="1">
                <a:solidFill>
                  <a:srgbClr val="E8EDF2"/>
                </a:solidFill>
                <a:latin typeface="Segoe UI"/>
              </a:rPr>
              <a:t>Placeholder em vez de palpite.</a:t>
            </a:r>
            <a:r>
              <a:rPr sz="610" b="0">
                <a:solidFill>
                  <a:srgbClr val="6B8299"/>
                </a:solidFill>
                <a:latin typeface="Segoe UI"/>
              </a:rPr>
              <a:t> 81 decisões escaladas com data rastreável, outras 43 sem data. Nenhuma fechada pelo agente.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1337637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1423223"/>
            <a:ext cx="5486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spc="100">
                <a:solidFill>
                  <a:srgbClr val="F5A623"/>
                </a:solidFill>
                <a:latin typeface="Segoe UI"/>
              </a:rPr>
              <a:t>DADOS GERAIS · O PROCESSO MEDIDO, NÃO ESTIMADO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589431"/>
            <a:ext cx="251460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spc="80">
                <a:solidFill>
                  <a:srgbClr val="6B8299"/>
                </a:solidFill>
                <a:latin typeface="Segoe UI"/>
              </a:rPr>
              <a:t>SESSÕES DE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717447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5A623"/>
                </a:solidFill>
                <a:latin typeface="Segoe UI"/>
              </a:rPr>
              <a:t>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019199"/>
            <a:ext cx="251460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B8299"/>
                </a:solidFill>
                <a:latin typeface="Segoe UI"/>
              </a:rPr>
              <a:t>Felipe 55 · Lia 18 · Paulo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589431"/>
            <a:ext cx="251460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spc="80">
                <a:solidFill>
                  <a:srgbClr val="6B8299"/>
                </a:solidFill>
                <a:latin typeface="Segoe UI"/>
              </a:rPr>
              <a:t>TOKENS POR SESSÃO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1717447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5A623"/>
                </a:solidFill>
                <a:latin typeface="Segoe UI"/>
              </a:rPr>
              <a:t>232k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2019199"/>
            <a:ext cx="251460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B8299"/>
                </a:solidFill>
                <a:latin typeface="Segoe UI"/>
              </a:rPr>
              <a:t>média · 19,7M no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9904" y="1589431"/>
            <a:ext cx="251460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spc="80">
                <a:solidFill>
                  <a:srgbClr val="6B8299"/>
                </a:solidFill>
                <a:latin typeface="Segoe UI"/>
              </a:rPr>
              <a:t>DECISÕES REGISTRADAS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9904" y="1717447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5A623"/>
                </a:solidFill>
                <a:latin typeface="Segoe UI"/>
              </a:rPr>
              <a:t>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9904" y="2019199"/>
            <a:ext cx="251460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B8299"/>
                </a:solidFill>
                <a:latin typeface="Segoe UI"/>
              </a:rPr>
              <a:t>escaladas para decisão humana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3376" y="1589431"/>
            <a:ext cx="251460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spc="80">
                <a:solidFill>
                  <a:srgbClr val="6B8299"/>
                </a:solidFill>
                <a:latin typeface="Segoe UI"/>
              </a:rPr>
              <a:t>TAXA DE RECORREÇÃO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3376" y="1717447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5A623"/>
                </a:solidFill>
                <a:latin typeface="Segoe UI"/>
              </a:rPr>
              <a:t>37%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3376" y="2019199"/>
            <a:ext cx="251460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B8299"/>
                </a:solidFill>
                <a:latin typeface="Segoe UI"/>
              </a:rPr>
              <a:t>das sessões pediram 2ª rodada (87 medidas)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2156359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2226414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spc="100">
                <a:solidFill>
                  <a:srgbClr val="F5A623"/>
                </a:solidFill>
                <a:latin typeface="Segoe UI"/>
              </a:rPr>
              <a:t>LINHA DO TEMPO DO PROJETO</a:t>
            </a:r>
          </a:p>
        </p:txBody>
      </p:sp>
      <p:pic>
        <p:nvPicPr>
          <p:cNvPr id="27" name="Picture 26" descr="p5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91006"/>
            <a:ext cx="3840480" cy="160966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2960" y="4072022"/>
            <a:ext cx="38404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dirty="0">
                <a:solidFill>
                  <a:srgbClr val="6B8299"/>
                </a:solidFill>
                <a:latin typeface="Segoe UI"/>
              </a:rPr>
              <a:t>Barras: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contexto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por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dia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,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empilhado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por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frente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;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linha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: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decisões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acumuladas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.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Oito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dias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de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agosto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concentram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o grosso do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contexto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e a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subida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de 13 para 81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decisões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.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Hachurado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: as 33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sessões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cujo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token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foi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convertido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de “% da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janela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”.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226414"/>
            <a:ext cx="30175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spc="100">
                <a:solidFill>
                  <a:srgbClr val="F5A623"/>
                </a:solidFill>
                <a:latin typeface="Segoe UI"/>
              </a:rPr>
              <a:t>TIPO DE SESSÃO · POR SESSÃO E POR TOKEN</a:t>
            </a:r>
          </a:p>
        </p:txBody>
      </p:sp>
      <p:pic>
        <p:nvPicPr>
          <p:cNvPr id="30" name="Picture 29" descr="p5_do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91006"/>
            <a:ext cx="3017520" cy="164801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846320" y="4127290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dirty="0" err="1">
                <a:solidFill>
                  <a:srgbClr val="6B8299"/>
                </a:solidFill>
                <a:latin typeface="Segoe UI"/>
              </a:rPr>
              <a:t>Os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91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blocos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do LOG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classificados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à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mão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,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por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regra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fechada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antes da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contagem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.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Análise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e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medição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leva 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54% das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sessões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e 71% dos tokens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;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código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, 15% e 4%. O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caro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não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foi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escrever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código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—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foi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medir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2226414"/>
            <a:ext cx="3227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spc="100">
                <a:solidFill>
                  <a:srgbClr val="F5A623"/>
                </a:solidFill>
                <a:latin typeface="Segoe UI"/>
              </a:rPr>
              <a:t>ERROS DA IA × MECANISMO QUE PEGOU</a:t>
            </a:r>
          </a:p>
        </p:txBody>
      </p:sp>
      <p:pic>
        <p:nvPicPr>
          <p:cNvPr id="33" name="Picture 32" descr="p5_er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391006"/>
            <a:ext cx="3227832" cy="154916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38160" y="4000501"/>
            <a:ext cx="322783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dirty="0">
                <a:solidFill>
                  <a:srgbClr val="6B8299"/>
                </a:solidFill>
                <a:latin typeface="Segoe UI"/>
              </a:rPr>
              <a:t>145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erros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contados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um a um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nos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três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LOGs. Código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quebrado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é a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maior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categoria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(72) e a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mais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barata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: 40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morrem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na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execução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. Na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outra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ponta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,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texto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impreciso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(13) e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escopo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errado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(10)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não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têm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um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único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erro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pego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40" b="1" dirty="0" err="1">
                <a:solidFill>
                  <a:srgbClr val="E8EDF2"/>
                </a:solidFill>
                <a:latin typeface="Segoe UI"/>
              </a:rPr>
              <a:t>por</a:t>
            </a:r>
            <a:r>
              <a:rPr sz="640" b="1" dirty="0">
                <a:solidFill>
                  <a:srgbClr val="E8EDF2"/>
                </a:solidFill>
                <a:latin typeface="Segoe UI"/>
              </a:rPr>
              <a:t> teste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— a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conferência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humana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pegou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os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23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ainda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na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40" b="0" dirty="0" err="1">
                <a:solidFill>
                  <a:srgbClr val="6B8299"/>
                </a:solidFill>
                <a:latin typeface="Segoe UI"/>
              </a:rPr>
              <a:t>sessão</a:t>
            </a:r>
            <a:r>
              <a:rPr sz="640" b="0" dirty="0">
                <a:solidFill>
                  <a:srgbClr val="6B8299"/>
                </a:solidFill>
                <a:latin typeface="Segoe UI"/>
              </a:rPr>
              <a:t>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2960" y="455371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4626864"/>
            <a:ext cx="19659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spc="100">
                <a:solidFill>
                  <a:srgbClr val="F5A623"/>
                </a:solidFill>
                <a:latin typeface="Segoe UI"/>
              </a:rPr>
              <a:t>A SEPARAÇÃO DO TRABALHO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812741"/>
            <a:ext cx="1965960" cy="12262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dirty="0">
                <a:solidFill>
                  <a:srgbClr val="F5A623"/>
                </a:solidFill>
                <a:latin typeface="Segoe UI"/>
              </a:rPr>
              <a:t>■ </a:t>
            </a:r>
            <a:r>
              <a:rPr sz="610" b="1" dirty="0">
                <a:solidFill>
                  <a:srgbClr val="E8EDF2"/>
                </a:solidFill>
                <a:latin typeface="Segoe UI"/>
              </a:rPr>
              <a:t>A IA </a:t>
            </a:r>
            <a:r>
              <a:rPr sz="610" b="1" dirty="0" err="1">
                <a:solidFill>
                  <a:srgbClr val="E8EDF2"/>
                </a:solidFill>
                <a:latin typeface="Segoe UI"/>
              </a:rPr>
              <a:t>sozinha</a:t>
            </a:r>
            <a:r>
              <a:rPr sz="610" b="1" dirty="0">
                <a:solidFill>
                  <a:srgbClr val="E8EDF2"/>
                </a:solidFill>
                <a:latin typeface="Segoe UI"/>
              </a:rPr>
              <a:t>.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Código,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varredura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,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medição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repetida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e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prosa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gerada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a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partir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dos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números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: 38 scripts, 37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arquivos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de teste e 40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análises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só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neste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branch.</a:t>
            </a:r>
          </a:p>
          <a:p>
            <a:pPr algn="just">
              <a:lnSpc>
                <a:spcPct val="118000"/>
              </a:lnSpc>
              <a:spcBef>
                <a:spcPts val="500"/>
              </a:spcBef>
              <a:spcAft>
                <a:spcPts val="0"/>
              </a:spcAft>
            </a:pPr>
            <a:r>
              <a:rPr sz="610" b="1" dirty="0">
                <a:solidFill>
                  <a:srgbClr val="4FC3D9"/>
                </a:solidFill>
                <a:latin typeface="Segoe UI"/>
              </a:rPr>
              <a:t>■ </a:t>
            </a:r>
            <a:r>
              <a:rPr sz="610" b="1" dirty="0">
                <a:solidFill>
                  <a:srgbClr val="E8EDF2"/>
                </a:solidFill>
                <a:latin typeface="Segoe UI"/>
              </a:rPr>
              <a:t>Só o </a:t>
            </a:r>
            <a:r>
              <a:rPr sz="610" b="1" dirty="0" err="1">
                <a:solidFill>
                  <a:srgbClr val="E8EDF2"/>
                </a:solidFill>
                <a:latin typeface="Segoe UI"/>
              </a:rPr>
              <a:t>humano</a:t>
            </a:r>
            <a:r>
              <a:rPr sz="610" b="1" dirty="0">
                <a:solidFill>
                  <a:srgbClr val="E8EDF2"/>
                </a:solidFill>
                <a:latin typeface="Segoe UI"/>
              </a:rPr>
              <a:t>.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Fonte,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universo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, forma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funcional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,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parâmetro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e o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que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entra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na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entrega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— e o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veredito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de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cada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régua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,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escrito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antes de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medir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.</a:t>
            </a:r>
          </a:p>
          <a:p>
            <a:pPr algn="just">
              <a:lnSpc>
                <a:spcPct val="118000"/>
              </a:lnSpc>
              <a:spcBef>
                <a:spcPts val="500"/>
              </a:spcBef>
              <a:spcAft>
                <a:spcPts val="0"/>
              </a:spcAft>
            </a:pPr>
            <a:r>
              <a:rPr sz="610" b="1" dirty="0">
                <a:solidFill>
                  <a:srgbClr val="E8EDF2"/>
                </a:solidFill>
                <a:latin typeface="Segoe UI"/>
              </a:rPr>
              <a:t>■ </a:t>
            </a:r>
            <a:r>
              <a:rPr sz="610" b="1" dirty="0" err="1">
                <a:solidFill>
                  <a:srgbClr val="E8EDF2"/>
                </a:solidFill>
                <a:latin typeface="Segoe UI"/>
              </a:rPr>
              <a:t>Nenhum</a:t>
            </a:r>
            <a:r>
              <a:rPr sz="610" b="1" dirty="0">
                <a:solidFill>
                  <a:srgbClr val="E8EDF2"/>
                </a:solidFill>
                <a:latin typeface="Segoe UI"/>
              </a:rPr>
              <a:t> dos </a:t>
            </a:r>
            <a:r>
              <a:rPr sz="610" b="1" dirty="0" err="1">
                <a:solidFill>
                  <a:srgbClr val="E8EDF2"/>
                </a:solidFill>
                <a:latin typeface="Segoe UI"/>
              </a:rPr>
              <a:t>dois</a:t>
            </a:r>
            <a:r>
              <a:rPr sz="61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10" b="1" dirty="0" err="1">
                <a:solidFill>
                  <a:srgbClr val="E8EDF2"/>
                </a:solidFill>
                <a:latin typeface="Segoe UI"/>
              </a:rPr>
              <a:t>sozinho</a:t>
            </a:r>
            <a:r>
              <a:rPr sz="610" b="1" dirty="0">
                <a:solidFill>
                  <a:srgbClr val="E8EDF2"/>
                </a:solidFill>
                <a:latin typeface="Segoe UI"/>
              </a:rPr>
              <a:t>.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O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critério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que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julga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um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ingrediente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é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humano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e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declarado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antes; a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varredura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que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o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aplica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é da IA. Trocar a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ordem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produz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overfit com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cara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 de </a:t>
            </a:r>
            <a:r>
              <a:rPr sz="610" b="0" dirty="0" err="1">
                <a:solidFill>
                  <a:srgbClr val="6B8299"/>
                </a:solidFill>
                <a:latin typeface="Segoe UI"/>
              </a:rPr>
              <a:t>método</a:t>
            </a:r>
            <a:r>
              <a:rPr sz="610" b="0" dirty="0">
                <a:solidFill>
                  <a:srgbClr val="6B8299"/>
                </a:solidFill>
                <a:latin typeface="Segoe UI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58084" y="4626864"/>
            <a:ext cx="19659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spc="100">
                <a:solidFill>
                  <a:srgbClr val="F5A623"/>
                </a:solidFill>
                <a:latin typeface="Segoe UI"/>
              </a:rPr>
              <a:t>ONDE A IA AGREGOU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69352" y="4803541"/>
            <a:ext cx="1965960" cy="1400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dirty="0" err="1">
                <a:solidFill>
                  <a:srgbClr val="E8EDF2"/>
                </a:solidFill>
                <a:latin typeface="Segoe UI"/>
              </a:rPr>
              <a:t>Varredura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exaustiva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ficou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barata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. 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13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candidatas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táticas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medidas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antes de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uma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entrar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,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cada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ingrediente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do Ω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testado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em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várias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grades,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horizontes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e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janelas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— ~200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comparações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só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na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busca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tática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. À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mão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, nada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disso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teria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sido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testado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.</a:t>
            </a:r>
          </a:p>
          <a:p>
            <a:pPr algn="just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600" b="1" dirty="0" err="1">
                <a:solidFill>
                  <a:srgbClr val="E8EDF2"/>
                </a:solidFill>
                <a:latin typeface="Segoe UI"/>
              </a:rPr>
              <a:t>Prosa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gerada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do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número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. 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As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páginas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saem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de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gerador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alimentado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por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artefato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medido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; a legenda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muda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quando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o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número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muda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.</a:t>
            </a:r>
          </a:p>
          <a:p>
            <a:pPr algn="just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600" b="1" dirty="0" err="1">
                <a:solidFill>
                  <a:srgbClr val="E8EDF2"/>
                </a:solidFill>
                <a:latin typeface="Segoe UI"/>
              </a:rPr>
              <a:t>Revisão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cruzada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entre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agentes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. 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classificação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dos 91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blocos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saiu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de 4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agentes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com briefing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único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, e 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conferência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própria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saída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pegou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3 dos 6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erros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sessão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3208" y="4626864"/>
            <a:ext cx="19659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spc="100">
                <a:solidFill>
                  <a:srgbClr val="F5A623"/>
                </a:solidFill>
                <a:latin typeface="Segoe UI"/>
              </a:rPr>
              <a:t>ONDE A IA FALHOU, E O QUE CONTEVE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15744" y="4803505"/>
            <a:ext cx="1965960" cy="16180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dirty="0" err="1">
                <a:solidFill>
                  <a:srgbClr val="E8EDF2"/>
                </a:solidFill>
                <a:latin typeface="Segoe UI"/>
              </a:rPr>
              <a:t>Premissa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herdada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,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pega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pelo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humano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. 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A IA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afirmou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que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o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mapeamento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cenário→ativo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estava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congelado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; o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congelado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era 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camada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tática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. Duas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rodadas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de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correção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do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dono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— e o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registro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errado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já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tinha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entrado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em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duas entradas do LOG.</a:t>
            </a:r>
          </a:p>
          <a:p>
            <a:pPr algn="just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600" b="1" dirty="0" err="1">
                <a:solidFill>
                  <a:srgbClr val="E8EDF2"/>
                </a:solidFill>
                <a:latin typeface="Segoe UI"/>
              </a:rPr>
              <a:t>Contagem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que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contava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o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que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não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era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decisão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. 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primeira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regra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de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citação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lia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“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categoria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2” e “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opção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1”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como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ID de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decisão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. Pega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auditando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própria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saída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; 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regra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final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declara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o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preço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: 43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decisões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ficam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sem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data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em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vez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de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sumir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.</a:t>
            </a:r>
          </a:p>
          <a:p>
            <a:pPr algn="just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600" b="1" dirty="0" err="1">
                <a:solidFill>
                  <a:srgbClr val="E8EDF2"/>
                </a:solidFill>
                <a:latin typeface="Segoe UI"/>
              </a:rPr>
              <a:t>Defeito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latente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que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só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 um assert novo </a:t>
            </a:r>
            <a:r>
              <a:rPr sz="600" b="1" dirty="0" err="1">
                <a:solidFill>
                  <a:srgbClr val="E8EDF2"/>
                </a:solidFill>
                <a:latin typeface="Segoe UI"/>
              </a:rPr>
              <a:t>revelou</a:t>
            </a:r>
            <a:r>
              <a:rPr sz="600" b="1" dirty="0">
                <a:solidFill>
                  <a:srgbClr val="E8EDF2"/>
                </a:solidFill>
                <a:latin typeface="Segoe UI"/>
              </a:rPr>
              <a:t>. 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O auto-teste do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gerador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desta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página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misturava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LOG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sintético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com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os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LOGs reais —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invisível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desde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que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a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função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foi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 </a:t>
            </a:r>
            <a:r>
              <a:rPr sz="600" b="0" dirty="0" err="1">
                <a:solidFill>
                  <a:srgbClr val="6B8299"/>
                </a:solidFill>
                <a:latin typeface="Segoe UI"/>
              </a:rPr>
              <a:t>escrita</a:t>
            </a:r>
            <a:r>
              <a:rPr sz="600" b="0" dirty="0">
                <a:solidFill>
                  <a:srgbClr val="6B8299"/>
                </a:solidFill>
                <a:latin typeface="Segoe UI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63456" y="4626864"/>
            <a:ext cx="19659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spc="100" dirty="0">
                <a:solidFill>
                  <a:srgbClr val="F5A623"/>
                </a:solidFill>
                <a:latin typeface="Segoe UI"/>
              </a:rPr>
              <a:t>PRÓXIMOS PASSOS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63456" y="4901183"/>
            <a:ext cx="1965960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8EDF2"/>
                </a:solidFill>
                <a:latin typeface="Segoe UI"/>
              </a:rPr>
              <a:t>Termos fora da diagonal no Ω. </a:t>
            </a:r>
            <a:r>
              <a:rPr sz="600" b="0">
                <a:solidFill>
                  <a:srgbClr val="6B8299"/>
                </a:solidFill>
                <a:latin typeface="Segoe UI"/>
              </a:rPr>
              <a:t>É a limitação com endereço mais claro: a correlação entre views já está medida.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600" b="1">
                <a:solidFill>
                  <a:srgbClr val="E8EDF2"/>
                </a:solidFill>
                <a:latin typeface="Segoe UI"/>
              </a:rPr>
              <a:t>Banda de não-negociação. </a:t>
            </a:r>
            <a:r>
              <a:rPr sz="600" b="0">
                <a:solidFill>
                  <a:srgbClr val="6B8299"/>
                </a:solidFill>
                <a:latin typeface="Segoe UI"/>
              </a:rPr>
              <a:t>Contra os 42% de giro desfeito em dois pregões — o breakeven de 22,9 bps por lado diz que há espaço para não negociar.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600" b="1">
                <a:solidFill>
                  <a:srgbClr val="E8EDF2"/>
                </a:solidFill>
                <a:latin typeface="Segoe UI"/>
              </a:rPr>
              <a:t>Ampliar o universo pelo critério certo. </a:t>
            </a:r>
            <a:r>
              <a:rPr sz="600" b="0">
                <a:solidFill>
                  <a:srgbClr val="6B8299"/>
                </a:solidFill>
                <a:latin typeface="Segoe UI"/>
              </a:rPr>
              <a:t>Não por classe de ativo, e sim por haver notícia a que o preço responda.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600" b="1">
                <a:solidFill>
                  <a:srgbClr val="E8EDF2"/>
                </a:solidFill>
                <a:latin typeface="Segoe UI"/>
              </a:rPr>
              <a:t>Validar em regime de queda. </a:t>
            </a:r>
            <a:r>
              <a:rPr sz="600" b="0">
                <a:solidFill>
                  <a:srgbClr val="6B8299"/>
                </a:solidFill>
                <a:latin typeface="Segoe UI"/>
              </a:rPr>
              <a:t>O que a página 4 admite é o que falta testar: a vantagem veio da subida.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455664"/>
            <a:ext cx="105430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dirty="0" err="1">
                <a:solidFill>
                  <a:srgbClr val="F5A623"/>
                </a:solidFill>
                <a:latin typeface="Segoe UI"/>
              </a:rPr>
              <a:t>Fechamento</a:t>
            </a:r>
            <a:r>
              <a:rPr sz="700" b="1" dirty="0">
                <a:solidFill>
                  <a:srgbClr val="F5A623"/>
                </a:solidFill>
                <a:latin typeface="Segoe UI"/>
              </a:rPr>
              <a:t>.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Kairós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troca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opinião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por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preço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observável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: o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que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a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estratégia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entrega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é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disciplina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,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não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adivinhação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— e a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mesma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regra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que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a IA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seguiu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para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construí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-la é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essa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,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decisão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humana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registrada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 antes do </a:t>
            </a:r>
            <a:r>
              <a:rPr sz="700" b="0" dirty="0" err="1">
                <a:solidFill>
                  <a:srgbClr val="9BAEC0"/>
                </a:solidFill>
                <a:latin typeface="Segoe UI"/>
              </a:rPr>
              <a:t>número</a:t>
            </a:r>
            <a:r>
              <a:rPr sz="700" b="0" dirty="0">
                <a:solidFill>
                  <a:srgbClr val="9BAEC0"/>
                </a:solidFill>
                <a:latin typeface="Segoe UI"/>
              </a:rPr>
              <a:t>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" y="665683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2960" y="6702552"/>
            <a:ext cx="10543032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B8299"/>
                </a:solidFill>
                <a:latin typeface="Segoe UI"/>
              </a:rPr>
              <a:t>91 sessões e 19,7M de tokens lidos dos três </a:t>
            </a:r>
            <a:r>
              <a:rPr sz="600" b="0">
                <a:solidFill>
                  <a:srgbClr val="9BAEC0"/>
                </a:solidFill>
                <a:latin typeface="Segoe UI"/>
              </a:rPr>
              <a:t>LOG.md</a:t>
            </a:r>
            <a:r>
              <a:rPr sz="600" b="0">
                <a:solidFill>
                  <a:srgbClr val="6B8299"/>
                </a:solidFill>
                <a:latin typeface="Segoe UI"/>
              </a:rPr>
              <a:t> do projeto (Felipe · Lia · Paulo) por </a:t>
            </a:r>
            <a:r>
              <a:rPr sz="600" b="0">
                <a:solidFill>
                  <a:srgbClr val="9BAEC0"/>
                </a:solidFill>
                <a:latin typeface="Segoe UI"/>
              </a:rPr>
              <a:t>graficos_p5.py</a:t>
            </a:r>
            <a:r>
              <a:rPr sz="600" b="0">
                <a:solidFill>
                  <a:srgbClr val="6B8299"/>
                </a:solidFill>
                <a:latin typeface="Segoe UI"/>
              </a:rPr>
              <a:t>. Tipo de sessão e taxonomia de erro são classificação manual, por regra declarada antes da contagem, linha a linha em </a:t>
            </a:r>
            <a:r>
              <a:rPr sz="600" b="0">
                <a:solidFill>
                  <a:srgbClr val="9BAEC0"/>
                </a:solidFill>
                <a:latin typeface="Segoe UI"/>
              </a:rPr>
              <a:t>classificacao_*.csv</a:t>
            </a:r>
            <a:r>
              <a:rPr sz="600" b="0">
                <a:solidFill>
                  <a:srgbClr val="6B8299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974</Words>
  <Application>Microsoft Office PowerPoint</Application>
  <PresentationFormat>Widescreen</PresentationFormat>
  <Paragraphs>46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Segoe UI</vt:lpstr>
      <vt:lpstr>Office Theme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da Costa Menusier</cp:lastModifiedBy>
  <cp:revision>3</cp:revision>
  <dcterms:created xsi:type="dcterms:W3CDTF">2013-01-27T09:14:16Z</dcterms:created>
  <dcterms:modified xsi:type="dcterms:W3CDTF">2026-08-15T23:48:31Z</dcterms:modified>
  <cp:category/>
</cp:coreProperties>
</file>