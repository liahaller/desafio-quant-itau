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>
        <p:scale>
          <a:sx n="103" d="100"/>
          <a:sy n="103" d="100"/>
        </p:scale>
        <p:origin x="-278" y="-1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64592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80" dirty="0">
                <a:solidFill>
                  <a:srgbClr val="F5A623"/>
                </a:solidFill>
                <a:latin typeface="Segoe UI"/>
              </a:rPr>
              <a:t>KAIRÓS</a:t>
            </a:r>
            <a:r>
              <a:rPr sz="1200" b="0" spc="80" dirty="0">
                <a:solidFill>
                  <a:srgbClr val="9BAEC0"/>
                </a:solidFill>
                <a:latin typeface="Segoe UI"/>
              </a:rPr>
              <a:t>   Uso de IA </a:t>
            </a:r>
            <a:r>
              <a:rPr sz="1200" b="0" spc="80" dirty="0" err="1">
                <a:solidFill>
                  <a:srgbClr val="9BAEC0"/>
                </a:solidFill>
                <a:latin typeface="Segoe UI"/>
              </a:rPr>
              <a:t>generativa</a:t>
            </a:r>
            <a:r>
              <a:rPr sz="1200" b="0" spc="80" dirty="0">
                <a:solidFill>
                  <a:srgbClr val="9BAEC0"/>
                </a:solidFill>
                <a:latin typeface="Segoe UI"/>
              </a:rPr>
              <a:t> e </a:t>
            </a:r>
            <a:r>
              <a:rPr sz="1200" b="0" spc="80" dirty="0" err="1">
                <a:solidFill>
                  <a:srgbClr val="9BAEC0"/>
                </a:solidFill>
                <a:latin typeface="Segoe UI"/>
              </a:rPr>
              <a:t>próximos</a:t>
            </a:r>
            <a:r>
              <a:rPr sz="1200" b="0" spc="80" dirty="0">
                <a:solidFill>
                  <a:srgbClr val="9BAEC0"/>
                </a:solidFill>
                <a:latin typeface="Segoe UI"/>
              </a:rPr>
              <a:t> </a:t>
            </a:r>
            <a:r>
              <a:rPr sz="1200" b="0" spc="80" dirty="0" err="1">
                <a:solidFill>
                  <a:srgbClr val="9BAEC0"/>
                </a:solidFill>
                <a:latin typeface="Segoe UI"/>
              </a:rPr>
              <a:t>passos</a:t>
            </a:r>
            <a:endParaRPr sz="1200" b="0" spc="80" dirty="0">
              <a:solidFill>
                <a:srgbClr val="9BAEC0"/>
              </a:solidFill>
              <a:latin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51592" y="260151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6B8299"/>
                </a:solidFill>
                <a:latin typeface="Segoe UI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04672" y="46589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530428"/>
            <a:ext cx="47548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 dirty="0">
                <a:solidFill>
                  <a:srgbClr val="F5A623"/>
                </a:solidFill>
                <a:latin typeface="Segoe UI"/>
              </a:rPr>
              <a:t>A REGRA QUE ORGANIZOU O TRABALHO COM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761614"/>
            <a:ext cx="475488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dirty="0" err="1">
                <a:solidFill>
                  <a:srgbClr val="6B8299"/>
                </a:solidFill>
                <a:latin typeface="Segoe UI"/>
              </a:rPr>
              <a:t>Três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frentes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paralelo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cada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uma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dona dos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seus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módulos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e do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seu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branch, com as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regras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versionadas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no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próprio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repositório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— o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mesmo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arquivo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lido no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início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toda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sessão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qualquer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máquina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. A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regra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central é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uma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só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: 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a IA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nunca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fecha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decisão</a:t>
            </a:r>
            <a:r>
              <a:rPr sz="7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700" b="1" dirty="0" err="1">
                <a:solidFill>
                  <a:srgbClr val="E8EDF2"/>
                </a:solidFill>
                <a:latin typeface="Segoe UI"/>
              </a:rPr>
              <a:t>metodológica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. Fonte,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universo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, forma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funcional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e valor de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parâmetro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saem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decisão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humana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registrada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;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até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ela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existir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, o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agente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escreve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TODO(DECISAO-N) e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toca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 o resto da </a:t>
            </a:r>
            <a:r>
              <a:rPr sz="700" b="0" dirty="0" err="1">
                <a:solidFill>
                  <a:srgbClr val="6B8299"/>
                </a:solidFill>
                <a:latin typeface="Segoe UI"/>
              </a:rPr>
              <a:t>tarefa</a:t>
            </a:r>
            <a:r>
              <a:rPr sz="70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3184" y="775143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Um dono por módulo.</a:t>
            </a:r>
            <a:r>
              <a:rPr sz="610" b="0">
                <a:solidFill>
                  <a:srgbClr val="6B8299"/>
                </a:solidFill>
                <a:latin typeface="Segoe UI"/>
              </a:rPr>
              <a:t> Código de outro dono não se edita: o defeito vira observação no LOG dele.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89264" y="775143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Ritual de sessão obrigatório.</a:t>
            </a:r>
            <a:r>
              <a:rPr sz="610" b="0">
                <a:solidFill>
                  <a:srgbClr val="6B8299"/>
                </a:solidFill>
                <a:latin typeface="Segoe UI"/>
              </a:rPr>
              <a:t> Toda sessão fecha com entrada no LOG e um bloco “Uso de IA”. Esta página sai dele.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3184" y="1031175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Second-brain por branch.</a:t>
            </a:r>
            <a:r>
              <a:rPr sz="610" b="0">
                <a:solidFill>
                  <a:srgbClr val="6B8299"/>
                </a:solidFill>
                <a:latin typeface="Segoe UI"/>
              </a:rPr>
              <a:t> 40 análises e o registro de decisões versionados: a sessão nova lê o estado, não relembra a conversa.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9264" y="1031175"/>
            <a:ext cx="2788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5A623"/>
                </a:solidFill>
                <a:latin typeface="Segoe UI"/>
              </a:rPr>
              <a:t>· </a:t>
            </a:r>
            <a:r>
              <a:rPr sz="610" b="1">
                <a:solidFill>
                  <a:srgbClr val="E8EDF2"/>
                </a:solidFill>
                <a:latin typeface="Segoe UI"/>
              </a:rPr>
              <a:t>Placeholder em vez de palpite.</a:t>
            </a:r>
            <a:r>
              <a:rPr sz="610" b="0">
                <a:solidFill>
                  <a:srgbClr val="6B8299"/>
                </a:solidFill>
                <a:latin typeface="Segoe UI"/>
              </a:rPr>
              <a:t> 81 decisões escaladas com data rastreável, outras 43 sem data. Nenhuma fechada pelo agente.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1337637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1423223"/>
            <a:ext cx="54864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>
                <a:solidFill>
                  <a:srgbClr val="F5A623"/>
                </a:solidFill>
                <a:latin typeface="Segoe UI"/>
              </a:rPr>
              <a:t>DADOS GERAIS · O PROCESSO MEDIDO, NÃO ESTIMADO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589431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spc="80">
                <a:solidFill>
                  <a:srgbClr val="6B8299"/>
                </a:solidFill>
                <a:latin typeface="Segoe UI"/>
              </a:rPr>
              <a:t>SESSÕES DE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717447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A623"/>
                </a:solidFill>
                <a:latin typeface="Segoe UI"/>
              </a:rPr>
              <a:t>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19199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B8299"/>
                </a:solidFill>
                <a:latin typeface="Segoe UI"/>
              </a:rPr>
              <a:t>Felipe 55 · Lia 18 · Paulo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1589431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spc="80">
                <a:solidFill>
                  <a:srgbClr val="6B8299"/>
                </a:solidFill>
                <a:latin typeface="Segoe UI"/>
              </a:rPr>
              <a:t>TOKENS POR SESSÃO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717447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A623"/>
                </a:solidFill>
                <a:latin typeface="Segoe UI"/>
              </a:rPr>
              <a:t>232k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019199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B8299"/>
                </a:solidFill>
                <a:latin typeface="Segoe UI"/>
              </a:rPr>
              <a:t>média · 19,7M no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1589431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spc="80">
                <a:solidFill>
                  <a:srgbClr val="6B8299"/>
                </a:solidFill>
                <a:latin typeface="Segoe UI"/>
              </a:rPr>
              <a:t>DECISÕES REGISTRADAS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9904" y="1717447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A623"/>
                </a:solidFill>
                <a:latin typeface="Segoe UI"/>
              </a:rPr>
              <a:t>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2019199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B8299"/>
                </a:solidFill>
                <a:latin typeface="Segoe UI"/>
              </a:rPr>
              <a:t>escaladas para decisão humana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1589431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 spc="80">
                <a:solidFill>
                  <a:srgbClr val="6B8299"/>
                </a:solidFill>
                <a:latin typeface="Segoe UI"/>
              </a:rPr>
              <a:t>TAXA DE RECORREÇÃO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1717447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5A623"/>
                </a:solidFill>
                <a:latin typeface="Segoe UI"/>
              </a:rPr>
              <a:t>37%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376" y="2019199"/>
            <a:ext cx="251460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>
                <a:solidFill>
                  <a:srgbClr val="6B8299"/>
                </a:solidFill>
                <a:latin typeface="Segoe UI"/>
              </a:rPr>
              <a:t>das sessões pediram 2ª rodada (87 medidas)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2156359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2226414"/>
            <a:ext cx="3840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>
                <a:solidFill>
                  <a:srgbClr val="F5A623"/>
                </a:solidFill>
                <a:latin typeface="Segoe UI"/>
              </a:rPr>
              <a:t>LINHA DO TEMPO DO PROJETO</a:t>
            </a:r>
          </a:p>
        </p:txBody>
      </p:sp>
      <p:pic>
        <p:nvPicPr>
          <p:cNvPr id="27" name="Picture 26" descr="p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1006"/>
            <a:ext cx="3840480" cy="16096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4072022"/>
            <a:ext cx="3840480" cy="34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dirty="0">
                <a:solidFill>
                  <a:srgbClr val="6B8299"/>
                </a:solidFill>
                <a:latin typeface="Segoe UI"/>
              </a:rPr>
              <a:t>Barras: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contexto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dia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empilhado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frente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;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linha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: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decisões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acumuladas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Oito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dias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de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agosto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concentram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o grosso do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contexto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e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subida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de 13 para 81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decisões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Hachurado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: as 33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sessões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cujo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token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foi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convertido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de “% da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janela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”.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226414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>
                <a:solidFill>
                  <a:srgbClr val="F5A623"/>
                </a:solidFill>
                <a:latin typeface="Segoe UI"/>
              </a:rPr>
              <a:t>TIPO DE SESSÃO · POR SESSÃO E POR TOKEN</a:t>
            </a:r>
          </a:p>
        </p:txBody>
      </p:sp>
      <p:pic>
        <p:nvPicPr>
          <p:cNvPr id="30" name="Picture 29" descr="p5_don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91006"/>
            <a:ext cx="3017520" cy="164801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846320" y="4127290"/>
            <a:ext cx="3017520" cy="349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dirty="0" err="1">
                <a:solidFill>
                  <a:srgbClr val="6B8299"/>
                </a:solidFill>
                <a:latin typeface="Segoe UI"/>
              </a:rPr>
              <a:t>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91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blocos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do LOG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classificados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à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regra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fechada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antes da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contagem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Análise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e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medição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leva 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54% das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sessões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e 71% dos tokens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;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código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, 15% e 4%. 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caro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foi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escrever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código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—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foi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medir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226414"/>
            <a:ext cx="32278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spc="100">
                <a:solidFill>
                  <a:srgbClr val="F5A623"/>
                </a:solidFill>
                <a:latin typeface="Segoe UI"/>
              </a:rPr>
              <a:t>ERROS DA IA × MECANISMO QUE PEGOU</a:t>
            </a:r>
          </a:p>
        </p:txBody>
      </p:sp>
      <p:pic>
        <p:nvPicPr>
          <p:cNvPr id="33" name="Picture 32" descr="p5_err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391006"/>
            <a:ext cx="3227832" cy="1549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38160" y="4000501"/>
            <a:ext cx="3227832" cy="469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dirty="0">
                <a:solidFill>
                  <a:srgbClr val="6B8299"/>
                </a:solidFill>
                <a:latin typeface="Segoe UI"/>
              </a:rPr>
              <a:t>145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erros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contados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um a um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três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LOGs. Código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quebrado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é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maior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categoria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(72) e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mais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barata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: 40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morrem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execução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 Na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outra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ponta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texto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impreciso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(13) e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escopo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errado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(10)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não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têm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um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único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erro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pego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40" b="1" dirty="0" err="1">
                <a:solidFill>
                  <a:srgbClr val="E8EDF2"/>
                </a:solidFill>
                <a:latin typeface="Segoe UI"/>
              </a:rPr>
              <a:t>por</a:t>
            </a:r>
            <a:r>
              <a:rPr sz="640" b="1" dirty="0">
                <a:solidFill>
                  <a:srgbClr val="E8EDF2"/>
                </a:solidFill>
                <a:latin typeface="Segoe UI"/>
              </a:rPr>
              <a:t> teste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— 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conferência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humana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pegou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os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23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ainda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na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40" b="0" dirty="0" err="1">
                <a:solidFill>
                  <a:srgbClr val="6B8299"/>
                </a:solidFill>
                <a:latin typeface="Segoe UI"/>
              </a:rPr>
              <a:t>sessão</a:t>
            </a:r>
            <a:r>
              <a:rPr sz="64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60" y="455371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22960" y="4626864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F5A623"/>
                </a:solidFill>
                <a:latin typeface="Segoe UI"/>
              </a:rPr>
              <a:t>A SEPARAÇÃO DO TRABALHO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812741"/>
            <a:ext cx="1965960" cy="12262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 dirty="0">
                <a:solidFill>
                  <a:srgbClr val="F5A623"/>
                </a:solidFill>
                <a:latin typeface="Segoe UI"/>
              </a:rPr>
              <a:t>■ 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A IA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sozinha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.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Código,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varredura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medição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repetida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prosa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gerada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partir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dos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números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: 38 scripts, 37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arquivos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de teste e 40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análises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só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neste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branch.</a:t>
            </a:r>
          </a:p>
          <a:p>
            <a:pPr algn="just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610" b="1" dirty="0">
                <a:solidFill>
                  <a:srgbClr val="4FC3D9"/>
                </a:solidFill>
                <a:latin typeface="Segoe UI"/>
              </a:rPr>
              <a:t>■ 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Só o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humano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.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Fonte,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universo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, forma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funcional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parâmetro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e 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entra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na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entrega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— e 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veredito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cada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régua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escrito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antes de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medir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500"/>
              </a:spcBef>
              <a:spcAft>
                <a:spcPts val="0"/>
              </a:spcAft>
            </a:pPr>
            <a:r>
              <a:rPr sz="610" b="1" dirty="0">
                <a:solidFill>
                  <a:srgbClr val="E8EDF2"/>
                </a:solidFill>
                <a:latin typeface="Segoe UI"/>
              </a:rPr>
              <a:t>■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Nenhum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dos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dois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10" b="1" dirty="0" err="1">
                <a:solidFill>
                  <a:srgbClr val="E8EDF2"/>
                </a:solidFill>
                <a:latin typeface="Segoe UI"/>
              </a:rPr>
              <a:t>sozinho</a:t>
            </a:r>
            <a:r>
              <a:rPr sz="610" b="1" dirty="0">
                <a:solidFill>
                  <a:srgbClr val="E8EDF2"/>
                </a:solidFill>
                <a:latin typeface="Segoe UI"/>
              </a:rPr>
              <a:t>.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critério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julga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um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ingrediente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é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humano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declarado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antes; 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varredura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aplica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é da IA. Trocar a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ordem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produz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overfit com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cara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10" b="0" dirty="0" err="1">
                <a:solidFill>
                  <a:srgbClr val="6B8299"/>
                </a:solidFill>
                <a:latin typeface="Segoe UI"/>
              </a:rPr>
              <a:t>método</a:t>
            </a:r>
            <a:r>
              <a:rPr sz="61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58084" y="4626864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F5A623"/>
                </a:solidFill>
                <a:latin typeface="Segoe UI"/>
              </a:rPr>
              <a:t>ONDE A IA AGREGOU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69352" y="4803541"/>
            <a:ext cx="1965960" cy="14001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dirty="0" err="1">
                <a:solidFill>
                  <a:srgbClr val="E8EDF2"/>
                </a:solidFill>
                <a:latin typeface="Segoe UI"/>
              </a:rPr>
              <a:t>Varredura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exaustiva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ficou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barata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13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candidatas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táticas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medidas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antes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uma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entrar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cada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ingrediente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do Ω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testado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várias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grades,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horizontes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janelas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— ~200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comparações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só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na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busca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tática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 À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, nada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disso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teria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sido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testado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00" b="1" dirty="0" err="1">
                <a:solidFill>
                  <a:srgbClr val="E8EDF2"/>
                </a:solidFill>
                <a:latin typeface="Segoe UI"/>
              </a:rPr>
              <a:t>Prosa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gerada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do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número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As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páginas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saem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gerador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alimentado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artefato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medido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; a legenda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muda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quando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número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muda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00" b="1" dirty="0" err="1">
                <a:solidFill>
                  <a:srgbClr val="E8EDF2"/>
                </a:solidFill>
                <a:latin typeface="Segoe UI"/>
              </a:rPr>
              <a:t>Revisão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cruzada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entre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agentes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classificação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dos 91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blocos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saiu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de 4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agentes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com briefing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único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, e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conferência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própria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saída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pegou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3 dos 6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erros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sessão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93208" y="4626864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F5A623"/>
                </a:solidFill>
                <a:latin typeface="Segoe UI"/>
              </a:rPr>
              <a:t>ONDE A IA FALHOU, E O QUE CONTEVE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15744" y="4803505"/>
            <a:ext cx="1965960" cy="16180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dirty="0" err="1">
                <a:solidFill>
                  <a:srgbClr val="E8EDF2"/>
                </a:solidFill>
                <a:latin typeface="Segoe UI"/>
              </a:rPr>
              <a:t>Premissa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herdada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,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pega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pelo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humano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A IA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afirmou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mapeamento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cenário→ativo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estava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congelado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; 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congelado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era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camada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tática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 Duas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rodadas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correção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dono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— e 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registro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errado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já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tinha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entrado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duas entradas do LOG.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00" b="1" dirty="0" err="1">
                <a:solidFill>
                  <a:srgbClr val="E8EDF2"/>
                </a:solidFill>
                <a:latin typeface="Segoe UI"/>
              </a:rPr>
              <a:t>Contagem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que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contava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o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que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não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era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decisão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primeira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regra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citação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lia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“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categoria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2” e “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opção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1”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como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ID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decisão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 Pega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auditando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própria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saída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;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regra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final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declara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preço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: 43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decisões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ficam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data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vez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sumir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00" b="1" dirty="0" err="1">
                <a:solidFill>
                  <a:srgbClr val="E8EDF2"/>
                </a:solidFill>
                <a:latin typeface="Segoe UI"/>
              </a:rPr>
              <a:t>Defeito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latente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que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só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um assert novo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revelou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O auto-teste do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gerador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desta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página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misturava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LOG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sintético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com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os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LOGs reais —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invisível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desde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função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foi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escrita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32904" y="4626864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 dirty="0">
                <a:solidFill>
                  <a:srgbClr val="F5A623"/>
                </a:solidFill>
                <a:latin typeface="Segoe UI"/>
              </a:rPr>
              <a:t>PRÓXIMOS PASSOS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32904" y="4901183"/>
            <a:ext cx="1965960" cy="12335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dirty="0">
                <a:solidFill>
                  <a:srgbClr val="E8EDF2"/>
                </a:solidFill>
                <a:latin typeface="Segoe UI"/>
              </a:rPr>
              <a:t>Termos fora da diagonal no Ω.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É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limitação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com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endereço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mais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claro: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correlação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entre views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já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está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medida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00" b="1" dirty="0">
                <a:solidFill>
                  <a:srgbClr val="E8EDF2"/>
                </a:solidFill>
                <a:latin typeface="Segoe UI"/>
              </a:rPr>
              <a:t>Banda de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não-negociação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Contra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os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42%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giro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desfeito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dois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pregões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— o breakeven de 22,9 bps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lado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diz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há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espaço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para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negociar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00" b="1" dirty="0" err="1">
                <a:solidFill>
                  <a:srgbClr val="E8EDF2"/>
                </a:solidFill>
                <a:latin typeface="Segoe UI"/>
              </a:rPr>
              <a:t>Ampliar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o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universo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pelo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critério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certo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Não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classe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ativo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, e sim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haver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notícia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preço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responda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  <a:p>
            <a:pPr algn="just">
              <a:lnSpc>
                <a:spcPct val="118000"/>
              </a:lnSpc>
              <a:spcBef>
                <a:spcPts val="400"/>
              </a:spcBef>
              <a:spcAft>
                <a:spcPts val="0"/>
              </a:spcAft>
            </a:pPr>
            <a:r>
              <a:rPr sz="600" b="1" dirty="0">
                <a:solidFill>
                  <a:srgbClr val="E8EDF2"/>
                </a:solidFill>
                <a:latin typeface="Segoe UI"/>
              </a:rPr>
              <a:t>Validar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em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 regime de </a:t>
            </a:r>
            <a:r>
              <a:rPr sz="600" b="1" dirty="0" err="1">
                <a:solidFill>
                  <a:srgbClr val="E8EDF2"/>
                </a:solidFill>
                <a:latin typeface="Segoe UI"/>
              </a:rPr>
              <a:t>queda</a:t>
            </a:r>
            <a:r>
              <a:rPr sz="600" b="1" dirty="0">
                <a:solidFill>
                  <a:srgbClr val="E8EDF2"/>
                </a:solidFill>
                <a:latin typeface="Segoe UI"/>
              </a:rPr>
              <a:t>. 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página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4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admite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é 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que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falta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testar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: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vantagem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veio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subida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22960" y="655944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2960" y="6596118"/>
            <a:ext cx="10543032" cy="1040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0" dirty="0">
                <a:solidFill>
                  <a:srgbClr val="6B8299"/>
                </a:solidFill>
                <a:latin typeface="Segoe UI"/>
              </a:rPr>
              <a:t>91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sessões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e 19,7M de tokens lidos dos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três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>
                <a:solidFill>
                  <a:srgbClr val="9BAEC0"/>
                </a:solidFill>
                <a:latin typeface="Segoe UI"/>
              </a:rPr>
              <a:t>LOG.md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do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projeto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(Felipe · Lia · Paulo)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>
                <a:solidFill>
                  <a:srgbClr val="9BAEC0"/>
                </a:solidFill>
                <a:latin typeface="Segoe UI"/>
              </a:rPr>
              <a:t>graficos_p5.py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 Tipo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sessão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taxonomia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de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erro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são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classificação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lang="pt-BR" sz="600" b="0" dirty="0">
                <a:solidFill>
                  <a:srgbClr val="6B8299"/>
                </a:solidFill>
                <a:latin typeface="Segoe UI"/>
              </a:rPr>
              <a:t>feita por IA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por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regra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declarada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antes da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contagem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,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linha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a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linha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6B8299"/>
                </a:solidFill>
                <a:latin typeface="Segoe UI"/>
              </a:rPr>
              <a:t>em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 </a:t>
            </a:r>
            <a:r>
              <a:rPr sz="600" b="0" dirty="0" err="1">
                <a:solidFill>
                  <a:srgbClr val="9BAEC0"/>
                </a:solidFill>
                <a:latin typeface="Segoe UI"/>
              </a:rPr>
              <a:t>classificacao</a:t>
            </a:r>
            <a:r>
              <a:rPr sz="600" b="0" dirty="0">
                <a:solidFill>
                  <a:srgbClr val="9BAEC0"/>
                </a:solidFill>
                <a:latin typeface="Segoe UI"/>
              </a:rPr>
              <a:t>_*.csv</a:t>
            </a:r>
            <a:r>
              <a:rPr sz="600" b="0" dirty="0">
                <a:solidFill>
                  <a:srgbClr val="6B8299"/>
                </a:solidFill>
                <a:latin typeface="Segoe UI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63456" y="4626864"/>
            <a:ext cx="1965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spc="100">
                <a:solidFill>
                  <a:srgbClr val="F5A623"/>
                </a:solidFill>
                <a:latin typeface="Segoe UI"/>
              </a:rPr>
              <a:t>FECHAMENTO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4901184"/>
            <a:ext cx="1965960" cy="1079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8000"/>
              </a:lnSpc>
            </a:pPr>
            <a:r>
              <a:rPr lang="pt-BR" sz="600" dirty="0">
                <a:solidFill>
                  <a:srgbClr val="9BAEC0"/>
                </a:solidFill>
                <a:latin typeface="Segoe UI"/>
              </a:rPr>
              <a:t>Kairós não tenta prever o mercado — troca a opinião do gestor pelo preço de quem tem dinheiro em risco no desfecho. É o que torna a </a:t>
            </a:r>
            <a:r>
              <a:rPr lang="pt-BR" sz="600" dirty="0" err="1">
                <a:solidFill>
                  <a:srgbClr val="9BAEC0"/>
                </a:solidFill>
                <a:latin typeface="Segoe UI"/>
              </a:rPr>
              <a:t>view</a:t>
            </a:r>
            <a:r>
              <a:rPr lang="pt-BR" sz="600" dirty="0">
                <a:solidFill>
                  <a:srgbClr val="9BAEC0"/>
                </a:solidFill>
                <a:latin typeface="Segoe UI"/>
              </a:rPr>
              <a:t> auditável: Q e Ω deixam de ser declarados e passam a ser medidos, e o resultado passa a depender de acertar a probabilidade, não de escolher bem o parâmetro. Os +3,0 pp sobre o SPY ao mesmo risco saem daí — e de uma janela de alta, que é o limite honesto desta entrega. O que sustenta a tese não é a curva; é o que foi reprovado antes dela: 13 ideias medidas, uma entrou.</a:t>
            </a:r>
            <a:endParaRPr sz="600" b="0" dirty="0">
              <a:solidFill>
                <a:srgbClr val="9BAEC0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1052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da Costa Menusier</cp:lastModifiedBy>
  <cp:revision>6</cp:revision>
  <dcterms:created xsi:type="dcterms:W3CDTF">2013-01-27T09:14:16Z</dcterms:created>
  <dcterms:modified xsi:type="dcterms:W3CDTF">2026-08-16T03:15:01Z</dcterms:modified>
  <cp:category/>
</cp:coreProperties>
</file>