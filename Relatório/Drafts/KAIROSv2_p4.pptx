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149" y="-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200" b="0" spc="80">
                <a:solidFill>
                  <a:srgbClr val="9BAEC0"/>
                </a:solidFill>
                <a:latin typeface="Segoe UI"/>
              </a:rPr>
              <a:t>   Backtest, resultados e autoavaliação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1592" y="34747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694944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747065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 dirty="0">
                <a:solidFill>
                  <a:srgbClr val="F5A623"/>
                </a:solidFill>
                <a:latin typeface="Segoe UI"/>
              </a:rPr>
              <a:t>METODOLOGIA E VIESES TRATADOS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899206"/>
            <a:ext cx="4754880" cy="521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4000"/>
              </a:lnSpc>
            </a:pPr>
            <a:r>
              <a:rPr lang="pt-BR" sz="700" b="1" dirty="0">
                <a:solidFill>
                  <a:schemeClr val="bg1"/>
                </a:solidFill>
                <a:latin typeface="Segoe UI"/>
              </a:rPr>
              <a:t>O </a:t>
            </a:r>
            <a:r>
              <a:rPr lang="pt-BR" sz="700" b="1" dirty="0" err="1">
                <a:solidFill>
                  <a:schemeClr val="bg1"/>
                </a:solidFill>
                <a:latin typeface="Segoe UI"/>
              </a:rPr>
              <a:t>backtest</a:t>
            </a:r>
            <a:r>
              <a:rPr lang="pt-BR" sz="700" b="1" dirty="0">
                <a:solidFill>
                  <a:schemeClr val="bg1"/>
                </a:solidFill>
                <a:latin typeface="Segoe UI"/>
              </a:rPr>
              <a:t> </a:t>
            </a:r>
            <a:r>
              <a:rPr lang="pt-BR" sz="700" dirty="0">
                <a:solidFill>
                  <a:schemeClr val="bg1"/>
                </a:solidFill>
                <a:latin typeface="Segoe UI"/>
              </a:rPr>
              <a:t> </a:t>
            </a:r>
            <a:r>
              <a:rPr lang="pt-BR" sz="700" dirty="0">
                <a:solidFill>
                  <a:srgbClr val="6B8299"/>
                </a:solidFill>
                <a:latin typeface="Segoe UI"/>
              </a:rPr>
              <a:t>foi rodado ao longo de: 374 pregões (10/02/2025 a 06/08/2026), 9 </a:t>
            </a:r>
            <a:r>
              <a:rPr lang="pt-BR" sz="700" dirty="0" err="1">
                <a:solidFill>
                  <a:srgbClr val="6B8299"/>
                </a:solidFill>
                <a:latin typeface="Segoe UI"/>
              </a:rPr>
              <a:t>ETFs</a:t>
            </a:r>
            <a:r>
              <a:rPr lang="pt-BR" sz="700" dirty="0">
                <a:solidFill>
                  <a:srgbClr val="6B8299"/>
                </a:solidFill>
                <a:latin typeface="Segoe UI"/>
              </a:rPr>
              <a:t> a preços ajustados, rebalanceamento diário, </a:t>
            </a:r>
            <a:r>
              <a:rPr lang="pt-BR" sz="700" b="1" dirty="0">
                <a:solidFill>
                  <a:srgbClr val="E8EDF2"/>
                </a:solidFill>
                <a:latin typeface="Segoe UI"/>
              </a:rPr>
              <a:t>2,0 bps por lado</a:t>
            </a:r>
            <a:r>
              <a:rPr lang="pt-BR" sz="700" dirty="0">
                <a:solidFill>
                  <a:srgbClr val="6B8299"/>
                </a:solidFill>
                <a:latin typeface="Segoe UI"/>
              </a:rPr>
              <a:t> sobre o giro. 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Todo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número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desta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página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teve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passar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uma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pergunta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: 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backtest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podia saber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isso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na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hora da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decisão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? As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quatro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formas de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inflar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um </a:t>
            </a:r>
            <a:r>
              <a:rPr lang="pt-BR" sz="700" b="0" dirty="0" err="1">
                <a:solidFill>
                  <a:srgbClr val="6B8299"/>
                </a:solidFill>
                <a:latin typeface="Segoe UI"/>
              </a:rPr>
              <a:t>backtest</a:t>
            </a:r>
            <a:r>
              <a:rPr lang="pt-BR" sz="700" b="0" dirty="0">
                <a:solidFill>
                  <a:srgbClr val="6B8299"/>
                </a:solidFill>
                <a:latin typeface="Segoe UI"/>
              </a:rPr>
              <a:t> (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olhar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o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futuro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,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calibrar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dentro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da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própria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janela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,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assumir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número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de manual e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ajustar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parâmetro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ao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resultado</a:t>
            </a:r>
            <a:r>
              <a:rPr lang="pt-BR" sz="700" dirty="0">
                <a:solidFill>
                  <a:srgbClr val="6B8299"/>
                </a:solidFill>
                <a:latin typeface="Segoe UI"/>
              </a:rPr>
              <a:t>)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foram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fechadas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construção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, antes de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rodar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950976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O modelo nunca viu o futuro.</a:t>
            </a:r>
            <a:r>
              <a:rPr sz="610" b="0">
                <a:solidFill>
                  <a:srgbClr val="6B8299"/>
                </a:solidFill>
                <a:latin typeface="Segoe UI"/>
              </a:rPr>
              <a:t> Nenhuma view usa o desfecho do evento que ela mesma precifica.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950976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A régua foi calibrada fora do teste.</a:t>
            </a:r>
            <a:r>
              <a:rPr sz="610" b="0">
                <a:solidFill>
                  <a:srgbClr val="6B8299"/>
                </a:solidFill>
                <a:latin typeface="Segoe UI"/>
              </a:rPr>
              <a:t> As médias de referência vêm de 206 pregões anteriores ao início da janela medida.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07008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Nada foi assumido de cabeça.</a:t>
            </a:r>
            <a:r>
              <a:rPr sz="610" b="0">
                <a:solidFill>
                  <a:srgbClr val="6B8299"/>
                </a:solidFill>
                <a:latin typeface="Segoe UI"/>
              </a:rPr>
              <a:t> A sensibilidade a juros que o manual arredonda para “8” foi medida: 8,31 a 8,38.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207008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Os parâmetros não foram ajustados ao resultado.</a:t>
            </a:r>
            <a:r>
              <a:rPr sz="610" b="0">
                <a:solidFill>
                  <a:srgbClr val="6B8299"/>
                </a:solidFill>
                <a:latin typeface="Segoe UI"/>
              </a:rPr>
              <a:t> Teto de risco, confiança nas views e aversão a risco saem de decisão registrada.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572768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>
                <a:solidFill>
                  <a:srgbClr val="F5A623"/>
                </a:solidFill>
                <a:latin typeface="Segoe UI"/>
              </a:rPr>
              <a:t>CURVA ACUMULADA E DRAWDOWN</a:t>
            </a:r>
          </a:p>
        </p:txBody>
      </p:sp>
      <p:pic>
        <p:nvPicPr>
          <p:cNvPr id="13" name="Picture 12" descr="p4_cu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840480" cy="23745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157607"/>
            <a:ext cx="3840480" cy="34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dirty="0">
                <a:solidFill>
                  <a:srgbClr val="E8EDF2"/>
                </a:solidFill>
                <a:latin typeface="Segoe UI"/>
              </a:rPr>
              <a:t>+33,2% contra +30,1% do SPY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mesmo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risco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(vol. 17,6% contra 17,9%). Mas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vantagem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veio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das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quedas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dois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tombos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carteira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caiu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junto, 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abril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/2025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caiu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C2544D"/>
                </a:solidFill>
                <a:latin typeface="Segoe UI"/>
              </a:rPr>
              <a:t>mais</a:t>
            </a:r>
            <a:r>
              <a:rPr sz="640" b="1" dirty="0">
                <a:solidFill>
                  <a:srgbClr val="C2544D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C2544D"/>
                </a:solidFill>
                <a:latin typeface="Segoe UI"/>
              </a:rPr>
              <a:t>fundo</a:t>
            </a:r>
            <a:r>
              <a:rPr sz="640" b="1" dirty="0">
                <a:solidFill>
                  <a:srgbClr val="C2544D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C2544D"/>
                </a:solidFill>
                <a:latin typeface="Segoe UI"/>
              </a:rPr>
              <a:t>que</a:t>
            </a:r>
            <a:r>
              <a:rPr sz="640" b="1" dirty="0">
                <a:solidFill>
                  <a:srgbClr val="C2544D"/>
                </a:solidFill>
                <a:latin typeface="Segoe UI"/>
              </a:rPr>
              <a:t> o benchmark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(−19,6% contra −18,8%).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ganho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vem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subida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defesa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572768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>
                <a:solidFill>
                  <a:srgbClr val="F5A623"/>
                </a:solidFill>
                <a:latin typeface="Segoe UI"/>
              </a:rPr>
              <a:t>DE ONDE VEM O RESULTADO</a:t>
            </a:r>
          </a:p>
        </p:txBody>
      </p:sp>
      <p:pic>
        <p:nvPicPr>
          <p:cNvPr id="16" name="Picture 15" descr="p4_compos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37360"/>
            <a:ext cx="3017520" cy="15387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46320" y="3331021"/>
            <a:ext cx="3017520" cy="709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dirty="0">
                <a:solidFill>
                  <a:srgbClr val="6B8299"/>
                </a:solidFill>
                <a:latin typeface="Segoe UI"/>
              </a:rPr>
              <a:t>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retorno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cada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pregão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se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separa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três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pedaços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carteira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equilíbrio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—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se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teria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view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nenhuma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—,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desvio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as views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impõem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sobre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ela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e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custo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manter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esse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desvio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Em 374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pregões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as views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produziram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+5,2 pp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e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custo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devolveu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1" dirty="0">
                <a:solidFill>
                  <a:srgbClr val="C2544D"/>
                </a:solidFill>
                <a:latin typeface="Segoe UI"/>
              </a:rPr>
              <a:t>−3,0 pp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mais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metade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chega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investidor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é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sobra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E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vantagem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não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depende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de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dias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de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sorte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—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três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pregões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maior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impacto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ela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seria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maior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menor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(+4,5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vez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+2,3 pp).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572768"/>
            <a:ext cx="3227832" cy="12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 dirty="0">
                <a:solidFill>
                  <a:srgbClr val="F5A623"/>
                </a:solidFill>
                <a:latin typeface="Segoe UI"/>
              </a:rPr>
              <a:t>SENSIBILIDADES</a:t>
            </a:r>
            <a:r>
              <a:rPr lang="pt-BR" sz="700" b="1" spc="100" dirty="0">
                <a:solidFill>
                  <a:srgbClr val="F5A623"/>
                </a:solidFill>
                <a:latin typeface="Segoe UI"/>
              </a:rPr>
              <a:t>:</a:t>
            </a:r>
            <a:r>
              <a:rPr sz="700" b="1" spc="100" dirty="0">
                <a:solidFill>
                  <a:srgbClr val="F5A623"/>
                </a:solidFill>
                <a:latin typeface="Segoe UI"/>
              </a:rPr>
              <a:t> AQUI SE JUSTIFICA O NÚMERO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764315"/>
            <a:ext cx="3227832" cy="709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dirty="0">
                <a:solidFill>
                  <a:srgbClr val="6B8299"/>
                </a:solidFill>
                <a:latin typeface="Segoe UI"/>
              </a:rPr>
              <a:t>Um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resultado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bom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pode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ser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só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um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parâmetro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bem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escolhido</a:t>
            </a:r>
            <a:r>
              <a:rPr lang="pt-BR" sz="640" b="0" dirty="0">
                <a:solidFill>
                  <a:srgbClr val="6B8299"/>
                </a:solidFill>
                <a:latin typeface="Segoe UI"/>
              </a:rPr>
              <a:t>, mas esse não é o caso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Giramos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quatro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botões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estratégia</a:t>
            </a:r>
            <a:r>
              <a:rPr lang="pt-BR" sz="640" dirty="0">
                <a:solidFill>
                  <a:srgbClr val="6B8299"/>
                </a:solidFill>
                <a:latin typeface="Segoe UI"/>
              </a:rPr>
              <a:t>: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quanto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risco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tomar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(o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teto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limita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desvio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relação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prior,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carteira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), quanta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confiança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dar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às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views,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quanto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preço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precisa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andar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para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negociar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e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correção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das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probabilidades</a:t>
            </a:r>
            <a:r>
              <a:rPr lang="pt-BR"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medimos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cada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posição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Em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nenhuma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a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vantagem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sobre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o SPY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vira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negativa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(+0,5 a +15,8 pp). E o valor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entregue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é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dá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melhor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número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dois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dos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quatro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ele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é o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pior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ponto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da grade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51713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59028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TABELA DE MÉTRICAS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64607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MÉTRICA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864607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KAIRÓS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2" y="4864607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SPY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997196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041087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Retorno líquido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5064" y="5041087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+33,2%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2" y="5041087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+30,1%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5148072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5191963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Vol. anualizada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5064" y="5191963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17,6%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1992" y="5191963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17,9%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298948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5342839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Sharpe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5064" y="5342839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1,18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21992" y="5342839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1,08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" y="5449824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5493715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Máx. drawdown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55064" y="5493715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−19,6%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1992" y="5493715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−18,8%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2960" y="5600700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2960" y="5644591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Alpha anual.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55064" y="5644591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+2,57%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5644591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2960" y="5751576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2960" y="5795467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Beta vs SPY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5064" y="5795467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0,95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21992" y="5795467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1,00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2960" y="5902452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2960" y="5946343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Σ|w| média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55064" y="5946343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1,91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21992" y="5946343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1,00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" y="6053328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2960" y="6097219"/>
            <a:ext cx="832103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9BAEC0"/>
                </a:solidFill>
                <a:latin typeface="Segoe UI"/>
              </a:rPr>
              <a:t>Giro diário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55064" y="6097219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E8EDF2"/>
                </a:solidFill>
                <a:latin typeface="Segoe UI"/>
              </a:rPr>
              <a:t>0,40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21992" y="6097219"/>
            <a:ext cx="566928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6B8299"/>
                </a:solidFill>
                <a:latin typeface="Segoe UI"/>
              </a:rPr>
              <a:t>—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960" y="6204204"/>
            <a:ext cx="196596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22960" y="6277355"/>
            <a:ext cx="1965960" cy="32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dirty="0">
                <a:solidFill>
                  <a:srgbClr val="E8EDF2"/>
                </a:solidFill>
                <a:latin typeface="Segoe UI"/>
              </a:rPr>
              <a:t>Beta 0,95: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a carteira anda junto com o mercado. Não é SPY alavancado — nem neutra: as </a:t>
            </a:r>
            <a:r>
              <a:rPr lang="pt-BR" sz="610" dirty="0" err="1">
                <a:solidFill>
                  <a:srgbClr val="6B8299"/>
                </a:solidFill>
                <a:latin typeface="Segoe UI"/>
              </a:rPr>
              <a:t>views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 ficam líquidas compradas (ΣP de +0,96 a +2,00)</a:t>
            </a:r>
            <a:endParaRPr sz="610" b="0" dirty="0">
              <a:solidFill>
                <a:srgbClr val="6B8299"/>
              </a:solidFill>
              <a:latin typeface="Segoe U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958084" y="459028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O QUE O NÚMERO NÃO DIZ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58084" y="4864607"/>
            <a:ext cx="1965960" cy="1754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</a:pPr>
            <a:r>
              <a:rPr sz="610" b="1" dirty="0" err="1">
                <a:solidFill>
                  <a:srgbClr val="E8EDF2"/>
                </a:solidFill>
                <a:latin typeface="Segoe UI"/>
              </a:rPr>
              <a:t>Ganha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sozinha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,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perde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somada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camada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tática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faz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+42,6 pp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isolada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e −2,94 pp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na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entrega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 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Sob teto de risco fixo, somar não acrescenta: divide o mesmo orçamento.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E o Δ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é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monótono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no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teto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(−2,9 / −6,8 / −8,9 / +3,8).</a:t>
            </a:r>
            <a:endParaRPr lang="pt-BR" sz="610" b="0" dirty="0">
              <a:solidFill>
                <a:srgbClr val="6B8299"/>
              </a:solidFill>
              <a:latin typeface="Segoe UI"/>
            </a:endParaRPr>
          </a:p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chemeClr val="bg1"/>
                </a:solidFill>
                <a:latin typeface="Segoe UI"/>
              </a:rPr>
              <a:t>Quase metade do giro volta atrás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. 42% do que a carteira compra num dia é desfeito nos dois pregões seguintes. Ainda assim a vantagem só desapareceria com um custo de 22,9 bps por lado — 11× os 2 bps que pagamos.</a:t>
            </a:r>
            <a:endParaRPr sz="610" b="0" dirty="0">
              <a:solidFill>
                <a:srgbClr val="6B8299"/>
              </a:solidFill>
              <a:latin typeface="Segoe UI"/>
            </a:endParaRP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10" b="1" dirty="0">
                <a:solidFill>
                  <a:srgbClr val="E8EDF2"/>
                </a:solidFill>
                <a:latin typeface="Segoe UI"/>
              </a:rPr>
              <a:t>Uma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janela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, um regime. 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374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pregões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alta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do S&amp;P,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sem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correção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para as ~200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comparações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busca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tática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10" b="1" dirty="0">
                <a:solidFill>
                  <a:srgbClr val="E8EDF2"/>
                </a:solidFill>
                <a:latin typeface="Segoe UI"/>
              </a:rPr>
              <a:t>O Ω é diagonal. 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Duas </a:t>
            </a:r>
            <a:r>
              <a:rPr lang="pt-BR" sz="610" dirty="0" err="1">
                <a:solidFill>
                  <a:srgbClr val="6B8299"/>
                </a:solidFill>
                <a:latin typeface="Segoe UI"/>
              </a:rPr>
              <a:t>views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 andam juntas (correlação +0,67), mas o Ω é diagonal — a mesma informação é contada duas vezes.</a:t>
            </a:r>
            <a:endParaRPr sz="610" b="0" dirty="0">
              <a:solidFill>
                <a:srgbClr val="6B8299"/>
              </a:solidFill>
              <a:latin typeface="Segoe U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093208" y="4590288"/>
            <a:ext cx="1965960" cy="104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 dirty="0">
                <a:solidFill>
                  <a:srgbClr val="F5A623"/>
                </a:solidFill>
                <a:latin typeface="Segoe UI"/>
              </a:rPr>
              <a:t>AUTOAVALIAÇÃO · </a:t>
            </a:r>
            <a:r>
              <a:rPr lang="pt-BR" sz="600" b="1" spc="100" dirty="0">
                <a:solidFill>
                  <a:srgbClr val="F5A623"/>
                </a:solidFill>
                <a:latin typeface="Segoe UI"/>
              </a:rPr>
              <a:t>O QUE REPROVAMOS</a:t>
            </a:r>
            <a:endParaRPr sz="600" b="1" spc="100" dirty="0">
              <a:solidFill>
                <a:srgbClr val="F5A623"/>
              </a:solidFill>
              <a:latin typeface="Segoe U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93208" y="4864607"/>
            <a:ext cx="1965960" cy="1651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chemeClr val="bg1"/>
                </a:solidFill>
                <a:latin typeface="Segoe UI"/>
              </a:rPr>
              <a:t>Como nos julgamos: 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uma ideia entra por acertar a probabilidade, nunca por render mais; teto e confiança foram escolhidos uma vez só, em reunião; a hipótese foi escrita antes de medir.</a:t>
            </a:r>
          </a:p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chemeClr val="bg1"/>
                </a:solidFill>
                <a:latin typeface="Segoe UI"/>
              </a:rPr>
              <a:t>4 formas de calibrar a confiança nas </a:t>
            </a:r>
            <a:r>
              <a:rPr lang="pt-BR" sz="610" b="1" dirty="0" err="1">
                <a:solidFill>
                  <a:schemeClr val="bg1"/>
                </a:solidFill>
                <a:latin typeface="Segoe UI"/>
              </a:rPr>
              <a:t>views</a:t>
            </a:r>
            <a:r>
              <a:rPr lang="pt-BR" sz="610" b="1" dirty="0">
                <a:solidFill>
                  <a:schemeClr val="bg1"/>
                </a:solidFill>
                <a:latin typeface="Segoe UI"/>
              </a:rPr>
              <a:t>, 2 aprovadas: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 Uma virou só veto e outra foi reprovada: a proximidade do evento tinha sinal contrário ao esperado nas duas </a:t>
            </a:r>
            <a:r>
              <a:rPr lang="pt-BR" sz="610" dirty="0" err="1">
                <a:solidFill>
                  <a:srgbClr val="6B8299"/>
                </a:solidFill>
                <a:latin typeface="Segoe UI"/>
              </a:rPr>
              <a:t>views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 testadas. </a:t>
            </a:r>
          </a:p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chemeClr val="bg1"/>
                </a:solidFill>
                <a:latin typeface="Segoe UI"/>
              </a:rPr>
              <a:t>13 ideias de sinal medidas, 1 entrou: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 Momentum e velocidade de ajuste viraram passeio aleatório quando medidos — o dado contrariou a tese.</a:t>
            </a:r>
          </a:p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chemeClr val="bg1"/>
                </a:solidFill>
                <a:latin typeface="Segoe UI"/>
              </a:rPr>
              <a:t>2 </a:t>
            </a:r>
            <a:r>
              <a:rPr lang="pt-BR" sz="610" b="1" dirty="0" err="1">
                <a:solidFill>
                  <a:schemeClr val="bg1"/>
                </a:solidFill>
                <a:latin typeface="Segoe UI"/>
              </a:rPr>
              <a:t>views</a:t>
            </a:r>
            <a:r>
              <a:rPr lang="pt-BR" sz="610" b="1" dirty="0">
                <a:solidFill>
                  <a:schemeClr val="bg1"/>
                </a:solidFill>
                <a:latin typeface="Segoe UI"/>
              </a:rPr>
              <a:t> entregues acertando a direção em 49% dos dias: 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Não é erro: a régua de entrada é ter um mecanismo que explique o efeito, não um histórico bonito. A tese se sustenta pelo que foi reprovado.</a:t>
            </a:r>
            <a:endParaRPr sz="610" b="0" dirty="0">
              <a:solidFill>
                <a:srgbClr val="6B8299"/>
              </a:solidFill>
              <a:latin typeface="Segoe U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228332" y="459028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 dirty="0">
                <a:solidFill>
                  <a:srgbClr val="F5A623"/>
                </a:solidFill>
                <a:latin typeface="Segoe UI"/>
              </a:rPr>
              <a:t>AUTOAVALIAÇÃO · ONDE ERRAMOS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8332" y="4864607"/>
            <a:ext cx="1965960" cy="1703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rgbClr val="E8EDF2"/>
                </a:solidFill>
                <a:latin typeface="Segoe UI"/>
              </a:rPr>
              <a:t>Lemos uma medida errada e quase decidimos por ela: 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Um número parecia crescer e chamamos isso de tendência — era artefato do jeito de medir. Quem pegou: a segunda medida, feita antes de qualquer decisão, que mostrou passeio aleatório. </a:t>
            </a:r>
          </a:p>
          <a:p>
            <a:pPr algn="just">
              <a:lnSpc>
                <a:spcPct val="118000"/>
              </a:lnSpc>
            </a:pPr>
            <a:r>
              <a:rPr lang="pt-BR" sz="610" b="1" dirty="0">
                <a:solidFill>
                  <a:schemeClr val="bg1"/>
                </a:solidFill>
                <a:latin typeface="Segoe UI"/>
              </a:rPr>
              <a:t>Nosso primeiro filtro reprovava quase tudo:</a:t>
            </a:r>
            <a:r>
              <a:rPr lang="pt-BR" sz="610" dirty="0">
                <a:solidFill>
                  <a:srgbClr val="6B8299"/>
                </a:solidFill>
                <a:latin typeface="Segoe UI"/>
              </a:rPr>
              <a:t> A régua de estabilidade acusava 13 dos 14 casos; a correta acusa 3. Quem pegou: a releitura do critério antes de olhar o resultado — aceitá-lo teria dado a conclusão oposta da certa.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lang="pt-BR" sz="610" b="1" dirty="0">
                <a:solidFill>
                  <a:srgbClr val="E8EDF2"/>
                </a:solidFill>
                <a:latin typeface="Segoe UI"/>
              </a:rPr>
              <a:t>Texto cravado em gerador envelhece calado. </a:t>
            </a:r>
            <a:r>
              <a:rPr lang="pt-BR" sz="610" b="0" dirty="0">
                <a:solidFill>
                  <a:srgbClr val="6B8299"/>
                </a:solidFill>
                <a:latin typeface="Segoe UI"/>
              </a:rPr>
              <a:t>A legenda do </a:t>
            </a:r>
            <a:r>
              <a:rPr lang="pt-BR" sz="610" b="0" dirty="0" err="1">
                <a:solidFill>
                  <a:srgbClr val="6B8299"/>
                </a:solidFill>
                <a:latin typeface="Segoe UI"/>
              </a:rPr>
              <a:t>backtest</a:t>
            </a:r>
            <a:r>
              <a:rPr lang="pt-BR" sz="610" b="0" dirty="0">
                <a:solidFill>
                  <a:srgbClr val="6B8299"/>
                </a:solidFill>
                <a:latin typeface="Segoe UI"/>
              </a:rPr>
              <a:t> afirmou “camada desligada” por dois </a:t>
            </a:r>
            <a:r>
              <a:rPr lang="pt-BR" sz="610" b="0" dirty="0" err="1">
                <a:solidFill>
                  <a:srgbClr val="6B8299"/>
                </a:solidFill>
                <a:latin typeface="Segoe UI"/>
              </a:rPr>
              <a:t>commits</a:t>
            </a:r>
            <a:r>
              <a:rPr lang="pt-BR" sz="610" b="0" dirty="0">
                <a:solidFill>
                  <a:srgbClr val="6B8299"/>
                </a:solidFill>
                <a:latin typeface="Segoe UI"/>
              </a:rPr>
              <a:t> depois de ela ser ligada — os números já a incluíam. Encontramos o erro depois em uma conferencia de código 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3456" y="4590288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AUTOAVALIAÇÃO · SIMULAÇÃO DE FUNDO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6" y="4864607"/>
            <a:ext cx="1965960" cy="1746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dirty="0" err="1">
                <a:solidFill>
                  <a:srgbClr val="F5A623"/>
                </a:solidFill>
                <a:latin typeface="Segoe UI"/>
              </a:rPr>
              <a:t>Perfis</a:t>
            </a:r>
            <a:r>
              <a:rPr sz="610" b="1" dirty="0">
                <a:solidFill>
                  <a:srgbClr val="F5A623"/>
                </a:solidFill>
                <a:latin typeface="Segoe UI"/>
              </a:rPr>
              <a:t> de </a:t>
            </a:r>
            <a:r>
              <a:rPr sz="610" b="1" dirty="0" err="1">
                <a:solidFill>
                  <a:srgbClr val="F5A623"/>
                </a:solidFill>
                <a:latin typeface="Segoe UI"/>
              </a:rPr>
              <a:t>cliente</a:t>
            </a:r>
            <a:r>
              <a:rPr sz="610" b="1" dirty="0">
                <a:solidFill>
                  <a:srgbClr val="F5A623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F5A623"/>
                </a:solidFill>
                <a:latin typeface="Segoe UI"/>
              </a:rPr>
              <a:t>simulados</a:t>
            </a:r>
            <a:r>
              <a:rPr sz="610" b="1" dirty="0">
                <a:solidFill>
                  <a:srgbClr val="F5A623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F5A623"/>
                </a:solidFill>
                <a:latin typeface="Segoe UI"/>
              </a:rPr>
              <a:t>por</a:t>
            </a:r>
            <a:r>
              <a:rPr sz="610" b="1" dirty="0">
                <a:solidFill>
                  <a:srgbClr val="F5A623"/>
                </a:solidFill>
                <a:latin typeface="Segoe UI"/>
              </a:rPr>
              <a:t> IA </a:t>
            </a:r>
            <a:r>
              <a:rPr sz="610" b="1" dirty="0" err="1">
                <a:solidFill>
                  <a:srgbClr val="F5A623"/>
                </a:solidFill>
                <a:latin typeface="Segoe UI"/>
              </a:rPr>
              <a:t>sobre</a:t>
            </a:r>
            <a:r>
              <a:rPr sz="610" b="1" dirty="0">
                <a:solidFill>
                  <a:srgbClr val="F5A623"/>
                </a:solidFill>
                <a:latin typeface="Segoe UI"/>
              </a:rPr>
              <a:t> a </a:t>
            </a:r>
            <a:r>
              <a:rPr sz="610" b="1" dirty="0" err="1">
                <a:solidFill>
                  <a:srgbClr val="F5A623"/>
                </a:solidFill>
                <a:latin typeface="Segoe UI"/>
              </a:rPr>
              <a:t>série</a:t>
            </a:r>
            <a:r>
              <a:rPr sz="610" b="1" dirty="0">
                <a:solidFill>
                  <a:srgbClr val="F5A623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F5A623"/>
                </a:solidFill>
                <a:latin typeface="Segoe UI"/>
              </a:rPr>
              <a:t>diária</a:t>
            </a:r>
            <a:r>
              <a:rPr lang="pt-BR" sz="610" b="1" dirty="0">
                <a:solidFill>
                  <a:srgbClr val="F5A623"/>
                </a:solidFill>
                <a:latin typeface="Segoe UI"/>
              </a:rPr>
              <a:t>: 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18 meses, drawdown de −19,6%,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Σ|w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|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médio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1,91 e 0,40 de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giro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pregão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</a:t>
            </a:r>
            <a:endParaRPr lang="pt-BR" sz="610" b="0" dirty="0">
              <a:solidFill>
                <a:srgbClr val="6B8299"/>
              </a:solidFill>
              <a:latin typeface="Segoe UI"/>
            </a:endParaRP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lang="pt-BR" sz="610" b="1" dirty="0">
                <a:solidFill>
                  <a:srgbClr val="E8EDF2"/>
                </a:solidFill>
                <a:latin typeface="Segoe UI"/>
              </a:rPr>
              <a:t>Conservador — não adere. </a:t>
            </a:r>
            <a:r>
              <a:rPr lang="pt-BR" sz="610" b="0" dirty="0" err="1">
                <a:solidFill>
                  <a:srgbClr val="6B8299"/>
                </a:solidFill>
                <a:latin typeface="Segoe UI"/>
              </a:rPr>
              <a:t>Drawdown</a:t>
            </a:r>
            <a:r>
              <a:rPr lang="pt-BR" sz="610" b="0" dirty="0">
                <a:solidFill>
                  <a:srgbClr val="6B8299"/>
                </a:solidFill>
                <a:latin typeface="Segoe UI"/>
              </a:rPr>
              <a:t> pior que o do índice, 1,9× de alavancagem, nenhuma proteção na queda.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10" b="1" dirty="0" err="1">
                <a:solidFill>
                  <a:srgbClr val="E8EDF2"/>
                </a:solidFill>
                <a:latin typeface="Segoe UI"/>
              </a:rPr>
              <a:t>Institucional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—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adere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ao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alpha,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não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ao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produto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Beta 0,95 é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exposição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ele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já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compra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barato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;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pagaria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pelos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+2,6%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a.a.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alpha.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10" b="1" dirty="0" err="1">
                <a:solidFill>
                  <a:srgbClr val="E8EDF2"/>
                </a:solidFill>
                <a:latin typeface="Segoe UI"/>
              </a:rPr>
              <a:t>Orientado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a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evento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—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adere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É 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único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para quem +3,0 pp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mesmo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risco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índice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é 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produto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10" b="0" dirty="0">
                <a:solidFill>
                  <a:srgbClr val="6B8299"/>
                </a:solidFill>
                <a:latin typeface="Segoe UI"/>
              </a:rPr>
              <a:t>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objeção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foi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retorno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foi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empacotamento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: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isto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é um overlay de alpha, e a taxa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teria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sair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excesso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22960" y="6664809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22960" y="6702552"/>
            <a:ext cx="105430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B8299"/>
                </a:solidFill>
                <a:latin typeface="Segoe UI"/>
              </a:rPr>
              <a:t>Backtest reproduzido em duas máquinas com saída idêntica dígito a dígito. Todo número desta página sai de </a:t>
            </a:r>
            <a:r>
              <a:rPr sz="600" b="0">
                <a:solidFill>
                  <a:srgbClr val="9BAEC0"/>
                </a:solidFill>
                <a:latin typeface="Segoe UI"/>
              </a:rPr>
              <a:t>backtest_v1.py · curva_c.py · curva_banda.py · graficos_p4.py</a:t>
            </a:r>
            <a:r>
              <a:rPr sz="600" b="0">
                <a:solidFill>
                  <a:srgbClr val="6B8299"/>
                </a:solidFill>
                <a:latin typeface="Segoe UI"/>
              </a:rPr>
              <a:t>, e nenhum foi digitado à mão.</a:t>
            </a: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63BD03FF-023F-D831-1F44-B94E0185B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52257"/>
            <a:ext cx="3191256" cy="1977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1212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da Costa Menusier</cp:lastModifiedBy>
  <cp:revision>2</cp:revision>
  <dcterms:created xsi:type="dcterms:W3CDTF">2013-01-27T09:14:16Z</dcterms:created>
  <dcterms:modified xsi:type="dcterms:W3CDTF">2026-08-15T22:20:18Z</dcterms:modified>
  <cp:category/>
</cp:coreProperties>
</file>