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6" r:id="rId5"/>
    <p:sldId id="260" r:id="rId6"/>
    <p:sldId id="261" r:id="rId7"/>
    <p:sldId id="262" r:id="rId8"/>
    <p:sldId id="263" r:id="rId9"/>
    <p:sldId id="267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BAEC0"/>
    <a:srgbClr val="728293"/>
    <a:srgbClr val="F5A623"/>
    <a:srgbClr val="7F91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624" dt="2026-09-06T21:11:15.363"/>
    <p1510:client id="{0CB0165A-935C-4D93-A0F9-612544B87C9D}" v="561" dt="2026-09-06T21:13:09.189"/>
    <p1510:client id="{DA5737A1-30BC-941F-38E5-5DBDC8F226D9}" v="1000" dt="2026-09-06T20:40:26.5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82" y="1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B5C461-9D63-4A58-BF91-933D95097AE6}" type="datetimeFigureOut">
              <a:rPr lang="pt-BR" smtClean="0"/>
              <a:t>08/09/2026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6ADDB9-189E-4F84-A208-07C1AA8F3A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7497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abre com o diagrama frio. A pergunta do fim é a deixa do slide 4 — o Morph acende o Q enquanto ela é dita.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fala percorre UMA view inteira (o Fed); a tabela existe para as outras três serem só nomeadas.</a:t>
            </a:r>
          </a:p>
          <a:p>
            <a:endParaRPr lang="pt-BR">
              <a:solidFill>
                <a:srgbClr val="F5A623"/>
              </a:solidFill>
            </a:endParaRPr>
          </a:p>
          <a:p>
            <a:r>
              <a:rPr lang="pt-BR" b="1">
                <a:solidFill>
                  <a:srgbClr val="F5A623"/>
                </a:solidFill>
              </a:rPr>
              <a:t>probabilidade</a:t>
            </a:r>
            <a:r>
              <a:rPr lang="pt-BR">
                <a:solidFill>
                  <a:srgbClr val="F5A623"/>
                </a:solidFill>
              </a:rPr>
              <a:t>  − âncora = surpresa (bps)  × β medido → </a:t>
            </a:r>
            <a:r>
              <a:rPr lang="pt-BR" b="1">
                <a:solidFill>
                  <a:srgbClr val="F5A623"/>
                </a:solidFill>
              </a:rPr>
              <a:t>retorno por ativo</a:t>
            </a:r>
            <a:endParaRPr lang="en-US">
              <a:solidFill>
                <a:srgbClr val="F5A623"/>
              </a:solidFill>
            </a:endParaRPr>
          </a:p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 número das views vetadas fica na tela, não na fala.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estado final: o Morph empilha a camada estrutural no canto enquanto a tática e o teto entram.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 grafo é o argumento: o contrato (CLAUDE.md, LOG.md, Decisoes_pendentes.md) é o miolo de onde tudo pende — o second brain não é metáfora, é a forma que o repositório tomou. Medido no branch Felipe pelo grafo_repo.py, não estimado.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800" b="0">
                <a:solidFill>
                  <a:srgbClr val="E8EDF2"/>
                </a:solidFill>
                <a:latin typeface="Segoe UI Semibold"/>
              </a:rPr>
              <a:t>Exposição à queda.</a:t>
            </a:r>
            <a:r>
              <a:rPr lang="pt-BR" sz="800" b="0">
                <a:solidFill>
                  <a:srgbClr val="9BAEC0"/>
                </a:solidFill>
                <a:latin typeface="Segoe UI"/>
              </a:rPr>
              <a:t> Nos dois tombos a carteira caiu junto e, em abril/2025, mais fundo que o índice: −19,6% contra −18,8%. O ganho vem da subida, não da defesa.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800" b="0">
                <a:solidFill>
                  <a:srgbClr val="E8EDF2"/>
                </a:solidFill>
                <a:latin typeface="Segoe UI Semibold"/>
              </a:rPr>
              <a:t>Uma janela, um regime.</a:t>
            </a:r>
            <a:r>
              <a:rPr lang="pt-BR" sz="800" b="0">
                <a:solidFill>
                  <a:srgbClr val="9BAEC0"/>
                </a:solidFill>
                <a:latin typeface="Segoe UI"/>
              </a:rPr>
              <a:t> 374 pregões de alta do S&amp;P, sem correção para as ~200 comparações da busca tática. O teste em regime de queda é o que falta.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800" b="0">
                <a:solidFill>
                  <a:srgbClr val="E8EDF2"/>
                </a:solidFill>
                <a:latin typeface="Segoe UI Semibold"/>
              </a:rPr>
              <a:t>Teto de risco: somar é dividir.</a:t>
            </a:r>
            <a:r>
              <a:rPr lang="pt-BR" sz="800" b="0">
                <a:solidFill>
                  <a:srgbClr val="9BAEC0"/>
                </a:solidFill>
                <a:latin typeface="Segoe UI"/>
              </a:rPr>
              <a:t> A camada tática faz +42,6 pp sozinha e −2,94 pp dentro da carteira. Sob teto fixo, entrar não acrescenta — reparte o mesmo orçamento.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800" b="0">
                <a:solidFill>
                  <a:srgbClr val="9BAEC0"/>
                </a:solidFill>
                <a:latin typeface="Segoe UI"/>
              </a:rPr>
              <a:t>Giramos os quatro botões da estratégia — risco, confiança, gatilho e correção das probabilidades — e a vantagem sobre o SPY não vira negativa em nenhuma posição: </a:t>
            </a:r>
            <a:r>
              <a:rPr lang="pt-BR" sz="800" b="0">
                <a:solidFill>
                  <a:srgbClr val="E8EDF2"/>
                </a:solidFill>
                <a:latin typeface="Segoe UI Semibold"/>
              </a:rPr>
              <a:t>+0,5 a +15,8 pp</a:t>
            </a:r>
            <a:r>
              <a:rPr lang="pt-BR" sz="800" b="0">
                <a:solidFill>
                  <a:srgbClr val="9BAEC0"/>
                </a:solidFill>
                <a:latin typeface="Segoe UI"/>
              </a:rPr>
              <a:t>. Não é um parâmetro bem escolhido.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800" b="0">
              <a:solidFill>
                <a:srgbClr val="9BAEC0"/>
              </a:solidFill>
              <a:latin typeface="Segoe U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800" b="0">
              <a:solidFill>
                <a:srgbClr val="9BAEC0"/>
              </a:solidFill>
              <a:latin typeface="Segoe U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800" b="0">
              <a:solidFill>
                <a:srgbClr val="9BAEC0"/>
              </a:solidFill>
              <a:latin typeface="Segoe UI"/>
            </a:endParaRPr>
          </a:p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6ADDB9-189E-4F84-A208-07C1AA8F3A13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17544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203A"/>
            </a:gs>
            <a:gs pos="55000">
              <a:srgbClr val="0A1325"/>
            </a:gs>
            <a:gs pos="100000">
              <a:srgbClr val="04070E"/>
            </a:gs>
          </a:gsLst>
          <a:path path="circle">
            <a:fillToRect l="38000" r="62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6CA4CB-FC8F-E7CE-BF85-D20C627AA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!!halo_robo"/>
          <p:cNvSpPr/>
          <p:nvPr/>
        </p:nvSpPr>
        <p:spPr>
          <a:xfrm>
            <a:off x="5322792" y="326358"/>
            <a:ext cx="6600000" cy="6600000"/>
          </a:xfrm>
          <a:prstGeom prst="ellipse">
            <a:avLst/>
          </a:prstGeom>
          <a:gradFill rotWithShape="1">
            <a:gsLst>
              <a:gs pos="0">
                <a:srgbClr val="FFB531">
                  <a:alpha val="22000"/>
                </a:srgbClr>
              </a:gs>
              <a:gs pos="35000">
                <a:srgbClr val="FFB531">
                  <a:alpha val="9000"/>
                </a:srgbClr>
              </a:gs>
              <a:gs pos="65000">
                <a:srgbClr val="FFB531">
                  <a:alpha val="3000"/>
                </a:srgbClr>
              </a:gs>
              <a:gs pos="85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!!glow_tl"/>
          <p:cNvSpPr/>
          <p:nvPr/>
        </p:nvSpPr>
        <p:spPr>
          <a:xfrm>
            <a:off x="-2600000" y="-22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30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!!tick"/>
          <p:cNvSpPr/>
          <p:nvPr/>
        </p:nvSpPr>
        <p:spPr>
          <a:xfrm>
            <a:off x="60350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!!foot_l"/>
          <p:cNvSpPr txBox="1"/>
          <p:nvPr/>
        </p:nvSpPr>
        <p:spPr>
          <a:xfrm>
            <a:off x="731520" y="6653200"/>
            <a:ext cx="6000000" cy="1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pt-BR" sz="700" b="0" spc="120">
                <a:solidFill>
                  <a:srgbClr val="58698A"/>
                </a:solidFill>
                <a:latin typeface="Consolas"/>
              </a:rPr>
              <a:t>ITAÚ QUANT AI CHALLENGE  ·  SEMIFINAL 2026</a:t>
            </a:r>
          </a:p>
        </p:txBody>
      </p:sp>
      <p:sp>
        <p:nvSpPr>
          <p:cNvPr id="28" name="!!foot_r"/>
          <p:cNvSpPr txBox="1"/>
          <p:nvPr/>
        </p:nvSpPr>
        <p:spPr>
          <a:xfrm>
            <a:off x="5457432" y="6653200"/>
            <a:ext cx="6000000" cy="1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pt-BR" sz="700" b="0" spc="120">
                <a:solidFill>
                  <a:srgbClr val="58698A"/>
                </a:solidFill>
                <a:latin typeface="Consolas"/>
              </a:rPr>
              <a:t>BLACK-LITTERMAN  ×  POLYMARKET</a:t>
            </a:r>
          </a:p>
        </p:txBody>
      </p:sp>
      <p:sp>
        <p:nvSpPr>
          <p:cNvPr id="30" name="!!risca"/>
          <p:cNvSpPr/>
          <p:nvPr/>
        </p:nvSpPr>
        <p:spPr>
          <a:xfrm>
            <a:off x="731520" y="3705000"/>
            <a:ext cx="1005840" cy="36576"/>
          </a:xfrm>
          <a:prstGeom prst="rect">
            <a:avLst/>
          </a:prstGeom>
          <a:gradFill rotWithShape="1">
            <a:gsLst>
              <a:gs pos="0">
                <a:srgbClr val="FFB531"/>
              </a:gs>
              <a:gs pos="100000">
                <a:srgbClr val="FFB531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2AEB71-E81B-F9D0-B1D6-9F0DF9E870EB}"/>
              </a:ext>
            </a:extLst>
          </p:cNvPr>
          <p:cNvSpPr txBox="1"/>
          <p:nvPr/>
        </p:nvSpPr>
        <p:spPr>
          <a:xfrm>
            <a:off x="731520" y="426720"/>
            <a:ext cx="7315200" cy="20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200" b="1" spc="300">
                <a:solidFill>
                  <a:srgbClr val="FFB531"/>
                </a:solidFill>
                <a:latin typeface="Consolas"/>
              </a:rPr>
              <a:t>KAIROS</a:t>
            </a:r>
            <a:r>
              <a:rPr sz="1100" b="0" spc="72">
                <a:solidFill>
                  <a:srgbClr val="8395B5"/>
                </a:solidFill>
                <a:latin typeface="Consolas"/>
              </a:rPr>
              <a:t>   </a:t>
            </a:r>
            <a:r>
              <a:rPr sz="1100" b="0" spc="72" err="1">
                <a:solidFill>
                  <a:srgbClr val="8395B5"/>
                </a:solidFill>
                <a:latin typeface="Consolas"/>
              </a:rPr>
              <a:t>Identidade</a:t>
            </a:r>
            <a:endParaRPr sz="1000" b="0" spc="50">
              <a:solidFill>
                <a:srgbClr val="BAC6DA"/>
              </a:solidFill>
              <a:latin typeface="Consola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8F7E83-1878-C6AE-87BA-2472312350CC}"/>
              </a:ext>
            </a:extLst>
          </p:cNvPr>
          <p:cNvSpPr txBox="1"/>
          <p:nvPr/>
        </p:nvSpPr>
        <p:spPr>
          <a:xfrm>
            <a:off x="0" y="467359"/>
            <a:ext cx="11457432" cy="152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900" b="0" spc="45">
                <a:solidFill>
                  <a:srgbClr val="8395B5"/>
                </a:solidFill>
                <a:latin typeface="Consolas"/>
              </a:rPr>
              <a:t>01</a:t>
            </a: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3A137472-E872-EFA6-A9AC-37E1822B6C24}"/>
              </a:ext>
            </a:extLst>
          </p:cNvPr>
          <p:cNvCxnSpPr/>
          <p:nvPr/>
        </p:nvCxnSpPr>
        <p:spPr>
          <a:xfrm>
            <a:off x="731520" y="704850"/>
            <a:ext cx="10725912" cy="0"/>
          </a:xfrm>
          <a:prstGeom prst="bentConnector3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B599A72-77AC-8217-4D08-A8B49FEEE24E}"/>
              </a:ext>
            </a:extLst>
          </p:cNvPr>
          <p:cNvSpPr txBox="1"/>
          <p:nvPr/>
        </p:nvSpPr>
        <p:spPr>
          <a:xfrm>
            <a:off x="731520" y="2121041"/>
            <a:ext cx="5788152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0" b="0" spc="500">
                <a:solidFill>
                  <a:srgbClr val="FFB531"/>
                </a:solidFill>
                <a:latin typeface="Bahnschrift SemiBold Condensed"/>
              </a:rPr>
              <a:t>KAIROS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5290D6-2EB0-BB5D-D448-220E46A92B64}"/>
              </a:ext>
            </a:extLst>
          </p:cNvPr>
          <p:cNvSpPr txBox="1"/>
          <p:nvPr/>
        </p:nvSpPr>
        <p:spPr>
          <a:xfrm>
            <a:off x="731520" y="3886961"/>
            <a:ext cx="57881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200" b="0" spc="20">
                <a:solidFill>
                  <a:srgbClr val="F5F7FB"/>
                </a:solidFill>
                <a:latin typeface="Bahnschrift SemiBold"/>
              </a:rPr>
              <a:t>Black-Litterman movido a probabilidade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2231AA-A8C0-C4DA-F7CD-E18C762D8673}"/>
              </a:ext>
            </a:extLst>
          </p:cNvPr>
          <p:cNvSpPr txBox="1"/>
          <p:nvPr/>
        </p:nvSpPr>
        <p:spPr>
          <a:xfrm>
            <a:off x="731520" y="4572762"/>
            <a:ext cx="5788152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00" b="1" i="1" err="1">
                <a:solidFill>
                  <a:srgbClr val="FFB531"/>
                </a:solidFill>
                <a:latin typeface="Georgia"/>
              </a:rPr>
              <a:t>Kairós</a:t>
            </a:r>
            <a:r>
              <a:rPr sz="1800" b="0" i="1">
                <a:solidFill>
                  <a:srgbClr val="BAC6DA"/>
                </a:solidFill>
                <a:latin typeface="Georgia"/>
              </a:rPr>
              <a:t>, no grego: o </a:t>
            </a:r>
            <a:r>
              <a:rPr sz="1800" b="0" i="1" err="1">
                <a:solidFill>
                  <a:srgbClr val="BAC6DA"/>
                </a:solidFill>
                <a:latin typeface="Georgia"/>
              </a:rPr>
              <a:t>instante</a:t>
            </a:r>
            <a:r>
              <a:rPr sz="1800" b="0" i="1">
                <a:solidFill>
                  <a:srgbClr val="BAC6DA"/>
                </a:solidFill>
                <a:latin typeface="Georgia"/>
              </a:rPr>
              <a:t> </a:t>
            </a:r>
            <a:r>
              <a:rPr sz="1800" b="0" i="1" err="1">
                <a:solidFill>
                  <a:srgbClr val="BAC6DA"/>
                </a:solidFill>
                <a:latin typeface="Georgia"/>
              </a:rPr>
              <a:t>certo</a:t>
            </a:r>
            <a:r>
              <a:rPr sz="1800" b="0" i="1">
                <a:solidFill>
                  <a:srgbClr val="BAC6DA"/>
                </a:solidFill>
                <a:latin typeface="Georgia"/>
              </a:rPr>
              <a:t> de </a:t>
            </a:r>
            <a:r>
              <a:rPr sz="1800" b="0" i="1" err="1">
                <a:solidFill>
                  <a:srgbClr val="BAC6DA"/>
                </a:solidFill>
                <a:latin typeface="Georgia"/>
              </a:rPr>
              <a:t>agir</a:t>
            </a:r>
            <a:r>
              <a:rPr sz="1800" b="0" i="1">
                <a:solidFill>
                  <a:srgbClr val="BAC6DA"/>
                </a:solidFill>
                <a:latin typeface="Georgia"/>
              </a:rPr>
              <a:t>.</a:t>
            </a:r>
            <a:r>
              <a:rPr lang="pt-PT" sz="1800" b="0" i="1">
                <a:solidFill>
                  <a:srgbClr val="BAC6DA"/>
                </a:solidFill>
                <a:latin typeface="Georgia"/>
              </a:rPr>
              <a:t> O modelo age só quando a informação nova chega ao preço.</a:t>
            </a:r>
            <a:endParaRPr sz="1800" b="0" i="1">
              <a:solidFill>
                <a:srgbClr val="BAC6DA"/>
              </a:solidFill>
              <a:latin typeface="Georgia"/>
            </a:endParaRPr>
          </a:p>
        </p:txBody>
      </p:sp>
      <p:cxnSp>
        <p:nvCxnSpPr>
          <p:cNvPr id="20" name="Connector 19">
            <a:extLst>
              <a:ext uri="{FF2B5EF4-FFF2-40B4-BE49-F238E27FC236}">
                <a16:creationId xmlns:a16="http://schemas.microsoft.com/office/drawing/2014/main" id="{CCB5ED1E-9847-784C-70E6-939D37736474}"/>
              </a:ext>
            </a:extLst>
          </p:cNvPr>
          <p:cNvCxnSpPr/>
          <p:nvPr/>
        </p:nvCxnSpPr>
        <p:spPr>
          <a:xfrm>
            <a:off x="731520" y="6553200"/>
            <a:ext cx="10725912" cy="0"/>
          </a:xfrm>
          <a:prstGeom prst="bentConnector3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881CF7BA-CCFB-7A3B-4C58-E2143E1F3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8716" y="732282"/>
            <a:ext cx="5788152" cy="5788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272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203A"/>
            </a:gs>
            <a:gs pos="55000">
              <a:srgbClr val="0A1325"/>
            </a:gs>
            <a:gs pos="100000">
              <a:srgbClr val="04070E"/>
            </a:gs>
          </a:gsLst>
          <a:path path="circle">
            <a:fillToRect l="38000" r="62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!!glow_tl"/>
          <p:cNvSpPr/>
          <p:nvPr/>
        </p:nvSpPr>
        <p:spPr>
          <a:xfrm>
            <a:off x="-2600000" y="-22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30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" name="!!ghost"/>
          <p:cNvSpPr txBox="1"/>
          <p:nvPr/>
        </p:nvSpPr>
        <p:spPr>
          <a:xfrm>
            <a:off x="6900000" y="-230000"/>
            <a:ext cx="4950000" cy="200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pt-BR" sz="15000" b="0" spc="0">
                <a:solidFill>
                  <a:srgbClr val="101A2E"/>
                </a:solidFill>
                <a:latin typeface="Bahnschrift SemiBold Condensed"/>
              </a:rPr>
              <a:t>02</a:t>
            </a:r>
          </a:p>
        </p:txBody>
      </p:sp>
      <p:sp>
        <p:nvSpPr>
          <p:cNvPr id="35" name="!!tick"/>
          <p:cNvSpPr/>
          <p:nvPr/>
        </p:nvSpPr>
        <p:spPr>
          <a:xfrm>
            <a:off x="60350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6" name="!!foot_l"/>
          <p:cNvSpPr txBox="1"/>
          <p:nvPr/>
        </p:nvSpPr>
        <p:spPr>
          <a:xfrm>
            <a:off x="731520" y="6653200"/>
            <a:ext cx="6000000" cy="1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pt-BR" sz="700" b="0" spc="120">
                <a:solidFill>
                  <a:srgbClr val="58698A"/>
                </a:solidFill>
                <a:latin typeface="Consolas"/>
              </a:rPr>
              <a:t>ITAÚ QUANT AI CHALLENGE  ·  SEMIFINAL 2026</a:t>
            </a:r>
          </a:p>
        </p:txBody>
      </p:sp>
      <p:sp>
        <p:nvSpPr>
          <p:cNvPr id="37" name="!!foot_r"/>
          <p:cNvSpPr txBox="1"/>
          <p:nvPr/>
        </p:nvSpPr>
        <p:spPr>
          <a:xfrm>
            <a:off x="5457432" y="6653200"/>
            <a:ext cx="6000000" cy="1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pt-BR" sz="700" b="0" spc="120">
                <a:solidFill>
                  <a:srgbClr val="58698A"/>
                </a:solidFill>
                <a:latin typeface="Consolas"/>
              </a:rPr>
              <a:t>BLACK-LITTERMAN  ×  POLYMARKET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31520" y="426720"/>
            <a:ext cx="7315200" cy="20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200" b="1" spc="300">
                <a:solidFill>
                  <a:srgbClr val="FFB531"/>
                </a:solidFill>
                <a:latin typeface="Consolas"/>
              </a:rPr>
              <a:t>KAIROS</a:t>
            </a:r>
            <a:r>
              <a:rPr sz="1100" b="0" spc="72">
                <a:solidFill>
                  <a:srgbClr val="8395B5"/>
                </a:solidFill>
                <a:latin typeface="Consolas"/>
              </a:rPr>
              <a:t>   A ideia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7359"/>
            <a:ext cx="11457432" cy="152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900" b="0" spc="45">
                <a:solidFill>
                  <a:srgbClr val="8395B5"/>
                </a:solidFill>
                <a:latin typeface="Consolas"/>
              </a:rPr>
              <a:t>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704850"/>
            <a:ext cx="10725912" cy="0"/>
          </a:xfrm>
          <a:prstGeom prst="bentConnector3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850900"/>
            <a:ext cx="10725911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2000" b="0">
                <a:solidFill>
                  <a:srgbClr val="F5F7FB"/>
                </a:solidFill>
                <a:latin typeface="Bahnschrift SemiBold"/>
              </a:rPr>
              <a:t>A ideia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12080" cy="1188720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87552" y="1819656"/>
            <a:ext cx="470001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200"/>
              </a:spcAft>
            </a:pPr>
            <a:r>
              <a:rPr sz="900" b="1" spc="180">
                <a:solidFill>
                  <a:srgbClr val="FFB531"/>
                </a:solidFill>
                <a:latin typeface="Consolas"/>
              </a:rPr>
              <a:t>A HIPÓTESE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BAC6DA"/>
                </a:solidFill>
                <a:latin typeface="Bahnschrift SemiLight"/>
              </a:rPr>
              <a:t>Mercados de previsão antecipam o mercado financeiro.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BAC6DA"/>
                </a:solidFill>
                <a:latin typeface="Bahnschrift SemiLight"/>
              </a:rPr>
              <a:t>Esse é o nosso sinal.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71800"/>
            <a:ext cx="5212080" cy="1554480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7552" y="3191256"/>
            <a:ext cx="4700016" cy="11887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200"/>
              </a:spcAft>
            </a:pPr>
            <a:r>
              <a:rPr sz="900" b="1" spc="180">
                <a:solidFill>
                  <a:srgbClr val="FFB531"/>
                </a:solidFill>
                <a:latin typeface="Consolas"/>
              </a:rPr>
              <a:t>O QUE É O POLYMARKET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BAC6DA"/>
                </a:solidFill>
                <a:latin typeface="Bahnschrift SemiLight"/>
              </a:rPr>
              <a:t>Contratos pagam US$ 1 se o evento ocorre, zero se não.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BAC6DA"/>
                </a:solidFill>
                <a:latin typeface="Bahnschrift SemiLight"/>
              </a:rPr>
              <a:t>O preço do contrato é a probabilidade implícita do mercado.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BAC6DA"/>
                </a:solidFill>
                <a:latin typeface="Bahnschrift SemiLight"/>
              </a:rPr>
              <a:t>Quem errar perde dinheiro de verdade.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09160"/>
            <a:ext cx="2491740" cy="1234440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2688" y="4709160"/>
            <a:ext cx="2089404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300"/>
              </a:spcAft>
            </a:pPr>
            <a:r>
              <a:rPr sz="3250" b="0">
                <a:solidFill>
                  <a:srgbClr val="FFB531"/>
                </a:solidFill>
                <a:latin typeface="Bahnschrift SemiBold Condensed"/>
              </a:rPr>
              <a:t>90,1%</a:t>
            </a:r>
          </a:p>
          <a:p>
            <a:pPr>
              <a:lnSpc>
                <a:spcPct val="105000"/>
              </a:lnSpc>
            </a:pPr>
            <a:r>
              <a:rPr sz="950" b="0">
                <a:solidFill>
                  <a:srgbClr val="BAC6DA"/>
                </a:solidFill>
                <a:latin typeface="Bahnschrift"/>
              </a:rPr>
              <a:t>de acerto a 1 mês da resolução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1860" y="4709160"/>
            <a:ext cx="2491740" cy="1234440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53028" y="4709160"/>
            <a:ext cx="2089404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300"/>
              </a:spcAft>
            </a:pPr>
            <a:r>
              <a:rPr sz="3250" b="0">
                <a:solidFill>
                  <a:srgbClr val="FFB531"/>
                </a:solidFill>
                <a:latin typeface="Bahnschrift SemiBold Condensed"/>
              </a:rPr>
              <a:t>US$ 26,2 bi</a:t>
            </a:r>
          </a:p>
          <a:p>
            <a:pPr>
              <a:lnSpc>
                <a:spcPct val="105000"/>
              </a:lnSpc>
            </a:pPr>
            <a:r>
              <a:rPr sz="950" b="0">
                <a:solidFill>
                  <a:srgbClr val="BAC6DA"/>
                </a:solidFill>
                <a:latin typeface="Bahnschrift"/>
              </a:rPr>
              <a:t>negociados no 1º tri de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1600200"/>
            <a:ext cx="5212080" cy="4343400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519672" y="1819656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spc="180">
                <a:solidFill>
                  <a:srgbClr val="FFB531"/>
                </a:solidFill>
                <a:latin typeface="Consolas"/>
              </a:rPr>
              <a:t>FICHA TÉCNICA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19672" y="2313432"/>
            <a:ext cx="4663440" cy="0"/>
          </a:xfrm>
          <a:prstGeom prst="bentConnector3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19672" y="2368296"/>
            <a:ext cx="4663440" cy="6199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00" b="0">
                <a:solidFill>
                  <a:srgbClr val="BAC6DA"/>
                </a:solidFill>
                <a:latin typeface="Bahnschrift SemiLight"/>
              </a:rPr>
              <a:t>Universo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2368296"/>
            <a:ext cx="4663440" cy="6199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>
                <a:solidFill>
                  <a:srgbClr val="F5F7FB"/>
                </a:solidFill>
                <a:latin typeface="Bahnschrift SemiBold"/>
              </a:rPr>
              <a:t>9 ETFs americanos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519672" y="2988259"/>
            <a:ext cx="4663440" cy="0"/>
          </a:xfrm>
          <a:prstGeom prst="bentConnector3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519672" y="3043123"/>
            <a:ext cx="4663440" cy="6199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00" b="0">
                <a:solidFill>
                  <a:srgbClr val="BAC6DA"/>
                </a:solidFill>
                <a:latin typeface="Bahnschrift SemiLight"/>
              </a:rPr>
              <a:t>Benchmark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3043123"/>
            <a:ext cx="4663440" cy="6199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>
                <a:solidFill>
                  <a:srgbClr val="F5F7FB"/>
                </a:solidFill>
                <a:latin typeface="Bahnschrift SemiBold"/>
              </a:rPr>
              <a:t>S&amp;P 500 (SPY)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519672" y="3663086"/>
            <a:ext cx="4663440" cy="0"/>
          </a:xfrm>
          <a:prstGeom prst="bentConnector3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19672" y="3717950"/>
            <a:ext cx="4663440" cy="6199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00" b="0">
                <a:solidFill>
                  <a:srgbClr val="BAC6DA"/>
                </a:solidFill>
                <a:latin typeface="Bahnschrift SemiLight"/>
              </a:rPr>
              <a:t>Período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9672" y="3717950"/>
            <a:ext cx="4663440" cy="6199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>
                <a:solidFill>
                  <a:srgbClr val="F5F7FB"/>
                </a:solidFill>
                <a:latin typeface="Bahnschrift SemiBold"/>
              </a:rPr>
              <a:t>fev/2025 – ago/2026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519672" y="4337913"/>
            <a:ext cx="4663440" cy="0"/>
          </a:xfrm>
          <a:prstGeom prst="bentConnector3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519672" y="4392777"/>
            <a:ext cx="4663440" cy="6199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00" b="0">
                <a:solidFill>
                  <a:srgbClr val="BAC6DA"/>
                </a:solidFill>
                <a:latin typeface="Bahnschrift SemiLight"/>
              </a:rPr>
              <a:t>Rebalanceamento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9672" y="4392777"/>
            <a:ext cx="4663440" cy="6199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>
                <a:solidFill>
                  <a:srgbClr val="F5F7FB"/>
                </a:solidFill>
                <a:latin typeface="Bahnschrift SemiBold"/>
              </a:rPr>
              <a:t>Diário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519672" y="5012740"/>
            <a:ext cx="4663440" cy="0"/>
          </a:xfrm>
          <a:prstGeom prst="bentConnector3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519672" y="5067604"/>
            <a:ext cx="4663440" cy="6199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00" b="0">
                <a:solidFill>
                  <a:srgbClr val="BAC6DA"/>
                </a:solidFill>
                <a:latin typeface="Bahnschrift SemiLight"/>
              </a:rPr>
              <a:t>Plataforma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9672" y="5067604"/>
            <a:ext cx="4663440" cy="6199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>
                <a:solidFill>
                  <a:srgbClr val="F5F7FB"/>
                </a:solidFill>
                <a:latin typeface="Bahnschrift SemiBold"/>
              </a:rPr>
              <a:t>Python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31520" y="6553200"/>
            <a:ext cx="10725912" cy="0"/>
          </a:xfrm>
          <a:prstGeom prst="bentConnector3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203A"/>
            </a:gs>
            <a:gs pos="55000">
              <a:srgbClr val="0A1325"/>
            </a:gs>
            <a:gs pos="100000">
              <a:srgbClr val="04070E"/>
            </a:gs>
          </a:gsLst>
          <a:path path="circle">
            <a:fillToRect l="38000" r="62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!!glow_tl"/>
          <p:cNvSpPr/>
          <p:nvPr/>
        </p:nvSpPr>
        <p:spPr>
          <a:xfrm>
            <a:off x="-2600000" y="-22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30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9" name="!!ghost"/>
          <p:cNvSpPr txBox="1"/>
          <p:nvPr/>
        </p:nvSpPr>
        <p:spPr>
          <a:xfrm>
            <a:off x="6900000" y="-230000"/>
            <a:ext cx="4950000" cy="200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pt-BR" sz="15000" b="0" spc="0">
                <a:solidFill>
                  <a:srgbClr val="101A2E"/>
                </a:solidFill>
                <a:latin typeface="Bahnschrift SemiBold Condensed"/>
              </a:rPr>
              <a:t>03</a:t>
            </a:r>
          </a:p>
        </p:txBody>
      </p:sp>
      <p:sp>
        <p:nvSpPr>
          <p:cNvPr id="30" name="!!tick"/>
          <p:cNvSpPr/>
          <p:nvPr/>
        </p:nvSpPr>
        <p:spPr>
          <a:xfrm>
            <a:off x="69494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!!foot_l"/>
          <p:cNvSpPr txBox="1"/>
          <p:nvPr/>
        </p:nvSpPr>
        <p:spPr>
          <a:xfrm>
            <a:off x="822960" y="6653200"/>
            <a:ext cx="6000000" cy="1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pt-BR" sz="700" b="0" spc="120">
                <a:solidFill>
                  <a:srgbClr val="58698A"/>
                </a:solidFill>
                <a:latin typeface="Consolas"/>
              </a:rPr>
              <a:t>ITAÚ QUANT AI CHALLENGE  ·  SEMIFINAL 2026</a:t>
            </a:r>
          </a:p>
        </p:txBody>
      </p:sp>
      <p:sp>
        <p:nvSpPr>
          <p:cNvPr id="32" name="!!foot_r"/>
          <p:cNvSpPr txBox="1"/>
          <p:nvPr/>
        </p:nvSpPr>
        <p:spPr>
          <a:xfrm>
            <a:off x="5365992" y="6653200"/>
            <a:ext cx="6000000" cy="1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pt-BR" sz="700" b="0" spc="120">
                <a:solidFill>
                  <a:srgbClr val="58698A"/>
                </a:solidFill>
                <a:latin typeface="Consolas"/>
              </a:rPr>
              <a:t>BLACK-LITTERMAN  ×  POLYMARKET</a:t>
            </a:r>
          </a:p>
        </p:txBody>
      </p:sp>
      <p:sp>
        <p:nvSpPr>
          <p:cNvPr id="2" name="s3_0"/>
          <p:cNvSpPr txBox="1"/>
          <p:nvPr/>
        </p:nvSpPr>
        <p:spPr>
          <a:xfrm>
            <a:off x="822960" y="426720"/>
            <a:ext cx="8229600" cy="20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300">
                <a:solidFill>
                  <a:srgbClr val="FFB531"/>
                </a:solidFill>
                <a:latin typeface="Consolas"/>
              </a:rPr>
              <a:t>KAIROS</a:t>
            </a:r>
            <a:r>
              <a:rPr sz="1100" b="0" spc="72">
                <a:solidFill>
                  <a:srgbClr val="8395B5"/>
                </a:solidFill>
                <a:latin typeface="Consolas"/>
              </a:rPr>
              <a:t>   Como o Black-Litterman funciona</a:t>
            </a:r>
          </a:p>
        </p:txBody>
      </p:sp>
      <p:sp>
        <p:nvSpPr>
          <p:cNvPr id="3" name="s3_1"/>
          <p:cNvSpPr txBox="1"/>
          <p:nvPr/>
        </p:nvSpPr>
        <p:spPr>
          <a:xfrm>
            <a:off x="8988552" y="467359"/>
            <a:ext cx="2377440" cy="152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45">
                <a:solidFill>
                  <a:srgbClr val="8395B5"/>
                </a:solidFill>
                <a:latin typeface="Consolas"/>
              </a:rPr>
              <a:t>03</a:t>
            </a:r>
          </a:p>
        </p:txBody>
      </p:sp>
      <p:cxnSp>
        <p:nvCxnSpPr>
          <p:cNvPr id="4" name="s3_2"/>
          <p:cNvCxnSpPr/>
          <p:nvPr/>
        </p:nvCxnSpPr>
        <p:spPr>
          <a:xfrm>
            <a:off x="822960" y="704850"/>
            <a:ext cx="10543032" cy="0"/>
          </a:xfrm>
          <a:prstGeom prst="line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3_3"/>
          <p:cNvCxnSpPr/>
          <p:nvPr/>
        </p:nvCxnSpPr>
        <p:spPr>
          <a:xfrm>
            <a:off x="822960" y="3931920"/>
            <a:ext cx="1054303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3_4"/>
          <p:cNvCxnSpPr/>
          <p:nvPr/>
        </p:nvCxnSpPr>
        <p:spPr>
          <a:xfrm>
            <a:off x="822960" y="6553200"/>
            <a:ext cx="1054303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!!halo"/>
          <p:cNvSpPr/>
          <p:nvPr/>
        </p:nvSpPr>
        <p:spPr>
          <a:xfrm>
            <a:off x="1463040" y="868680"/>
            <a:ext cx="9235440" cy="1828800"/>
          </a:xfrm>
          <a:prstGeom prst="ellipse">
            <a:avLst/>
          </a:prstGeom>
          <a:solidFill>
            <a:srgbClr val="FFB531">
              <a:alpha val="9000"/>
            </a:srgbClr>
          </a:solidFill>
          <a:ln>
            <a:noFill/>
          </a:ln>
          <a:effectLst>
            <a:softEdge rad="13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9" name="!!eq"/>
          <p:cNvSpPr/>
          <p:nvPr/>
        </p:nvSpPr>
        <p:spPr>
          <a:xfrm>
            <a:off x="822960" y="1188720"/>
            <a:ext cx="3127248" cy="1115568"/>
          </a:xfrm>
          <a:prstGeom prst="roundRect">
            <a:avLst>
              <a:gd name="adj" fmla="val 11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12700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0916" tIns="0" rIns="128016" bIns="0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30">
                <a:solidFill>
                  <a:srgbClr val="F5F7FB"/>
                </a:solidFill>
                <a:latin typeface="Bahnschrift SemiBold"/>
              </a:rPr>
              <a:t>EQUILÍBRIO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BAC6DA"/>
                </a:solidFill>
                <a:latin typeface="Bahnschrift"/>
              </a:rPr>
              <a:t>o que o mercado já espera</a:t>
            </a:r>
          </a:p>
        </p:txBody>
      </p:sp>
      <p:sp>
        <p:nvSpPr>
          <p:cNvPr id="10" name="!!bar_eq"/>
          <p:cNvSpPr/>
          <p:nvPr/>
        </p:nvSpPr>
        <p:spPr>
          <a:xfrm>
            <a:off x="1078992" y="1456456"/>
            <a:ext cx="50292" cy="58009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4F8EF7"/>
              </a:gs>
              <a:gs pos="100000">
                <a:srgbClr val="4F8EF7">
                  <a:alpha val="3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11" name="!!q"/>
          <p:cNvSpPr/>
          <p:nvPr/>
        </p:nvSpPr>
        <p:spPr>
          <a:xfrm>
            <a:off x="4526280" y="1188720"/>
            <a:ext cx="3127248" cy="1115568"/>
          </a:xfrm>
          <a:prstGeom prst="roundRect">
            <a:avLst>
              <a:gd name="adj" fmla="val 11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12700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0916" tIns="0" rIns="128016" bIns="0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30">
                <a:solidFill>
                  <a:srgbClr val="F5F7FB"/>
                </a:solidFill>
                <a:latin typeface="Bahnschrift SemiBold"/>
              </a:rPr>
              <a:t>OPINIÃO  ·  Q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BAC6DA"/>
                </a:solidFill>
                <a:latin typeface="Bahnschrift"/>
              </a:rPr>
              <a:t>quanto se espera render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8395B5"/>
                </a:solidFill>
                <a:latin typeface="Bahnschrift"/>
              </a:rPr>
              <a:t>digitado pelo gestor</a:t>
            </a:r>
          </a:p>
        </p:txBody>
      </p:sp>
      <p:sp>
        <p:nvSpPr>
          <p:cNvPr id="12" name="!!bar_q"/>
          <p:cNvSpPr/>
          <p:nvPr/>
        </p:nvSpPr>
        <p:spPr>
          <a:xfrm>
            <a:off x="4782312" y="1456456"/>
            <a:ext cx="50292" cy="58009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B5811C"/>
              </a:gs>
              <a:gs pos="100000">
                <a:srgbClr val="B5811C">
                  <a:alpha val="3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13" name="!!om"/>
          <p:cNvSpPr/>
          <p:nvPr/>
        </p:nvSpPr>
        <p:spPr>
          <a:xfrm>
            <a:off x="8238744" y="1188720"/>
            <a:ext cx="3127248" cy="1115568"/>
          </a:xfrm>
          <a:prstGeom prst="roundRect">
            <a:avLst>
              <a:gd name="adj" fmla="val 11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12700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0916" tIns="0" rIns="128016" bIns="0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30">
                <a:solidFill>
                  <a:srgbClr val="F5F7FB"/>
                </a:solidFill>
                <a:latin typeface="Bahnschrift SemiBold"/>
              </a:rPr>
              <a:t>CONFIANÇA  ·  Ω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BAC6DA"/>
                </a:solidFill>
                <a:latin typeface="Bahnschrift"/>
              </a:rPr>
              <a:t>o quanto ela pesa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8395B5"/>
                </a:solidFill>
                <a:latin typeface="Bahnschrift"/>
              </a:rPr>
              <a:t>digitado pelo gestor</a:t>
            </a:r>
          </a:p>
        </p:txBody>
      </p:sp>
      <p:sp>
        <p:nvSpPr>
          <p:cNvPr id="14" name="!!bar_om"/>
          <p:cNvSpPr/>
          <p:nvPr/>
        </p:nvSpPr>
        <p:spPr>
          <a:xfrm>
            <a:off x="8494776" y="1456456"/>
            <a:ext cx="50292" cy="58009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B5811C"/>
              </a:gs>
              <a:gs pos="100000">
                <a:srgbClr val="B5811C">
                  <a:alpha val="3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15" name="!!cart"/>
          <p:cNvSpPr/>
          <p:nvPr/>
        </p:nvSpPr>
        <p:spPr>
          <a:xfrm>
            <a:off x="4526280" y="2743200"/>
            <a:ext cx="3127248" cy="950976"/>
          </a:xfrm>
          <a:prstGeom prst="roundRect">
            <a:avLst>
              <a:gd name="adj" fmla="val 11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12700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0916" tIns="0" rIns="128016" bIns="0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30">
                <a:solidFill>
                  <a:srgbClr val="F5F7FB"/>
                </a:solidFill>
                <a:latin typeface="Bahnschrift SemiBold"/>
              </a:rPr>
              <a:t>CARTEIRA  BL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BAC6DA"/>
                </a:solidFill>
                <a:latin typeface="Bahnschrift"/>
              </a:rPr>
              <a:t>9 ETFs, os pesos do dia</a:t>
            </a:r>
          </a:p>
        </p:txBody>
      </p:sp>
      <p:sp>
        <p:nvSpPr>
          <p:cNvPr id="16" name="!!bar_cart"/>
          <p:cNvSpPr/>
          <p:nvPr/>
        </p:nvSpPr>
        <p:spPr>
          <a:xfrm>
            <a:off x="4782312" y="2971434"/>
            <a:ext cx="50292" cy="494507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FD3B0"/>
              </a:gs>
              <a:gs pos="100000">
                <a:srgbClr val="2FD3B0">
                  <a:alpha val="3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17" name="!!op_mais"/>
          <p:cNvSpPr/>
          <p:nvPr/>
        </p:nvSpPr>
        <p:spPr>
          <a:xfrm>
            <a:off x="4064507" y="1572768"/>
            <a:ext cx="347472" cy="347472"/>
          </a:xfrm>
          <a:prstGeom prst="ellipse">
            <a:avLst/>
          </a:prstGeom>
          <a:solidFill>
            <a:srgbClr val="0B1426"/>
          </a:solidFill>
          <a:ln w="9525">
            <a:solidFill>
              <a:srgbClr val="FFB531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AC6DA"/>
                </a:solidFill>
                <a:latin typeface="Bahnschrift SemiLight"/>
              </a:rPr>
              <a:t>+</a:t>
            </a:r>
          </a:p>
        </p:txBody>
      </p:sp>
      <p:sp>
        <p:nvSpPr>
          <p:cNvPr id="18" name="!!op_vezes"/>
          <p:cNvSpPr/>
          <p:nvPr/>
        </p:nvSpPr>
        <p:spPr>
          <a:xfrm>
            <a:off x="7772400" y="1572768"/>
            <a:ext cx="347472" cy="347472"/>
          </a:xfrm>
          <a:prstGeom prst="ellipse">
            <a:avLst/>
          </a:prstGeom>
          <a:solidFill>
            <a:srgbClr val="0B1426"/>
          </a:solidFill>
          <a:ln w="9525">
            <a:solidFill>
              <a:srgbClr val="FFB531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AC6DA"/>
                </a:solidFill>
                <a:latin typeface="Bahnschrift SemiLight"/>
              </a:rPr>
              <a:t>×</a:t>
            </a:r>
          </a:p>
        </p:txBody>
      </p:sp>
      <p:sp>
        <p:nvSpPr>
          <p:cNvPr id="19" name="!!chave"/>
          <p:cNvSpPr/>
          <p:nvPr/>
        </p:nvSpPr>
        <p:spPr>
          <a:xfrm rot="5400000">
            <a:off x="6006693" y="-2733141"/>
            <a:ext cx="175564" cy="10543032"/>
          </a:xfrm>
          <a:prstGeom prst="rightBrace">
            <a:avLst>
              <a:gd name="adj1" fmla="val 30000"/>
              <a:gd name="adj2" fmla="val 50000"/>
            </a:avLst>
          </a:prstGeom>
          <a:noFill/>
          <a:ln w="15875">
            <a:solidFill>
              <a:srgbClr val="839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Light"/>
            </a:endParaRPr>
          </a:p>
        </p:txBody>
      </p:sp>
      <p:cxnSp>
        <p:nvCxnSpPr>
          <p:cNvPr id="20" name="!!seta_cart"/>
          <p:cNvCxnSpPr/>
          <p:nvPr/>
        </p:nvCxnSpPr>
        <p:spPr>
          <a:xfrm>
            <a:off x="6089904" y="2626156"/>
            <a:ext cx="0" cy="98756"/>
          </a:xfrm>
          <a:prstGeom prst="line">
            <a:avLst/>
          </a:prstGeom>
          <a:ln w="15875">
            <a:solidFill>
              <a:srgbClr val="8395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3_19"/>
          <p:cNvSpPr txBox="1"/>
          <p:nvPr/>
        </p:nvSpPr>
        <p:spPr>
          <a:xfrm>
            <a:off x="822960" y="4041648"/>
            <a:ext cx="48463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00">
                <a:solidFill>
                  <a:srgbClr val="FFB531"/>
                </a:solidFill>
                <a:latin typeface="Consolas"/>
              </a:rPr>
              <a:t>O QUE O </a:t>
            </a:r>
            <a:r>
              <a:rPr lang="pt-BR" sz="950" b="1" spc="100">
                <a:solidFill>
                  <a:srgbClr val="FFB531"/>
                </a:solidFill>
                <a:latin typeface="Consolas"/>
              </a:rPr>
              <a:t>BLACK-LITTERMAN</a:t>
            </a:r>
            <a:r>
              <a:rPr sz="950" b="1" spc="100">
                <a:solidFill>
                  <a:srgbClr val="FFB531"/>
                </a:solidFill>
                <a:latin typeface="Consolas"/>
              </a:rPr>
              <a:t> FAZ</a:t>
            </a:r>
          </a:p>
        </p:txBody>
      </p:sp>
      <p:sp>
        <p:nvSpPr>
          <p:cNvPr id="22" name="s3_20"/>
          <p:cNvSpPr txBox="1"/>
          <p:nvPr/>
        </p:nvSpPr>
        <p:spPr>
          <a:xfrm>
            <a:off x="822960" y="4352544"/>
            <a:ext cx="4846320" cy="13639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150" b="0">
                <a:solidFill>
                  <a:srgbClr val="F5F7FB"/>
                </a:solidFill>
                <a:latin typeface="Bahnschrift SemiBold"/>
              </a:rPr>
              <a:t>Parte</a:t>
            </a:r>
            <a:r>
              <a:rPr sz="1150" b="0">
                <a:solidFill>
                  <a:srgbClr val="F5F7FB"/>
                </a:solidFill>
                <a:latin typeface="Bahnschrift SemiBold"/>
              </a:rPr>
              <a:t> do </a:t>
            </a:r>
            <a:r>
              <a:rPr lang="pt-BR" sz="1150" b="0">
                <a:solidFill>
                  <a:srgbClr val="F5F7FB"/>
                </a:solidFill>
                <a:latin typeface="Bahnschrift SemiBold"/>
              </a:rPr>
              <a:t>equilíbrio</a:t>
            </a:r>
            <a:r>
              <a:rPr sz="1150" b="0">
                <a:solidFill>
                  <a:srgbClr val="F5F7FB"/>
                </a:solidFill>
                <a:latin typeface="Bahnschrift SemiBold"/>
              </a:rPr>
              <a:t>. 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A </a:t>
            </a:r>
            <a:r>
              <a:rPr lang="pt-BR" sz="1150" b="0">
                <a:solidFill>
                  <a:srgbClr val="BAC6DA"/>
                </a:solidFill>
                <a:latin typeface="Bahnschrift SemiLight"/>
              </a:rPr>
              <a:t>carteira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base é a </a:t>
            </a:r>
            <a:r>
              <a:rPr lang="pt-BR" sz="1150" b="0">
                <a:solidFill>
                  <a:srgbClr val="BAC6DA"/>
                </a:solidFill>
                <a:latin typeface="Bahnschrift SemiLight"/>
              </a:rPr>
              <a:t>que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o mercado </a:t>
            </a:r>
            <a:r>
              <a:rPr lang="pt-BR" sz="1150" b="0">
                <a:solidFill>
                  <a:srgbClr val="BAC6DA"/>
                </a:solidFill>
                <a:latin typeface="Bahnschrift SemiLight"/>
              </a:rPr>
              <a:t>já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</a:t>
            </a:r>
            <a:r>
              <a:rPr lang="pt-BR" sz="1150" b="0">
                <a:solidFill>
                  <a:srgbClr val="BAC6DA"/>
                </a:solidFill>
                <a:latin typeface="Bahnschrift SemiLight"/>
              </a:rPr>
              <a:t>carrega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</a:t>
            </a:r>
            <a:endParaRPr lang="pt-BR" sz="1150" b="0">
              <a:solidFill>
                <a:srgbClr val="BAC6DA"/>
              </a:solidFill>
              <a:latin typeface="Bahnschrift SemiLight"/>
            </a:endParaRP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endParaRPr lang="pt-BR" sz="1150">
              <a:solidFill>
                <a:srgbClr val="BAC6DA"/>
              </a:solidFill>
              <a:latin typeface="Bahnschrift SemiLight"/>
            </a:endParaRP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err="1">
                <a:solidFill>
                  <a:srgbClr val="F5F7FB"/>
                </a:solidFill>
                <a:latin typeface="Bahnschrift SemiBold"/>
              </a:rPr>
              <a:t>Você</a:t>
            </a:r>
            <a:r>
              <a:rPr sz="1150" b="0">
                <a:solidFill>
                  <a:srgbClr val="F5F7FB"/>
                </a:solidFill>
                <a:latin typeface="Bahnschrift SemiBold"/>
              </a:rPr>
              <a:t> </a:t>
            </a:r>
            <a:r>
              <a:rPr lang="pt-BR" sz="1150" b="0">
                <a:solidFill>
                  <a:srgbClr val="F5F7FB"/>
                </a:solidFill>
                <a:latin typeface="Bahnschrift SemiBold"/>
              </a:rPr>
              <a:t>entrega</a:t>
            </a:r>
            <a:r>
              <a:rPr sz="1150" b="0">
                <a:solidFill>
                  <a:srgbClr val="F5F7FB"/>
                </a:solidFill>
                <a:latin typeface="Bahnschrift SemiBold"/>
              </a:rPr>
              <a:t> </a:t>
            </a:r>
            <a:r>
              <a:rPr lang="pt-BR" sz="1150" b="0">
                <a:solidFill>
                  <a:srgbClr val="F5F7FB"/>
                </a:solidFill>
                <a:latin typeface="Bahnschrift SemiBold"/>
              </a:rPr>
              <a:t>opinião</a:t>
            </a:r>
            <a:r>
              <a:rPr sz="1150" b="0">
                <a:solidFill>
                  <a:srgbClr val="F5F7FB"/>
                </a:solidFill>
                <a:latin typeface="Bahnschrift SemiBold"/>
              </a:rPr>
              <a:t> e </a:t>
            </a:r>
            <a:r>
              <a:rPr lang="pt-BR" sz="1150" b="0">
                <a:solidFill>
                  <a:srgbClr val="F5F7FB"/>
                </a:solidFill>
                <a:latin typeface="Bahnschrift SemiBold"/>
              </a:rPr>
              <a:t>confiança</a:t>
            </a:r>
            <a:r>
              <a:rPr sz="1150" b="0">
                <a:solidFill>
                  <a:srgbClr val="F5F7FB"/>
                </a:solidFill>
                <a:latin typeface="Bahnschrift SemiBold"/>
              </a:rPr>
              <a:t>. 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O </a:t>
            </a:r>
            <a:r>
              <a:rPr lang="pt-BR" sz="1150" b="0">
                <a:solidFill>
                  <a:srgbClr val="BAC6DA"/>
                </a:solidFill>
                <a:latin typeface="Bahnschrift SemiLight"/>
              </a:rPr>
              <a:t>modelo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</a:t>
            </a:r>
            <a:r>
              <a:rPr lang="pt-BR" sz="1150" b="0">
                <a:solidFill>
                  <a:srgbClr val="BAC6DA"/>
                </a:solidFill>
                <a:latin typeface="Bahnschrift SemiLight"/>
              </a:rPr>
              <a:t>faz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a </a:t>
            </a:r>
            <a:r>
              <a:rPr lang="pt-BR" sz="1150" b="0">
                <a:solidFill>
                  <a:srgbClr val="BAC6DA"/>
                </a:solidFill>
                <a:latin typeface="Bahnschrift SemiLight"/>
              </a:rPr>
              <a:t>conta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e devolve </a:t>
            </a:r>
            <a:r>
              <a:rPr lang="pt-BR" sz="1150" b="0">
                <a:solidFill>
                  <a:srgbClr val="BAC6DA"/>
                </a:solidFill>
                <a:latin typeface="Bahnschrift SemiLight"/>
              </a:rPr>
              <a:t>os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pesos do dia.</a:t>
            </a:r>
            <a:endParaRPr lang="pt-BR" sz="1150" b="0">
              <a:solidFill>
                <a:srgbClr val="BAC6DA"/>
              </a:solidFill>
              <a:latin typeface="Bahnschrift SemiLight"/>
            </a:endParaRPr>
          </a:p>
          <a:p>
            <a:pPr>
              <a:spcBef>
                <a:spcPts val="800"/>
              </a:spcBef>
            </a:pPr>
            <a:r>
              <a:rPr lang="pt-BR" sz="1150" b="0">
                <a:solidFill>
                  <a:schemeClr val="bg1"/>
                </a:solidFill>
                <a:latin typeface="Bahnschrift SemiBold" panose="020B0502040204020203" pitchFamily="34" charset="0"/>
                <a:cs typeface="Bahnschrift SemiBold" panose="020B0502040204020203" pitchFamily="34" charset="0"/>
              </a:rPr>
              <a:t>Sem confiança nas </a:t>
            </a:r>
            <a:r>
              <a:rPr lang="pt-BR" sz="1150" b="0" err="1">
                <a:solidFill>
                  <a:schemeClr val="bg1"/>
                </a:solidFill>
                <a:latin typeface="Bahnschrift SemiBold" panose="020B0502040204020203" pitchFamily="34" charset="0"/>
                <a:cs typeface="Bahnschrift SemiBold" panose="020B0502040204020203" pitchFamily="34" charset="0"/>
              </a:rPr>
              <a:t>views</a:t>
            </a:r>
            <a:r>
              <a:rPr lang="pt-BR" sz="1150" b="0">
                <a:solidFill>
                  <a:schemeClr val="bg1"/>
                </a:solidFill>
                <a:latin typeface="Bahnschrift SemiBold" panose="020B0502040204020203" pitchFamily="34" charset="0"/>
                <a:cs typeface="Bahnschrift SemiBold" panose="020B0502040204020203" pitchFamily="34" charset="0"/>
              </a:rPr>
              <a:t>, o BL devolve a carteira de mercado. </a:t>
            </a:r>
            <a:r>
              <a:rPr lang="pt-BR" sz="1150">
                <a:solidFill>
                  <a:srgbClr val="8FA2C2"/>
                </a:solidFill>
                <a:latin typeface="Bahnschrift SemiLight" panose="020B0502040204020203" pitchFamily="34" charset="0"/>
                <a:cs typeface="Bahnschrift SemiLight" panose="020B0502040204020203" pitchFamily="34" charset="0"/>
              </a:rPr>
              <a:t>Todo desvio do benchmark é proporcional à confiança na opinião.</a:t>
            </a:r>
            <a:endParaRPr sz="1150" b="0">
              <a:solidFill>
                <a:srgbClr val="8FA2C2"/>
              </a:solidFill>
              <a:latin typeface="Bahnschrift SemiLight" panose="020B0502040204020203" pitchFamily="34" charset="0"/>
              <a:cs typeface="Bahnschrift SemiLight" panose="020B0502040204020203" pitchFamily="34" charset="0"/>
            </a:endParaRPr>
          </a:p>
        </p:txBody>
      </p:sp>
      <p:sp>
        <p:nvSpPr>
          <p:cNvPr id="23" name="s3_21"/>
          <p:cNvSpPr txBox="1"/>
          <p:nvPr/>
        </p:nvSpPr>
        <p:spPr>
          <a:xfrm>
            <a:off x="6035040" y="4041648"/>
            <a:ext cx="533095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00">
                <a:solidFill>
                  <a:srgbClr val="FFB531"/>
                </a:solidFill>
                <a:latin typeface="Consolas"/>
              </a:rPr>
              <a:t>POR QUE UMA OPINIÃO DE MERCADO</a:t>
            </a:r>
          </a:p>
        </p:txBody>
      </p:sp>
      <p:sp>
        <p:nvSpPr>
          <p:cNvPr id="24" name="s3_22"/>
          <p:cNvSpPr txBox="1"/>
          <p:nvPr/>
        </p:nvSpPr>
        <p:spPr>
          <a:xfrm>
            <a:off x="6035040" y="4352544"/>
            <a:ext cx="5330952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5F7FB"/>
                </a:solidFill>
                <a:latin typeface="Bahnschrift SemiBold"/>
              </a:rPr>
              <a:t>Cada sinal é independente. 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Uma view sobre o Fed não contamina a view sobre inflação.</a:t>
            </a:r>
          </a:p>
          <a:p>
            <a:pPr algn="l">
              <a:lnSpc>
                <a:spcPct val="126000"/>
              </a:lnSpc>
              <a:spcBef>
                <a:spcPts val="800"/>
              </a:spcBef>
              <a:spcAft>
                <a:spcPts val="0"/>
              </a:spcAft>
            </a:pPr>
            <a:r>
              <a:rPr sz="1150" b="0">
                <a:solidFill>
                  <a:srgbClr val="F5F7FB"/>
                </a:solidFill>
                <a:latin typeface="Bahnschrift SemiBold"/>
              </a:rPr>
              <a:t>Não é preciso opinar sobre tudo. 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O que não tem view fica no equilíbrio, sem custo e sem ruído.</a:t>
            </a:r>
          </a:p>
          <a:p>
            <a:pPr algn="l">
              <a:lnSpc>
                <a:spcPct val="126000"/>
              </a:lnSpc>
              <a:spcBef>
                <a:spcPts val="800"/>
              </a:spcBef>
              <a:spcAft>
                <a:spcPts val="0"/>
              </a:spcAft>
            </a:pPr>
            <a:r>
              <a:rPr sz="1150" b="0">
                <a:solidFill>
                  <a:srgbClr val="F5F7FB"/>
                </a:solidFill>
                <a:latin typeface="Bahnschrift SemiBold"/>
              </a:rPr>
              <a:t>Probabilidade negociada, não palpite. 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Tem dinheiro em risco atrás de cada número.</a:t>
            </a:r>
          </a:p>
        </p:txBody>
      </p:sp>
      <p:sp>
        <p:nvSpPr>
          <p:cNvPr id="25" name="s3_23"/>
          <p:cNvSpPr/>
          <p:nvPr/>
        </p:nvSpPr>
        <p:spPr>
          <a:xfrm>
            <a:off x="822960" y="2926080"/>
            <a:ext cx="4572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B531"/>
              </a:gs>
              <a:gs pos="100000">
                <a:srgbClr val="FFB531">
                  <a:alpha val="3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26" name="s3_24"/>
          <p:cNvSpPr txBox="1"/>
          <p:nvPr/>
        </p:nvSpPr>
        <p:spPr>
          <a:xfrm>
            <a:off x="1060704" y="2944368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1">
                <a:solidFill>
                  <a:srgbClr val="FFB531"/>
                </a:solidFill>
                <a:latin typeface="Georgia"/>
              </a:rPr>
              <a:t>E agora: onde o Polymarket entra nisso?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203A"/>
            </a:gs>
            <a:gs pos="55000">
              <a:srgbClr val="0A1325"/>
            </a:gs>
            <a:gs pos="100000">
              <a:srgbClr val="04070E"/>
            </a:gs>
          </a:gsLst>
          <a:path path="circle">
            <a:fillToRect l="38000" r="62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!!glow_tl"/>
          <p:cNvSpPr/>
          <p:nvPr/>
        </p:nvSpPr>
        <p:spPr>
          <a:xfrm>
            <a:off x="-2600000" y="-22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30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" name="!!ghost"/>
          <p:cNvSpPr txBox="1"/>
          <p:nvPr/>
        </p:nvSpPr>
        <p:spPr>
          <a:xfrm>
            <a:off x="6900000" y="-230000"/>
            <a:ext cx="4950000" cy="200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pt-BR" sz="15000" b="0" spc="0">
                <a:solidFill>
                  <a:srgbClr val="101A2E"/>
                </a:solidFill>
                <a:latin typeface="Bahnschrift SemiBold Condensed"/>
              </a:rPr>
              <a:t>04</a:t>
            </a:r>
          </a:p>
        </p:txBody>
      </p:sp>
      <p:sp>
        <p:nvSpPr>
          <p:cNvPr id="52" name="!!tick"/>
          <p:cNvSpPr/>
          <p:nvPr/>
        </p:nvSpPr>
        <p:spPr>
          <a:xfrm>
            <a:off x="69494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3" name="!!foot_l"/>
          <p:cNvSpPr txBox="1"/>
          <p:nvPr/>
        </p:nvSpPr>
        <p:spPr>
          <a:xfrm>
            <a:off x="822960" y="6653200"/>
            <a:ext cx="6000000" cy="1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pt-BR" sz="700" b="0" spc="120">
                <a:solidFill>
                  <a:srgbClr val="58698A"/>
                </a:solidFill>
                <a:latin typeface="Consolas"/>
              </a:rPr>
              <a:t>ITAÚ QUANT AI CHALLENGE  ·  SEMIFINAL 2026</a:t>
            </a:r>
          </a:p>
        </p:txBody>
      </p:sp>
      <p:sp>
        <p:nvSpPr>
          <p:cNvPr id="54" name="!!foot_r"/>
          <p:cNvSpPr txBox="1"/>
          <p:nvPr/>
        </p:nvSpPr>
        <p:spPr>
          <a:xfrm>
            <a:off x="5365992" y="6653200"/>
            <a:ext cx="6000000" cy="1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pt-BR" sz="700" b="0" spc="120">
                <a:solidFill>
                  <a:srgbClr val="58698A"/>
                </a:solidFill>
                <a:latin typeface="Consolas"/>
              </a:rPr>
              <a:t>BLACK-LITTERMAN  ×  POLYMARKET</a:t>
            </a:r>
          </a:p>
        </p:txBody>
      </p:sp>
      <p:sp>
        <p:nvSpPr>
          <p:cNvPr id="2" name="s4_0"/>
          <p:cNvSpPr txBox="1"/>
          <p:nvPr/>
        </p:nvSpPr>
        <p:spPr>
          <a:xfrm>
            <a:off x="822960" y="426720"/>
            <a:ext cx="8229600" cy="20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300">
                <a:solidFill>
                  <a:srgbClr val="FFB531"/>
                </a:solidFill>
                <a:latin typeface="Consolas"/>
              </a:rPr>
              <a:t>KAIROS</a:t>
            </a:r>
            <a:r>
              <a:rPr sz="1100" b="0" spc="72">
                <a:solidFill>
                  <a:srgbClr val="8395B5"/>
                </a:solidFill>
                <a:latin typeface="Consolas"/>
              </a:rPr>
              <a:t>   A opinião (Q) vem do Polymarket</a:t>
            </a:r>
          </a:p>
        </p:txBody>
      </p:sp>
      <p:sp>
        <p:nvSpPr>
          <p:cNvPr id="3" name="s4_1"/>
          <p:cNvSpPr txBox="1"/>
          <p:nvPr/>
        </p:nvSpPr>
        <p:spPr>
          <a:xfrm>
            <a:off x="8988552" y="467359"/>
            <a:ext cx="2377440" cy="152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45">
                <a:solidFill>
                  <a:srgbClr val="8395B5"/>
                </a:solidFill>
                <a:latin typeface="Consolas"/>
              </a:rPr>
              <a:t>04</a:t>
            </a:r>
          </a:p>
        </p:txBody>
      </p:sp>
      <p:cxnSp>
        <p:nvCxnSpPr>
          <p:cNvPr id="4" name="s4_2"/>
          <p:cNvCxnSpPr/>
          <p:nvPr/>
        </p:nvCxnSpPr>
        <p:spPr>
          <a:xfrm>
            <a:off x="822960" y="704850"/>
            <a:ext cx="10543032" cy="0"/>
          </a:xfrm>
          <a:prstGeom prst="line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4_3"/>
          <p:cNvCxnSpPr/>
          <p:nvPr/>
        </p:nvCxnSpPr>
        <p:spPr>
          <a:xfrm>
            <a:off x="822960" y="3931920"/>
            <a:ext cx="1054303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4_4"/>
          <p:cNvCxnSpPr/>
          <p:nvPr/>
        </p:nvCxnSpPr>
        <p:spPr>
          <a:xfrm>
            <a:off x="822960" y="6553200"/>
            <a:ext cx="1054303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!!halo"/>
          <p:cNvSpPr/>
          <p:nvPr/>
        </p:nvSpPr>
        <p:spPr>
          <a:xfrm>
            <a:off x="3803904" y="786384"/>
            <a:ext cx="4572000" cy="1920240"/>
          </a:xfrm>
          <a:prstGeom prst="ellipse">
            <a:avLst/>
          </a:prstGeom>
          <a:solidFill>
            <a:srgbClr val="FFB531">
              <a:alpha val="17000"/>
            </a:srgbClr>
          </a:solidFill>
          <a:ln>
            <a:noFill/>
          </a:ln>
          <a:effectLst>
            <a:softEdge rad="13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9" name="!!eq"/>
          <p:cNvSpPr/>
          <p:nvPr/>
        </p:nvSpPr>
        <p:spPr>
          <a:xfrm>
            <a:off x="822960" y="1188720"/>
            <a:ext cx="3127248" cy="1115568"/>
          </a:xfrm>
          <a:prstGeom prst="roundRect">
            <a:avLst>
              <a:gd name="adj" fmla="val 11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12700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0916" tIns="0" rIns="128016" bIns="0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30">
                <a:solidFill>
                  <a:srgbClr val="F5F7FB"/>
                </a:solidFill>
                <a:latin typeface="Bahnschrift SemiBold"/>
              </a:rPr>
              <a:t>EQUILÍBRIO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BAC6DA"/>
                </a:solidFill>
                <a:latin typeface="Bahnschrift"/>
              </a:rPr>
              <a:t>o que o mercado já espera</a:t>
            </a:r>
          </a:p>
        </p:txBody>
      </p:sp>
      <p:sp>
        <p:nvSpPr>
          <p:cNvPr id="10" name="!!bar_eq"/>
          <p:cNvSpPr/>
          <p:nvPr/>
        </p:nvSpPr>
        <p:spPr>
          <a:xfrm>
            <a:off x="1078992" y="1456456"/>
            <a:ext cx="50292" cy="58009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4F8EF7"/>
              </a:gs>
              <a:gs pos="100000">
                <a:srgbClr val="4F8EF7">
                  <a:alpha val="3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11" name="!!q"/>
          <p:cNvSpPr/>
          <p:nvPr/>
        </p:nvSpPr>
        <p:spPr>
          <a:xfrm>
            <a:off x="4526280" y="1188720"/>
            <a:ext cx="3127248" cy="1115568"/>
          </a:xfrm>
          <a:prstGeom prst="roundRect">
            <a:avLst>
              <a:gd name="adj" fmla="val 11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12700">
            <a:solidFill>
              <a:srgbClr val="FFB531"/>
            </a:solidFill>
          </a:ln>
          <a:effectLst>
            <a:glow rad="130000">
              <a:srgbClr val="FFB531">
                <a:alpha val="3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8348" tIns="0" rIns="128016" bIns="0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30">
                <a:solidFill>
                  <a:srgbClr val="FFB531"/>
                </a:solidFill>
                <a:latin typeface="Bahnschrift SemiBold"/>
              </a:rPr>
              <a:t>OPINIÃO  ·  Q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BAC6DA"/>
                </a:solidFill>
                <a:latin typeface="Bahnschrift"/>
              </a:rPr>
              <a:t>quanto se espera render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FFB531"/>
                </a:solidFill>
                <a:latin typeface="Bahnschrift SemiBold"/>
              </a:rPr>
              <a:t>POLYMARKET</a:t>
            </a:r>
          </a:p>
        </p:txBody>
      </p:sp>
      <p:sp>
        <p:nvSpPr>
          <p:cNvPr id="12" name="!!bar_q"/>
          <p:cNvSpPr/>
          <p:nvPr/>
        </p:nvSpPr>
        <p:spPr>
          <a:xfrm>
            <a:off x="4782312" y="1456456"/>
            <a:ext cx="77724" cy="58009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B531"/>
              </a:gs>
              <a:gs pos="100000">
                <a:srgbClr val="FFB531">
                  <a:alpha val="3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13" name="!!om"/>
          <p:cNvSpPr/>
          <p:nvPr/>
        </p:nvSpPr>
        <p:spPr>
          <a:xfrm>
            <a:off x="8238744" y="1188720"/>
            <a:ext cx="3127248" cy="1115568"/>
          </a:xfrm>
          <a:prstGeom prst="roundRect">
            <a:avLst>
              <a:gd name="adj" fmla="val 11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12700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0916" tIns="0" rIns="128016" bIns="0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30">
                <a:solidFill>
                  <a:srgbClr val="F5F7FB"/>
                </a:solidFill>
                <a:latin typeface="Bahnschrift SemiBold"/>
              </a:rPr>
              <a:t>CONFIANÇA  ·  Ω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BAC6DA"/>
                </a:solidFill>
                <a:latin typeface="Bahnschrift"/>
              </a:rPr>
              <a:t>o quanto ela pesa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FFB531"/>
                </a:solidFill>
                <a:latin typeface="Bahnschrift SemiBold"/>
              </a:rPr>
              <a:t>POLYMARKET</a:t>
            </a:r>
          </a:p>
        </p:txBody>
      </p:sp>
      <p:sp>
        <p:nvSpPr>
          <p:cNvPr id="14" name="!!bar_om"/>
          <p:cNvSpPr/>
          <p:nvPr/>
        </p:nvSpPr>
        <p:spPr>
          <a:xfrm>
            <a:off x="8494776" y="1456456"/>
            <a:ext cx="50292" cy="58009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B5811C"/>
              </a:gs>
              <a:gs pos="100000">
                <a:srgbClr val="B5811C">
                  <a:alpha val="3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15" name="!!cart"/>
          <p:cNvSpPr/>
          <p:nvPr/>
        </p:nvSpPr>
        <p:spPr>
          <a:xfrm>
            <a:off x="4526280" y="2743200"/>
            <a:ext cx="3127248" cy="950976"/>
          </a:xfrm>
          <a:prstGeom prst="roundRect">
            <a:avLst>
              <a:gd name="adj" fmla="val 11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12700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0916" tIns="0" rIns="128016" bIns="0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30">
                <a:solidFill>
                  <a:srgbClr val="F5F7FB"/>
                </a:solidFill>
                <a:latin typeface="Bahnschrift SemiBold"/>
              </a:rPr>
              <a:t>CARTEIRA  BL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BAC6DA"/>
                </a:solidFill>
                <a:latin typeface="Bahnschrift"/>
              </a:rPr>
              <a:t>9 ETFs, os pesos do dia</a:t>
            </a:r>
          </a:p>
        </p:txBody>
      </p:sp>
      <p:sp>
        <p:nvSpPr>
          <p:cNvPr id="16" name="!!bar_cart"/>
          <p:cNvSpPr/>
          <p:nvPr/>
        </p:nvSpPr>
        <p:spPr>
          <a:xfrm>
            <a:off x="4782312" y="2971434"/>
            <a:ext cx="50292" cy="494507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FD3B0"/>
              </a:gs>
              <a:gs pos="100000">
                <a:srgbClr val="2FD3B0">
                  <a:alpha val="3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17" name="!!op_mais"/>
          <p:cNvSpPr/>
          <p:nvPr/>
        </p:nvSpPr>
        <p:spPr>
          <a:xfrm>
            <a:off x="4064507" y="1572768"/>
            <a:ext cx="347472" cy="347472"/>
          </a:xfrm>
          <a:prstGeom prst="ellipse">
            <a:avLst/>
          </a:prstGeom>
          <a:solidFill>
            <a:srgbClr val="0B1426"/>
          </a:solidFill>
          <a:ln w="9525">
            <a:solidFill>
              <a:srgbClr val="FFB531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AC6DA"/>
                </a:solidFill>
                <a:latin typeface="Bahnschrift SemiLight"/>
              </a:rPr>
              <a:t>+</a:t>
            </a:r>
          </a:p>
        </p:txBody>
      </p:sp>
      <p:sp>
        <p:nvSpPr>
          <p:cNvPr id="18" name="!!op_vezes"/>
          <p:cNvSpPr/>
          <p:nvPr/>
        </p:nvSpPr>
        <p:spPr>
          <a:xfrm>
            <a:off x="7772400" y="1572768"/>
            <a:ext cx="347472" cy="347472"/>
          </a:xfrm>
          <a:prstGeom prst="ellipse">
            <a:avLst/>
          </a:prstGeom>
          <a:solidFill>
            <a:srgbClr val="0B1426"/>
          </a:solidFill>
          <a:ln w="9525">
            <a:solidFill>
              <a:srgbClr val="FFB531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AC6DA"/>
                </a:solidFill>
                <a:latin typeface="Bahnschrift SemiLight"/>
              </a:rPr>
              <a:t>×</a:t>
            </a:r>
          </a:p>
        </p:txBody>
      </p:sp>
      <p:sp>
        <p:nvSpPr>
          <p:cNvPr id="19" name="!!chave"/>
          <p:cNvSpPr/>
          <p:nvPr/>
        </p:nvSpPr>
        <p:spPr>
          <a:xfrm rot="5400000">
            <a:off x="6006693" y="-2733141"/>
            <a:ext cx="175564" cy="10543032"/>
          </a:xfrm>
          <a:prstGeom prst="rightBrace">
            <a:avLst>
              <a:gd name="adj1" fmla="val 30000"/>
              <a:gd name="adj2" fmla="val 50000"/>
            </a:avLst>
          </a:prstGeom>
          <a:noFill/>
          <a:ln w="15875">
            <a:solidFill>
              <a:srgbClr val="839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Light"/>
            </a:endParaRPr>
          </a:p>
        </p:txBody>
      </p:sp>
      <p:cxnSp>
        <p:nvCxnSpPr>
          <p:cNvPr id="20" name="!!seta_cart"/>
          <p:cNvCxnSpPr/>
          <p:nvPr/>
        </p:nvCxnSpPr>
        <p:spPr>
          <a:xfrm>
            <a:off x="6089904" y="2626156"/>
            <a:ext cx="0" cy="98756"/>
          </a:xfrm>
          <a:prstGeom prst="line">
            <a:avLst/>
          </a:prstGeom>
          <a:ln w="15875">
            <a:solidFill>
              <a:srgbClr val="8395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4_19"/>
          <p:cNvSpPr txBox="1"/>
          <p:nvPr/>
        </p:nvSpPr>
        <p:spPr>
          <a:xfrm>
            <a:off x="822960" y="4041648"/>
            <a:ext cx="67665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00">
                <a:solidFill>
                  <a:srgbClr val="FFB531"/>
                </a:solidFill>
                <a:latin typeface="Consolas"/>
              </a:rPr>
              <a:t>DE ONDE VEM O </a:t>
            </a:r>
            <a:r>
              <a:rPr lang="pt-BR" sz="950" b="1" spc="100">
                <a:solidFill>
                  <a:srgbClr val="FFB531"/>
                </a:solidFill>
                <a:latin typeface="Consolas"/>
              </a:rPr>
              <a:t>RETORNO ESPERADO POR ATIVO (Q)</a:t>
            </a:r>
            <a:endParaRPr sz="950" b="1" spc="100">
              <a:solidFill>
                <a:srgbClr val="FFB531"/>
              </a:solidFill>
              <a:latin typeface="Consola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s4_22"/>
              <p:cNvSpPr txBox="1"/>
              <p:nvPr/>
            </p:nvSpPr>
            <p:spPr>
              <a:xfrm>
                <a:off x="822960" y="4563618"/>
                <a:ext cx="6766560" cy="269304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pt-BR" sz="1400" b="0" i="1" spc="40" dirty="0" smtClean="0">
                          <a:solidFill>
                            <a:srgbClr val="FFB531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pt-BR" sz="1400" b="0" i="1" spc="40" dirty="0" smtClean="0">
                          <a:solidFill>
                            <a:srgbClr val="FFB531"/>
                          </a:solidFill>
                          <a:latin typeface="Cambria Math" panose="02040503050406030204" pitchFamily="18" charset="0"/>
                        </a:rPr>
                        <m:t> = (</m:t>
                      </m:r>
                      <m:r>
                        <a:rPr lang="pt-BR" sz="1400" b="0" i="1" spc="40" dirty="0" err="1">
                          <a:solidFill>
                            <a:srgbClr val="FFB53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pt-BR" sz="1400" b="0" i="1" spc="40" dirty="0" err="1">
                          <a:solidFill>
                            <a:srgbClr val="FFB531"/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pt-BR" sz="1400" b="0" i="1" spc="40" dirty="0" err="1">
                          <a:solidFill>
                            <a:srgbClr val="FFB531"/>
                          </a:solidFill>
                          <a:latin typeface="Cambria Math" panose="02040503050406030204" pitchFamily="18" charset="0"/>
                        </a:rPr>
                        <m:t>𝑝𝑜𝑙𝑦</m:t>
                      </m:r>
                      <m:r>
                        <a:rPr lang="pt-BR" sz="1400" b="0" i="1" spc="40" dirty="0">
                          <a:solidFill>
                            <a:srgbClr val="FFB531"/>
                          </a:solidFill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pt-BR" sz="1400" b="0" i="1" spc="40" dirty="0" err="1">
                          <a:solidFill>
                            <a:srgbClr val="FFB531"/>
                          </a:solidFill>
                          <a:latin typeface="Cambria Math" panose="02040503050406030204" pitchFamily="18" charset="0"/>
                        </a:rPr>
                        <m:t>â</m:t>
                      </m:r>
                      <m:r>
                        <a:rPr lang="pt-BR" sz="1400" b="0" i="1" spc="40" dirty="0" err="1">
                          <a:solidFill>
                            <a:srgbClr val="FFB531"/>
                          </a:solidFill>
                          <a:latin typeface="Cambria Math" panose="02040503050406030204" pitchFamily="18" charset="0"/>
                        </a:rPr>
                        <m:t>𝑛𝑐𝑜𝑟𝑎</m:t>
                      </m:r>
                      <m:r>
                        <a:rPr lang="pt-BR" sz="1400" b="0" i="1" spc="40" dirty="0">
                          <a:solidFill>
                            <a:srgbClr val="FFB531"/>
                          </a:solidFill>
                          <a:latin typeface="Cambria Math" panose="02040503050406030204" pitchFamily="18" charset="0"/>
                        </a:rPr>
                        <m:t>) · </m:t>
                      </m:r>
                      <m:r>
                        <m:rPr>
                          <m:sty m:val="p"/>
                        </m:rPr>
                        <a:rPr lang="el-GR" sz="1400" b="0" i="0" spc="40" dirty="0">
                          <a:solidFill>
                            <a:srgbClr val="FFB531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l-GR" sz="1400" b="0" i="1" spc="40" dirty="0">
                          <a:solidFill>
                            <a:srgbClr val="FFB53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l-GR" sz="1400" b="0" i="1" spc="40" dirty="0">
                          <a:solidFill>
                            <a:srgbClr val="FFB53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pt-BR" sz="1400" b="0" i="1" spc="40" dirty="0">
                          <a:solidFill>
                            <a:srgbClr val="FFB531"/>
                          </a:solidFill>
                          <a:latin typeface="Cambria Math" panose="02040503050406030204" pitchFamily="18" charset="0"/>
                        </a:rPr>
                        <m:t>ᵢ </m:t>
                      </m:r>
                      <m:r>
                        <a:rPr lang="pt-BR" sz="1400" b="0" i="1" spc="40" dirty="0">
                          <a:solidFill>
                            <a:srgbClr val="FFB531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pt-BR" sz="1400" b="0" i="1" spc="40" dirty="0">
                          <a:solidFill>
                            <a:srgbClr val="FFB531"/>
                          </a:solidFill>
                          <a:latin typeface="Cambria Math" panose="02040503050406030204" pitchFamily="18" charset="0"/>
                        </a:rPr>
                        <m:t>ᵢ</m:t>
                      </m:r>
                    </m:oMath>
                  </m:oMathPara>
                </a14:m>
                <a:endParaRPr lang="pt-BR" sz="1400">
                  <a:solidFill>
                    <a:srgbClr val="FFB531"/>
                  </a:solidFill>
                  <a:latin typeface="Bahnschrift SemiLight"/>
                </a:endParaRPr>
              </a:p>
            </p:txBody>
          </p:sp>
        </mc:Choice>
        <mc:Fallback xmlns="">
          <p:sp>
            <p:nvSpPr>
              <p:cNvPr id="24" name="s4_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4563618"/>
                <a:ext cx="6766560" cy="269304"/>
              </a:xfrm>
              <a:prstGeom prst="rect">
                <a:avLst/>
              </a:prstGeom>
              <a:blipFill>
                <a:blip r:embed="rId3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en-US">
                    <a:latin typeface="Bahnschrift SemiLight"/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s4_23"/>
          <p:cNvSpPr/>
          <p:nvPr/>
        </p:nvSpPr>
        <p:spPr>
          <a:xfrm>
            <a:off x="822960" y="5230368"/>
            <a:ext cx="45720" cy="987551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B531"/>
              </a:gs>
              <a:gs pos="100000">
                <a:srgbClr val="FFB531">
                  <a:alpha val="3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26" name="s4_24"/>
          <p:cNvSpPr txBox="1"/>
          <p:nvPr/>
        </p:nvSpPr>
        <p:spPr>
          <a:xfrm>
            <a:off x="1042416" y="5193792"/>
            <a:ext cx="6547104" cy="781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5F7FB"/>
                </a:solidFill>
                <a:latin typeface="Bahnschrift SemiBold"/>
              </a:rPr>
              <a:t>β </a:t>
            </a:r>
            <a:r>
              <a:rPr sz="1150" b="0" err="1">
                <a:solidFill>
                  <a:srgbClr val="F5F7FB"/>
                </a:solidFill>
                <a:latin typeface="Bahnschrift SemiBold"/>
              </a:rPr>
              <a:t>medido</a:t>
            </a:r>
            <a:r>
              <a:rPr sz="1150" b="0">
                <a:solidFill>
                  <a:srgbClr val="F5F7FB"/>
                </a:solidFill>
                <a:latin typeface="Bahnschrift SemiBold"/>
              </a:rPr>
              <a:t> </a:t>
            </a:r>
            <a:r>
              <a:rPr sz="1150" b="0" err="1">
                <a:solidFill>
                  <a:srgbClr val="F5F7FB"/>
                </a:solidFill>
                <a:latin typeface="Bahnschrift SemiBold"/>
              </a:rPr>
              <a:t>em</a:t>
            </a:r>
            <a:r>
              <a:rPr sz="1150" b="0">
                <a:solidFill>
                  <a:srgbClr val="F5F7FB"/>
                </a:solidFill>
                <a:latin typeface="Bahnschrift SemiBold"/>
              </a:rPr>
              <a:t> </a:t>
            </a:r>
            <a:r>
              <a:rPr sz="1150" b="0" err="1">
                <a:solidFill>
                  <a:srgbClr val="F5F7FB"/>
                </a:solidFill>
                <a:latin typeface="Bahnschrift SemiBold"/>
              </a:rPr>
              <a:t>anúncios</a:t>
            </a:r>
            <a:r>
              <a:rPr sz="1150" b="0">
                <a:solidFill>
                  <a:srgbClr val="F5F7FB"/>
                </a:solidFill>
                <a:latin typeface="Bahnschrift SemiBold"/>
              </a:rPr>
              <a:t> passados. 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</a:t>
            </a:r>
            <a:r>
              <a:rPr lang="pt-BR" sz="1150" b="0">
                <a:solidFill>
                  <a:srgbClr val="BAC6DA"/>
                </a:solidFill>
                <a:latin typeface="Bahnschrift SemiLight"/>
              </a:rPr>
              <a:t>É obtido </a:t>
            </a:r>
            <a:r>
              <a:rPr lang="pt-BR" sz="1150">
                <a:solidFill>
                  <a:srgbClr val="BAC6DA"/>
                </a:solidFill>
                <a:latin typeface="Bahnschrift SemiLight"/>
              </a:rPr>
              <a:t>por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event-study.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</a:pPr>
            <a:r>
              <a:rPr sz="1150" b="0">
                <a:solidFill>
                  <a:srgbClr val="F5F7FB"/>
                </a:solidFill>
                <a:latin typeface="Bahnschrift SemiBold"/>
              </a:rPr>
              <a:t>Em </a:t>
            </a:r>
            <a:r>
              <a:rPr sz="1150" b="0" err="1">
                <a:solidFill>
                  <a:srgbClr val="F5F7FB"/>
                </a:solidFill>
                <a:latin typeface="Bahnschrift SemiBold"/>
              </a:rPr>
              <a:t>quase</a:t>
            </a:r>
            <a:r>
              <a:rPr sz="1150" b="0">
                <a:solidFill>
                  <a:srgbClr val="F5F7FB"/>
                </a:solidFill>
                <a:latin typeface="Bahnschrift SemiBold"/>
              </a:rPr>
              <a:t> </a:t>
            </a:r>
            <a:r>
              <a:rPr sz="1150" b="0" err="1">
                <a:solidFill>
                  <a:srgbClr val="F5F7FB"/>
                </a:solidFill>
                <a:latin typeface="Bahnschrift SemiBold"/>
              </a:rPr>
              <a:t>todo</a:t>
            </a:r>
            <a:r>
              <a:rPr sz="1150" b="0">
                <a:solidFill>
                  <a:srgbClr val="F5F7FB"/>
                </a:solidFill>
                <a:latin typeface="Bahnschrift SemiBold"/>
              </a:rPr>
              <a:t> </a:t>
            </a:r>
            <a:r>
              <a:rPr sz="1150" b="0" err="1">
                <a:solidFill>
                  <a:srgbClr val="F5F7FB"/>
                </a:solidFill>
                <a:latin typeface="Bahnschrift SemiBold"/>
              </a:rPr>
              <a:t>pregão</a:t>
            </a:r>
            <a:r>
              <a:rPr sz="1150" b="0">
                <a:solidFill>
                  <a:srgbClr val="F5F7FB"/>
                </a:solidFill>
                <a:latin typeface="Bahnschrift SemiBold"/>
              </a:rPr>
              <a:t> </a:t>
            </a:r>
            <a:r>
              <a:rPr sz="1150" b="0" err="1">
                <a:solidFill>
                  <a:srgbClr val="F5F7FB"/>
                </a:solidFill>
                <a:latin typeface="Bahnschrift SemiBold"/>
              </a:rPr>
              <a:t>há</a:t>
            </a:r>
            <a:r>
              <a:rPr sz="1150" b="0">
                <a:solidFill>
                  <a:srgbClr val="F5F7FB"/>
                </a:solidFill>
                <a:latin typeface="Bahnschrift SemiBold"/>
              </a:rPr>
              <a:t> </a:t>
            </a:r>
            <a:r>
              <a:rPr sz="1150" b="0" err="1">
                <a:solidFill>
                  <a:srgbClr val="F5F7FB"/>
                </a:solidFill>
                <a:latin typeface="Bahnschrift SemiBold"/>
              </a:rPr>
              <a:t>ao</a:t>
            </a:r>
            <a:r>
              <a:rPr sz="1150" b="0">
                <a:solidFill>
                  <a:srgbClr val="F5F7FB"/>
                </a:solidFill>
                <a:latin typeface="Bahnschrift SemiBold"/>
              </a:rPr>
              <a:t> </a:t>
            </a:r>
            <a:r>
              <a:rPr sz="1150" b="0" err="1">
                <a:solidFill>
                  <a:srgbClr val="F5F7FB"/>
                </a:solidFill>
                <a:latin typeface="Bahnschrift SemiBold"/>
              </a:rPr>
              <a:t>menos</a:t>
            </a:r>
            <a:r>
              <a:rPr sz="1150" b="0">
                <a:solidFill>
                  <a:srgbClr val="F5F7FB"/>
                </a:solidFill>
                <a:latin typeface="Bahnschrift SemiBold"/>
              </a:rPr>
              <a:t> </a:t>
            </a:r>
            <a:r>
              <a:rPr sz="1150" b="0" err="1">
                <a:solidFill>
                  <a:srgbClr val="F5F7FB"/>
                </a:solidFill>
                <a:latin typeface="Bahnschrift SemiBold"/>
              </a:rPr>
              <a:t>uma</a:t>
            </a:r>
            <a:r>
              <a:rPr sz="1150" b="0">
                <a:solidFill>
                  <a:srgbClr val="F5F7FB"/>
                </a:solidFill>
                <a:latin typeface="Bahnschrift SemiBold"/>
              </a:rPr>
              <a:t> view </a:t>
            </a:r>
            <a:r>
              <a:rPr sz="1150" b="0" err="1">
                <a:solidFill>
                  <a:srgbClr val="F5F7FB"/>
                </a:solidFill>
                <a:latin typeface="Bahnschrift SemiBold"/>
              </a:rPr>
              <a:t>ativa</a:t>
            </a:r>
            <a:r>
              <a:rPr sz="1150" b="0">
                <a:solidFill>
                  <a:srgbClr val="F5F7FB"/>
                </a:solidFill>
                <a:latin typeface="Bahnschrift SemiBold"/>
              </a:rPr>
              <a:t>. 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150" b="0" err="1">
                <a:solidFill>
                  <a:srgbClr val="BAC6DA"/>
                </a:solidFill>
                <a:latin typeface="Bahnschrift SemiLight"/>
              </a:rPr>
              <a:t>Não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é </a:t>
            </a:r>
            <a:r>
              <a:rPr sz="1150" b="0" err="1">
                <a:solidFill>
                  <a:srgbClr val="BAC6DA"/>
                </a:solidFill>
                <a:latin typeface="Bahnschrift SemiLight"/>
              </a:rPr>
              <a:t>preciso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ter </a:t>
            </a:r>
            <a:r>
              <a:rPr sz="1150" b="0" err="1">
                <a:solidFill>
                  <a:srgbClr val="BAC6DA"/>
                </a:solidFill>
                <a:latin typeface="Bahnschrift SemiLight"/>
              </a:rPr>
              <a:t>opinião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150" b="0" err="1">
                <a:solidFill>
                  <a:srgbClr val="BAC6DA"/>
                </a:solidFill>
                <a:latin typeface="Bahnschrift SemiLight"/>
              </a:rPr>
              <a:t>sobre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150" b="0" err="1">
                <a:solidFill>
                  <a:srgbClr val="BAC6DA"/>
                </a:solidFill>
                <a:latin typeface="Bahnschrift SemiLight"/>
              </a:rPr>
              <a:t>tudo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, sempre.</a:t>
            </a:r>
          </a:p>
        </p:txBody>
      </p:sp>
      <p:sp>
        <p:nvSpPr>
          <p:cNvPr id="27" name="s4_25"/>
          <p:cNvSpPr txBox="1"/>
          <p:nvPr/>
        </p:nvSpPr>
        <p:spPr>
          <a:xfrm>
            <a:off x="7799831" y="4041648"/>
            <a:ext cx="3566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00">
                <a:solidFill>
                  <a:srgbClr val="FFB531"/>
                </a:solidFill>
                <a:latin typeface="Consolas"/>
              </a:rPr>
              <a:t>AS QUATRO VIEWS</a:t>
            </a:r>
          </a:p>
        </p:txBody>
      </p:sp>
      <p:sp>
        <p:nvSpPr>
          <p:cNvPr id="28" name="s4_26"/>
          <p:cNvSpPr txBox="1"/>
          <p:nvPr/>
        </p:nvSpPr>
        <p:spPr>
          <a:xfrm>
            <a:off x="7797800" y="4352544"/>
            <a:ext cx="2184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100">
                <a:solidFill>
                  <a:srgbClr val="8395B5"/>
                </a:solidFill>
                <a:latin typeface="Consolas"/>
              </a:rPr>
              <a:t>VIEW</a:t>
            </a:r>
          </a:p>
        </p:txBody>
      </p:sp>
      <p:sp>
        <p:nvSpPr>
          <p:cNvPr id="29" name="s4_27"/>
          <p:cNvSpPr txBox="1"/>
          <p:nvPr/>
        </p:nvSpPr>
        <p:spPr>
          <a:xfrm>
            <a:off x="9982200" y="4352544"/>
            <a:ext cx="609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100">
                <a:solidFill>
                  <a:srgbClr val="8395B5"/>
                </a:solidFill>
                <a:latin typeface="Consolas"/>
              </a:rPr>
              <a:t>ATIVA</a:t>
            </a:r>
          </a:p>
        </p:txBody>
      </p:sp>
      <p:sp>
        <p:nvSpPr>
          <p:cNvPr id="30" name="s4_28"/>
          <p:cNvSpPr txBox="1"/>
          <p:nvPr/>
        </p:nvSpPr>
        <p:spPr>
          <a:xfrm>
            <a:off x="10642600" y="4352544"/>
            <a:ext cx="7239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100">
                <a:solidFill>
                  <a:srgbClr val="8395B5"/>
                </a:solidFill>
                <a:latin typeface="Consolas"/>
              </a:rPr>
              <a:t>EXP.</a:t>
            </a:r>
          </a:p>
        </p:txBody>
      </p:sp>
      <p:cxnSp>
        <p:nvCxnSpPr>
          <p:cNvPr id="31" name="s4_29"/>
          <p:cNvCxnSpPr/>
          <p:nvPr/>
        </p:nvCxnSpPr>
        <p:spPr>
          <a:xfrm>
            <a:off x="7799831" y="4608576"/>
            <a:ext cx="3566161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s4_30"/>
          <p:cNvSpPr txBox="1"/>
          <p:nvPr/>
        </p:nvSpPr>
        <p:spPr>
          <a:xfrm>
            <a:off x="7797800" y="4709159"/>
            <a:ext cx="2184400" cy="1560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AC6DA"/>
                </a:solidFill>
                <a:latin typeface="Bahnschrift"/>
              </a:rPr>
              <a:t>2.3  decisão do Fed</a:t>
            </a:r>
          </a:p>
        </p:txBody>
      </p:sp>
      <p:sp>
        <p:nvSpPr>
          <p:cNvPr id="33" name="s4_31"/>
          <p:cNvSpPr txBox="1"/>
          <p:nvPr/>
        </p:nvSpPr>
        <p:spPr>
          <a:xfrm>
            <a:off x="9982200" y="4709159"/>
            <a:ext cx="609600" cy="1560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5F7FB"/>
                </a:solidFill>
                <a:latin typeface="Consolas"/>
              </a:rPr>
              <a:t>312/374</a:t>
            </a:r>
          </a:p>
        </p:txBody>
      </p:sp>
      <p:sp>
        <p:nvSpPr>
          <p:cNvPr id="34" name="s4_32"/>
          <p:cNvSpPr txBox="1"/>
          <p:nvPr/>
        </p:nvSpPr>
        <p:spPr>
          <a:xfrm>
            <a:off x="10642600" y="4709159"/>
            <a:ext cx="723900" cy="1560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395B5"/>
                </a:solidFill>
                <a:latin typeface="Bahnschrift"/>
              </a:rPr>
              <a:t>neutra</a:t>
            </a:r>
          </a:p>
        </p:txBody>
      </p:sp>
      <p:cxnSp>
        <p:nvCxnSpPr>
          <p:cNvPr id="35" name="s4_33"/>
          <p:cNvCxnSpPr/>
          <p:nvPr/>
        </p:nvCxnSpPr>
        <p:spPr>
          <a:xfrm>
            <a:off x="7799831" y="4919472"/>
            <a:ext cx="3566161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s4_34"/>
          <p:cNvSpPr txBox="1"/>
          <p:nvPr/>
        </p:nvSpPr>
        <p:spPr>
          <a:xfrm>
            <a:off x="7797800" y="5020055"/>
            <a:ext cx="2184400" cy="1560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AC6DA"/>
                </a:solidFill>
                <a:latin typeface="Bahnschrift"/>
              </a:rPr>
              <a:t>2.2  inflação do mês</a:t>
            </a:r>
          </a:p>
        </p:txBody>
      </p:sp>
      <p:sp>
        <p:nvSpPr>
          <p:cNvPr id="37" name="s4_35"/>
          <p:cNvSpPr txBox="1"/>
          <p:nvPr/>
        </p:nvSpPr>
        <p:spPr>
          <a:xfrm>
            <a:off x="9982200" y="5020055"/>
            <a:ext cx="609600" cy="1560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5F7FB"/>
                </a:solidFill>
                <a:latin typeface="Consolas"/>
              </a:rPr>
              <a:t>253/374</a:t>
            </a:r>
          </a:p>
        </p:txBody>
      </p:sp>
      <p:sp>
        <p:nvSpPr>
          <p:cNvPr id="38" name="s4_36"/>
          <p:cNvSpPr txBox="1"/>
          <p:nvPr/>
        </p:nvSpPr>
        <p:spPr>
          <a:xfrm>
            <a:off x="10642600" y="5020055"/>
            <a:ext cx="723900" cy="1560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395B5"/>
                </a:solidFill>
                <a:latin typeface="Bahnschrift"/>
              </a:rPr>
              <a:t>neutra</a:t>
            </a:r>
          </a:p>
        </p:txBody>
      </p:sp>
      <p:cxnSp>
        <p:nvCxnSpPr>
          <p:cNvPr id="39" name="s4_37"/>
          <p:cNvCxnSpPr/>
          <p:nvPr/>
        </p:nvCxnSpPr>
        <p:spPr>
          <a:xfrm>
            <a:off x="7799831" y="5230368"/>
            <a:ext cx="3566161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s4_38"/>
          <p:cNvSpPr txBox="1"/>
          <p:nvPr/>
        </p:nvSpPr>
        <p:spPr>
          <a:xfrm>
            <a:off x="7797800" y="5330951"/>
            <a:ext cx="2184400" cy="1560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AC6DA"/>
                </a:solidFill>
                <a:latin typeface="Bahnschrift"/>
              </a:rPr>
              <a:t>B  taxa </a:t>
            </a:r>
            <a:r>
              <a:rPr lang="pt-BR" sz="900" b="0">
                <a:solidFill>
                  <a:srgbClr val="BAC6DA"/>
                </a:solidFill>
                <a:latin typeface="Bahnschrift"/>
              </a:rPr>
              <a:t>de juros </a:t>
            </a:r>
            <a:r>
              <a:rPr sz="900" b="0">
                <a:solidFill>
                  <a:srgbClr val="BAC6DA"/>
                </a:solidFill>
                <a:latin typeface="Bahnschrift"/>
              </a:rPr>
              <a:t>no </a:t>
            </a:r>
            <a:r>
              <a:rPr sz="900" b="0" err="1">
                <a:solidFill>
                  <a:srgbClr val="BAC6DA"/>
                </a:solidFill>
                <a:latin typeface="Bahnschrift"/>
              </a:rPr>
              <a:t>fim</a:t>
            </a:r>
            <a:r>
              <a:rPr sz="900" b="0">
                <a:solidFill>
                  <a:srgbClr val="BAC6DA"/>
                </a:solidFill>
                <a:latin typeface="Bahnschrift"/>
              </a:rPr>
              <a:t> do </a:t>
            </a:r>
            <a:r>
              <a:rPr sz="900" b="0" err="1">
                <a:solidFill>
                  <a:srgbClr val="BAC6DA"/>
                </a:solidFill>
                <a:latin typeface="Bahnschrift"/>
              </a:rPr>
              <a:t>ano</a:t>
            </a:r>
            <a:endParaRPr sz="900" b="0">
              <a:solidFill>
                <a:srgbClr val="BAC6DA"/>
              </a:solidFill>
              <a:latin typeface="Bahnschrift"/>
            </a:endParaRPr>
          </a:p>
        </p:txBody>
      </p:sp>
      <p:sp>
        <p:nvSpPr>
          <p:cNvPr id="41" name="s4_39"/>
          <p:cNvSpPr txBox="1"/>
          <p:nvPr/>
        </p:nvSpPr>
        <p:spPr>
          <a:xfrm>
            <a:off x="9982200" y="5330951"/>
            <a:ext cx="609600" cy="1560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5F7FB"/>
                </a:solidFill>
                <a:latin typeface="Consolas"/>
              </a:rPr>
              <a:t>154/374</a:t>
            </a:r>
          </a:p>
        </p:txBody>
      </p:sp>
      <p:sp>
        <p:nvSpPr>
          <p:cNvPr id="42" name="s4_40"/>
          <p:cNvSpPr txBox="1"/>
          <p:nvPr/>
        </p:nvSpPr>
        <p:spPr>
          <a:xfrm>
            <a:off x="10642600" y="5330951"/>
            <a:ext cx="723900" cy="1560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395B5"/>
                </a:solidFill>
                <a:latin typeface="Bahnschrift"/>
              </a:rPr>
              <a:t>neutra</a:t>
            </a:r>
          </a:p>
        </p:txBody>
      </p:sp>
      <p:cxnSp>
        <p:nvCxnSpPr>
          <p:cNvPr id="43" name="s4_41"/>
          <p:cNvCxnSpPr/>
          <p:nvPr/>
        </p:nvCxnSpPr>
        <p:spPr>
          <a:xfrm>
            <a:off x="7799831" y="5541264"/>
            <a:ext cx="3566161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s4_42"/>
          <p:cNvSpPr txBox="1"/>
          <p:nvPr/>
        </p:nvSpPr>
        <p:spPr>
          <a:xfrm>
            <a:off x="7797800" y="5641847"/>
            <a:ext cx="2184400" cy="3291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AC6DA"/>
                </a:solidFill>
                <a:latin typeface="Bahnschrift"/>
              </a:rPr>
              <a:t>15b  </a:t>
            </a:r>
            <a:r>
              <a:rPr sz="900" b="0" err="1">
                <a:solidFill>
                  <a:srgbClr val="BAC6DA"/>
                </a:solidFill>
                <a:latin typeface="Bahnschrift"/>
              </a:rPr>
              <a:t>dúvida</a:t>
            </a:r>
            <a:r>
              <a:rPr sz="900" b="0">
                <a:solidFill>
                  <a:srgbClr val="BAC6DA"/>
                </a:solidFill>
                <a:latin typeface="Bahnschrift"/>
              </a:rPr>
              <a:t> </a:t>
            </a:r>
            <a:r>
              <a:rPr lang="pt-BR" sz="900" b="0">
                <a:solidFill>
                  <a:srgbClr val="BAC6DA"/>
                </a:solidFill>
                <a:latin typeface="Bahnschrift"/>
              </a:rPr>
              <a:t>antes de grandes anúncios</a:t>
            </a:r>
            <a:endParaRPr sz="900" b="0">
              <a:solidFill>
                <a:srgbClr val="BAC6DA"/>
              </a:solidFill>
              <a:latin typeface="Bahnschrift"/>
            </a:endParaRPr>
          </a:p>
        </p:txBody>
      </p:sp>
      <p:sp>
        <p:nvSpPr>
          <p:cNvPr id="45" name="s4_43"/>
          <p:cNvSpPr txBox="1"/>
          <p:nvPr/>
        </p:nvSpPr>
        <p:spPr>
          <a:xfrm>
            <a:off x="9982200" y="5641847"/>
            <a:ext cx="609600" cy="1560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5F7FB"/>
                </a:solidFill>
                <a:latin typeface="Consolas"/>
              </a:rPr>
              <a:t>26/374</a:t>
            </a:r>
          </a:p>
        </p:txBody>
      </p:sp>
      <p:sp>
        <p:nvSpPr>
          <p:cNvPr id="46" name="s4_44"/>
          <p:cNvSpPr txBox="1"/>
          <p:nvPr/>
        </p:nvSpPr>
        <p:spPr>
          <a:xfrm>
            <a:off x="10642600" y="5641847"/>
            <a:ext cx="723900" cy="1560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395B5"/>
                </a:solidFill>
                <a:latin typeface="Bahnschrift"/>
              </a:rPr>
              <a:t>direc.</a:t>
            </a:r>
          </a:p>
        </p:txBody>
      </p:sp>
      <p:cxnSp>
        <p:nvCxnSpPr>
          <p:cNvPr id="47" name="s4_45"/>
          <p:cNvCxnSpPr/>
          <p:nvPr/>
        </p:nvCxnSpPr>
        <p:spPr>
          <a:xfrm>
            <a:off x="7799831" y="5852159"/>
            <a:ext cx="3566161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s4_46"/>
          <p:cNvSpPr txBox="1"/>
          <p:nvPr/>
        </p:nvSpPr>
        <p:spPr>
          <a:xfrm>
            <a:off x="7799831" y="6053328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5F7FB"/>
                </a:solidFill>
                <a:latin typeface="Bahnschrift SemiBold"/>
              </a:rPr>
              <a:t>745 view-dias em 374 pregões.</a:t>
            </a:r>
            <a:r>
              <a:rPr sz="1000" b="0">
                <a:solidFill>
                  <a:srgbClr val="BAC6DA"/>
                </a:solidFill>
                <a:latin typeface="Bahnschrift"/>
              </a:rPr>
              <a:t> Nenhum dia depende de uma view só.</a:t>
            </a:r>
          </a:p>
        </p:txBody>
      </p:sp>
    </p:spTree>
    <p:extLst>
      <p:ext uri="{BB962C8B-B14F-4D97-AF65-F5344CB8AC3E}">
        <p14:creationId xmlns:p14="http://schemas.microsoft.com/office/powerpoint/2010/main" val="29713070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9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203A"/>
            </a:gs>
            <a:gs pos="55000">
              <a:srgbClr val="0A1325"/>
            </a:gs>
            <a:gs pos="100000">
              <a:srgbClr val="04070E"/>
            </a:gs>
          </a:gsLst>
          <a:path path="circle">
            <a:fillToRect l="38000" r="62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!!glow_tl"/>
          <p:cNvSpPr/>
          <p:nvPr/>
        </p:nvSpPr>
        <p:spPr>
          <a:xfrm>
            <a:off x="-2600000" y="-22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8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30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9" name="!!ghost"/>
          <p:cNvSpPr txBox="1"/>
          <p:nvPr/>
        </p:nvSpPr>
        <p:spPr>
          <a:xfrm>
            <a:off x="6900000" y="-230000"/>
            <a:ext cx="4950000" cy="200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pt-BR" sz="15000" b="0" spc="0">
                <a:solidFill>
                  <a:srgbClr val="101A2E"/>
                </a:solidFill>
                <a:latin typeface="Bahnschrift SemiBold Condensed"/>
              </a:rPr>
              <a:t>05</a:t>
            </a:r>
          </a:p>
        </p:txBody>
      </p:sp>
      <p:sp>
        <p:nvSpPr>
          <p:cNvPr id="50" name="!!tick"/>
          <p:cNvSpPr/>
          <p:nvPr/>
        </p:nvSpPr>
        <p:spPr>
          <a:xfrm>
            <a:off x="69494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" name="!!foot_l"/>
          <p:cNvSpPr txBox="1"/>
          <p:nvPr/>
        </p:nvSpPr>
        <p:spPr>
          <a:xfrm>
            <a:off x="822960" y="6653200"/>
            <a:ext cx="6000000" cy="1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pt-BR" sz="700" b="0" spc="120">
                <a:solidFill>
                  <a:srgbClr val="58698A"/>
                </a:solidFill>
                <a:latin typeface="Consolas"/>
              </a:rPr>
              <a:t>ITAÚ QUANT AI CHALLENGE  ·  SEMIFINAL 2026</a:t>
            </a:r>
          </a:p>
        </p:txBody>
      </p:sp>
      <p:sp>
        <p:nvSpPr>
          <p:cNvPr id="52" name="!!foot_r"/>
          <p:cNvSpPr txBox="1"/>
          <p:nvPr/>
        </p:nvSpPr>
        <p:spPr>
          <a:xfrm>
            <a:off x="5365992" y="6653200"/>
            <a:ext cx="6000000" cy="1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pt-BR" sz="700" b="0" spc="120">
                <a:solidFill>
                  <a:srgbClr val="58698A"/>
                </a:solidFill>
                <a:latin typeface="Consolas"/>
              </a:rPr>
              <a:t>BLACK-LITTERMAN  ×  POLYMARKET</a:t>
            </a:r>
          </a:p>
        </p:txBody>
      </p:sp>
      <p:sp>
        <p:nvSpPr>
          <p:cNvPr id="2" name="s5_0"/>
          <p:cNvSpPr txBox="1"/>
          <p:nvPr/>
        </p:nvSpPr>
        <p:spPr>
          <a:xfrm>
            <a:off x="822960" y="426720"/>
            <a:ext cx="8229600" cy="20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300">
                <a:solidFill>
                  <a:srgbClr val="FFB531"/>
                </a:solidFill>
                <a:latin typeface="Consolas"/>
              </a:rPr>
              <a:t>KAIROS</a:t>
            </a:r>
            <a:r>
              <a:rPr sz="1100" b="0" spc="72">
                <a:solidFill>
                  <a:srgbClr val="8395B5"/>
                </a:solidFill>
                <a:latin typeface="Consolas"/>
              </a:rPr>
              <a:t>   A confiança (Ω) é medida, não declarada</a:t>
            </a:r>
          </a:p>
        </p:txBody>
      </p:sp>
      <p:sp>
        <p:nvSpPr>
          <p:cNvPr id="3" name="s5_1"/>
          <p:cNvSpPr txBox="1"/>
          <p:nvPr/>
        </p:nvSpPr>
        <p:spPr>
          <a:xfrm>
            <a:off x="8988552" y="467359"/>
            <a:ext cx="2377440" cy="152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45">
                <a:solidFill>
                  <a:srgbClr val="8395B5"/>
                </a:solidFill>
                <a:latin typeface="Consolas"/>
              </a:rPr>
              <a:t>05</a:t>
            </a:r>
          </a:p>
        </p:txBody>
      </p:sp>
      <p:cxnSp>
        <p:nvCxnSpPr>
          <p:cNvPr id="4" name="s5_2"/>
          <p:cNvCxnSpPr/>
          <p:nvPr/>
        </p:nvCxnSpPr>
        <p:spPr>
          <a:xfrm>
            <a:off x="822960" y="704850"/>
            <a:ext cx="10543032" cy="0"/>
          </a:xfrm>
          <a:prstGeom prst="line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5_3"/>
          <p:cNvCxnSpPr/>
          <p:nvPr/>
        </p:nvCxnSpPr>
        <p:spPr>
          <a:xfrm>
            <a:off x="822960" y="3931920"/>
            <a:ext cx="1054303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5_4"/>
          <p:cNvCxnSpPr/>
          <p:nvPr/>
        </p:nvCxnSpPr>
        <p:spPr>
          <a:xfrm>
            <a:off x="822960" y="6553200"/>
            <a:ext cx="1054303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!!halo"/>
          <p:cNvSpPr/>
          <p:nvPr/>
        </p:nvSpPr>
        <p:spPr>
          <a:xfrm>
            <a:off x="7516368" y="786384"/>
            <a:ext cx="4572000" cy="1920240"/>
          </a:xfrm>
          <a:prstGeom prst="ellipse">
            <a:avLst/>
          </a:prstGeom>
          <a:solidFill>
            <a:srgbClr val="FFB531">
              <a:alpha val="17000"/>
            </a:srgbClr>
          </a:solidFill>
          <a:ln>
            <a:noFill/>
          </a:ln>
          <a:effectLst>
            <a:softEdge rad="13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9" name="!!eq"/>
          <p:cNvSpPr/>
          <p:nvPr/>
        </p:nvSpPr>
        <p:spPr>
          <a:xfrm>
            <a:off x="822960" y="1188720"/>
            <a:ext cx="3127248" cy="1115568"/>
          </a:xfrm>
          <a:prstGeom prst="roundRect">
            <a:avLst>
              <a:gd name="adj" fmla="val 11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12700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0916" tIns="0" rIns="128016" bIns="0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30">
                <a:solidFill>
                  <a:srgbClr val="F5F7FB"/>
                </a:solidFill>
                <a:latin typeface="Bahnschrift SemiBold"/>
              </a:rPr>
              <a:t>EQUILÍBRIO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BAC6DA"/>
                </a:solidFill>
                <a:latin typeface="Bahnschrift"/>
              </a:rPr>
              <a:t>o que o mercado já espera</a:t>
            </a:r>
          </a:p>
        </p:txBody>
      </p:sp>
      <p:sp>
        <p:nvSpPr>
          <p:cNvPr id="10" name="!!bar_eq"/>
          <p:cNvSpPr/>
          <p:nvPr/>
        </p:nvSpPr>
        <p:spPr>
          <a:xfrm>
            <a:off x="1078992" y="1456456"/>
            <a:ext cx="50292" cy="58009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4F8EF7"/>
              </a:gs>
              <a:gs pos="100000">
                <a:srgbClr val="4F8EF7">
                  <a:alpha val="3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11" name="!!q"/>
          <p:cNvSpPr/>
          <p:nvPr/>
        </p:nvSpPr>
        <p:spPr>
          <a:xfrm>
            <a:off x="4526280" y="1188720"/>
            <a:ext cx="3127248" cy="1115568"/>
          </a:xfrm>
          <a:prstGeom prst="roundRect">
            <a:avLst>
              <a:gd name="adj" fmla="val 11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12700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0916" tIns="0" rIns="128016" bIns="0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30">
                <a:solidFill>
                  <a:srgbClr val="F5F7FB"/>
                </a:solidFill>
                <a:latin typeface="Bahnschrift SemiBold"/>
              </a:rPr>
              <a:t>OPINIÃO  ·  Q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BAC6DA"/>
                </a:solidFill>
                <a:latin typeface="Bahnschrift"/>
              </a:rPr>
              <a:t>quanto se espera render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FFB531"/>
                </a:solidFill>
                <a:latin typeface="Bahnschrift SemiBold"/>
              </a:rPr>
              <a:t>POLYMARKET</a:t>
            </a:r>
          </a:p>
        </p:txBody>
      </p:sp>
      <p:sp>
        <p:nvSpPr>
          <p:cNvPr id="12" name="!!bar_q"/>
          <p:cNvSpPr/>
          <p:nvPr/>
        </p:nvSpPr>
        <p:spPr>
          <a:xfrm>
            <a:off x="4782312" y="1456456"/>
            <a:ext cx="50292" cy="58009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B5811C"/>
              </a:gs>
              <a:gs pos="100000">
                <a:srgbClr val="B5811C">
                  <a:alpha val="3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13" name="!!om"/>
          <p:cNvSpPr/>
          <p:nvPr/>
        </p:nvSpPr>
        <p:spPr>
          <a:xfrm>
            <a:off x="8238744" y="1188720"/>
            <a:ext cx="3127248" cy="1115568"/>
          </a:xfrm>
          <a:prstGeom prst="roundRect">
            <a:avLst>
              <a:gd name="adj" fmla="val 11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12700">
            <a:solidFill>
              <a:srgbClr val="FFB531"/>
            </a:solidFill>
          </a:ln>
          <a:effectLst>
            <a:glow rad="130000">
              <a:srgbClr val="FFB531">
                <a:alpha val="3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8348" tIns="0" rIns="128016" bIns="0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30">
                <a:solidFill>
                  <a:srgbClr val="FFB531"/>
                </a:solidFill>
                <a:latin typeface="Bahnschrift SemiBold"/>
              </a:rPr>
              <a:t>CONFIANÇA  ·  Ω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BAC6DA"/>
                </a:solidFill>
                <a:latin typeface="Bahnschrift"/>
              </a:rPr>
              <a:t>o quanto ela pesa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FFB531"/>
                </a:solidFill>
                <a:latin typeface="Bahnschrift SemiBold"/>
              </a:rPr>
              <a:t>POLYMARKET</a:t>
            </a:r>
          </a:p>
        </p:txBody>
      </p:sp>
      <p:sp>
        <p:nvSpPr>
          <p:cNvPr id="14" name="!!bar_om"/>
          <p:cNvSpPr/>
          <p:nvPr/>
        </p:nvSpPr>
        <p:spPr>
          <a:xfrm>
            <a:off x="8494776" y="1456456"/>
            <a:ext cx="77724" cy="58009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B531"/>
              </a:gs>
              <a:gs pos="100000">
                <a:srgbClr val="FFB531">
                  <a:alpha val="3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15" name="!!cart"/>
          <p:cNvSpPr/>
          <p:nvPr/>
        </p:nvSpPr>
        <p:spPr>
          <a:xfrm>
            <a:off x="4526280" y="2743200"/>
            <a:ext cx="3127248" cy="950976"/>
          </a:xfrm>
          <a:prstGeom prst="roundRect">
            <a:avLst>
              <a:gd name="adj" fmla="val 11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12700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0916" tIns="0" rIns="128016" bIns="0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30">
                <a:solidFill>
                  <a:srgbClr val="F5F7FB"/>
                </a:solidFill>
                <a:latin typeface="Bahnschrift SemiBold"/>
              </a:rPr>
              <a:t>CARTEIRA  BL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BAC6DA"/>
                </a:solidFill>
                <a:latin typeface="Bahnschrift"/>
              </a:rPr>
              <a:t>9 ETFs, os pesos do dia</a:t>
            </a:r>
          </a:p>
        </p:txBody>
      </p:sp>
      <p:sp>
        <p:nvSpPr>
          <p:cNvPr id="16" name="!!bar_cart"/>
          <p:cNvSpPr/>
          <p:nvPr/>
        </p:nvSpPr>
        <p:spPr>
          <a:xfrm>
            <a:off x="4782312" y="2971434"/>
            <a:ext cx="50292" cy="494507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FD3B0"/>
              </a:gs>
              <a:gs pos="100000">
                <a:srgbClr val="2FD3B0">
                  <a:alpha val="3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17" name="!!op_mais"/>
          <p:cNvSpPr/>
          <p:nvPr/>
        </p:nvSpPr>
        <p:spPr>
          <a:xfrm>
            <a:off x="4064507" y="1572768"/>
            <a:ext cx="347472" cy="347472"/>
          </a:xfrm>
          <a:prstGeom prst="ellipse">
            <a:avLst/>
          </a:prstGeom>
          <a:solidFill>
            <a:srgbClr val="0B1426"/>
          </a:solidFill>
          <a:ln w="9525">
            <a:solidFill>
              <a:srgbClr val="FFB531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AC6DA"/>
                </a:solidFill>
                <a:latin typeface="Bahnschrift SemiLight"/>
              </a:rPr>
              <a:t>+</a:t>
            </a:r>
          </a:p>
        </p:txBody>
      </p:sp>
      <p:sp>
        <p:nvSpPr>
          <p:cNvPr id="18" name="!!op_vezes"/>
          <p:cNvSpPr/>
          <p:nvPr/>
        </p:nvSpPr>
        <p:spPr>
          <a:xfrm>
            <a:off x="7772400" y="1572768"/>
            <a:ext cx="347472" cy="347472"/>
          </a:xfrm>
          <a:prstGeom prst="ellipse">
            <a:avLst/>
          </a:prstGeom>
          <a:solidFill>
            <a:srgbClr val="0B1426"/>
          </a:solidFill>
          <a:ln w="9525">
            <a:solidFill>
              <a:srgbClr val="FFB531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AC6DA"/>
                </a:solidFill>
                <a:latin typeface="Bahnschrift SemiLight"/>
              </a:rPr>
              <a:t>×</a:t>
            </a:r>
          </a:p>
        </p:txBody>
      </p:sp>
      <p:sp>
        <p:nvSpPr>
          <p:cNvPr id="19" name="!!chave"/>
          <p:cNvSpPr/>
          <p:nvPr/>
        </p:nvSpPr>
        <p:spPr>
          <a:xfrm rot="5400000">
            <a:off x="6006693" y="-2733141"/>
            <a:ext cx="175564" cy="10543032"/>
          </a:xfrm>
          <a:prstGeom prst="rightBrace">
            <a:avLst>
              <a:gd name="adj1" fmla="val 30000"/>
              <a:gd name="adj2" fmla="val 50000"/>
            </a:avLst>
          </a:prstGeom>
          <a:noFill/>
          <a:ln w="15875">
            <a:solidFill>
              <a:srgbClr val="839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Light"/>
            </a:endParaRPr>
          </a:p>
        </p:txBody>
      </p:sp>
      <p:cxnSp>
        <p:nvCxnSpPr>
          <p:cNvPr id="20" name="!!seta_cart"/>
          <p:cNvCxnSpPr/>
          <p:nvPr/>
        </p:nvCxnSpPr>
        <p:spPr>
          <a:xfrm>
            <a:off x="6089904" y="2626156"/>
            <a:ext cx="0" cy="98756"/>
          </a:xfrm>
          <a:prstGeom prst="line">
            <a:avLst/>
          </a:prstGeom>
          <a:ln w="15875">
            <a:solidFill>
              <a:srgbClr val="8395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5_19"/>
          <p:cNvSpPr txBox="1"/>
          <p:nvPr/>
        </p:nvSpPr>
        <p:spPr>
          <a:xfrm>
            <a:off x="822960" y="4041648"/>
            <a:ext cx="67665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00">
                <a:solidFill>
                  <a:srgbClr val="FFB531"/>
                </a:solidFill>
                <a:latin typeface="Consolas"/>
              </a:rPr>
              <a:t>O QUE DECIDE SE A VIEW ENTRA</a:t>
            </a:r>
          </a:p>
        </p:txBody>
      </p:sp>
      <p:sp>
        <p:nvSpPr>
          <p:cNvPr id="22" name="s5_20"/>
          <p:cNvSpPr txBox="1"/>
          <p:nvPr/>
        </p:nvSpPr>
        <p:spPr>
          <a:xfrm>
            <a:off x="822960" y="4352544"/>
            <a:ext cx="6766560" cy="7821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err="1">
                <a:solidFill>
                  <a:srgbClr val="F5F7FB"/>
                </a:solidFill>
                <a:latin typeface="Bahnschrift SemiBold"/>
              </a:rPr>
              <a:t>Estabilidade</a:t>
            </a:r>
            <a:r>
              <a:rPr sz="1150" b="0">
                <a:solidFill>
                  <a:srgbClr val="F5F7FB"/>
                </a:solidFill>
                <a:latin typeface="Bahnschrift SemiBold"/>
              </a:rPr>
              <a:t> da </a:t>
            </a:r>
            <a:r>
              <a:rPr sz="1150" b="0" err="1">
                <a:solidFill>
                  <a:srgbClr val="F5F7FB"/>
                </a:solidFill>
                <a:latin typeface="Bahnschrift SemiBold"/>
              </a:rPr>
              <a:t>distribuição</a:t>
            </a:r>
            <a:r>
              <a:rPr sz="1150" b="0">
                <a:solidFill>
                  <a:srgbClr val="F5F7FB"/>
                </a:solidFill>
                <a:latin typeface="Bahnschrift SemiBold"/>
              </a:rPr>
              <a:t>. 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Quanto a </a:t>
            </a:r>
            <a:r>
              <a:rPr sz="1150" b="0" err="1">
                <a:solidFill>
                  <a:srgbClr val="BAC6DA"/>
                </a:solidFill>
                <a:latin typeface="Bahnschrift SemiLight"/>
              </a:rPr>
              <a:t>probabilidade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se </a:t>
            </a:r>
            <a:r>
              <a:rPr sz="1150" b="0" err="1">
                <a:solidFill>
                  <a:srgbClr val="BAC6DA"/>
                </a:solidFill>
                <a:latin typeface="Bahnschrift SemiLight"/>
              </a:rPr>
              <a:t>moveu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antes de a </a:t>
            </a:r>
            <a:r>
              <a:rPr sz="1150" b="0" err="1">
                <a:solidFill>
                  <a:srgbClr val="BAC6DA"/>
                </a:solidFill>
                <a:latin typeface="Bahnschrift SemiLight"/>
              </a:rPr>
              <a:t>gente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150" b="0" err="1">
                <a:solidFill>
                  <a:srgbClr val="BAC6DA"/>
                </a:solidFill>
                <a:latin typeface="Bahnschrift SemiLight"/>
              </a:rPr>
              <a:t>olhar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para </a:t>
            </a:r>
            <a:r>
              <a:rPr sz="1150" b="0" err="1">
                <a:solidFill>
                  <a:srgbClr val="BAC6DA"/>
                </a:solidFill>
                <a:latin typeface="Bahnschrift SemiLight"/>
              </a:rPr>
              <a:t>ela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.</a:t>
            </a:r>
          </a:p>
          <a:p>
            <a:pPr>
              <a:spcBef>
                <a:spcPts val="800"/>
              </a:spcBef>
            </a:pPr>
            <a:r>
              <a:rPr lang="pt-BR" sz="1150" b="0">
                <a:solidFill>
                  <a:schemeClr val="bg1"/>
                </a:solidFill>
                <a:latin typeface="Bahnschrift SemiBold" panose="020B0502040204020203" pitchFamily="34" charset="0"/>
                <a:cs typeface="Bahnschrift SemiBold" panose="020B0502040204020203" pitchFamily="34" charset="0"/>
              </a:rPr>
              <a:t>Coerência do mercado.</a:t>
            </a:r>
            <a:r>
              <a:rPr lang="pt-BR" sz="1150">
                <a:solidFill>
                  <a:schemeClr val="bg1"/>
                </a:solidFill>
                <a:latin typeface="Bahnschrift SemiLight" panose="020B0502040204020203" pitchFamily="34" charset="0"/>
                <a:cs typeface="Bahnschrift SemiLight" panose="020B0502040204020203" pitchFamily="34" charset="0"/>
              </a:rPr>
              <a:t> </a:t>
            </a:r>
            <a:r>
              <a:rPr lang="pt-BR" sz="1150">
                <a:solidFill>
                  <a:srgbClr val="BAC6DA"/>
                </a:solidFill>
                <a:latin typeface="Bahnschrift SemiLight" panose="020B0502040204020203" pitchFamily="34" charset="0"/>
                <a:cs typeface="Bahnschrift SemiLight" panose="020B0502040204020203" pitchFamily="34" charset="0"/>
              </a:rPr>
              <a:t>Os preços de todos os resultados têm de somar 100%. </a:t>
            </a:r>
          </a:p>
          <a:p>
            <a:pPr>
              <a:spcBef>
                <a:spcPts val="800"/>
              </a:spcBef>
            </a:pPr>
            <a:r>
              <a:rPr lang="pt-BR" sz="1150" b="0">
                <a:solidFill>
                  <a:srgbClr val="F5F7FB"/>
                </a:solidFill>
                <a:latin typeface="Bahnschrift SemiBold"/>
              </a:rPr>
              <a:t>Liquidez de mercado. 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Mercado </a:t>
            </a:r>
            <a:r>
              <a:rPr sz="1150" b="0" err="1">
                <a:solidFill>
                  <a:srgbClr val="BAC6DA"/>
                </a:solidFill>
                <a:latin typeface="Bahnschrift SemiLight"/>
              </a:rPr>
              <a:t>ilíquido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é </a:t>
            </a:r>
            <a:r>
              <a:rPr sz="1150" b="0" err="1">
                <a:solidFill>
                  <a:srgbClr val="BAC6DA"/>
                </a:solidFill>
                <a:latin typeface="Bahnschrift SemiLight"/>
              </a:rPr>
              <a:t>vetado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.</a:t>
            </a:r>
          </a:p>
        </p:txBody>
      </p:sp>
      <p:sp>
        <p:nvSpPr>
          <p:cNvPr id="23" name="s5_21"/>
          <p:cNvSpPr/>
          <p:nvPr/>
        </p:nvSpPr>
        <p:spPr>
          <a:xfrm>
            <a:off x="772160" y="5559552"/>
            <a:ext cx="45720" cy="34747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B531"/>
              </a:gs>
              <a:gs pos="100000">
                <a:srgbClr val="FFB531">
                  <a:alpha val="3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24" name="s5_22"/>
          <p:cNvSpPr txBox="1"/>
          <p:nvPr/>
        </p:nvSpPr>
        <p:spPr>
          <a:xfrm>
            <a:off x="971296" y="5563616"/>
            <a:ext cx="6547104" cy="2059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5F7FB"/>
                </a:solidFill>
                <a:latin typeface="Bahnschrift SemiBold"/>
              </a:rPr>
              <a:t>c ≥ 1, sempre. 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O Black-Litterman clássico é o teto da confiança, nunca o piso.</a:t>
            </a:r>
          </a:p>
        </p:txBody>
      </p:sp>
      <p:sp>
        <p:nvSpPr>
          <p:cNvPr id="25" name="s5_23"/>
          <p:cNvSpPr txBox="1"/>
          <p:nvPr/>
        </p:nvSpPr>
        <p:spPr>
          <a:xfrm>
            <a:off x="7799831" y="4041648"/>
            <a:ext cx="3566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00">
                <a:solidFill>
                  <a:srgbClr val="FFB531"/>
                </a:solidFill>
                <a:latin typeface="Consolas"/>
              </a:rPr>
              <a:t>A RÉGUA DO Ω</a:t>
            </a:r>
          </a:p>
        </p:txBody>
      </p:sp>
      <p:sp>
        <p:nvSpPr>
          <p:cNvPr id="26" name="s5_24"/>
          <p:cNvSpPr txBox="1"/>
          <p:nvPr/>
        </p:nvSpPr>
        <p:spPr>
          <a:xfrm>
            <a:off x="7799831" y="4420000"/>
            <a:ext cx="3566160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B531"/>
                </a:solidFill>
                <a:latin typeface="Bahnschrift SemiBold"/>
              </a:rPr>
              <a:t>c</a:t>
            </a:r>
            <a:r>
              <a:rPr sz="1800" b="0">
                <a:solidFill>
                  <a:srgbClr val="F5F7FB"/>
                </a:solidFill>
                <a:latin typeface="Bahnschrift SemiBold"/>
              </a:rPr>
              <a:t> = ( (1 + v̄ ) · (1 + |Σp − 1|) )</a:t>
            </a:r>
            <a:r>
              <a:rPr sz="1100" b="0" baseline="30000">
                <a:solidFill>
                  <a:srgbClr val="F5F7FB"/>
                </a:solidFill>
                <a:latin typeface="Bahnschrift SemiBold"/>
              </a:rPr>
              <a:t>nível</a:t>
            </a:r>
          </a:p>
        </p:txBody>
      </p:sp>
      <p:sp>
        <p:nvSpPr>
          <p:cNvPr id="27" name="s5_25"/>
          <p:cNvSpPr txBox="1"/>
          <p:nvPr/>
        </p:nvSpPr>
        <p:spPr>
          <a:xfrm>
            <a:off x="7799831" y="4980000"/>
            <a:ext cx="3566160" cy="2059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5F7FB"/>
                </a:solidFill>
                <a:latin typeface="Bahnschrift SemiBold"/>
              </a:rPr>
              <a:t>v̄ </a:t>
            </a:r>
            <a:r>
              <a:rPr sz="1000" b="0">
                <a:solidFill>
                  <a:srgbClr val="BAC6DA"/>
                </a:solidFill>
                <a:latin typeface="Bahnschrift"/>
              </a:rPr>
              <a:t> — quanto a distribuição se moveu nas últimas leituras.</a:t>
            </a:r>
          </a:p>
        </p:txBody>
      </p:sp>
      <p:sp>
        <p:nvSpPr>
          <p:cNvPr id="28" name="s5_26"/>
          <p:cNvSpPr txBox="1"/>
          <p:nvPr/>
        </p:nvSpPr>
        <p:spPr>
          <a:xfrm>
            <a:off x="7799831" y="5300000"/>
            <a:ext cx="3566160" cy="2059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5F7FB"/>
                </a:solidFill>
                <a:latin typeface="Bahnschrift SemiBold"/>
              </a:rPr>
              <a:t>Σp − 1</a:t>
            </a:r>
            <a:r>
              <a:rPr sz="1000" b="0">
                <a:solidFill>
                  <a:srgbClr val="BAC6DA"/>
                </a:solidFill>
                <a:latin typeface="Bahnschrift"/>
              </a:rPr>
              <a:t> — o quanto o livro não fecha como distribuição.</a:t>
            </a:r>
          </a:p>
        </p:txBody>
      </p:sp>
      <p:sp>
        <p:nvSpPr>
          <p:cNvPr id="29" name="s5_27"/>
          <p:cNvSpPr txBox="1"/>
          <p:nvPr/>
        </p:nvSpPr>
        <p:spPr>
          <a:xfrm>
            <a:off x="7799831" y="5620000"/>
            <a:ext cx="3566160" cy="2059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5F7FB"/>
                </a:solidFill>
                <a:latin typeface="Bahnschrift SemiBold"/>
              </a:rPr>
              <a:t>nível</a:t>
            </a:r>
            <a:r>
              <a:rPr sz="1000" b="0">
                <a:solidFill>
                  <a:srgbClr val="BAC6DA"/>
                </a:solidFill>
                <a:latin typeface="Bahnschrift"/>
              </a:rPr>
              <a:t> — expoente que dosa a régua; decisão de risco.</a:t>
            </a:r>
          </a:p>
        </p:txBody>
      </p:sp>
      <p:sp>
        <p:nvSpPr>
          <p:cNvPr id="46" name="s5_44"/>
          <p:cNvSpPr txBox="1"/>
          <p:nvPr/>
        </p:nvSpPr>
        <p:spPr>
          <a:xfrm>
            <a:off x="7799831" y="6053328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5F7FB"/>
                </a:solidFill>
                <a:latin typeface="Bahnschrift SemiBold"/>
              </a:rPr>
              <a:t>185 de 2.795 views </a:t>
            </a:r>
            <a:r>
              <a:rPr lang="en-US" sz="1000" b="0" err="1">
                <a:solidFill>
                  <a:srgbClr val="F5F7FB"/>
                </a:solidFill>
                <a:latin typeface="Bahnschrift SemiBold"/>
              </a:rPr>
              <a:t>vetadas</a:t>
            </a:r>
            <a:r>
              <a:rPr sz="1000" b="0">
                <a:solidFill>
                  <a:srgbClr val="BAC6DA"/>
                </a:solidFill>
                <a:latin typeface="Bahnschrift"/>
              </a:rPr>
              <a:t> pela </a:t>
            </a:r>
            <a:r>
              <a:rPr lang="en-US" sz="1000" b="0" err="1">
                <a:solidFill>
                  <a:srgbClr val="BAC6DA"/>
                </a:solidFill>
                <a:latin typeface="Bahnschrift"/>
              </a:rPr>
              <a:t>régua</a:t>
            </a:r>
            <a:r>
              <a:rPr sz="1000" b="0">
                <a:solidFill>
                  <a:srgbClr val="BAC6DA"/>
                </a:solidFill>
                <a:latin typeface="Bahnschrift"/>
              </a:rPr>
              <a:t>, </a:t>
            </a:r>
            <a:r>
              <a:rPr lang="en-US" sz="1000" b="0" err="1">
                <a:solidFill>
                  <a:srgbClr val="BAC6DA"/>
                </a:solidFill>
                <a:latin typeface="Bahnschrift"/>
              </a:rPr>
              <a:t>sem</a:t>
            </a:r>
            <a:r>
              <a:rPr sz="1000" b="0">
                <a:solidFill>
                  <a:srgbClr val="BAC6DA"/>
                </a:solidFill>
                <a:latin typeface="Bahnschrift"/>
              </a:rPr>
              <a:t> </a:t>
            </a:r>
            <a:r>
              <a:rPr lang="en-US" sz="1000" b="0" err="1">
                <a:solidFill>
                  <a:srgbClr val="BAC6DA"/>
                </a:solidFill>
                <a:latin typeface="Bahnschrift"/>
              </a:rPr>
              <a:t>nenhuma</a:t>
            </a:r>
            <a:r>
              <a:rPr sz="1000" b="0">
                <a:solidFill>
                  <a:srgbClr val="BAC6DA"/>
                </a:solidFill>
                <a:latin typeface="Bahnschrift"/>
              </a:rPr>
              <a:t> </a:t>
            </a:r>
            <a:r>
              <a:rPr lang="en-US" sz="1000" b="0" err="1">
                <a:solidFill>
                  <a:srgbClr val="BAC6DA"/>
                </a:solidFill>
                <a:latin typeface="Bahnschrift"/>
              </a:rPr>
              <a:t>decisão</a:t>
            </a:r>
            <a:r>
              <a:rPr sz="1000" b="0">
                <a:solidFill>
                  <a:srgbClr val="BAC6DA"/>
                </a:solidFill>
                <a:latin typeface="Bahnschrift"/>
              </a:rPr>
              <a:t> </a:t>
            </a:r>
            <a:r>
              <a:rPr lang="en-US" sz="1000" b="0" err="1">
                <a:solidFill>
                  <a:srgbClr val="BAC6DA"/>
                </a:solidFill>
                <a:latin typeface="Bahnschrift"/>
              </a:rPr>
              <a:t>discricionária</a:t>
            </a:r>
            <a:r>
              <a:rPr sz="1000" b="0">
                <a:solidFill>
                  <a:srgbClr val="BAC6DA"/>
                </a:solidFill>
                <a:latin typeface="Bahnschrift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9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203A"/>
            </a:gs>
            <a:gs pos="55000">
              <a:srgbClr val="0A1325"/>
            </a:gs>
            <a:gs pos="100000">
              <a:srgbClr val="04070E"/>
            </a:gs>
          </a:gsLst>
          <a:path path="circle">
            <a:fillToRect l="38000" r="62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!!glow_tl"/>
          <p:cNvSpPr/>
          <p:nvPr/>
        </p:nvSpPr>
        <p:spPr>
          <a:xfrm>
            <a:off x="-2600000" y="-22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30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!!ghost"/>
          <p:cNvSpPr txBox="1"/>
          <p:nvPr/>
        </p:nvSpPr>
        <p:spPr>
          <a:xfrm>
            <a:off x="6900000" y="-230000"/>
            <a:ext cx="4950000" cy="200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pt-BR" sz="15000" b="0" spc="0">
                <a:solidFill>
                  <a:srgbClr val="101A2E"/>
                </a:solidFill>
                <a:latin typeface="Bahnschrift SemiBold Condensed"/>
              </a:rPr>
              <a:t>06</a:t>
            </a:r>
          </a:p>
        </p:txBody>
      </p:sp>
      <p:sp>
        <p:nvSpPr>
          <p:cNvPr id="42" name="!!tick"/>
          <p:cNvSpPr/>
          <p:nvPr/>
        </p:nvSpPr>
        <p:spPr>
          <a:xfrm>
            <a:off x="69494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3" name="!!foot_l"/>
          <p:cNvSpPr txBox="1"/>
          <p:nvPr/>
        </p:nvSpPr>
        <p:spPr>
          <a:xfrm>
            <a:off x="822960" y="6653200"/>
            <a:ext cx="6000000" cy="1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pt-BR" sz="700" b="0" spc="120">
                <a:solidFill>
                  <a:srgbClr val="58698A"/>
                </a:solidFill>
                <a:latin typeface="Consolas"/>
              </a:rPr>
              <a:t>ITAÚ QUANT AI CHALLENGE  ·  SEMIFINAL 2026</a:t>
            </a:r>
          </a:p>
        </p:txBody>
      </p:sp>
      <p:sp>
        <p:nvSpPr>
          <p:cNvPr id="44" name="!!foot_r"/>
          <p:cNvSpPr txBox="1"/>
          <p:nvPr/>
        </p:nvSpPr>
        <p:spPr>
          <a:xfrm>
            <a:off x="5365992" y="6653200"/>
            <a:ext cx="6000000" cy="1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pt-BR" sz="700" b="0" spc="120">
                <a:solidFill>
                  <a:srgbClr val="58698A"/>
                </a:solidFill>
                <a:latin typeface="Consolas"/>
              </a:rPr>
              <a:t>BLACK-LITTERMAN  ×  POLYMARKET</a:t>
            </a:r>
          </a:p>
        </p:txBody>
      </p:sp>
      <p:sp>
        <p:nvSpPr>
          <p:cNvPr id="2" name="s6_0"/>
          <p:cNvSpPr txBox="1"/>
          <p:nvPr/>
        </p:nvSpPr>
        <p:spPr>
          <a:xfrm>
            <a:off x="822960" y="426720"/>
            <a:ext cx="8229600" cy="20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300">
                <a:solidFill>
                  <a:srgbClr val="FFB531"/>
                </a:solidFill>
                <a:latin typeface="Consolas"/>
              </a:rPr>
              <a:t>KAIROS</a:t>
            </a:r>
            <a:r>
              <a:rPr sz="1100" b="0" spc="72">
                <a:solidFill>
                  <a:srgbClr val="8395B5"/>
                </a:solidFill>
                <a:latin typeface="Consolas"/>
              </a:rPr>
              <a:t>   A camada tática e o teto de risco</a:t>
            </a:r>
          </a:p>
        </p:txBody>
      </p:sp>
      <p:sp>
        <p:nvSpPr>
          <p:cNvPr id="3" name="s6_1"/>
          <p:cNvSpPr txBox="1"/>
          <p:nvPr/>
        </p:nvSpPr>
        <p:spPr>
          <a:xfrm>
            <a:off x="8988552" y="467359"/>
            <a:ext cx="2377440" cy="152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45">
                <a:solidFill>
                  <a:srgbClr val="8395B5"/>
                </a:solidFill>
                <a:latin typeface="Consolas"/>
              </a:rPr>
              <a:t>06</a:t>
            </a:r>
          </a:p>
        </p:txBody>
      </p:sp>
      <p:cxnSp>
        <p:nvCxnSpPr>
          <p:cNvPr id="4" name="s6_2"/>
          <p:cNvCxnSpPr/>
          <p:nvPr/>
        </p:nvCxnSpPr>
        <p:spPr>
          <a:xfrm>
            <a:off x="822960" y="704850"/>
            <a:ext cx="10543032" cy="0"/>
          </a:xfrm>
          <a:prstGeom prst="line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6_3"/>
          <p:cNvCxnSpPr/>
          <p:nvPr/>
        </p:nvCxnSpPr>
        <p:spPr>
          <a:xfrm>
            <a:off x="822960" y="3931920"/>
            <a:ext cx="1054303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6_4"/>
          <p:cNvCxnSpPr/>
          <p:nvPr/>
        </p:nvCxnSpPr>
        <p:spPr>
          <a:xfrm>
            <a:off x="822960" y="6553200"/>
            <a:ext cx="1054303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!!halo"/>
          <p:cNvSpPr/>
          <p:nvPr/>
        </p:nvSpPr>
        <p:spPr>
          <a:xfrm>
            <a:off x="996696" y="2468880"/>
            <a:ext cx="5303520" cy="1335024"/>
          </a:xfrm>
          <a:prstGeom prst="ellipse">
            <a:avLst/>
          </a:prstGeom>
          <a:solidFill>
            <a:srgbClr val="FFB531">
              <a:alpha val="15000"/>
            </a:srgbClr>
          </a:solidFill>
          <a:ln>
            <a:noFill/>
          </a:ln>
          <a:effectLst>
            <a:softEdge rad="13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9" name="!!eq"/>
          <p:cNvSpPr/>
          <p:nvPr/>
        </p:nvSpPr>
        <p:spPr>
          <a:xfrm>
            <a:off x="822960" y="1133856"/>
            <a:ext cx="1700784" cy="548640"/>
          </a:xfrm>
          <a:prstGeom prst="roundRect">
            <a:avLst>
              <a:gd name="adj" fmla="val 11000"/>
            </a:avLst>
          </a:prstGeom>
          <a:solidFill>
            <a:srgbClr val="0B1426"/>
          </a:solidFill>
          <a:ln w="12700">
            <a:solidFill>
              <a:srgbClr val="1C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8328" tIns="0" rIns="128016" bIns="0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50">
                <a:solidFill>
                  <a:srgbClr val="BAC6DA"/>
                </a:solidFill>
                <a:latin typeface="Consolas"/>
              </a:rPr>
              <a:t>EQUILÍBRIO</a:t>
            </a:r>
          </a:p>
        </p:txBody>
      </p:sp>
      <p:sp>
        <p:nvSpPr>
          <p:cNvPr id="10" name="!!bar_eq"/>
          <p:cNvSpPr/>
          <p:nvPr/>
        </p:nvSpPr>
        <p:spPr>
          <a:xfrm>
            <a:off x="1005840" y="1265529"/>
            <a:ext cx="45720" cy="28529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D4F84"/>
              </a:gs>
              <a:gs pos="100000">
                <a:srgbClr val="2D4F84">
                  <a:alpha val="3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11" name="!!q"/>
          <p:cNvSpPr/>
          <p:nvPr/>
        </p:nvSpPr>
        <p:spPr>
          <a:xfrm>
            <a:off x="2798064" y="1133856"/>
            <a:ext cx="1700784" cy="548640"/>
          </a:xfrm>
          <a:prstGeom prst="roundRect">
            <a:avLst>
              <a:gd name="adj" fmla="val 11000"/>
            </a:avLst>
          </a:prstGeom>
          <a:solidFill>
            <a:srgbClr val="0B1426"/>
          </a:solidFill>
          <a:ln w="12700">
            <a:solidFill>
              <a:srgbClr val="1C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8328" tIns="0" rIns="128016" bIns="0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50">
                <a:solidFill>
                  <a:srgbClr val="BAC6DA"/>
                </a:solidFill>
                <a:latin typeface="Consolas"/>
              </a:rPr>
              <a:t>OPINIÃO  ·  Q</a:t>
            </a:r>
          </a:p>
        </p:txBody>
      </p:sp>
      <p:sp>
        <p:nvSpPr>
          <p:cNvPr id="12" name="!!bar_q"/>
          <p:cNvSpPr/>
          <p:nvPr/>
        </p:nvSpPr>
        <p:spPr>
          <a:xfrm>
            <a:off x="2980944" y="1265529"/>
            <a:ext cx="45720" cy="28529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6E5220"/>
              </a:gs>
              <a:gs pos="100000">
                <a:srgbClr val="6E5220">
                  <a:alpha val="3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13" name="!!om"/>
          <p:cNvSpPr/>
          <p:nvPr/>
        </p:nvSpPr>
        <p:spPr>
          <a:xfrm>
            <a:off x="4773168" y="1133856"/>
            <a:ext cx="1700784" cy="548640"/>
          </a:xfrm>
          <a:prstGeom prst="roundRect">
            <a:avLst>
              <a:gd name="adj" fmla="val 11000"/>
            </a:avLst>
          </a:prstGeom>
          <a:solidFill>
            <a:srgbClr val="0B1426"/>
          </a:solidFill>
          <a:ln w="12700">
            <a:solidFill>
              <a:srgbClr val="1C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8328" tIns="0" rIns="128016" bIns="0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50">
                <a:solidFill>
                  <a:srgbClr val="BAC6DA"/>
                </a:solidFill>
                <a:latin typeface="Consolas"/>
              </a:rPr>
              <a:t>CONFIANÇA  ·  Ω</a:t>
            </a:r>
          </a:p>
        </p:txBody>
      </p:sp>
      <p:sp>
        <p:nvSpPr>
          <p:cNvPr id="14" name="!!bar_om"/>
          <p:cNvSpPr/>
          <p:nvPr/>
        </p:nvSpPr>
        <p:spPr>
          <a:xfrm>
            <a:off x="4956048" y="1265529"/>
            <a:ext cx="45720" cy="28529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6E5220"/>
              </a:gs>
              <a:gs pos="100000">
                <a:srgbClr val="6E5220">
                  <a:alpha val="3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15" name="!!cart"/>
          <p:cNvSpPr/>
          <p:nvPr/>
        </p:nvSpPr>
        <p:spPr>
          <a:xfrm>
            <a:off x="2798064" y="2011680"/>
            <a:ext cx="1700784" cy="512064"/>
          </a:xfrm>
          <a:prstGeom prst="roundRect">
            <a:avLst>
              <a:gd name="adj" fmla="val 11000"/>
            </a:avLst>
          </a:prstGeom>
          <a:solidFill>
            <a:srgbClr val="0B1426"/>
          </a:solidFill>
          <a:ln w="12700">
            <a:solidFill>
              <a:srgbClr val="1C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8328" tIns="0" rIns="128016" bIns="0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50">
                <a:solidFill>
                  <a:srgbClr val="BAC6DA"/>
                </a:solidFill>
                <a:latin typeface="Consolas"/>
              </a:rPr>
              <a:t>CARTEIRA  BL</a:t>
            </a:r>
          </a:p>
        </p:txBody>
      </p:sp>
      <p:sp>
        <p:nvSpPr>
          <p:cNvPr id="16" name="!!bar_cart"/>
          <p:cNvSpPr/>
          <p:nvPr/>
        </p:nvSpPr>
        <p:spPr>
          <a:xfrm>
            <a:off x="2980944" y="2134575"/>
            <a:ext cx="45720" cy="266273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E5C52"/>
              </a:gs>
              <a:gs pos="100000">
                <a:srgbClr val="1E5C52">
                  <a:alpha val="3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17" name="!!op_mais"/>
          <p:cNvSpPr/>
          <p:nvPr/>
        </p:nvSpPr>
        <p:spPr>
          <a:xfrm>
            <a:off x="2560320" y="1307592"/>
            <a:ext cx="201168" cy="201168"/>
          </a:xfrm>
          <a:prstGeom prst="ellipse">
            <a:avLst/>
          </a:prstGeom>
          <a:solidFill>
            <a:srgbClr val="080D18"/>
          </a:solidFill>
          <a:ln w="9525">
            <a:solidFill>
              <a:srgbClr val="1C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395B5"/>
                </a:solidFill>
                <a:latin typeface="Bahnschrift"/>
              </a:rPr>
              <a:t>+</a:t>
            </a:r>
          </a:p>
        </p:txBody>
      </p:sp>
      <p:sp>
        <p:nvSpPr>
          <p:cNvPr id="18" name="!!op_vezes"/>
          <p:cNvSpPr/>
          <p:nvPr/>
        </p:nvSpPr>
        <p:spPr>
          <a:xfrm>
            <a:off x="4535424" y="1307592"/>
            <a:ext cx="201168" cy="201168"/>
          </a:xfrm>
          <a:prstGeom prst="ellipse">
            <a:avLst/>
          </a:prstGeom>
          <a:solidFill>
            <a:srgbClr val="080D18"/>
          </a:solidFill>
          <a:ln w="9525">
            <a:solidFill>
              <a:srgbClr val="1C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395B5"/>
                </a:solidFill>
                <a:latin typeface="Bahnschrift"/>
              </a:rPr>
              <a:t>×</a:t>
            </a:r>
          </a:p>
        </p:txBody>
      </p:sp>
      <p:sp>
        <p:nvSpPr>
          <p:cNvPr id="19" name="!!chave"/>
          <p:cNvSpPr/>
          <p:nvPr/>
        </p:nvSpPr>
        <p:spPr>
          <a:xfrm rot="5400000">
            <a:off x="3577132" y="-980236"/>
            <a:ext cx="142646" cy="5650992"/>
          </a:xfrm>
          <a:prstGeom prst="rightBrace">
            <a:avLst>
              <a:gd name="adj1" fmla="val 30000"/>
              <a:gd name="adj2" fmla="val 50000"/>
            </a:avLst>
          </a:prstGeom>
          <a:noFill/>
          <a:ln w="15875">
            <a:solidFill>
              <a:srgbClr val="476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Light"/>
            </a:endParaRPr>
          </a:p>
        </p:txBody>
      </p:sp>
      <p:cxnSp>
        <p:nvCxnSpPr>
          <p:cNvPr id="20" name="!!seta_cart"/>
          <p:cNvCxnSpPr/>
          <p:nvPr/>
        </p:nvCxnSpPr>
        <p:spPr>
          <a:xfrm>
            <a:off x="3648456" y="1916582"/>
            <a:ext cx="0" cy="76810"/>
          </a:xfrm>
          <a:prstGeom prst="line">
            <a:avLst/>
          </a:prstGeom>
          <a:ln w="15875">
            <a:solidFill>
              <a:srgbClr val="4760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6_19"/>
          <p:cNvSpPr txBox="1"/>
          <p:nvPr/>
        </p:nvSpPr>
        <p:spPr>
          <a:xfrm>
            <a:off x="822960" y="859536"/>
            <a:ext cx="5486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100">
                <a:solidFill>
                  <a:srgbClr val="8395B5"/>
                </a:solidFill>
                <a:latin typeface="Consolas"/>
              </a:rPr>
              <a:t>CAMADA ESTRUTURAL  ·  LÊ O NÍVEL</a:t>
            </a:r>
          </a:p>
        </p:txBody>
      </p:sp>
      <p:sp>
        <p:nvSpPr>
          <p:cNvPr id="22" name="!!tat"/>
          <p:cNvSpPr/>
          <p:nvPr/>
        </p:nvSpPr>
        <p:spPr>
          <a:xfrm>
            <a:off x="822960" y="2798064"/>
            <a:ext cx="5650992" cy="658368"/>
          </a:xfrm>
          <a:prstGeom prst="roundRect">
            <a:avLst>
              <a:gd name="adj" fmla="val 11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12700">
            <a:solidFill>
              <a:srgbClr val="FFB531"/>
            </a:solidFill>
          </a:ln>
          <a:effectLst>
            <a:glow rad="110000">
              <a:srgbClr val="FFB531">
                <a:alpha val="26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109728" bIns="0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30">
                <a:solidFill>
                  <a:srgbClr val="FFB531"/>
                </a:solidFill>
                <a:latin typeface="Bahnschrift SemiBold"/>
              </a:rPr>
              <a:t>CAMADA TÁTICA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BAC6DA"/>
                </a:solidFill>
                <a:latin typeface="Bahnschrift"/>
              </a:rPr>
              <a:t>lê o movimento da probabilidade</a:t>
            </a:r>
          </a:p>
        </p:txBody>
      </p:sp>
      <p:sp>
        <p:nvSpPr>
          <p:cNvPr id="23" name="!!tat_bar"/>
          <p:cNvSpPr/>
          <p:nvPr/>
        </p:nvSpPr>
        <p:spPr>
          <a:xfrm>
            <a:off x="1042416" y="2956072"/>
            <a:ext cx="77724" cy="342351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B531"/>
              </a:gs>
              <a:gs pos="100000">
                <a:srgbClr val="FFB531">
                  <a:alpha val="3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24" name="!!teto"/>
          <p:cNvSpPr/>
          <p:nvPr/>
        </p:nvSpPr>
        <p:spPr>
          <a:xfrm>
            <a:off x="7223760" y="2048256"/>
            <a:ext cx="1874519" cy="786384"/>
          </a:xfrm>
          <a:prstGeom prst="roundRect">
            <a:avLst>
              <a:gd name="adj" fmla="val 11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12700">
            <a:solidFill>
              <a:srgbClr val="FFB531"/>
            </a:solidFill>
          </a:ln>
          <a:effectLst>
            <a:glow rad="110000">
              <a:srgbClr val="FFB531">
                <a:alpha val="26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4048" tIns="0" rIns="109728" bIns="0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80">
                <a:solidFill>
                  <a:srgbClr val="FFB531"/>
                </a:solidFill>
                <a:latin typeface="Bahnschrift SemiBold"/>
              </a:rPr>
              <a:t>TETO DE RISCO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850" b="0">
                <a:solidFill>
                  <a:srgbClr val="BAC6DA"/>
                </a:solidFill>
                <a:latin typeface="Bahnschrift"/>
              </a:rPr>
              <a:t>divide o espaço entre as duas</a:t>
            </a:r>
          </a:p>
        </p:txBody>
      </p:sp>
      <p:sp>
        <p:nvSpPr>
          <p:cNvPr id="25" name="!!teto_bar"/>
          <p:cNvSpPr/>
          <p:nvPr/>
        </p:nvSpPr>
        <p:spPr>
          <a:xfrm>
            <a:off x="7443216" y="2236988"/>
            <a:ext cx="77724" cy="40891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B531"/>
              </a:gs>
              <a:gs pos="100000">
                <a:srgbClr val="FFB531">
                  <a:alpha val="3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26" name="!!final"/>
          <p:cNvSpPr/>
          <p:nvPr/>
        </p:nvSpPr>
        <p:spPr>
          <a:xfrm>
            <a:off x="9491472" y="2048256"/>
            <a:ext cx="1874519" cy="786384"/>
          </a:xfrm>
          <a:prstGeom prst="roundRect">
            <a:avLst>
              <a:gd name="adj" fmla="val 11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12700">
            <a:solidFill>
              <a:srgbClr val="2FD3B0"/>
            </a:solidFill>
          </a:ln>
          <a:effectLst>
            <a:glow rad="110000">
              <a:srgbClr val="2FD3B0">
                <a:alpha val="26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4048" tIns="0" rIns="109728" bIns="0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80">
                <a:solidFill>
                  <a:srgbClr val="2FD3B0"/>
                </a:solidFill>
                <a:latin typeface="Bahnschrift SemiBold"/>
              </a:rPr>
              <a:t>CARTEIRA DO DIA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850" b="0">
                <a:solidFill>
                  <a:srgbClr val="BAC6DA"/>
                </a:solidFill>
                <a:latin typeface="Bahnschrift"/>
              </a:rPr>
              <a:t>9 ETFs, uma alocação só</a:t>
            </a:r>
          </a:p>
        </p:txBody>
      </p:sp>
      <p:sp>
        <p:nvSpPr>
          <p:cNvPr id="27" name="!!final_bar"/>
          <p:cNvSpPr/>
          <p:nvPr/>
        </p:nvSpPr>
        <p:spPr>
          <a:xfrm>
            <a:off x="9710928" y="2236988"/>
            <a:ext cx="77724" cy="40891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FD3B0"/>
              </a:gs>
              <a:gs pos="100000">
                <a:srgbClr val="2FD3B0">
                  <a:alpha val="3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Light"/>
            </a:endParaRPr>
          </a:p>
        </p:txBody>
      </p:sp>
      <p:cxnSp>
        <p:nvCxnSpPr>
          <p:cNvPr id="28" name="s6_26"/>
          <p:cNvCxnSpPr/>
          <p:nvPr/>
        </p:nvCxnSpPr>
        <p:spPr>
          <a:xfrm>
            <a:off x="4498848" y="2267712"/>
            <a:ext cx="2724912" cy="173736"/>
          </a:xfrm>
          <a:prstGeom prst="curvedConnector3">
            <a:avLst/>
          </a:prstGeom>
          <a:ln w="15875">
            <a:solidFill>
              <a:srgbClr val="BAC6D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6_27"/>
          <p:cNvCxnSpPr/>
          <p:nvPr/>
        </p:nvCxnSpPr>
        <p:spPr>
          <a:xfrm flipV="1">
            <a:off x="6473952" y="2441448"/>
            <a:ext cx="749808" cy="685800"/>
          </a:xfrm>
          <a:prstGeom prst="curvedConnector3">
            <a:avLst/>
          </a:prstGeom>
          <a:ln w="15875">
            <a:solidFill>
              <a:srgbClr val="BAC6D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6_28"/>
          <p:cNvCxnSpPr/>
          <p:nvPr/>
        </p:nvCxnSpPr>
        <p:spPr>
          <a:xfrm>
            <a:off x="9098280" y="2441448"/>
            <a:ext cx="356616" cy="0"/>
          </a:xfrm>
          <a:prstGeom prst="line">
            <a:avLst/>
          </a:prstGeom>
          <a:ln w="15875">
            <a:solidFill>
              <a:srgbClr val="BAC6D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s6_29"/>
          <p:cNvSpPr txBox="1"/>
          <p:nvPr/>
        </p:nvSpPr>
        <p:spPr>
          <a:xfrm>
            <a:off x="822960" y="4041648"/>
            <a:ext cx="3931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00">
                <a:solidFill>
                  <a:srgbClr val="FFB531"/>
                </a:solidFill>
                <a:latin typeface="Consolas"/>
              </a:rPr>
              <a:t>O QUE A CAMADA TÁTICA NEGOCIA</a:t>
            </a:r>
          </a:p>
        </p:txBody>
      </p:sp>
      <p:sp>
        <p:nvSpPr>
          <p:cNvPr id="32" name="s6_30"/>
          <p:cNvSpPr txBox="1"/>
          <p:nvPr/>
        </p:nvSpPr>
        <p:spPr>
          <a:xfrm>
            <a:off x="822960" y="4352544"/>
            <a:ext cx="3931920" cy="21943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err="1">
                <a:solidFill>
                  <a:srgbClr val="F5F7FB"/>
                </a:solidFill>
                <a:latin typeface="Bahnschrift SemiBold"/>
              </a:rPr>
              <a:t>Recessão</a:t>
            </a:r>
            <a:r>
              <a:rPr sz="1150" b="0">
                <a:solidFill>
                  <a:srgbClr val="F5F7FB"/>
                </a:solidFill>
                <a:latin typeface="Bahnschrift SemiBold"/>
              </a:rPr>
              <a:t> </a:t>
            </a:r>
            <a:r>
              <a:rPr sz="1150" b="0" err="1">
                <a:solidFill>
                  <a:srgbClr val="F5F7FB"/>
                </a:solidFill>
                <a:latin typeface="Bahnschrift SemiBold"/>
              </a:rPr>
              <a:t>nos</a:t>
            </a:r>
            <a:r>
              <a:rPr sz="1150" b="0">
                <a:solidFill>
                  <a:srgbClr val="F5F7FB"/>
                </a:solidFill>
                <a:latin typeface="Bahnschrift SemiBold"/>
              </a:rPr>
              <a:t> EUA. 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</a:t>
            </a:r>
            <a:r>
              <a:rPr lang="pt-BR" sz="1150">
                <a:solidFill>
                  <a:srgbClr val="BAC6DA"/>
                </a:solidFill>
                <a:latin typeface="Bahnschrift SemiLight"/>
              </a:rPr>
              <a:t>Sobe a chance de recessão em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3, 5 </a:t>
            </a:r>
            <a:r>
              <a:rPr lang="pt-BR" sz="1150" b="0">
                <a:solidFill>
                  <a:srgbClr val="BAC6DA"/>
                </a:solidFill>
                <a:latin typeface="Bahnschrift SemiLight"/>
              </a:rPr>
              <a:t>ou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10 </a:t>
            </a:r>
            <a:r>
              <a:rPr sz="1150" b="0" err="1">
                <a:solidFill>
                  <a:srgbClr val="BAC6DA"/>
                </a:solidFill>
                <a:latin typeface="Bahnschrift SemiLight"/>
              </a:rPr>
              <a:t>pregões</a:t>
            </a:r>
            <a:r>
              <a:rPr lang="pt-BR" sz="1150">
                <a:solidFill>
                  <a:srgbClr val="BAC6DA"/>
                </a:solidFill>
                <a:latin typeface="Bahnschrift SemiLight"/>
              </a:rPr>
              <a:t>: compra consumo básico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</a:t>
            </a:r>
            <a:r>
              <a:rPr lang="pt-BR" sz="1150" b="0">
                <a:solidFill>
                  <a:srgbClr val="BAC6DA"/>
                </a:solidFill>
                <a:latin typeface="Bahnschrift SemiLight"/>
              </a:rPr>
              <a:t>(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XLP</a:t>
            </a:r>
            <a:r>
              <a:rPr lang="pt-BR" sz="1150" b="0">
                <a:solidFill>
                  <a:srgbClr val="BAC6DA"/>
                </a:solidFill>
                <a:latin typeface="Bahnschrift SemiLight"/>
              </a:rPr>
              <a:t>)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</a:t>
            </a:r>
            <a:r>
              <a:rPr lang="pt-BR" sz="1150" b="0">
                <a:solidFill>
                  <a:srgbClr val="BAC6DA"/>
                </a:solidFill>
                <a:latin typeface="Bahnschrift SemiLight"/>
              </a:rPr>
              <a:t>e vende tecnologia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</a:t>
            </a:r>
            <a:r>
              <a:rPr lang="pt-BR" sz="1150" b="0">
                <a:solidFill>
                  <a:srgbClr val="BAC6DA"/>
                </a:solidFill>
                <a:latin typeface="Bahnschrift SemiLight"/>
              </a:rPr>
              <a:t>(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XLK</a:t>
            </a:r>
            <a:r>
              <a:rPr lang="pt-BR" sz="1150" b="0">
                <a:solidFill>
                  <a:srgbClr val="BAC6DA"/>
                </a:solidFill>
                <a:latin typeface="Bahnschrift SemiLight"/>
              </a:rPr>
              <a:t>)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.</a:t>
            </a:r>
          </a:p>
          <a:p>
            <a:pPr algn="l">
              <a:lnSpc>
                <a:spcPct val="126000"/>
              </a:lnSpc>
              <a:spcBef>
                <a:spcPts val="800"/>
              </a:spcBef>
              <a:spcAft>
                <a:spcPts val="0"/>
              </a:spcAft>
            </a:pPr>
            <a:r>
              <a:rPr sz="1150" b="0" err="1">
                <a:solidFill>
                  <a:srgbClr val="F5F7FB"/>
                </a:solidFill>
                <a:latin typeface="Bahnschrift SemiBold"/>
              </a:rPr>
              <a:t>Maioria</a:t>
            </a:r>
            <a:r>
              <a:rPr sz="1150" b="0">
                <a:solidFill>
                  <a:srgbClr val="F5F7FB"/>
                </a:solidFill>
                <a:latin typeface="Bahnschrift SemiBold"/>
              </a:rPr>
              <a:t> </a:t>
            </a:r>
            <a:r>
              <a:rPr sz="1150" b="0" err="1">
                <a:solidFill>
                  <a:srgbClr val="F5F7FB"/>
                </a:solidFill>
                <a:latin typeface="Bahnschrift SemiBold"/>
              </a:rPr>
              <a:t>na</a:t>
            </a:r>
            <a:r>
              <a:rPr sz="1150" b="0">
                <a:solidFill>
                  <a:srgbClr val="F5F7FB"/>
                </a:solidFill>
                <a:latin typeface="Bahnschrift SemiBold"/>
              </a:rPr>
              <a:t> Câmara. 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</a:t>
            </a:r>
            <a:r>
              <a:rPr lang="pt-BR" sz="1150" b="0">
                <a:solidFill>
                  <a:srgbClr val="BAC6DA"/>
                </a:solidFill>
                <a:latin typeface="Bahnschrift SemiLight"/>
              </a:rPr>
              <a:t>A mesma compra e venda de setores, agora seguindo a aposta eleitoral. Eleição muda de preço devagar, então a janela é de 20 pregões.</a:t>
            </a:r>
            <a:endParaRPr sz="1150" b="0">
              <a:solidFill>
                <a:srgbClr val="BAC6DA"/>
              </a:solidFill>
              <a:latin typeface="Bahnschrift SemiLight"/>
              <a:cs typeface="Bahnschrift SemiLight"/>
            </a:endParaRPr>
          </a:p>
          <a:p>
            <a:pPr>
              <a:lnSpc>
                <a:spcPct val="126000"/>
              </a:lnSpc>
              <a:spcBef>
                <a:spcPts val="800"/>
              </a:spcBef>
            </a:pPr>
            <a:r>
              <a:rPr sz="1150" b="0" err="1">
                <a:solidFill>
                  <a:srgbClr val="F5F7FB"/>
                </a:solidFill>
                <a:latin typeface="Bahnschrift SemiBold"/>
              </a:rPr>
              <a:t>Nenhum</a:t>
            </a:r>
            <a:r>
              <a:rPr sz="1150" b="0">
                <a:solidFill>
                  <a:srgbClr val="F5F7FB"/>
                </a:solidFill>
                <a:latin typeface="Bahnschrift SemiBold"/>
              </a:rPr>
              <a:t> </a:t>
            </a:r>
            <a:r>
              <a:rPr sz="1150" b="0" err="1">
                <a:solidFill>
                  <a:srgbClr val="F5F7FB"/>
                </a:solidFill>
                <a:latin typeface="Bahnschrift SemiBold"/>
              </a:rPr>
              <a:t>parâmetro</a:t>
            </a:r>
            <a:r>
              <a:rPr sz="1150" b="0">
                <a:solidFill>
                  <a:srgbClr val="F5F7FB"/>
                </a:solidFill>
                <a:latin typeface="Bahnschrift SemiBold"/>
              </a:rPr>
              <a:t> novo. 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</a:t>
            </a:r>
            <a:r>
              <a:rPr lang="en-US" sz="1150">
                <a:solidFill>
                  <a:srgbClr val="BAC6DA"/>
                </a:solidFill>
                <a:latin typeface="Bahnschrift SemiLight"/>
                <a:ea typeface="+mn-lt"/>
                <a:cs typeface="Bahnschrift SemiLight"/>
              </a:rPr>
              <a:t>O </a:t>
            </a:r>
            <a:r>
              <a:rPr lang="en-US" sz="1150" b="0" err="1">
                <a:solidFill>
                  <a:srgbClr val="BAC6DA"/>
                </a:solidFill>
                <a:latin typeface="Bahnschrift SemiLight"/>
                <a:ea typeface="+mn-lt"/>
                <a:cs typeface="Bahnschrift SemiLight"/>
              </a:rPr>
              <a:t>tamanho</a:t>
            </a:r>
            <a:r>
              <a:rPr lang="en-US" sz="1150" b="0">
                <a:solidFill>
                  <a:srgbClr val="BAC6DA"/>
                </a:solidFill>
                <a:latin typeface="Bahnschrift SemiLight"/>
                <a:ea typeface="+mn-lt"/>
                <a:cs typeface="Bahnschrift SemiLight"/>
              </a:rPr>
              <a:t> da </a:t>
            </a:r>
            <a:r>
              <a:rPr lang="en-US" sz="1150" err="1">
                <a:solidFill>
                  <a:srgbClr val="BAC6DA"/>
                </a:solidFill>
                <a:latin typeface="Bahnschrift SemiLight"/>
                <a:ea typeface="+mn-lt"/>
                <a:cs typeface="Bahnschrift SemiLight"/>
              </a:rPr>
              <a:t>posição</a:t>
            </a:r>
            <a:r>
              <a:rPr lang="en-US" sz="1150">
                <a:solidFill>
                  <a:srgbClr val="BAC6DA"/>
                </a:solidFill>
                <a:latin typeface="Bahnschrift SemiLight"/>
                <a:ea typeface="+mn-lt"/>
                <a:cs typeface="Bahnschrift SemiLight"/>
              </a:rPr>
              <a:t> </a:t>
            </a:r>
            <a:r>
              <a:rPr lang="en-US" sz="1150" err="1">
                <a:solidFill>
                  <a:srgbClr val="BAC6DA"/>
                </a:solidFill>
                <a:latin typeface="Bahnschrift SemiLight"/>
                <a:ea typeface="+mn-lt"/>
                <a:cs typeface="Bahnschrift SemiLight"/>
              </a:rPr>
              <a:t>vem</a:t>
            </a:r>
            <a:r>
              <a:rPr lang="en-US" sz="1150">
                <a:solidFill>
                  <a:srgbClr val="BAC6DA"/>
                </a:solidFill>
                <a:latin typeface="Bahnschrift SemiLight"/>
                <a:ea typeface="+mn-lt"/>
                <a:cs typeface="Bahnschrift SemiLight"/>
              </a:rPr>
              <a:t> do </a:t>
            </a:r>
            <a:r>
              <a:rPr lang="en-US" sz="1150" err="1">
                <a:solidFill>
                  <a:srgbClr val="BAC6DA"/>
                </a:solidFill>
                <a:latin typeface="Bahnschrift SemiLight"/>
                <a:ea typeface="+mn-lt"/>
                <a:cs typeface="Bahnschrift SemiLight"/>
              </a:rPr>
              <a:t>mesmo</a:t>
            </a:r>
            <a:r>
              <a:rPr lang="en-US" sz="1150">
                <a:solidFill>
                  <a:srgbClr val="BAC6DA"/>
                </a:solidFill>
                <a:latin typeface="Bahnschrift SemiLight"/>
                <a:ea typeface="+mn-lt"/>
                <a:cs typeface="Bahnschrift SemiLight"/>
              </a:rPr>
              <a:t> </a:t>
            </a:r>
            <a:r>
              <a:rPr lang="en-US" sz="1150" err="1">
                <a:solidFill>
                  <a:srgbClr val="BAC6DA"/>
                </a:solidFill>
                <a:latin typeface="Bahnschrift SemiLight"/>
                <a:ea typeface="+mn-lt"/>
                <a:cs typeface="Bahnschrift SemiLight"/>
              </a:rPr>
              <a:t>cálculo</a:t>
            </a:r>
            <a:r>
              <a:rPr lang="en-US" sz="1150">
                <a:solidFill>
                  <a:srgbClr val="BAC6DA"/>
                </a:solidFill>
                <a:latin typeface="Bahnschrift SemiLight"/>
                <a:ea typeface="+mn-lt"/>
                <a:cs typeface="Bahnschrift SemiLight"/>
              </a:rPr>
              <a:t> </a:t>
            </a:r>
            <a:r>
              <a:rPr lang="en-US" sz="1150" b="0" err="1">
                <a:solidFill>
                  <a:srgbClr val="BAC6DA"/>
                </a:solidFill>
                <a:latin typeface="Bahnschrift SemiLight"/>
                <a:ea typeface="+mn-lt"/>
                <a:cs typeface="Bahnschrift SemiLight"/>
              </a:rPr>
              <a:t>que</a:t>
            </a:r>
            <a:r>
              <a:rPr lang="en-US" sz="1150" b="0">
                <a:solidFill>
                  <a:srgbClr val="BAC6DA"/>
                </a:solidFill>
                <a:latin typeface="Bahnschrift SemiLight"/>
                <a:ea typeface="+mn-lt"/>
                <a:cs typeface="Bahnschrift SemiLight"/>
              </a:rPr>
              <a:t> o </a:t>
            </a:r>
            <a:r>
              <a:rPr lang="en-US" sz="1150">
                <a:solidFill>
                  <a:srgbClr val="BAC6DA"/>
                </a:solidFill>
                <a:latin typeface="Bahnschrift SemiLight"/>
                <a:ea typeface="+mn-lt"/>
                <a:cs typeface="Bahnschrift SemiLight"/>
              </a:rPr>
              <a:t>Black-</a:t>
            </a:r>
            <a:r>
              <a:rPr lang="en-US" sz="1150" err="1">
                <a:solidFill>
                  <a:srgbClr val="BAC6DA"/>
                </a:solidFill>
                <a:latin typeface="Bahnschrift SemiLight"/>
                <a:ea typeface="+mn-lt"/>
                <a:cs typeface="Bahnschrift SemiLight"/>
              </a:rPr>
              <a:t>Litterman</a:t>
            </a:r>
            <a:r>
              <a:rPr lang="en-US" sz="1150">
                <a:solidFill>
                  <a:srgbClr val="BAC6DA"/>
                </a:solidFill>
                <a:latin typeface="Bahnschrift SemiLight"/>
                <a:ea typeface="+mn-lt"/>
                <a:cs typeface="Bahnschrift SemiLight"/>
              </a:rPr>
              <a:t> </a:t>
            </a:r>
            <a:r>
              <a:rPr lang="en-US" sz="1150" err="1">
                <a:solidFill>
                  <a:srgbClr val="BAC6DA"/>
                </a:solidFill>
                <a:latin typeface="Bahnschrift SemiLight"/>
                <a:ea typeface="+mn-lt"/>
                <a:cs typeface="Bahnschrift SemiLight"/>
              </a:rPr>
              <a:t>usa</a:t>
            </a:r>
            <a:r>
              <a:rPr lang="en-US" sz="1150">
                <a:solidFill>
                  <a:srgbClr val="BAC6DA"/>
                </a:solidFill>
                <a:latin typeface="Bahnschrift SemiLight"/>
                <a:ea typeface="+mn-lt"/>
                <a:cs typeface="Bahnschrift SemiLight"/>
              </a:rPr>
              <a:t> </a:t>
            </a:r>
            <a:r>
              <a:rPr lang="en-US" sz="1150" err="1">
                <a:solidFill>
                  <a:srgbClr val="BAC6DA"/>
                </a:solidFill>
                <a:latin typeface="Bahnschrift SemiLight"/>
                <a:ea typeface="+mn-lt"/>
                <a:cs typeface="Bahnschrift SemiLight"/>
              </a:rPr>
              <a:t>pra</a:t>
            </a:r>
            <a:r>
              <a:rPr lang="en-US" sz="1150">
                <a:solidFill>
                  <a:srgbClr val="BAC6DA"/>
                </a:solidFill>
                <a:latin typeface="Bahnschrift SemiLight"/>
                <a:ea typeface="+mn-lt"/>
                <a:cs typeface="Bahnschrift SemiLight"/>
              </a:rPr>
              <a:t> </a:t>
            </a:r>
            <a:r>
              <a:rPr lang="en-US" sz="1150" err="1">
                <a:solidFill>
                  <a:srgbClr val="BAC6DA"/>
                </a:solidFill>
                <a:latin typeface="Bahnschrift SemiLight"/>
                <a:ea typeface="+mn-lt"/>
                <a:cs typeface="Bahnschrift SemiLight"/>
              </a:rPr>
              <a:t>dimensionar</a:t>
            </a:r>
            <a:r>
              <a:rPr lang="en-US" sz="1150">
                <a:solidFill>
                  <a:srgbClr val="BAC6DA"/>
                </a:solidFill>
                <a:latin typeface="Bahnschrift SemiLight"/>
                <a:ea typeface="+mn-lt"/>
                <a:cs typeface="Bahnschrift SemiLight"/>
              </a:rPr>
              <a:t> </a:t>
            </a:r>
            <a:r>
              <a:rPr lang="en-US" sz="1150" err="1">
                <a:solidFill>
                  <a:srgbClr val="BAC6DA"/>
                </a:solidFill>
                <a:latin typeface="Bahnschrift SemiLight"/>
                <a:ea typeface="+mn-lt"/>
                <a:cs typeface="Bahnschrift SemiLight"/>
              </a:rPr>
              <a:t>uma</a:t>
            </a:r>
            <a:r>
              <a:rPr lang="en-US" sz="1150">
                <a:solidFill>
                  <a:srgbClr val="BAC6DA"/>
                </a:solidFill>
                <a:latin typeface="Bahnschrift SemiLight"/>
                <a:ea typeface="+mn-lt"/>
                <a:cs typeface="Bahnschrift SemiLight"/>
              </a:rPr>
              <a:t> view.</a:t>
            </a:r>
            <a:endParaRPr sz="1150" b="0">
              <a:solidFill>
                <a:srgbClr val="BAC6DA"/>
              </a:solidFill>
              <a:latin typeface="Bahnschrift SemiLight"/>
              <a:cs typeface="Bahnschrift SemiLight"/>
            </a:endParaRPr>
          </a:p>
        </p:txBody>
      </p:sp>
      <p:sp>
        <p:nvSpPr>
          <p:cNvPr id="33" name="s6_31"/>
          <p:cNvSpPr txBox="1"/>
          <p:nvPr/>
        </p:nvSpPr>
        <p:spPr>
          <a:xfrm>
            <a:off x="5120640" y="4041648"/>
            <a:ext cx="3017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00">
                <a:solidFill>
                  <a:srgbClr val="FFB531"/>
                </a:solidFill>
                <a:latin typeface="Consolas"/>
              </a:rPr>
              <a:t>ABRIL DE 2025</a:t>
            </a:r>
          </a:p>
        </p:txBody>
      </p:sp>
      <p:sp>
        <p:nvSpPr>
          <p:cNvPr id="34" name="s6_32"/>
          <p:cNvSpPr/>
          <p:nvPr/>
        </p:nvSpPr>
        <p:spPr>
          <a:xfrm>
            <a:off x="5120640" y="4389120"/>
            <a:ext cx="45720" cy="13898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B531"/>
              </a:gs>
              <a:gs pos="100000">
                <a:srgbClr val="FFB531">
                  <a:alpha val="3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35" name="s6_33"/>
          <p:cNvSpPr txBox="1"/>
          <p:nvPr/>
        </p:nvSpPr>
        <p:spPr>
          <a:xfrm>
            <a:off x="5340096" y="4352544"/>
            <a:ext cx="2798063" cy="12416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5F7FB"/>
                </a:solidFill>
                <a:latin typeface="Bahnschrift SemiBold"/>
              </a:rPr>
              <a:t>De 37% para 65% </a:t>
            </a:r>
            <a:r>
              <a:rPr lang="pt-BR" sz="1150" b="0" err="1">
                <a:solidFill>
                  <a:srgbClr val="F5F7FB"/>
                </a:solidFill>
                <a:latin typeface="Bahnschrift SemiBold"/>
              </a:rPr>
              <a:t>em</a:t>
            </a:r>
            <a:r>
              <a:rPr sz="1150" b="0">
                <a:solidFill>
                  <a:srgbClr val="F5F7FB"/>
                </a:solidFill>
                <a:latin typeface="Bahnschrift SemiBold"/>
              </a:rPr>
              <a:t> </a:t>
            </a:r>
            <a:r>
              <a:rPr lang="pt-BR" sz="1150" b="0" err="1">
                <a:solidFill>
                  <a:srgbClr val="F5F7FB"/>
                </a:solidFill>
                <a:latin typeface="Bahnschrift SemiBold"/>
              </a:rPr>
              <a:t>uma</a:t>
            </a:r>
            <a:r>
              <a:rPr sz="1150" b="0">
                <a:solidFill>
                  <a:srgbClr val="F5F7FB"/>
                </a:solidFill>
                <a:latin typeface="Bahnschrift SemiBold"/>
              </a:rPr>
              <a:t> </a:t>
            </a:r>
            <a:r>
              <a:rPr lang="pt-BR" sz="1150" b="0" err="1">
                <a:solidFill>
                  <a:srgbClr val="F5F7FB"/>
                </a:solidFill>
                <a:latin typeface="Bahnschrift SemiBold"/>
              </a:rPr>
              <a:t>semana</a:t>
            </a:r>
            <a:r>
              <a:rPr sz="1150" b="0">
                <a:solidFill>
                  <a:srgbClr val="F5F7FB"/>
                </a:solidFill>
                <a:latin typeface="Bahnschrift SemiBold"/>
              </a:rPr>
              <a:t>. 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É o </a:t>
            </a:r>
            <a:r>
              <a:rPr lang="pt-BR" sz="1150" b="0" err="1">
                <a:solidFill>
                  <a:srgbClr val="BAC6DA"/>
                </a:solidFill>
                <a:latin typeface="Bahnschrift SemiLight"/>
              </a:rPr>
              <a:t>salto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da chance de </a:t>
            </a:r>
            <a:r>
              <a:rPr lang="pt-BR" sz="1150" b="0" err="1">
                <a:solidFill>
                  <a:srgbClr val="BAC6DA"/>
                </a:solidFill>
                <a:latin typeface="Bahnschrift SemiLight"/>
              </a:rPr>
              <a:t>recessão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no </a:t>
            </a:r>
            <a:r>
              <a:rPr lang="pt-BR" sz="1150" b="0" err="1">
                <a:solidFill>
                  <a:srgbClr val="BAC6DA"/>
                </a:solidFill>
                <a:latin typeface="Bahnschrift SemiLight"/>
              </a:rPr>
              <a:t>Polymarket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.</a:t>
            </a:r>
          </a:p>
          <a:p>
            <a:pPr>
              <a:lnSpc>
                <a:spcPct val="130000"/>
              </a:lnSpc>
              <a:spcBef>
                <a:spcPts val="900"/>
              </a:spcBef>
            </a:pPr>
            <a:r>
              <a:rPr sz="1150" b="0">
                <a:solidFill>
                  <a:srgbClr val="F5F7FB"/>
                </a:solidFill>
                <a:latin typeface="Bahnschrift SemiBold"/>
              </a:rPr>
              <a:t>Compra o </a:t>
            </a:r>
            <a:r>
              <a:rPr sz="1150" b="0" err="1">
                <a:solidFill>
                  <a:srgbClr val="F5F7FB"/>
                </a:solidFill>
                <a:latin typeface="Bahnschrift SemiBold"/>
              </a:rPr>
              <a:t>defensivo</a:t>
            </a:r>
            <a:r>
              <a:rPr sz="1150" b="0">
                <a:solidFill>
                  <a:srgbClr val="F5F7FB"/>
                </a:solidFill>
                <a:latin typeface="Bahnschrift SemiBold"/>
              </a:rPr>
              <a:t>, </a:t>
            </a:r>
            <a:r>
              <a:rPr sz="1150" b="0" err="1">
                <a:solidFill>
                  <a:srgbClr val="F5F7FB"/>
                </a:solidFill>
                <a:latin typeface="Bahnschrift SemiBold"/>
              </a:rPr>
              <a:t>vende</a:t>
            </a:r>
            <a:r>
              <a:rPr sz="1150" b="0">
                <a:solidFill>
                  <a:srgbClr val="F5F7FB"/>
                </a:solidFill>
                <a:latin typeface="Bahnschrift SemiBold"/>
              </a:rPr>
              <a:t> o </a:t>
            </a:r>
            <a:r>
              <a:rPr sz="1150" b="0" err="1">
                <a:solidFill>
                  <a:srgbClr val="F5F7FB"/>
                </a:solidFill>
                <a:latin typeface="Bahnschrift SemiBold"/>
              </a:rPr>
              <a:t>cíclico</a:t>
            </a:r>
            <a:r>
              <a:rPr sz="1150" b="0">
                <a:solidFill>
                  <a:srgbClr val="F5F7FB"/>
                </a:solidFill>
                <a:latin typeface="Bahnschrift SemiBold"/>
              </a:rPr>
              <a:t>. 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No </a:t>
            </a:r>
            <a:r>
              <a:rPr sz="1150" b="0" err="1">
                <a:solidFill>
                  <a:srgbClr val="BAC6DA"/>
                </a:solidFill>
                <a:latin typeface="Bahnschrift SemiLight"/>
              </a:rPr>
              <a:t>dia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3 de </a:t>
            </a:r>
            <a:r>
              <a:rPr sz="1150" b="0" err="1">
                <a:solidFill>
                  <a:srgbClr val="BAC6DA"/>
                </a:solidFill>
                <a:latin typeface="Bahnschrift SemiLight"/>
              </a:rPr>
              <a:t>abril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a </a:t>
            </a:r>
            <a:r>
              <a:rPr sz="1150" b="0" err="1">
                <a:solidFill>
                  <a:srgbClr val="BAC6DA"/>
                </a:solidFill>
                <a:latin typeface="Bahnschrift SemiLight"/>
              </a:rPr>
              <a:t>bolsa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150" b="0" err="1">
                <a:solidFill>
                  <a:srgbClr val="BAC6DA"/>
                </a:solidFill>
                <a:latin typeface="Bahnschrift SemiLight"/>
              </a:rPr>
              <a:t>cai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5%</a:t>
            </a:r>
            <a:r>
              <a:rPr lang="en-US" sz="1150">
                <a:solidFill>
                  <a:srgbClr val="BAC6DA"/>
                </a:solidFill>
                <a:latin typeface="Bahnschrift SemiLight"/>
              </a:rPr>
              <a:t> 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e a </a:t>
            </a:r>
            <a:r>
              <a:rPr sz="1150" b="0" err="1">
                <a:solidFill>
                  <a:srgbClr val="BAC6DA"/>
                </a:solidFill>
                <a:latin typeface="Bahnschrift SemiLight"/>
              </a:rPr>
              <a:t>camada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150" b="0" err="1">
                <a:solidFill>
                  <a:srgbClr val="BAC6DA"/>
                </a:solidFill>
                <a:latin typeface="Bahnschrift SemiLight"/>
              </a:rPr>
              <a:t>ganha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.</a:t>
            </a:r>
            <a:endParaRPr sz="1150" b="0">
              <a:solidFill>
                <a:srgbClr val="BAC6DA"/>
              </a:solidFill>
              <a:latin typeface="Bahnschrift SemiLight"/>
              <a:cs typeface="Bahnschrift SemiLight"/>
            </a:endParaRPr>
          </a:p>
        </p:txBody>
      </p:sp>
      <p:sp>
        <p:nvSpPr>
          <p:cNvPr id="36" name="s6_34"/>
          <p:cNvSpPr txBox="1"/>
          <p:nvPr/>
        </p:nvSpPr>
        <p:spPr>
          <a:xfrm>
            <a:off x="8503920" y="4041648"/>
            <a:ext cx="28620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00">
                <a:solidFill>
                  <a:srgbClr val="FFB531"/>
                </a:solidFill>
                <a:latin typeface="Consolas"/>
              </a:rPr>
              <a:t>O TETO DE RISCO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s6_35"/>
              <p:cNvSpPr txBox="1"/>
              <p:nvPr/>
            </p:nvSpPr>
            <p:spPr>
              <a:xfrm>
                <a:off x="8503920" y="4297680"/>
                <a:ext cx="2862072" cy="276999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pt-BR" b="1" i="0" dirty="0" smtClean="0">
                          <a:solidFill>
                            <a:srgbClr val="FFB531"/>
                          </a:solidFill>
                          <a:latin typeface="Cambria Math" panose="02040503050406030204" pitchFamily="18" charset="0"/>
                        </a:rPr>
                        <m:t>𝚺</m:t>
                      </m:r>
                      <m:r>
                        <a:rPr lang="pt-BR" b="1" i="1" dirty="0">
                          <a:solidFill>
                            <a:srgbClr val="FFB531"/>
                          </a:solidFill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pt-BR" b="1" i="1" dirty="0">
                          <a:solidFill>
                            <a:srgbClr val="FFB531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pt-BR" b="1" i="1" dirty="0">
                          <a:solidFill>
                            <a:srgbClr val="FFB531"/>
                          </a:solidFill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pt-BR" b="1" i="1" dirty="0" err="1">
                          <a:solidFill>
                            <a:srgbClr val="FFB531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pt-BR" b="1" i="1" dirty="0" err="1">
                          <a:solidFill>
                            <a:srgbClr val="FFB531"/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pt-BR" b="1" i="1" dirty="0" err="1">
                          <a:solidFill>
                            <a:srgbClr val="FFB531"/>
                          </a:solidFill>
                          <a:latin typeface="Cambria Math" panose="02040503050406030204" pitchFamily="18" charset="0"/>
                        </a:rPr>
                        <m:t>𝒎𝒌𝒕</m:t>
                      </m:r>
                      <m:r>
                        <a:rPr lang="pt-BR" b="1" i="1" dirty="0">
                          <a:solidFill>
                            <a:srgbClr val="FFB531"/>
                          </a:solidFill>
                          <a:latin typeface="Cambria Math" panose="02040503050406030204" pitchFamily="18" charset="0"/>
                        </a:rPr>
                        <m:t> |  ≤  </m:t>
                      </m:r>
                      <m:r>
                        <a:rPr lang="pt-BR" b="1" i="1" dirty="0">
                          <a:solidFill>
                            <a:srgbClr val="FFB53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pt-BR">
                  <a:latin typeface="Bahnschrift SemiLight"/>
                </a:endParaRPr>
              </a:p>
            </p:txBody>
          </p:sp>
        </mc:Choice>
        <mc:Fallback xmlns="">
          <p:sp>
            <p:nvSpPr>
              <p:cNvPr id="37" name="s6_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3920" y="4297680"/>
                <a:ext cx="2862072" cy="276999"/>
              </a:xfrm>
              <a:prstGeom prst="rect">
                <a:avLst/>
              </a:prstGeom>
              <a:blipFill>
                <a:blip r:embed="rId3"/>
                <a:stretch>
                  <a:fillRect t="-2222" b="-35556"/>
                </a:stretch>
              </a:blipFill>
            </p:spPr>
            <p:txBody>
              <a:bodyPr/>
              <a:lstStyle/>
              <a:p>
                <a:r>
                  <a:rPr lang="en-US">
                    <a:latin typeface="Bahnschrift SemiLight"/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s6_36"/>
          <p:cNvSpPr txBox="1"/>
          <p:nvPr/>
        </p:nvSpPr>
        <p:spPr>
          <a:xfrm>
            <a:off x="8503920" y="4773168"/>
            <a:ext cx="286207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5F7FB"/>
                </a:solidFill>
                <a:latin typeface="Bahnschrift SemiBold"/>
              </a:rPr>
              <a:t>8 configurações testadas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— o teto saiu do Sharpe, não da preferência.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</a:pPr>
            <a:r>
              <a:rPr sz="1150" b="0">
                <a:solidFill>
                  <a:srgbClr val="F5F7FB"/>
                </a:solidFill>
                <a:latin typeface="Bahnschrift SemiBold"/>
              </a:rPr>
              <a:t>O Ω diz quanta confiança;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o teto diz quanto espaço cada camada ocupa.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9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203A"/>
            </a:gs>
            <a:gs pos="55000">
              <a:srgbClr val="0A1325"/>
            </a:gs>
            <a:gs pos="100000">
              <a:srgbClr val="04070E"/>
            </a:gs>
          </a:gsLst>
          <a:path path="circle">
            <a:fillToRect l="38000" r="62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!!glow_tl"/>
          <p:cNvSpPr/>
          <p:nvPr/>
        </p:nvSpPr>
        <p:spPr>
          <a:xfrm>
            <a:off x="-2600000" y="-22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30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3" name="!!ghost"/>
          <p:cNvSpPr txBox="1"/>
          <p:nvPr/>
        </p:nvSpPr>
        <p:spPr>
          <a:xfrm>
            <a:off x="6900000" y="-230000"/>
            <a:ext cx="4950000" cy="200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pt-BR" sz="15000" b="0" spc="0">
                <a:solidFill>
                  <a:srgbClr val="101A2E"/>
                </a:solidFill>
                <a:latin typeface="Bahnschrift SemiBold Condensed"/>
              </a:rPr>
              <a:t>07</a:t>
            </a:r>
          </a:p>
        </p:txBody>
      </p:sp>
      <p:sp>
        <p:nvSpPr>
          <p:cNvPr id="44" name="!!tick"/>
          <p:cNvSpPr/>
          <p:nvPr/>
        </p:nvSpPr>
        <p:spPr>
          <a:xfrm>
            <a:off x="69494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5" name="!!foot_l"/>
          <p:cNvSpPr txBox="1"/>
          <p:nvPr/>
        </p:nvSpPr>
        <p:spPr>
          <a:xfrm>
            <a:off x="822960" y="6653200"/>
            <a:ext cx="6000000" cy="1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pt-BR" sz="700" b="0" spc="120">
                <a:solidFill>
                  <a:srgbClr val="58698A"/>
                </a:solidFill>
                <a:latin typeface="Consolas"/>
              </a:rPr>
              <a:t>ITAÚ QUANT AI CHALLENGE  ·  SEMIFINAL 2026</a:t>
            </a:r>
          </a:p>
        </p:txBody>
      </p:sp>
      <p:sp>
        <p:nvSpPr>
          <p:cNvPr id="46" name="!!foot_r"/>
          <p:cNvSpPr txBox="1"/>
          <p:nvPr/>
        </p:nvSpPr>
        <p:spPr>
          <a:xfrm>
            <a:off x="5365992" y="6653200"/>
            <a:ext cx="6000000" cy="1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pt-BR" sz="700" b="0" spc="120">
                <a:solidFill>
                  <a:srgbClr val="58698A"/>
                </a:solidFill>
                <a:latin typeface="Consolas"/>
              </a:rPr>
              <a:t>BLACK-LITTERMAN  ×  POLYMARKET</a:t>
            </a:r>
          </a:p>
        </p:txBody>
      </p:sp>
      <p:sp>
        <p:nvSpPr>
          <p:cNvPr id="2" name="s7_0"/>
          <p:cNvSpPr txBox="1"/>
          <p:nvPr/>
        </p:nvSpPr>
        <p:spPr>
          <a:xfrm>
            <a:off x="822960" y="426720"/>
            <a:ext cx="8229600" cy="20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200" b="1" spc="300">
                <a:solidFill>
                  <a:srgbClr val="FFB531"/>
                </a:solidFill>
                <a:latin typeface="Consolas"/>
              </a:rPr>
              <a:t>KAIROS</a:t>
            </a:r>
            <a:r>
              <a:rPr sz="1100" b="0" spc="72">
                <a:solidFill>
                  <a:srgbClr val="8395B5"/>
                </a:solidFill>
                <a:latin typeface="Consolas"/>
              </a:rPr>
              <a:t>   </a:t>
            </a:r>
            <a:r>
              <a:rPr lang="pt-BR" sz="1100" b="0" spc="72">
                <a:solidFill>
                  <a:srgbClr val="8395B5"/>
                </a:solidFill>
                <a:latin typeface="Consolas"/>
              </a:rPr>
              <a:t>IA e Pesquisa</a:t>
            </a:r>
            <a:endParaRPr lang="pt-BR">
              <a:latin typeface="Bahnschrift SemiLight"/>
            </a:endParaRPr>
          </a:p>
        </p:txBody>
      </p:sp>
      <p:sp>
        <p:nvSpPr>
          <p:cNvPr id="3" name="s7_1"/>
          <p:cNvSpPr txBox="1"/>
          <p:nvPr/>
        </p:nvSpPr>
        <p:spPr>
          <a:xfrm>
            <a:off x="8988552" y="467359"/>
            <a:ext cx="2377440" cy="152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45">
                <a:solidFill>
                  <a:srgbClr val="8395B5"/>
                </a:solidFill>
                <a:latin typeface="Consolas"/>
              </a:rPr>
              <a:t>07</a:t>
            </a:r>
          </a:p>
        </p:txBody>
      </p:sp>
      <p:cxnSp>
        <p:nvCxnSpPr>
          <p:cNvPr id="4" name="s7_2"/>
          <p:cNvCxnSpPr/>
          <p:nvPr/>
        </p:nvCxnSpPr>
        <p:spPr>
          <a:xfrm>
            <a:off x="822960" y="704850"/>
            <a:ext cx="10543032" cy="0"/>
          </a:xfrm>
          <a:prstGeom prst="line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7_3"/>
          <p:cNvCxnSpPr/>
          <p:nvPr/>
        </p:nvCxnSpPr>
        <p:spPr>
          <a:xfrm>
            <a:off x="822960" y="6553200"/>
            <a:ext cx="1054303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7_5"/>
          <p:cNvCxnSpPr/>
          <p:nvPr/>
        </p:nvCxnSpPr>
        <p:spPr>
          <a:xfrm>
            <a:off x="6355080" y="896112"/>
            <a:ext cx="0" cy="530352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7_6"/>
          <p:cNvSpPr txBox="1"/>
          <p:nvPr/>
        </p:nvSpPr>
        <p:spPr>
          <a:xfrm>
            <a:off x="822960" y="859536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00">
                <a:solidFill>
                  <a:srgbClr val="FFB531"/>
                </a:solidFill>
                <a:latin typeface="Consolas"/>
              </a:rPr>
              <a:t>O REPOSITÓRIO COMO GRAFO</a:t>
            </a:r>
          </a:p>
        </p:txBody>
      </p:sp>
      <p:sp>
        <p:nvSpPr>
          <p:cNvPr id="9" name="s7_7"/>
          <p:cNvSpPr txBox="1"/>
          <p:nvPr/>
        </p:nvSpPr>
        <p:spPr>
          <a:xfrm>
            <a:off x="822960" y="859536"/>
            <a:ext cx="5440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F5F7FB"/>
                </a:solidFill>
                <a:latin typeface="Bahnschrift SemiBold"/>
              </a:rPr>
              <a:t>200 arquivos</a:t>
            </a:r>
            <a:r>
              <a:rPr sz="950" b="0">
                <a:solidFill>
                  <a:srgbClr val="8395B5"/>
                </a:solidFill>
                <a:latin typeface="Bahnschrift"/>
              </a:rPr>
              <a:t>  ·  665 ligações</a:t>
            </a:r>
          </a:p>
        </p:txBody>
      </p:sp>
      <p:sp>
        <p:nvSpPr>
          <p:cNvPr id="10" name="s7_8"/>
          <p:cNvSpPr/>
          <p:nvPr/>
        </p:nvSpPr>
        <p:spPr>
          <a:xfrm>
            <a:off x="822960" y="1129284"/>
            <a:ext cx="77724" cy="77724"/>
          </a:xfrm>
          <a:prstGeom prst="ellipse">
            <a:avLst/>
          </a:prstGeom>
          <a:solidFill>
            <a:srgbClr val="FFB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11" name="s7_9"/>
          <p:cNvSpPr txBox="1"/>
          <p:nvPr/>
        </p:nvSpPr>
        <p:spPr>
          <a:xfrm>
            <a:off x="950595" y="1097280"/>
            <a:ext cx="1828800" cy="150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lang="pt-BR" sz="850">
                <a:solidFill>
                  <a:srgbClr val="BAC6DA"/>
                </a:solidFill>
                <a:latin typeface="Bahnschrift"/>
              </a:rPr>
              <a:t>Arquivo interno</a:t>
            </a:r>
            <a:endParaRPr lang="pt-BR">
              <a:latin typeface="Bahnschrift SemiLight"/>
            </a:endParaRPr>
          </a:p>
        </p:txBody>
      </p:sp>
      <p:sp>
        <p:nvSpPr>
          <p:cNvPr id="12" name="s7_10"/>
          <p:cNvSpPr/>
          <p:nvPr/>
        </p:nvSpPr>
        <p:spPr>
          <a:xfrm>
            <a:off x="1861820" y="1138809"/>
            <a:ext cx="77724" cy="77724"/>
          </a:xfrm>
          <a:prstGeom prst="ellipse">
            <a:avLst/>
          </a:prstGeom>
          <a:solidFill>
            <a:srgbClr val="2FD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13" name="s7_11"/>
          <p:cNvSpPr txBox="1"/>
          <p:nvPr/>
        </p:nvSpPr>
        <p:spPr>
          <a:xfrm>
            <a:off x="2008505" y="1087755"/>
            <a:ext cx="1828800" cy="1473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lang="pt-BR" sz="850">
                <a:solidFill>
                  <a:srgbClr val="BAC6DA"/>
                </a:solidFill>
                <a:latin typeface="Bahnschrift"/>
              </a:rPr>
              <a:t>Arquivo de análise</a:t>
            </a:r>
            <a:endParaRPr lang="pt-BR" sz="850" b="0">
              <a:solidFill>
                <a:srgbClr val="BAC6DA"/>
              </a:solidFill>
              <a:latin typeface="Bahnschrift"/>
              <a:cs typeface="Bahnschrift"/>
            </a:endParaRPr>
          </a:p>
        </p:txBody>
      </p:sp>
      <p:sp>
        <p:nvSpPr>
          <p:cNvPr id="14" name="s7_12"/>
          <p:cNvSpPr/>
          <p:nvPr/>
        </p:nvSpPr>
        <p:spPr>
          <a:xfrm>
            <a:off x="2974657" y="1138809"/>
            <a:ext cx="77724" cy="77724"/>
          </a:xfrm>
          <a:prstGeom prst="ellipse">
            <a:avLst/>
          </a:prstGeom>
          <a:solidFill>
            <a:srgbClr val="4F8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15" name="s7_13"/>
          <p:cNvSpPr txBox="1"/>
          <p:nvPr/>
        </p:nvSpPr>
        <p:spPr>
          <a:xfrm>
            <a:off x="3111817" y="1087755"/>
            <a:ext cx="1828800" cy="1473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50">
                <a:solidFill>
                  <a:srgbClr val="BAC6DA"/>
                </a:solidFill>
                <a:latin typeface="Bahnschrift"/>
              </a:rPr>
              <a:t>Código</a:t>
            </a:r>
            <a:endParaRPr lang="pt-BR" sz="850" b="0">
              <a:solidFill>
                <a:srgbClr val="BAC6DA"/>
              </a:solidFill>
              <a:latin typeface="Bahnschrift"/>
              <a:cs typeface="Bahnschrift"/>
            </a:endParaRPr>
          </a:p>
        </p:txBody>
      </p:sp>
      <p:sp>
        <p:nvSpPr>
          <p:cNvPr id="16" name="s7_14"/>
          <p:cNvSpPr/>
          <p:nvPr/>
        </p:nvSpPr>
        <p:spPr>
          <a:xfrm>
            <a:off x="3542347" y="1138809"/>
            <a:ext cx="77724" cy="77724"/>
          </a:xfrm>
          <a:prstGeom prst="ellipse">
            <a:avLst/>
          </a:prstGeom>
          <a:solidFill>
            <a:srgbClr val="839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17" name="s7_15"/>
          <p:cNvSpPr txBox="1"/>
          <p:nvPr/>
        </p:nvSpPr>
        <p:spPr>
          <a:xfrm>
            <a:off x="3708082" y="1087755"/>
            <a:ext cx="1828800" cy="150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lang="pt-BR" sz="850">
                <a:solidFill>
                  <a:srgbClr val="BAC6DA"/>
                </a:solidFill>
                <a:latin typeface="Bahnschrift"/>
              </a:rPr>
              <a:t>Arquivo de entrega</a:t>
            </a:r>
            <a:endParaRPr lang="pt-BR">
              <a:latin typeface="Bahnschrift SemiLight"/>
            </a:endParaRPr>
          </a:p>
        </p:txBody>
      </p:sp>
      <p:pic>
        <p:nvPicPr>
          <p:cNvPr id="19" name="s7_17" descr="s7_graf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315" y="1278636"/>
            <a:ext cx="3703320" cy="3744837"/>
          </a:xfrm>
          <a:prstGeom prst="rect">
            <a:avLst/>
          </a:prstGeom>
        </p:spPr>
      </p:pic>
      <p:sp>
        <p:nvSpPr>
          <p:cNvPr id="21" name="s7_19"/>
          <p:cNvSpPr txBox="1"/>
          <p:nvPr/>
        </p:nvSpPr>
        <p:spPr>
          <a:xfrm>
            <a:off x="775335" y="5178933"/>
            <a:ext cx="1325880" cy="1213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750" b="0" spc="80">
                <a:solidFill>
                  <a:srgbClr val="8395B5"/>
                </a:solidFill>
                <a:latin typeface="Consolas"/>
              </a:rPr>
              <a:t>SESSÕES</a:t>
            </a:r>
            <a:r>
              <a:rPr lang="pt-BR" sz="750" spc="80">
                <a:solidFill>
                  <a:srgbClr val="8395B5"/>
                </a:solidFill>
                <a:latin typeface="Consolas"/>
              </a:rPr>
              <a:t> </a:t>
            </a:r>
            <a:r>
              <a:rPr sz="750" b="0" spc="80">
                <a:solidFill>
                  <a:srgbClr val="8395B5"/>
                </a:solidFill>
                <a:latin typeface="Consolas"/>
              </a:rPr>
              <a:t>DE IA</a:t>
            </a:r>
          </a:p>
        </p:txBody>
      </p:sp>
      <p:sp>
        <p:nvSpPr>
          <p:cNvPr id="22" name="s7_20"/>
          <p:cNvSpPr txBox="1"/>
          <p:nvPr/>
        </p:nvSpPr>
        <p:spPr>
          <a:xfrm>
            <a:off x="813435" y="5338191"/>
            <a:ext cx="13258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25" b="0">
                <a:solidFill>
                  <a:srgbClr val="FFB531"/>
                </a:solidFill>
                <a:latin typeface="Bahnschrift SemiBold Condensed"/>
              </a:rPr>
              <a:t>91</a:t>
            </a:r>
          </a:p>
        </p:txBody>
      </p:sp>
      <p:sp>
        <p:nvSpPr>
          <p:cNvPr id="24" name="s7_22"/>
          <p:cNvSpPr txBox="1"/>
          <p:nvPr/>
        </p:nvSpPr>
        <p:spPr>
          <a:xfrm>
            <a:off x="2175891" y="5140833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80">
                <a:solidFill>
                  <a:srgbClr val="8395B5"/>
                </a:solidFill>
                <a:latin typeface="Consolas"/>
              </a:rPr>
              <a:t>TOKENS POR SESSÃO</a:t>
            </a:r>
          </a:p>
        </p:txBody>
      </p:sp>
      <p:sp>
        <p:nvSpPr>
          <p:cNvPr id="25" name="s7_23"/>
          <p:cNvSpPr txBox="1"/>
          <p:nvPr/>
        </p:nvSpPr>
        <p:spPr>
          <a:xfrm>
            <a:off x="2175891" y="5338191"/>
            <a:ext cx="13258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25" b="0">
                <a:solidFill>
                  <a:srgbClr val="FFB531"/>
                </a:solidFill>
                <a:latin typeface="Bahnschrift SemiBold Condensed"/>
              </a:rPr>
              <a:t>232k</a:t>
            </a:r>
          </a:p>
        </p:txBody>
      </p:sp>
      <p:sp>
        <p:nvSpPr>
          <p:cNvPr id="26" name="s7_24"/>
          <p:cNvSpPr txBox="1"/>
          <p:nvPr/>
        </p:nvSpPr>
        <p:spPr>
          <a:xfrm>
            <a:off x="2175891" y="5740527"/>
            <a:ext cx="1325880" cy="132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BAC6DA"/>
                </a:solidFill>
                <a:latin typeface="Bahnschrift"/>
              </a:rPr>
              <a:t>19,7M no total</a:t>
            </a:r>
          </a:p>
        </p:txBody>
      </p:sp>
      <p:sp>
        <p:nvSpPr>
          <p:cNvPr id="27" name="s7_25"/>
          <p:cNvSpPr txBox="1"/>
          <p:nvPr/>
        </p:nvSpPr>
        <p:spPr>
          <a:xfrm>
            <a:off x="3509772" y="5140833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80">
                <a:solidFill>
                  <a:srgbClr val="8395B5"/>
                </a:solidFill>
                <a:latin typeface="Consolas"/>
              </a:rPr>
              <a:t>DECISÕES REGISTRADAS</a:t>
            </a:r>
          </a:p>
        </p:txBody>
      </p:sp>
      <p:sp>
        <p:nvSpPr>
          <p:cNvPr id="28" name="s7_26"/>
          <p:cNvSpPr txBox="1"/>
          <p:nvPr/>
        </p:nvSpPr>
        <p:spPr>
          <a:xfrm>
            <a:off x="3538347" y="5338191"/>
            <a:ext cx="13258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25" b="0">
                <a:solidFill>
                  <a:srgbClr val="FFB531"/>
                </a:solidFill>
                <a:latin typeface="Bahnschrift SemiBold Condensed"/>
              </a:rPr>
              <a:t>81</a:t>
            </a:r>
          </a:p>
        </p:txBody>
      </p:sp>
      <p:sp>
        <p:nvSpPr>
          <p:cNvPr id="30" name="s7_28"/>
          <p:cNvSpPr txBox="1"/>
          <p:nvPr/>
        </p:nvSpPr>
        <p:spPr>
          <a:xfrm>
            <a:off x="4872228" y="5140833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spc="80">
                <a:solidFill>
                  <a:srgbClr val="8395B5"/>
                </a:solidFill>
                <a:latin typeface="Consolas"/>
              </a:rPr>
              <a:t>RECORREÇÃO</a:t>
            </a:r>
          </a:p>
        </p:txBody>
      </p:sp>
      <p:sp>
        <p:nvSpPr>
          <p:cNvPr id="31" name="s7_29"/>
          <p:cNvSpPr txBox="1"/>
          <p:nvPr/>
        </p:nvSpPr>
        <p:spPr>
          <a:xfrm>
            <a:off x="4900803" y="5338191"/>
            <a:ext cx="13258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25" b="0">
                <a:solidFill>
                  <a:srgbClr val="FFB531"/>
                </a:solidFill>
                <a:latin typeface="Bahnschrift SemiBold Condensed"/>
              </a:rPr>
              <a:t>37%</a:t>
            </a:r>
          </a:p>
        </p:txBody>
      </p:sp>
      <p:sp>
        <p:nvSpPr>
          <p:cNvPr id="32" name="s7_30"/>
          <p:cNvSpPr txBox="1"/>
          <p:nvPr/>
        </p:nvSpPr>
        <p:spPr>
          <a:xfrm>
            <a:off x="4900803" y="5740527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BAC6DA"/>
                </a:solidFill>
                <a:latin typeface="Bahnschrift"/>
              </a:rPr>
              <a:t>das </a:t>
            </a:r>
            <a:r>
              <a:rPr sz="800" b="0" err="1">
                <a:solidFill>
                  <a:srgbClr val="BAC6DA"/>
                </a:solidFill>
                <a:latin typeface="Bahnschrift"/>
              </a:rPr>
              <a:t>sessões</a:t>
            </a:r>
            <a:r>
              <a:rPr sz="800" b="0">
                <a:solidFill>
                  <a:srgbClr val="BAC6DA"/>
                </a:solidFill>
                <a:latin typeface="Bahnschrift"/>
              </a:rPr>
              <a:t> </a:t>
            </a:r>
            <a:r>
              <a:rPr sz="800" b="0" err="1">
                <a:solidFill>
                  <a:srgbClr val="BAC6DA"/>
                </a:solidFill>
                <a:latin typeface="Bahnschrift"/>
              </a:rPr>
              <a:t>pediram</a:t>
            </a:r>
            <a:r>
              <a:rPr sz="800" b="0">
                <a:solidFill>
                  <a:srgbClr val="BAC6DA"/>
                </a:solidFill>
                <a:latin typeface="Bahnschrift"/>
              </a:rPr>
              <a:t> 2ª </a:t>
            </a:r>
            <a:r>
              <a:rPr sz="800" b="0" err="1">
                <a:solidFill>
                  <a:srgbClr val="BAC6DA"/>
                </a:solidFill>
                <a:latin typeface="Bahnschrift"/>
              </a:rPr>
              <a:t>rodada</a:t>
            </a:r>
            <a:endParaRPr sz="800" b="0">
              <a:solidFill>
                <a:srgbClr val="BAC6DA"/>
              </a:solidFill>
              <a:latin typeface="Bahnschrift"/>
            </a:endParaRPr>
          </a:p>
        </p:txBody>
      </p:sp>
      <p:sp>
        <p:nvSpPr>
          <p:cNvPr id="33" name="s7_31"/>
          <p:cNvSpPr txBox="1"/>
          <p:nvPr/>
        </p:nvSpPr>
        <p:spPr>
          <a:xfrm>
            <a:off x="6598920" y="859536"/>
            <a:ext cx="46908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00">
                <a:solidFill>
                  <a:srgbClr val="FFB531"/>
                </a:solidFill>
                <a:latin typeface="Consolas"/>
              </a:rPr>
              <a:t>AS REGRAS, ESCRITAS ANTES</a:t>
            </a:r>
          </a:p>
        </p:txBody>
      </p:sp>
      <p:sp>
        <p:nvSpPr>
          <p:cNvPr id="34" name="s7_32"/>
          <p:cNvSpPr txBox="1"/>
          <p:nvPr/>
        </p:nvSpPr>
        <p:spPr>
          <a:xfrm>
            <a:off x="6675120" y="1170432"/>
            <a:ext cx="4690872" cy="1187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26000"/>
              </a:lnSpc>
              <a:spcBef>
                <a:spcPts val="800"/>
              </a:spcBef>
            </a:pPr>
            <a:r>
              <a:rPr lang="pt-BR" sz="1150" b="0">
                <a:solidFill>
                  <a:srgbClr val="F5F7FB"/>
                </a:solidFill>
                <a:latin typeface="Bahnschrift SemiBold"/>
                <a:cs typeface="Bahnschrift SemiBold"/>
              </a:rPr>
              <a:t>CLAUDE.md. </a:t>
            </a:r>
            <a:r>
              <a:rPr lang="pt-BR" sz="1150">
                <a:solidFill>
                  <a:srgbClr val="BAC6DA"/>
                </a:solidFill>
                <a:latin typeface="Bahnschrift SemiLight"/>
              </a:rPr>
              <a:t>Arquivo pré escrito com regras e con</a:t>
            </a:r>
          </a:p>
          <a:p>
            <a:pPr algn="just">
              <a:lnSpc>
                <a:spcPct val="126000"/>
              </a:lnSpc>
              <a:spcBef>
                <a:spcPts val="800"/>
              </a:spcBef>
            </a:pPr>
            <a:r>
              <a:rPr sz="1150" b="0">
                <a:solidFill>
                  <a:srgbClr val="F5F7FB"/>
                </a:solidFill>
                <a:latin typeface="Bahnschrift SemiBold"/>
              </a:rPr>
              <a:t>Ritual </a:t>
            </a:r>
            <a:r>
              <a:rPr lang="pt-BR" sz="1150" b="0">
                <a:solidFill>
                  <a:srgbClr val="F5F7FB"/>
                </a:solidFill>
                <a:latin typeface="Bahnschrift SemiBold"/>
              </a:rPr>
              <a:t>de final de sessão</a:t>
            </a:r>
            <a:r>
              <a:rPr sz="1150" b="0">
                <a:solidFill>
                  <a:srgbClr val="F5F7FB"/>
                </a:solidFill>
                <a:latin typeface="Bahnschrift SemiBold"/>
              </a:rPr>
              <a:t>. 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</a:t>
            </a:r>
            <a:r>
              <a:rPr lang="pt-BR" sz="1150">
                <a:solidFill>
                  <a:srgbClr val="BAC6DA"/>
                </a:solidFill>
                <a:latin typeface="Bahnschrift SemiLight"/>
              </a:rPr>
              <a:t>Levantamento de número</a:t>
            </a:r>
            <a:endParaRPr lang="pt-BR" sz="1150">
              <a:solidFill>
                <a:srgbClr val="BAC6DA"/>
              </a:solidFill>
              <a:latin typeface="Bahnschrift SemiLight"/>
              <a:ea typeface="Calibri"/>
              <a:cs typeface="Bahnschrift SemiLight"/>
            </a:endParaRPr>
          </a:p>
          <a:p>
            <a:pPr algn="just">
              <a:lnSpc>
                <a:spcPct val="126000"/>
              </a:lnSpc>
              <a:spcBef>
                <a:spcPts val="800"/>
              </a:spcBef>
            </a:pPr>
            <a:r>
              <a:rPr lang="pt-BR" sz="1150" b="0">
                <a:solidFill>
                  <a:srgbClr val="F5F7FB"/>
                </a:solidFill>
                <a:latin typeface="Bahnschrift SemiBold"/>
              </a:rPr>
              <a:t>Trocas entre IAs</a:t>
            </a:r>
            <a:r>
              <a:rPr sz="1150" b="0">
                <a:solidFill>
                  <a:srgbClr val="F5F7FB"/>
                </a:solidFill>
                <a:latin typeface="Bahnschrift SemiBold"/>
              </a:rPr>
              <a:t>. 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</a:t>
            </a:r>
            <a:r>
              <a:rPr lang="pt-BR" sz="1150">
                <a:solidFill>
                  <a:srgbClr val="BAC6DA"/>
                </a:solidFill>
                <a:latin typeface="Bahnschrift SemiLight"/>
              </a:rPr>
              <a:t>em formato de arquivos com endereço específico</a:t>
            </a:r>
            <a:endParaRPr lang="pt-BR" sz="1150">
              <a:solidFill>
                <a:srgbClr val="BAC6DA"/>
              </a:solidFill>
              <a:latin typeface="Bahnschrift SemiLight"/>
              <a:cs typeface="Bahnschrift SemiLight"/>
            </a:endParaRPr>
          </a:p>
          <a:p>
            <a:pPr algn="just">
              <a:lnSpc>
                <a:spcPct val="126000"/>
              </a:lnSpc>
              <a:spcBef>
                <a:spcPts val="800"/>
              </a:spcBef>
            </a:pPr>
            <a:endParaRPr lang="pt-BR" sz="1150">
              <a:solidFill>
                <a:srgbClr val="BAC6DA"/>
              </a:solidFill>
              <a:latin typeface="Bahnschrift SemiLight"/>
              <a:cs typeface="Bahnschrift SemiLight"/>
            </a:endParaRPr>
          </a:p>
        </p:txBody>
      </p:sp>
      <p:sp>
        <p:nvSpPr>
          <p:cNvPr id="35" name="s7_33"/>
          <p:cNvSpPr txBox="1"/>
          <p:nvPr/>
        </p:nvSpPr>
        <p:spPr>
          <a:xfrm>
            <a:off x="6646545" y="2198370"/>
            <a:ext cx="46908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00">
                <a:solidFill>
                  <a:srgbClr val="FFB531"/>
                </a:solidFill>
                <a:latin typeface="Consolas"/>
              </a:rPr>
              <a:t>CONTEXTO POR DIA  ·  DECISÕES ACUMULADAS</a:t>
            </a:r>
          </a:p>
        </p:txBody>
      </p:sp>
      <p:pic>
        <p:nvPicPr>
          <p:cNvPr id="36" name="s7_34" descr="p5_timeline.png"/>
          <p:cNvPicPr>
            <a:picLocks noChangeAspect="1"/>
          </p:cNvPicPr>
          <p:nvPr/>
        </p:nvPicPr>
        <p:blipFill>
          <a:blip r:embed="rId4"/>
          <a:srcRect l="-2299" t="-1339" r="2490" b="1786"/>
          <a:stretch>
            <a:fillRect/>
          </a:stretch>
        </p:blipFill>
        <p:spPr>
          <a:xfrm>
            <a:off x="6827520" y="2370582"/>
            <a:ext cx="4461015" cy="1992785"/>
          </a:xfrm>
          <a:prstGeom prst="rect">
            <a:avLst/>
          </a:prstGeom>
        </p:spPr>
      </p:pic>
      <p:sp>
        <p:nvSpPr>
          <p:cNvPr id="37" name="s7_35"/>
          <p:cNvSpPr/>
          <p:nvPr/>
        </p:nvSpPr>
        <p:spPr>
          <a:xfrm>
            <a:off x="6598920" y="4449699"/>
            <a:ext cx="45720" cy="56692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B531"/>
              </a:gs>
              <a:gs pos="100000">
                <a:srgbClr val="FFB531">
                  <a:alpha val="3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C7823DF2-EABB-5A20-390E-1B4985E2BEE1}"/>
              </a:ext>
            </a:extLst>
          </p:cNvPr>
          <p:cNvSpPr txBox="1"/>
          <p:nvPr/>
        </p:nvSpPr>
        <p:spPr>
          <a:xfrm>
            <a:off x="6640195" y="4448175"/>
            <a:ext cx="5416550" cy="17004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950" b="0" dirty="0">
                <a:solidFill>
                  <a:srgbClr val="FFB531"/>
                </a:solidFill>
                <a:latin typeface="Bahnschrift SemiBold"/>
              </a:rPr>
              <a:t>PESQUISA</a:t>
            </a:r>
            <a:endParaRPr lang="pt-BR" dirty="0">
              <a:latin typeface="Bahnschrift SemiLight"/>
            </a:endParaRPr>
          </a:p>
          <a:p>
            <a:endParaRPr lang="en-US" sz="950" dirty="0">
              <a:solidFill>
                <a:schemeClr val="bg1"/>
              </a:solidFill>
              <a:latin typeface="Bahnschrift"/>
              <a:cs typeface="Bahnschrift"/>
            </a:endParaRPr>
          </a:p>
          <a:p>
            <a:pPr marL="171450" indent="-171450">
              <a:buFont typeface="Arial"/>
              <a:buChar char="•"/>
            </a:pPr>
            <a:r>
              <a:rPr lang="en-US" sz="950" dirty="0">
                <a:solidFill>
                  <a:schemeClr val="bg1"/>
                </a:solidFill>
                <a:latin typeface="Bahnschrift"/>
                <a:ea typeface="Calibri"/>
                <a:cs typeface="Bahnschrift"/>
              </a:rPr>
              <a:t>Feita com </a:t>
            </a:r>
            <a:r>
              <a:rPr lang="en-US" sz="950" dirty="0" err="1">
                <a:solidFill>
                  <a:schemeClr val="bg1"/>
                </a:solidFill>
                <a:latin typeface="Bahnschrift"/>
                <a:ea typeface="Calibri"/>
                <a:cs typeface="Bahnschrift"/>
              </a:rPr>
              <a:t>auxilio</a:t>
            </a:r>
            <a:r>
              <a:rPr lang="en-US" sz="950" dirty="0">
                <a:solidFill>
                  <a:schemeClr val="bg1"/>
                </a:solidFill>
                <a:latin typeface="Bahnschrift"/>
                <a:ea typeface="Calibri"/>
                <a:cs typeface="Bahnschrift"/>
              </a:rPr>
              <a:t> de </a:t>
            </a:r>
            <a:r>
              <a:rPr lang="en-US" sz="950" b="0" dirty="0">
                <a:solidFill>
                  <a:schemeClr val="bg1"/>
                </a:solidFill>
                <a:latin typeface="Bahnschrift SemiBold"/>
                <a:ea typeface="Calibri"/>
                <a:cs typeface="Bahnschrift SemiBold"/>
              </a:rPr>
              <a:t>IA</a:t>
            </a:r>
          </a:p>
          <a:p>
            <a:pPr marL="171450" indent="-171450">
              <a:buFont typeface="Arial"/>
              <a:buChar char="•"/>
            </a:pPr>
            <a:endParaRPr lang="en-US" sz="950" dirty="0">
              <a:solidFill>
                <a:schemeClr val="bg1"/>
              </a:solidFill>
              <a:latin typeface="Bahnschrift"/>
              <a:ea typeface="Calibri"/>
              <a:cs typeface="Bahnschrift"/>
            </a:endParaRPr>
          </a:p>
          <a:p>
            <a:pPr marL="171450" indent="-171450">
              <a:buFont typeface="Arial"/>
              <a:buChar char="•"/>
            </a:pPr>
            <a:r>
              <a:rPr lang="en-US" sz="950" dirty="0">
                <a:solidFill>
                  <a:schemeClr val="bg1"/>
                </a:solidFill>
                <a:latin typeface="Bahnschrift"/>
                <a:ea typeface="Calibri"/>
                <a:cs typeface="Bahnschrift"/>
              </a:rPr>
              <a:t>De </a:t>
            </a:r>
            <a:r>
              <a:rPr lang="en-US" sz="950" b="0" dirty="0">
                <a:solidFill>
                  <a:schemeClr val="bg1"/>
                </a:solidFill>
                <a:latin typeface="Bahnschrift SemiBold"/>
                <a:ea typeface="Calibri"/>
                <a:cs typeface="Bahnschrift SemiBold"/>
              </a:rPr>
              <a:t>13 </a:t>
            </a:r>
            <a:r>
              <a:rPr lang="en-US" sz="950" dirty="0" err="1">
                <a:solidFill>
                  <a:schemeClr val="bg1"/>
                </a:solidFill>
                <a:latin typeface="Bahnschrift"/>
                <a:ea typeface="Calibri"/>
                <a:cs typeface="Bahnschrift"/>
              </a:rPr>
              <a:t>ideias</a:t>
            </a:r>
            <a:r>
              <a:rPr lang="en-US" sz="950" dirty="0">
                <a:solidFill>
                  <a:schemeClr val="bg1"/>
                </a:solidFill>
                <a:latin typeface="Bahnschrift"/>
                <a:ea typeface="Calibri"/>
                <a:cs typeface="Bahnschrift"/>
              </a:rPr>
              <a:t> de </a:t>
            </a:r>
            <a:r>
              <a:rPr lang="en-US" sz="950" dirty="0" err="1">
                <a:solidFill>
                  <a:schemeClr val="bg1"/>
                </a:solidFill>
                <a:latin typeface="Bahnschrift"/>
                <a:ea typeface="Calibri"/>
                <a:cs typeface="Bahnschrift"/>
              </a:rPr>
              <a:t>sinal</a:t>
            </a:r>
            <a:r>
              <a:rPr lang="en-US" sz="950" dirty="0">
                <a:solidFill>
                  <a:schemeClr val="bg1"/>
                </a:solidFill>
                <a:latin typeface="Bahnschrift"/>
                <a:ea typeface="Calibri"/>
                <a:cs typeface="Bahnschrift"/>
              </a:rPr>
              <a:t>, </a:t>
            </a:r>
            <a:r>
              <a:rPr lang="en-US" sz="950" dirty="0" err="1">
                <a:solidFill>
                  <a:schemeClr val="bg1"/>
                </a:solidFill>
                <a:latin typeface="Bahnschrift"/>
                <a:ea typeface="Calibri"/>
                <a:cs typeface="Bahnschrift"/>
              </a:rPr>
              <a:t>passou</a:t>
            </a:r>
            <a:r>
              <a:rPr lang="en-US" sz="950" dirty="0">
                <a:solidFill>
                  <a:schemeClr val="bg1"/>
                </a:solidFill>
                <a:latin typeface="Bahnschrift"/>
                <a:ea typeface="Calibri"/>
                <a:cs typeface="Bahnschrift"/>
              </a:rPr>
              <a:t> </a:t>
            </a:r>
            <a:r>
              <a:rPr lang="en-US" sz="950" dirty="0" err="1">
                <a:solidFill>
                  <a:schemeClr val="bg1"/>
                </a:solidFill>
                <a:latin typeface="Bahnschrift"/>
                <a:ea typeface="Calibri"/>
                <a:cs typeface="Bahnschrift"/>
              </a:rPr>
              <a:t>apenas</a:t>
            </a:r>
            <a:r>
              <a:rPr lang="en-US" sz="950" dirty="0">
                <a:solidFill>
                  <a:schemeClr val="bg1"/>
                </a:solidFill>
                <a:latin typeface="Bahnschrift"/>
                <a:ea typeface="Calibri"/>
                <a:cs typeface="Bahnschrift"/>
              </a:rPr>
              <a:t> </a:t>
            </a:r>
            <a:r>
              <a:rPr lang="en-US" sz="950" b="0" dirty="0">
                <a:solidFill>
                  <a:schemeClr val="bg1"/>
                </a:solidFill>
                <a:latin typeface="Bahnschrift SemiBold"/>
                <a:ea typeface="Calibri"/>
                <a:cs typeface="Bahnschrift SemiBold"/>
              </a:rPr>
              <a:t>1</a:t>
            </a:r>
          </a:p>
          <a:p>
            <a:pPr marL="171450" indent="-171450">
              <a:buFont typeface="Arial"/>
              <a:buChar char="•"/>
            </a:pPr>
            <a:endParaRPr lang="en-US" sz="950" dirty="0">
              <a:solidFill>
                <a:schemeClr val="bg1"/>
              </a:solidFill>
              <a:latin typeface="Bahnschrift"/>
              <a:ea typeface="Calibri"/>
              <a:cs typeface="Bahnschrift"/>
            </a:endParaRPr>
          </a:p>
          <a:p>
            <a:pPr marL="171450" indent="-171450">
              <a:buFont typeface="Arial"/>
              <a:buChar char="•"/>
            </a:pPr>
            <a:r>
              <a:rPr lang="en-US" sz="950" dirty="0">
                <a:solidFill>
                  <a:schemeClr val="bg1"/>
                </a:solidFill>
                <a:latin typeface="Bahnschrift"/>
                <a:ea typeface="Calibri"/>
                <a:cs typeface="Bahnschrift"/>
              </a:rPr>
              <a:t>De </a:t>
            </a:r>
            <a:r>
              <a:rPr lang="en-US" sz="950" b="0" dirty="0">
                <a:solidFill>
                  <a:schemeClr val="bg1"/>
                </a:solidFill>
                <a:latin typeface="Bahnschrift SemiBold"/>
                <a:ea typeface="Calibri"/>
                <a:cs typeface="Bahnschrift SemiBold"/>
              </a:rPr>
              <a:t>4 </a:t>
            </a:r>
            <a:r>
              <a:rPr lang="en-US" sz="950" dirty="0" err="1">
                <a:solidFill>
                  <a:schemeClr val="bg1"/>
                </a:solidFill>
                <a:latin typeface="Bahnschrift"/>
                <a:ea typeface="Calibri"/>
                <a:cs typeface="Bahnschrift"/>
              </a:rPr>
              <a:t>critérios</a:t>
            </a:r>
            <a:r>
              <a:rPr lang="en-US" sz="950" dirty="0">
                <a:solidFill>
                  <a:schemeClr val="bg1"/>
                </a:solidFill>
                <a:latin typeface="Bahnschrift"/>
                <a:ea typeface="Calibri"/>
                <a:cs typeface="Bahnschrift"/>
              </a:rPr>
              <a:t> para </a:t>
            </a:r>
            <a:r>
              <a:rPr lang="en-US" sz="950" dirty="0" err="1">
                <a:solidFill>
                  <a:schemeClr val="bg1"/>
                </a:solidFill>
                <a:latin typeface="Bahnschrift"/>
                <a:ea typeface="Calibri"/>
                <a:cs typeface="Bahnschrift"/>
              </a:rPr>
              <a:t>Confiança</a:t>
            </a:r>
            <a:r>
              <a:rPr lang="en-US" sz="950" dirty="0">
                <a:solidFill>
                  <a:schemeClr val="bg1"/>
                </a:solidFill>
                <a:latin typeface="Bahnschrift"/>
                <a:ea typeface="Calibri"/>
                <a:cs typeface="Bahnschrift"/>
              </a:rPr>
              <a:t>, </a:t>
            </a:r>
            <a:r>
              <a:rPr lang="en-US" sz="950" dirty="0" err="1">
                <a:solidFill>
                  <a:schemeClr val="bg1"/>
                </a:solidFill>
                <a:latin typeface="Bahnschrift"/>
                <a:ea typeface="Calibri"/>
                <a:cs typeface="Bahnschrift"/>
              </a:rPr>
              <a:t>apenas</a:t>
            </a:r>
            <a:r>
              <a:rPr lang="en-US" sz="950" dirty="0">
                <a:solidFill>
                  <a:schemeClr val="bg1"/>
                </a:solidFill>
                <a:latin typeface="Bahnschrift"/>
                <a:ea typeface="Calibri"/>
                <a:cs typeface="Bahnschrift"/>
              </a:rPr>
              <a:t> </a:t>
            </a:r>
            <a:r>
              <a:rPr lang="en-US" sz="950" b="0" dirty="0">
                <a:solidFill>
                  <a:schemeClr val="bg1"/>
                </a:solidFill>
                <a:latin typeface="Bahnschrift SemiBold"/>
                <a:ea typeface="Calibri"/>
                <a:cs typeface="Bahnschrift SemiBold"/>
              </a:rPr>
              <a:t>2 </a:t>
            </a:r>
            <a:r>
              <a:rPr lang="en-US" sz="950" dirty="0" err="1">
                <a:solidFill>
                  <a:schemeClr val="bg1"/>
                </a:solidFill>
                <a:latin typeface="Bahnschrift"/>
                <a:ea typeface="Calibri"/>
                <a:cs typeface="Bahnschrift"/>
              </a:rPr>
              <a:t>passaram</a:t>
            </a:r>
            <a:endParaRPr lang="en-US" sz="950" dirty="0">
              <a:solidFill>
                <a:schemeClr val="bg1"/>
              </a:solidFill>
              <a:latin typeface="Bahnschrift"/>
              <a:ea typeface="Calibri"/>
              <a:cs typeface="Bahnschrift"/>
            </a:endParaRPr>
          </a:p>
          <a:p>
            <a:pPr marL="171450" indent="-171450">
              <a:buFont typeface="Arial"/>
              <a:buChar char="•"/>
            </a:pPr>
            <a:endParaRPr lang="en-US" sz="950" dirty="0">
              <a:solidFill>
                <a:schemeClr val="bg1"/>
              </a:solidFill>
              <a:latin typeface="Bahnschrift"/>
              <a:ea typeface="Calibri"/>
              <a:cs typeface="Bahnschrift"/>
            </a:endParaRPr>
          </a:p>
          <a:p>
            <a:pPr marL="171450" indent="-171450">
              <a:buFont typeface="Arial"/>
              <a:buChar char="•"/>
            </a:pPr>
            <a:r>
              <a:rPr lang="en-US" sz="950" dirty="0">
                <a:solidFill>
                  <a:schemeClr val="bg1"/>
                </a:solidFill>
                <a:latin typeface="Bahnschrift"/>
                <a:ea typeface="Calibri"/>
                <a:cs typeface="Bahnschrift"/>
              </a:rPr>
              <a:t>O </a:t>
            </a:r>
            <a:r>
              <a:rPr lang="en-US" sz="950" dirty="0" err="1">
                <a:solidFill>
                  <a:schemeClr val="bg1"/>
                </a:solidFill>
                <a:latin typeface="Bahnschrift"/>
                <a:ea typeface="Calibri"/>
                <a:cs typeface="Bahnschrift"/>
              </a:rPr>
              <a:t>resultado</a:t>
            </a:r>
            <a:r>
              <a:rPr lang="en-US" sz="950" dirty="0">
                <a:solidFill>
                  <a:schemeClr val="bg1"/>
                </a:solidFill>
                <a:latin typeface="Bahnschrift"/>
                <a:ea typeface="Calibri"/>
                <a:cs typeface="Bahnschrift"/>
              </a:rPr>
              <a:t> das </a:t>
            </a:r>
            <a:r>
              <a:rPr lang="en-US" sz="950" dirty="0" err="1">
                <a:solidFill>
                  <a:schemeClr val="bg1"/>
                </a:solidFill>
                <a:latin typeface="Bahnschrift"/>
                <a:ea typeface="Calibri"/>
                <a:cs typeface="Bahnschrift"/>
              </a:rPr>
              <a:t>pesquisas</a:t>
            </a:r>
            <a:r>
              <a:rPr lang="en-US" sz="950" dirty="0">
                <a:solidFill>
                  <a:schemeClr val="bg1"/>
                </a:solidFill>
                <a:latin typeface="Bahnschrift"/>
                <a:ea typeface="Calibri"/>
                <a:cs typeface="Bahnschrift"/>
              </a:rPr>
              <a:t> </a:t>
            </a:r>
            <a:r>
              <a:rPr lang="en-US" sz="950" dirty="0" err="1">
                <a:solidFill>
                  <a:schemeClr val="bg1"/>
                </a:solidFill>
                <a:latin typeface="Bahnschrift"/>
                <a:ea typeface="Calibri"/>
                <a:cs typeface="Bahnschrift"/>
              </a:rPr>
              <a:t>ficou</a:t>
            </a:r>
            <a:r>
              <a:rPr lang="en-US" sz="950" dirty="0">
                <a:solidFill>
                  <a:schemeClr val="bg1"/>
                </a:solidFill>
                <a:latin typeface="Bahnschrift"/>
                <a:ea typeface="Calibri"/>
                <a:cs typeface="Bahnschrift"/>
              </a:rPr>
              <a:t> </a:t>
            </a:r>
            <a:r>
              <a:rPr lang="en-US" sz="950" dirty="0" err="1">
                <a:solidFill>
                  <a:schemeClr val="bg1"/>
                </a:solidFill>
                <a:latin typeface="Bahnschrift"/>
                <a:ea typeface="Calibri"/>
                <a:cs typeface="Bahnschrift"/>
              </a:rPr>
              <a:t>guardado</a:t>
            </a:r>
            <a:r>
              <a:rPr lang="en-US" sz="950" dirty="0">
                <a:solidFill>
                  <a:schemeClr val="bg1"/>
                </a:solidFill>
                <a:latin typeface="Bahnschrift"/>
                <a:ea typeface="Calibri"/>
                <a:cs typeface="Bahnschrift"/>
              </a:rPr>
              <a:t> </a:t>
            </a:r>
            <a:r>
              <a:rPr lang="en-US" sz="950" dirty="0" err="1">
                <a:solidFill>
                  <a:schemeClr val="bg1"/>
                </a:solidFill>
                <a:latin typeface="Bahnschrift"/>
                <a:ea typeface="Calibri"/>
                <a:cs typeface="Bahnschrift"/>
              </a:rPr>
              <a:t>como</a:t>
            </a:r>
            <a:r>
              <a:rPr lang="en-US" sz="950" dirty="0">
                <a:solidFill>
                  <a:schemeClr val="bg1"/>
                </a:solidFill>
                <a:latin typeface="Bahnschrift"/>
                <a:ea typeface="Calibri"/>
                <a:cs typeface="Bahnschrift"/>
              </a:rPr>
              <a:t> </a:t>
            </a:r>
            <a:r>
              <a:rPr lang="en-US" sz="950" dirty="0" err="1">
                <a:solidFill>
                  <a:schemeClr val="bg1"/>
                </a:solidFill>
                <a:latin typeface="Bahnschrift"/>
                <a:ea typeface="Calibri"/>
                <a:cs typeface="Bahnschrift"/>
              </a:rPr>
              <a:t>arquivos</a:t>
            </a:r>
            <a:r>
              <a:rPr lang="en-US" sz="950" dirty="0">
                <a:solidFill>
                  <a:schemeClr val="bg1"/>
                </a:solidFill>
                <a:latin typeface="Bahnschrift"/>
                <a:ea typeface="Calibri"/>
                <a:cs typeface="Bahnschrift"/>
              </a:rPr>
              <a:t> .md</a:t>
            </a:r>
          </a:p>
          <a:p>
            <a:pPr marL="171450" indent="-171450">
              <a:buFont typeface="Arial"/>
              <a:buChar char="•"/>
            </a:pPr>
            <a:endParaRPr lang="en-US" sz="950" b="0">
              <a:solidFill>
                <a:srgbClr val="FFB531"/>
              </a:solidFill>
              <a:latin typeface="Bahnschrift SemiBold"/>
              <a:ea typeface="Calibri"/>
              <a:cs typeface="Bahnschrift SemiBold"/>
            </a:endParaRPr>
          </a:p>
          <a:p>
            <a:pPr marL="171450" indent="-171450">
              <a:buFont typeface="Arial"/>
              <a:buChar char="•"/>
            </a:pPr>
            <a:endParaRPr lang="en-US" sz="950" b="0" dirty="0">
              <a:solidFill>
                <a:srgbClr val="FFB531"/>
              </a:solidFill>
              <a:latin typeface="Bahnschrift SemiBold"/>
              <a:ea typeface="Calibri"/>
              <a:cs typeface="Bahnschrift Semi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203A"/>
            </a:gs>
            <a:gs pos="55000">
              <a:srgbClr val="0A1325"/>
            </a:gs>
            <a:gs pos="100000">
              <a:srgbClr val="04070E"/>
            </a:gs>
          </a:gsLst>
          <a:path path="circle">
            <a:fillToRect l="38000" r="62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!!glow_tl"/>
          <p:cNvSpPr/>
          <p:nvPr/>
        </p:nvSpPr>
        <p:spPr>
          <a:xfrm>
            <a:off x="-2600000" y="-22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30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" name="!!ghost"/>
          <p:cNvSpPr txBox="1"/>
          <p:nvPr/>
        </p:nvSpPr>
        <p:spPr>
          <a:xfrm>
            <a:off x="6900000" y="-230000"/>
            <a:ext cx="4950000" cy="200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pt-BR" sz="15000" b="0" spc="0">
                <a:solidFill>
                  <a:srgbClr val="101A2E"/>
                </a:solidFill>
                <a:latin typeface="Bahnschrift SemiBold Condensed"/>
              </a:rPr>
              <a:t>09</a:t>
            </a:r>
          </a:p>
        </p:txBody>
      </p:sp>
      <p:sp>
        <p:nvSpPr>
          <p:cNvPr id="62" name="!!tick"/>
          <p:cNvSpPr/>
          <p:nvPr/>
        </p:nvSpPr>
        <p:spPr>
          <a:xfrm>
            <a:off x="43840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" name="!!foot_l"/>
          <p:cNvSpPr txBox="1"/>
          <p:nvPr/>
        </p:nvSpPr>
        <p:spPr>
          <a:xfrm>
            <a:off x="571500" y="6653200"/>
            <a:ext cx="6000000" cy="1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pt-BR" sz="700" b="0" spc="120">
                <a:solidFill>
                  <a:srgbClr val="58698A"/>
                </a:solidFill>
                <a:latin typeface="Consolas"/>
              </a:rPr>
              <a:t>ITAÚ QUANT AI CHALLENGE  ·  SEMIFINAL 2026</a:t>
            </a:r>
          </a:p>
        </p:txBody>
      </p:sp>
      <p:sp>
        <p:nvSpPr>
          <p:cNvPr id="64" name="!!foot_r"/>
          <p:cNvSpPr txBox="1"/>
          <p:nvPr/>
        </p:nvSpPr>
        <p:spPr>
          <a:xfrm>
            <a:off x="5620500" y="6653200"/>
            <a:ext cx="6000000" cy="1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pt-BR" sz="700" b="0" spc="120">
                <a:solidFill>
                  <a:srgbClr val="58698A"/>
                </a:solidFill>
                <a:latin typeface="Consolas"/>
              </a:rPr>
              <a:t>BLACK-LITTERMAN  ×  POLYMARKET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66420" y="426720"/>
            <a:ext cx="83820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1" spc="300">
                <a:solidFill>
                  <a:srgbClr val="FFB531"/>
                </a:solidFill>
                <a:latin typeface="Consolas"/>
              </a:rPr>
              <a:t>KAIROS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0660" y="426720"/>
            <a:ext cx="381000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0" spc="72">
                <a:solidFill>
                  <a:srgbClr val="8395B5"/>
                </a:solidFill>
                <a:latin typeface="Consolas"/>
              </a:rPr>
              <a:t>Backtest e 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50500" y="467359"/>
            <a:ext cx="1270000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00" b="0" spc="45">
                <a:solidFill>
                  <a:srgbClr val="8395B5"/>
                </a:solidFill>
                <a:latin typeface="Consolas"/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704850"/>
            <a:ext cx="11049000" cy="9525"/>
          </a:xfrm>
          <a:prstGeom prst="rect">
            <a:avLst/>
          </a:prstGeom>
          <a:gradFill rotWithShape="1">
            <a:gsLst>
              <a:gs pos="0">
                <a:srgbClr val="FFB531"/>
              </a:gs>
              <a:gs pos="30000">
                <a:srgbClr val="2A3F63"/>
              </a:gs>
              <a:gs pos="100000">
                <a:srgbClr val="2A3F63">
                  <a:alpha val="3000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420" y="850900"/>
            <a:ext cx="4445000" cy="3048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000" b="0">
                <a:solidFill>
                  <a:srgbClr val="F5F7FB"/>
                </a:solidFill>
                <a:latin typeface="Bahnschrift SemiBold"/>
              </a:rPr>
              <a:t>+3,0 pp sobre o SPY, ao mesmo risco</a:t>
            </a:r>
          </a:p>
        </p:txBody>
      </p:sp>
      <p:sp>
        <p:nvSpPr>
          <p:cNvPr id="9" name="Rectangle 8"/>
          <p:cNvSpPr/>
          <p:nvPr/>
        </p:nvSpPr>
        <p:spPr>
          <a:xfrm>
            <a:off x="3505200" y="1295400"/>
            <a:ext cx="10160" cy="5118100"/>
          </a:xfrm>
          <a:prstGeom prst="rect">
            <a:avLst/>
          </a:prstGeom>
          <a:gradFill rotWithShape="1">
            <a:gsLst>
              <a:gs pos="0">
                <a:srgbClr val="2A3F63"/>
              </a:gs>
              <a:gs pos="100000">
                <a:srgbClr val="2A3F63">
                  <a:alpha val="3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6420" y="1295400"/>
            <a:ext cx="2768600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144">
                <a:solidFill>
                  <a:srgbClr val="FFB531"/>
                </a:solidFill>
                <a:latin typeface="Consolas"/>
              </a:rPr>
              <a:t>PLACAR DE ENTREGA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420" y="1511300"/>
            <a:ext cx="1742440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20" b="0" spc="50">
                <a:solidFill>
                  <a:srgbClr val="8395B5"/>
                </a:solidFill>
                <a:latin typeface="Consolas"/>
              </a:rPr>
              <a:t>MÉTRICA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420" y="1511300"/>
            <a:ext cx="2108200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20" b="0" spc="50">
                <a:solidFill>
                  <a:srgbClr val="8395B5"/>
                </a:solidFill>
                <a:latin typeface="Consolas"/>
              </a:rPr>
              <a:t>KAIROS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420" y="1511300"/>
            <a:ext cx="2768600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20" b="0" spc="50">
                <a:solidFill>
                  <a:srgbClr val="8395B5"/>
                </a:solidFill>
                <a:latin typeface="Consolas"/>
              </a:rPr>
              <a:t>SPY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420" y="1676400"/>
            <a:ext cx="2768600" cy="9525"/>
          </a:xfrm>
          <a:prstGeom prst="rect">
            <a:avLst/>
          </a:prstGeom>
          <a:solidFill>
            <a:srgbClr val="2A3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66420" y="1714500"/>
            <a:ext cx="1742440" cy="2095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40" b="0">
                <a:solidFill>
                  <a:srgbClr val="BAC6DA"/>
                </a:solidFill>
                <a:latin typeface="Bahnschrift"/>
              </a:rPr>
              <a:t>Retorno líquido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420" y="1714500"/>
            <a:ext cx="2108200" cy="2095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40" b="1">
                <a:solidFill>
                  <a:srgbClr val="F5F7FB"/>
                </a:solidFill>
                <a:latin typeface="Consolas"/>
              </a:rPr>
              <a:t>+33,2%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420" y="1714500"/>
            <a:ext cx="2768600" cy="2095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40" b="0">
                <a:solidFill>
                  <a:srgbClr val="8395B5"/>
                </a:solidFill>
                <a:latin typeface="Consolas"/>
              </a:rPr>
              <a:t>+30,1%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420" y="1918970"/>
            <a:ext cx="2768600" cy="6350"/>
          </a:xfrm>
          <a:prstGeom prst="rect">
            <a:avLst/>
          </a:prstGeom>
          <a:solidFill>
            <a:srgbClr val="2A3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66420" y="1924050"/>
            <a:ext cx="1742440" cy="2095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40" b="0">
                <a:solidFill>
                  <a:srgbClr val="BAC6DA"/>
                </a:solidFill>
                <a:latin typeface="Bahnschrift"/>
              </a:rPr>
              <a:t>Vol. anualizada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420" y="1924050"/>
            <a:ext cx="2108200" cy="2095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40" b="1">
                <a:solidFill>
                  <a:srgbClr val="F5F7FB"/>
                </a:solidFill>
                <a:latin typeface="Consolas"/>
              </a:rPr>
              <a:t>17,6%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420" y="1924050"/>
            <a:ext cx="2768600" cy="2095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40" b="0">
                <a:solidFill>
                  <a:srgbClr val="8395B5"/>
                </a:solidFill>
                <a:latin typeface="Consolas"/>
              </a:rPr>
              <a:t>17,9%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420" y="2128520"/>
            <a:ext cx="2768600" cy="6350"/>
          </a:xfrm>
          <a:prstGeom prst="rect">
            <a:avLst/>
          </a:prstGeom>
          <a:solidFill>
            <a:srgbClr val="2A3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66420" y="2133600"/>
            <a:ext cx="1742440" cy="2095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40" b="0">
                <a:solidFill>
                  <a:srgbClr val="BAC6DA"/>
                </a:solidFill>
                <a:latin typeface="Bahnschrift"/>
              </a:rPr>
              <a:t>Sharpe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420" y="2133600"/>
            <a:ext cx="2108200" cy="2095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40" b="1">
                <a:solidFill>
                  <a:srgbClr val="F5F7FB"/>
                </a:solidFill>
                <a:latin typeface="Consolas"/>
              </a:rPr>
              <a:t>1,18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420" y="2133600"/>
            <a:ext cx="2768600" cy="2095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40" b="0">
                <a:solidFill>
                  <a:srgbClr val="8395B5"/>
                </a:solidFill>
                <a:latin typeface="Consolas"/>
              </a:rPr>
              <a:t>1,08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420" y="2338070"/>
            <a:ext cx="2768600" cy="6350"/>
          </a:xfrm>
          <a:prstGeom prst="rect">
            <a:avLst/>
          </a:prstGeom>
          <a:solidFill>
            <a:srgbClr val="2A3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66420" y="2343150"/>
            <a:ext cx="1742440" cy="2095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40" b="0">
                <a:solidFill>
                  <a:srgbClr val="BAC6DA"/>
                </a:solidFill>
                <a:latin typeface="Bahnschrift"/>
              </a:rPr>
              <a:t>Máx. drawdown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420" y="2343150"/>
            <a:ext cx="2108200" cy="2095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40" b="1">
                <a:solidFill>
                  <a:srgbClr val="F5F7FB"/>
                </a:solidFill>
                <a:latin typeface="Consolas"/>
              </a:rPr>
              <a:t>−19,6%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420" y="2343150"/>
            <a:ext cx="2768600" cy="2095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40" b="0">
                <a:solidFill>
                  <a:srgbClr val="8395B5"/>
                </a:solidFill>
                <a:latin typeface="Consolas"/>
              </a:rPr>
              <a:t>−18,8%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420" y="2547620"/>
            <a:ext cx="2768600" cy="6350"/>
          </a:xfrm>
          <a:prstGeom prst="rect">
            <a:avLst/>
          </a:prstGeom>
          <a:solidFill>
            <a:srgbClr val="2A3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66420" y="2552700"/>
            <a:ext cx="1742440" cy="2095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40" b="0">
                <a:solidFill>
                  <a:srgbClr val="BAC6DA"/>
                </a:solidFill>
                <a:latin typeface="Bahnschrift"/>
              </a:rPr>
              <a:t>Alpha anual.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420" y="2552700"/>
            <a:ext cx="2108200" cy="2095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40" b="1">
                <a:solidFill>
                  <a:srgbClr val="F5F7FB"/>
                </a:solidFill>
                <a:latin typeface="Consolas"/>
              </a:rPr>
              <a:t>+2,57%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420" y="2552700"/>
            <a:ext cx="2768600" cy="2095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40" b="0">
                <a:solidFill>
                  <a:srgbClr val="8395B5"/>
                </a:solidFill>
                <a:latin typeface="Bahnschrift"/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420" y="2757170"/>
            <a:ext cx="2768600" cy="6350"/>
          </a:xfrm>
          <a:prstGeom prst="rect">
            <a:avLst/>
          </a:prstGeom>
          <a:solidFill>
            <a:srgbClr val="2A3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66420" y="2762250"/>
            <a:ext cx="1742440" cy="2095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40" b="0">
                <a:solidFill>
                  <a:srgbClr val="BAC6DA"/>
                </a:solidFill>
                <a:latin typeface="Bahnschrift"/>
              </a:rPr>
              <a:t>Beta vs SPY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420" y="2762250"/>
            <a:ext cx="2108200" cy="2095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40" b="1">
                <a:solidFill>
                  <a:srgbClr val="F5F7FB"/>
                </a:solidFill>
                <a:latin typeface="Consolas"/>
              </a:rPr>
              <a:t>0,95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420" y="2762250"/>
            <a:ext cx="2768600" cy="2095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40" b="0">
                <a:solidFill>
                  <a:srgbClr val="8395B5"/>
                </a:solidFill>
                <a:latin typeface="Consolas"/>
              </a:rPr>
              <a:t>1,00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420" y="2966720"/>
            <a:ext cx="2768600" cy="6350"/>
          </a:xfrm>
          <a:prstGeom prst="rect">
            <a:avLst/>
          </a:prstGeom>
          <a:solidFill>
            <a:srgbClr val="2A3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66420" y="2971800"/>
            <a:ext cx="1742440" cy="2095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40" b="0">
                <a:solidFill>
                  <a:srgbClr val="BAC6DA"/>
                </a:solidFill>
                <a:latin typeface="Bahnschrift"/>
              </a:rPr>
              <a:t>Σ|w| média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420" y="2971800"/>
            <a:ext cx="2108200" cy="2095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40" b="1">
                <a:solidFill>
                  <a:srgbClr val="F5F7FB"/>
                </a:solidFill>
                <a:latin typeface="Consolas"/>
              </a:rPr>
              <a:t>1,91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420" y="2971800"/>
            <a:ext cx="2768600" cy="2095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40" b="0">
                <a:solidFill>
                  <a:srgbClr val="8395B5"/>
                </a:solidFill>
                <a:latin typeface="Consolas"/>
              </a:rPr>
              <a:t>1,00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420" y="3176270"/>
            <a:ext cx="2768600" cy="6350"/>
          </a:xfrm>
          <a:prstGeom prst="rect">
            <a:avLst/>
          </a:prstGeom>
          <a:solidFill>
            <a:srgbClr val="2A3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66420" y="3181350"/>
            <a:ext cx="1742440" cy="2095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40" b="0">
                <a:solidFill>
                  <a:srgbClr val="BAC6DA"/>
                </a:solidFill>
                <a:latin typeface="Bahnschrift"/>
              </a:rPr>
              <a:t>Giro diário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420" y="3181350"/>
            <a:ext cx="2108200" cy="2095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40" b="1">
                <a:solidFill>
                  <a:srgbClr val="F5F7FB"/>
                </a:solidFill>
                <a:latin typeface="Consolas"/>
              </a:rPr>
              <a:t>0,40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420" y="3181350"/>
            <a:ext cx="2768600" cy="2095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40" b="0">
                <a:solidFill>
                  <a:srgbClr val="8395B5"/>
                </a:solidFill>
                <a:latin typeface="Bahnschrift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420" y="3594100"/>
            <a:ext cx="2768600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144">
                <a:solidFill>
                  <a:srgbClr val="FFB531"/>
                </a:solidFill>
                <a:latin typeface="Consolas"/>
              </a:rPr>
              <a:t>DE ONDE VEM O RESULTADO</a:t>
            </a:r>
          </a:p>
        </p:txBody>
      </p:sp>
      <p:pic>
        <p:nvPicPr>
          <p:cNvPr id="47" name="Picture 46" descr="p9_atribuic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420" y="3810000"/>
            <a:ext cx="2933700" cy="19304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566420" y="5842000"/>
            <a:ext cx="27686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40"/>
              </a:lnSpc>
            </a:pPr>
            <a:r>
              <a:rPr sz="720" b="0">
                <a:solidFill>
                  <a:srgbClr val="F5F7FB"/>
                </a:solidFill>
                <a:latin typeface="Bahnschrift"/>
              </a:rPr>
              <a:t>Soma dos retornos diários, não capitalização</a:t>
            </a:r>
            <a:r>
              <a:rPr sz="720" b="0">
                <a:solidFill>
                  <a:srgbClr val="8395B5"/>
                </a:solidFill>
                <a:latin typeface="Bahnschrift"/>
              </a:rPr>
              <a:t> — daí +30,9 pp aqui e +33,2% na curva.</a:t>
            </a:r>
          </a:p>
          <a:p>
            <a:pPr algn="l">
              <a:lnSpc>
                <a:spcPts val="940"/>
              </a:lnSpc>
            </a:pPr>
            <a:r>
              <a:rPr sz="720" b="0">
                <a:solidFill>
                  <a:srgbClr val="F5F7FB"/>
                </a:solidFill>
                <a:latin typeface="Bahnschrift"/>
              </a:rPr>
              <a:t>E sem juros:</a:t>
            </a:r>
            <a:r>
              <a:rPr sz="720" b="0">
                <a:solidFill>
                  <a:srgbClr val="8395B5"/>
                </a:solidFill>
                <a:latin typeface="Bahnschrift"/>
              </a:rPr>
              <a:t> o caixa não é remunerado e o Sharpe usa taxa livre de risco zero, igual para Kairos e SPY.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83000" y="1295400"/>
            <a:ext cx="3556000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144">
                <a:solidFill>
                  <a:srgbClr val="FFB531"/>
                </a:solidFill>
                <a:latin typeface="Consolas"/>
              </a:rPr>
              <a:t>CURVA ACUMULADA E DRAWDOWN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14920" y="1488439"/>
            <a:ext cx="4000500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40" b="0">
                <a:solidFill>
                  <a:srgbClr val="8395B5"/>
                </a:solidFill>
                <a:latin typeface="Consolas"/>
              </a:rPr>
              <a:t>374 </a:t>
            </a:r>
            <a:r>
              <a:rPr sz="740" b="0" err="1">
                <a:solidFill>
                  <a:srgbClr val="8395B5"/>
                </a:solidFill>
                <a:latin typeface="Bahnschrift"/>
              </a:rPr>
              <a:t>pregões</a:t>
            </a:r>
            <a:r>
              <a:rPr sz="740" b="0">
                <a:solidFill>
                  <a:srgbClr val="8395B5"/>
                </a:solidFill>
                <a:latin typeface="Bahnschrift"/>
              </a:rPr>
              <a:t> · 10/02/2025 a 06/08/2026 · </a:t>
            </a:r>
            <a:r>
              <a:rPr sz="740" b="0" err="1">
                <a:solidFill>
                  <a:srgbClr val="8395B5"/>
                </a:solidFill>
                <a:latin typeface="Bahnschrift"/>
              </a:rPr>
              <a:t>líquido</a:t>
            </a:r>
            <a:r>
              <a:rPr sz="740" b="0">
                <a:solidFill>
                  <a:srgbClr val="8395B5"/>
                </a:solidFill>
                <a:latin typeface="Bahnschrift"/>
              </a:rPr>
              <a:t> de </a:t>
            </a:r>
            <a:r>
              <a:rPr sz="740" b="0" err="1">
                <a:solidFill>
                  <a:srgbClr val="8395B5"/>
                </a:solidFill>
                <a:latin typeface="Bahnschrift"/>
              </a:rPr>
              <a:t>custo</a:t>
            </a:r>
            <a:endParaRPr sz="740" b="0">
              <a:solidFill>
                <a:srgbClr val="8395B5"/>
              </a:solidFill>
              <a:latin typeface="Bahnschrift"/>
            </a:endParaRPr>
          </a:p>
        </p:txBody>
      </p:sp>
      <p:pic>
        <p:nvPicPr>
          <p:cNvPr id="51" name="Picture 50" descr="p9_curv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7920" y="1667510"/>
            <a:ext cx="7937500" cy="4446270"/>
          </a:xfrm>
          <a:prstGeom prst="rect">
            <a:avLst/>
          </a:prstGeom>
        </p:spPr>
      </p:pic>
      <p:sp>
        <p:nvSpPr>
          <p:cNvPr id="58" name="Rectangle 57"/>
          <p:cNvSpPr/>
          <p:nvPr/>
        </p:nvSpPr>
        <p:spPr>
          <a:xfrm>
            <a:off x="571500" y="6553200"/>
            <a:ext cx="11049000" cy="9525"/>
          </a:xfrm>
          <a:prstGeom prst="rect">
            <a:avLst/>
          </a:prstGeom>
          <a:solidFill>
            <a:srgbClr val="2A3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>
              <a:latin typeface="Bahnschrift SemiLigh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203A"/>
            </a:gs>
            <a:gs pos="55000">
              <a:srgbClr val="0A1325"/>
            </a:gs>
            <a:gs pos="100000">
              <a:srgbClr val="04070E"/>
            </a:gs>
          </a:gsLst>
          <a:path path="circle">
            <a:fillToRect l="38000" r="62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6CA4CB-FC8F-E7CE-BF85-D20C627AA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!!halo_robo"/>
          <p:cNvSpPr/>
          <p:nvPr/>
        </p:nvSpPr>
        <p:spPr>
          <a:xfrm>
            <a:off x="5322792" y="326358"/>
            <a:ext cx="6600000" cy="6600000"/>
          </a:xfrm>
          <a:prstGeom prst="ellipse">
            <a:avLst/>
          </a:prstGeom>
          <a:gradFill rotWithShape="1">
            <a:gsLst>
              <a:gs pos="0">
                <a:srgbClr val="FFB531">
                  <a:alpha val="11000"/>
                </a:srgbClr>
              </a:gs>
              <a:gs pos="35000">
                <a:srgbClr val="FFB531">
                  <a:alpha val="4500"/>
                </a:srgbClr>
              </a:gs>
              <a:gs pos="65000">
                <a:srgbClr val="FFB531">
                  <a:alpha val="1500"/>
                </a:srgbClr>
              </a:gs>
              <a:gs pos="85000">
                <a:srgbClr val="FFB531">
                  <a:alpha val="5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!!glow_tl"/>
          <p:cNvSpPr/>
          <p:nvPr/>
        </p:nvSpPr>
        <p:spPr>
          <a:xfrm>
            <a:off x="-2600000" y="-22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30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!!tick"/>
          <p:cNvSpPr/>
          <p:nvPr/>
        </p:nvSpPr>
        <p:spPr>
          <a:xfrm>
            <a:off x="60350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!!foot_l"/>
          <p:cNvSpPr txBox="1"/>
          <p:nvPr/>
        </p:nvSpPr>
        <p:spPr>
          <a:xfrm>
            <a:off x="731520" y="6653200"/>
            <a:ext cx="6000000" cy="1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pt-BR" sz="700" b="0" spc="120">
                <a:solidFill>
                  <a:srgbClr val="58698A"/>
                </a:solidFill>
                <a:latin typeface="Consolas"/>
              </a:rPr>
              <a:t>ITAÚ QUANT AI CHALLENGE  ·  SEMIFINAL 2026</a:t>
            </a:r>
          </a:p>
        </p:txBody>
      </p:sp>
      <p:sp>
        <p:nvSpPr>
          <p:cNvPr id="28" name="!!foot_r"/>
          <p:cNvSpPr txBox="1"/>
          <p:nvPr/>
        </p:nvSpPr>
        <p:spPr>
          <a:xfrm>
            <a:off x="5457432" y="6653200"/>
            <a:ext cx="6000000" cy="1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pt-BR" sz="700" b="0" spc="120">
                <a:solidFill>
                  <a:srgbClr val="58698A"/>
                </a:solidFill>
                <a:latin typeface="Consolas"/>
              </a:rPr>
              <a:t>BLACK-LITTERMAN  ×  POLYMARKET</a:t>
            </a:r>
          </a:p>
        </p:txBody>
      </p:sp>
      <p:sp>
        <p:nvSpPr>
          <p:cNvPr id="30" name="!!risca"/>
          <p:cNvSpPr/>
          <p:nvPr/>
        </p:nvSpPr>
        <p:spPr>
          <a:xfrm>
            <a:off x="731520" y="3230000"/>
            <a:ext cx="1005840" cy="36576"/>
          </a:xfrm>
          <a:prstGeom prst="rect">
            <a:avLst/>
          </a:prstGeom>
          <a:gradFill rotWithShape="1">
            <a:gsLst>
              <a:gs pos="0">
                <a:srgbClr val="FFB531"/>
              </a:gs>
              <a:gs pos="100000">
                <a:srgbClr val="FFB531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2AEB71-E81B-F9D0-B1D6-9F0DF9E870EB}"/>
              </a:ext>
            </a:extLst>
          </p:cNvPr>
          <p:cNvSpPr txBox="1"/>
          <p:nvPr/>
        </p:nvSpPr>
        <p:spPr>
          <a:xfrm>
            <a:off x="731520" y="426720"/>
            <a:ext cx="7315200" cy="20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200" b="1" spc="300">
                <a:solidFill>
                  <a:srgbClr val="FFB531"/>
                </a:solidFill>
                <a:latin typeface="Consolas"/>
              </a:rPr>
              <a:t>KAIROS</a:t>
            </a:r>
            <a:r>
              <a:rPr sz="1100" b="0" spc="72">
                <a:solidFill>
                  <a:srgbClr val="8395B5"/>
                </a:solidFill>
                <a:latin typeface="Consolas"/>
              </a:rPr>
              <a:t>   </a:t>
            </a:r>
            <a:r>
              <a:rPr sz="1100" b="0" spc="72" err="1">
                <a:solidFill>
                  <a:srgbClr val="8395B5"/>
                </a:solidFill>
                <a:latin typeface="Consolas"/>
              </a:rPr>
              <a:t>Fechamento</a:t>
            </a:r>
            <a:endParaRPr sz="1000" b="0" spc="50">
              <a:solidFill>
                <a:srgbClr val="BAC6DA"/>
              </a:solidFill>
              <a:latin typeface="Consola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8F7E83-1878-C6AE-87BA-2472312350CC}"/>
              </a:ext>
            </a:extLst>
          </p:cNvPr>
          <p:cNvSpPr txBox="1"/>
          <p:nvPr/>
        </p:nvSpPr>
        <p:spPr>
          <a:xfrm>
            <a:off x="0" y="467359"/>
            <a:ext cx="11457432" cy="152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900" b="0" spc="45">
                <a:solidFill>
                  <a:srgbClr val="8395B5"/>
                </a:solidFill>
                <a:latin typeface="Consolas"/>
              </a:rPr>
              <a:t>10</a:t>
            </a: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3A137472-E872-EFA6-A9AC-37E1822B6C24}"/>
              </a:ext>
            </a:extLst>
          </p:cNvPr>
          <p:cNvCxnSpPr/>
          <p:nvPr/>
        </p:nvCxnSpPr>
        <p:spPr>
          <a:xfrm>
            <a:off x="731520" y="704850"/>
            <a:ext cx="10725912" cy="0"/>
          </a:xfrm>
          <a:prstGeom prst="bentConnector3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B599A72-77AC-8217-4D08-A8B49FEEE24E}"/>
              </a:ext>
            </a:extLst>
          </p:cNvPr>
          <p:cNvSpPr txBox="1"/>
          <p:nvPr/>
        </p:nvSpPr>
        <p:spPr>
          <a:xfrm>
            <a:off x="731520" y="1750000"/>
            <a:ext cx="5788152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0" b="0" spc="500">
                <a:solidFill>
                  <a:srgbClr val="FFB531"/>
                </a:solidFill>
                <a:latin typeface="Bahnschrift SemiBold Condensed"/>
              </a:rPr>
              <a:t>KAIROS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5290D6-2EB0-BB5D-D448-220E46A92B64}"/>
              </a:ext>
            </a:extLst>
          </p:cNvPr>
          <p:cNvSpPr txBox="1"/>
          <p:nvPr/>
        </p:nvSpPr>
        <p:spPr>
          <a:xfrm>
            <a:off x="731520" y="3420000"/>
            <a:ext cx="57881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200" b="0" spc="20">
                <a:solidFill>
                  <a:srgbClr val="F5F7FB"/>
                </a:solidFill>
                <a:latin typeface="Bahnschrift SemiBold"/>
              </a:rPr>
              <a:t>A opinião vem de quem tem dinheiro em risco. A medida vem do Black-Litterman.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2231AA-A8C0-C4DA-F7CD-E18C762D8673}"/>
              </a:ext>
            </a:extLst>
          </p:cNvPr>
          <p:cNvSpPr txBox="1"/>
          <p:nvPr/>
        </p:nvSpPr>
        <p:spPr>
          <a:xfrm>
            <a:off x="731520" y="4600000"/>
            <a:ext cx="5788152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00" b="1" i="1" err="1">
                <a:solidFill>
                  <a:srgbClr val="FFB531"/>
                </a:solidFill>
                <a:latin typeface="Georgia"/>
              </a:rPr>
              <a:t>Kairós</a:t>
            </a:r>
            <a:r>
              <a:rPr sz="1800" b="0" i="1">
                <a:solidFill>
                  <a:srgbClr val="BAC6DA"/>
                </a:solidFill>
                <a:latin typeface="Georgia"/>
              </a:rPr>
              <a:t>: a carteira só se move quando a probabilidade se move. Obrigado pela oportunidade.</a:t>
            </a:r>
          </a:p>
        </p:txBody>
      </p:sp>
      <p:cxnSp>
        <p:nvCxnSpPr>
          <p:cNvPr id="20" name="Connector 19">
            <a:extLst>
              <a:ext uri="{FF2B5EF4-FFF2-40B4-BE49-F238E27FC236}">
                <a16:creationId xmlns:a16="http://schemas.microsoft.com/office/drawing/2014/main" id="{CCB5ED1E-9847-784C-70E6-939D37736474}"/>
              </a:ext>
            </a:extLst>
          </p:cNvPr>
          <p:cNvCxnSpPr/>
          <p:nvPr/>
        </p:nvCxnSpPr>
        <p:spPr>
          <a:xfrm>
            <a:off x="731520" y="6553200"/>
            <a:ext cx="10725912" cy="0"/>
          </a:xfrm>
          <a:prstGeom prst="bentConnector3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881CF7BA-CCFB-7A3B-4C58-E2143E1F305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5728716" y="732282"/>
            <a:ext cx="5788152" cy="5788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272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D9D52D9-1779-4941-B3DA-5CEB1F4AA406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ee9944b0-24b6-4375-a098-1dec6af89d5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1586</Words>
  <Application>Microsoft Office PowerPoint</Application>
  <PresentationFormat>Widescreen</PresentationFormat>
  <Paragraphs>253</Paragraphs>
  <Slides>9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12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22" baseType="lpstr">
      <vt:lpstr>Aptos</vt:lpstr>
      <vt:lpstr>Arial</vt:lpstr>
      <vt:lpstr>Bahnschrift</vt:lpstr>
      <vt:lpstr>Bahnschrift SemiBold</vt:lpstr>
      <vt:lpstr>Bahnschrift SemiBold Condensed</vt:lpstr>
      <vt:lpstr>Bahnschrift SemiLight</vt:lpstr>
      <vt:lpstr>Calibri</vt:lpstr>
      <vt:lpstr>Cambria Math</vt:lpstr>
      <vt:lpstr>Consolas</vt:lpstr>
      <vt:lpstr>Georgia</vt:lpstr>
      <vt:lpstr>Segoe UI</vt:lpstr>
      <vt:lpstr>Segoe UI Semibold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Felipe da Costa Menusier</cp:lastModifiedBy>
  <cp:revision>215</cp:revision>
  <dcterms:created xsi:type="dcterms:W3CDTF">2013-01-27T09:14:16Z</dcterms:created>
  <dcterms:modified xsi:type="dcterms:W3CDTF">2026-09-08T15:38:06Z</dcterms:modified>
  <cp:category/>
</cp:coreProperties>
</file>