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2333"/>
            </a:gs>
            <a:gs pos="100000">
              <a:srgbClr val="06101A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sA1_0"/>
          <p:cNvSpPr txBox="1"/>
          <p:nvPr/>
        </p:nvSpPr>
        <p:spPr>
          <a:xfrm>
            <a:off x="822960" y="29260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80">
                <a:solidFill>
                  <a:srgbClr val="F5A623"/>
                </a:solidFill>
                <a:latin typeface="Segoe UI"/>
              </a:rPr>
              <a:t>KAIRÓS</a:t>
            </a:r>
            <a:r>
              <a:rPr sz="1500" b="0" spc="80">
                <a:solidFill>
                  <a:srgbClr val="E8EDF2"/>
                </a:solidFill>
                <a:latin typeface="Segoe UI"/>
              </a:rPr>
              <a:t>   Apêndice · a conta inteira</a:t>
            </a:r>
          </a:p>
        </p:txBody>
      </p:sp>
      <p:sp>
        <p:nvSpPr>
          <p:cNvPr id="3" name="sA1_1"/>
          <p:cNvSpPr txBox="1"/>
          <p:nvPr/>
        </p:nvSpPr>
        <p:spPr>
          <a:xfrm>
            <a:off x="8988552" y="347472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8299"/>
                </a:solidFill>
                <a:latin typeface="Segoe UI"/>
              </a:rPr>
              <a:t>A1</a:t>
            </a:r>
          </a:p>
        </p:txBody>
      </p:sp>
      <p:cxnSp>
        <p:nvCxnSpPr>
          <p:cNvPr id="4" name="sA1_2"/>
          <p:cNvCxnSpPr/>
          <p:nvPr/>
        </p:nvCxnSpPr>
        <p:spPr>
          <a:xfrm>
            <a:off x="822960" y="768096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A1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A1_4"/>
          <p:cNvCxnSpPr/>
          <p:nvPr/>
        </p:nvCxnSpPr>
        <p:spPr>
          <a:xfrm>
            <a:off x="822960" y="6291072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A1_5"/>
          <p:cNvSpPr txBox="1"/>
          <p:nvPr/>
        </p:nvSpPr>
        <p:spPr>
          <a:xfrm>
            <a:off x="822960" y="6382512"/>
            <a:ext cx="10543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8299"/>
                </a:solidFill>
                <a:latin typeface="Segoe UI"/>
              </a:rPr>
              <a:t>Apêndice — fora dos 6 minutos, mostrado só se perguntarem.   </a:t>
            </a:r>
            <a:r>
              <a:rPr sz="850" b="0">
                <a:solidFill>
                  <a:srgbClr val="9BAEC0"/>
                </a:solidFill>
                <a:latin typeface="Segoe UI"/>
              </a:rPr>
              <a:t>scripts/slides_apendice_pptx.py</a:t>
            </a:r>
          </a:p>
        </p:txBody>
      </p:sp>
      <p:sp>
        <p:nvSpPr>
          <p:cNvPr id="8" name="sA1_6"/>
          <p:cNvSpPr/>
          <p:nvPr/>
        </p:nvSpPr>
        <p:spPr>
          <a:xfrm>
            <a:off x="822960" y="969264"/>
            <a:ext cx="2450592" cy="2724912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scaled="0" ang="5400000"/>
          </a:gra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A1_7"/>
          <p:cNvSpPr txBox="1"/>
          <p:nvPr/>
        </p:nvSpPr>
        <p:spPr>
          <a:xfrm>
            <a:off x="1042416" y="1188720"/>
            <a:ext cx="20848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00">
                <a:solidFill>
                  <a:srgbClr val="F5A623"/>
                </a:solidFill>
                <a:latin typeface="Segoe UI"/>
              </a:rPr>
              <a:t>1 · EQUILÍBRIO</a:t>
            </a:r>
          </a:p>
        </p:txBody>
      </p:sp>
      <p:sp>
        <p:nvSpPr>
          <p:cNvPr id="10" name="sA1_8"/>
          <p:cNvSpPr txBox="1"/>
          <p:nvPr/>
        </p:nvSpPr>
        <p:spPr>
          <a:xfrm>
            <a:off x="1042416" y="1517904"/>
            <a:ext cx="2084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8EDF2"/>
                </a:solidFill>
                <a:latin typeface="Consolas"/>
              </a:rPr>
              <a:t>π = δ · Σ · w_mkt</a:t>
            </a:r>
          </a:p>
        </p:txBody>
      </p:sp>
      <p:sp>
        <p:nvSpPr>
          <p:cNvPr id="11" name="sA1_9"/>
          <p:cNvSpPr txBox="1"/>
          <p:nvPr/>
        </p:nvSpPr>
        <p:spPr>
          <a:xfrm>
            <a:off x="1042416" y="1993392"/>
            <a:ext cx="20848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Em vez de perguntar quais pesos são os melhores, perguntamos o contrário: que retornos fariam a carteira do mercado ser a ótima? É o ponto de partida, e não precisa de previsão nenhuma.</a:t>
            </a:r>
          </a:p>
        </p:txBody>
      </p:sp>
      <p:sp>
        <p:nvSpPr>
          <p:cNvPr id="12" name="sA1_10"/>
          <p:cNvSpPr/>
          <p:nvPr/>
        </p:nvSpPr>
        <p:spPr>
          <a:xfrm>
            <a:off x="3520440" y="969264"/>
            <a:ext cx="2450592" cy="2724912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scaled="0" ang="5400000"/>
          </a:gra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A1_11"/>
          <p:cNvSpPr txBox="1"/>
          <p:nvPr/>
        </p:nvSpPr>
        <p:spPr>
          <a:xfrm>
            <a:off x="3739896" y="1188720"/>
            <a:ext cx="20848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00">
                <a:solidFill>
                  <a:srgbClr val="F5A623"/>
                </a:solidFill>
                <a:latin typeface="Segoe UI"/>
              </a:rPr>
              <a:t>2 · A OPINIÃO</a:t>
            </a:r>
          </a:p>
        </p:txBody>
      </p:sp>
      <p:sp>
        <p:nvSpPr>
          <p:cNvPr id="14" name="sA1_12"/>
          <p:cNvSpPr txBox="1"/>
          <p:nvPr/>
        </p:nvSpPr>
        <p:spPr>
          <a:xfrm>
            <a:off x="3739896" y="1517904"/>
            <a:ext cx="2084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DF2"/>
                </a:solidFill>
                <a:latin typeface="Consolas"/>
              </a:rPr>
              <a:t>P[i] = 2·(β_i − β_SPY) / Σ|β − β_SPY|</a:t>
            </a:r>
          </a:p>
        </p:txBody>
      </p:sp>
      <p:sp>
        <p:nvSpPr>
          <p:cNvPr id="15" name="sA1_13"/>
          <p:cNvSpPr txBox="1"/>
          <p:nvPr/>
        </p:nvSpPr>
        <p:spPr>
          <a:xfrm>
            <a:off x="3739896" y="2084831"/>
            <a:ext cx="2084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8EDF2"/>
                </a:solidFill>
                <a:latin typeface="Consolas"/>
              </a:rPr>
              <a:t>Q  = (Σ P·β) × surpresa</a:t>
            </a:r>
          </a:p>
        </p:txBody>
      </p:sp>
      <p:sp>
        <p:nvSpPr>
          <p:cNvPr id="16" name="sA1_14"/>
          <p:cNvSpPr txBox="1"/>
          <p:nvPr/>
        </p:nvSpPr>
        <p:spPr>
          <a:xfrm>
            <a:off x="3739896" y="2560320"/>
            <a:ext cx="20848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P diz quem compra e quem vende, na proporção da sensibilidade medida. Q é essa sensibilidade vezes a surpresa de hoje: o Polymarket menos o que a bolsa já embutiu.</a:t>
            </a:r>
          </a:p>
        </p:txBody>
      </p:sp>
      <p:sp>
        <p:nvSpPr>
          <p:cNvPr id="17" name="sA1_15"/>
          <p:cNvSpPr/>
          <p:nvPr/>
        </p:nvSpPr>
        <p:spPr>
          <a:xfrm>
            <a:off x="6217920" y="969264"/>
            <a:ext cx="2450592" cy="2724912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scaled="0" ang="5400000"/>
          </a:gra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A1_16"/>
          <p:cNvSpPr txBox="1"/>
          <p:nvPr/>
        </p:nvSpPr>
        <p:spPr>
          <a:xfrm>
            <a:off x="6437376" y="1188720"/>
            <a:ext cx="20848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00">
                <a:solidFill>
                  <a:srgbClr val="F5A623"/>
                </a:solidFill>
                <a:latin typeface="Segoe UI"/>
              </a:rPr>
              <a:t>3 · A MISTURA</a:t>
            </a:r>
          </a:p>
        </p:txBody>
      </p:sp>
      <p:sp>
        <p:nvSpPr>
          <p:cNvPr id="19" name="sA1_17"/>
          <p:cNvSpPr txBox="1"/>
          <p:nvPr/>
        </p:nvSpPr>
        <p:spPr>
          <a:xfrm>
            <a:off x="6437376" y="1517904"/>
            <a:ext cx="2084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8EDF2"/>
                </a:solidFill>
                <a:latin typeface="Consolas"/>
              </a:rPr>
              <a:t>μ = π + peso · (Q − P·π)</a:t>
            </a:r>
          </a:p>
        </p:txBody>
      </p:sp>
      <p:sp>
        <p:nvSpPr>
          <p:cNvPr id="20" name="sA1_18"/>
          <p:cNvSpPr txBox="1"/>
          <p:nvPr/>
        </p:nvSpPr>
        <p:spPr>
          <a:xfrm>
            <a:off x="6437376" y="1993392"/>
            <a:ext cx="20848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Só a discordância move a carteira: se a opinião concordar com o equilíbrio, nada muda. O peso vem do Ω — a confiança medida, que está no slide 5.</a:t>
            </a:r>
          </a:p>
        </p:txBody>
      </p:sp>
      <p:sp>
        <p:nvSpPr>
          <p:cNvPr id="21" name="sA1_19"/>
          <p:cNvSpPr/>
          <p:nvPr/>
        </p:nvSpPr>
        <p:spPr>
          <a:xfrm>
            <a:off x="8915400" y="969264"/>
            <a:ext cx="2450592" cy="2724912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scaled="0" ang="5400000"/>
          </a:gra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A1_20"/>
          <p:cNvSpPr txBox="1"/>
          <p:nvPr/>
        </p:nvSpPr>
        <p:spPr>
          <a:xfrm>
            <a:off x="9134856" y="1188720"/>
            <a:ext cx="20848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00">
                <a:solidFill>
                  <a:srgbClr val="F5A623"/>
                </a:solidFill>
                <a:latin typeface="Segoe UI"/>
              </a:rPr>
              <a:t>4 · A CARTEIRA</a:t>
            </a:r>
          </a:p>
        </p:txBody>
      </p:sp>
      <p:sp>
        <p:nvSpPr>
          <p:cNvPr id="23" name="sA1_21"/>
          <p:cNvSpPr txBox="1"/>
          <p:nvPr/>
        </p:nvSpPr>
        <p:spPr>
          <a:xfrm>
            <a:off x="9134856" y="1517904"/>
            <a:ext cx="2084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8EDF2"/>
                </a:solidFill>
                <a:latin typeface="Consolas"/>
              </a:rPr>
              <a:t>w = inv(δ · Σ) · μ</a:t>
            </a:r>
          </a:p>
        </p:txBody>
      </p:sp>
      <p:sp>
        <p:nvSpPr>
          <p:cNvPr id="24" name="sA1_22"/>
          <p:cNvSpPr txBox="1"/>
          <p:nvPr/>
        </p:nvSpPr>
        <p:spPr>
          <a:xfrm>
            <a:off x="9134856" y="1847088"/>
            <a:ext cx="2084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8EDF2"/>
                </a:solidFill>
                <a:latin typeface="Consolas"/>
              </a:rPr>
              <a:t>Σ|w − w_mkt| ≤ 1</a:t>
            </a:r>
          </a:p>
        </p:txBody>
      </p:sp>
      <p:sp>
        <p:nvSpPr>
          <p:cNvPr id="25" name="sA1_23"/>
          <p:cNvSpPr txBox="1"/>
          <p:nvPr/>
        </p:nvSpPr>
        <p:spPr>
          <a:xfrm>
            <a:off x="9134856" y="2322576"/>
            <a:ext cx="20848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A conta clássica de carteira ótima, sem restrição de sinal — é o que permite comprar um setor e vender outro. O teto limita o desvio contra o mercado, não o tamanho da carteira.</a:t>
            </a:r>
          </a:p>
        </p:txBody>
      </p:sp>
      <p:sp>
        <p:nvSpPr>
          <p:cNvPr id="26" name="sA1_24"/>
          <p:cNvSpPr txBox="1"/>
          <p:nvPr/>
        </p:nvSpPr>
        <p:spPr>
          <a:xfrm>
            <a:off x="822960" y="4041648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O QUE CADA SÍMBOLO É</a:t>
            </a:r>
          </a:p>
        </p:txBody>
      </p:sp>
      <p:sp>
        <p:nvSpPr>
          <p:cNvPr id="27" name="sA1_25"/>
          <p:cNvSpPr txBox="1"/>
          <p:nvPr/>
        </p:nvSpPr>
        <p:spPr>
          <a:xfrm>
            <a:off x="822960" y="4352544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5A623"/>
                </a:solidFill>
                <a:latin typeface="Segoe UI"/>
              </a:rPr>
              <a:t>δ   </a:t>
            </a:r>
            <a:r>
              <a:rPr sz="1050" b="0">
                <a:solidFill>
                  <a:srgbClr val="93A9BC"/>
                </a:solidFill>
                <a:latin typeface="Segoe UI"/>
              </a:rPr>
              <a:t>o quanto o investidor típico odeia risco — medido no S&amp;P 500 em 22 anos.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F5A623"/>
                </a:solidFill>
                <a:latin typeface="Segoe UI"/>
              </a:rPr>
              <a:t>Σ   </a:t>
            </a:r>
            <a:r>
              <a:rPr sz="1050" b="0">
                <a:solidFill>
                  <a:srgbClr val="93A9BC"/>
                </a:solidFill>
                <a:latin typeface="Segoe UI"/>
              </a:rPr>
              <a:t>como os nove fundos se mexem juntos — dois anos de histórico, até a véspera.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F5A623"/>
                </a:solidFill>
                <a:latin typeface="Segoe UI"/>
              </a:rPr>
              <a:t>w_mkt   </a:t>
            </a:r>
            <a:r>
              <a:rPr sz="1050" b="0">
                <a:solidFill>
                  <a:srgbClr val="93A9BC"/>
                </a:solidFill>
                <a:latin typeface="Segoe UI"/>
              </a:rPr>
              <a:t>a carteira do mercado: 100% no S&amp;P 500, porque os setores já estão dentro dele.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F5A623"/>
                </a:solidFill>
                <a:latin typeface="Segoe UI"/>
              </a:rPr>
              <a:t>β   </a:t>
            </a:r>
            <a:r>
              <a:rPr sz="1050" b="0">
                <a:solidFill>
                  <a:srgbClr val="93A9BC"/>
                </a:solidFill>
                <a:latin typeface="Segoe UI"/>
              </a:rPr>
              <a:t>quanto cada fundo anda quando o evento surpreende — sai de regressão, nunca de palpite.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F5A623"/>
                </a:solidFill>
                <a:latin typeface="Segoe UI"/>
              </a:rPr>
              <a:t>μ   </a:t>
            </a:r>
            <a:r>
              <a:rPr sz="1050" b="0">
                <a:solidFill>
                  <a:srgbClr val="93A9BC"/>
                </a:solidFill>
                <a:latin typeface="Segoe UI"/>
              </a:rPr>
              <a:t>o retorno esperado final, já misturando equilíbrio e opinião.</a:t>
            </a:r>
          </a:p>
        </p:txBody>
      </p:sp>
      <p:sp>
        <p:nvSpPr>
          <p:cNvPr id="28" name="sA1_26"/>
          <p:cNvSpPr/>
          <p:nvPr/>
        </p:nvSpPr>
        <p:spPr>
          <a:xfrm>
            <a:off x="6245352" y="4078224"/>
            <a:ext cx="45720" cy="1024127"/>
          </a:xfrm>
          <a:prstGeom prst="roundRect">
            <a:avLst>
              <a:gd name="adj" fmla="val 50000"/>
            </a:avLst>
          </a:prstGeom>
          <a:solidFill>
            <a:srgbClr val="4FC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A1_27"/>
          <p:cNvSpPr txBox="1"/>
          <p:nvPr/>
        </p:nvSpPr>
        <p:spPr>
          <a:xfrm>
            <a:off x="6464808" y="4041648"/>
            <a:ext cx="490118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A prova de que a conta está certa. </a:t>
            </a:r>
            <a:r>
              <a:rPr sz="1150" b="0">
                <a:solidFill>
                  <a:srgbClr val="93A9BC"/>
                </a:solidFill>
                <a:latin typeface="Segoe UI"/>
              </a:rPr>
              <a:t>Sem nenhuma opinião ativa, ela devolve exatamente a carteira do mercado — sem sobra e sem resíduo. O caso extremo é testado automaticamente.</a:t>
            </a:r>
          </a:p>
        </p:txBody>
      </p:sp>
      <p:sp>
        <p:nvSpPr>
          <p:cNvPr id="30" name="sA1_28"/>
          <p:cNvSpPr/>
          <p:nvPr/>
        </p:nvSpPr>
        <p:spPr>
          <a:xfrm>
            <a:off x="6245352" y="5321807"/>
            <a:ext cx="45720" cy="8412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A1_29"/>
          <p:cNvSpPr txBox="1"/>
          <p:nvPr/>
        </p:nvSpPr>
        <p:spPr>
          <a:xfrm>
            <a:off x="6464808" y="5285231"/>
            <a:ext cx="490118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A confiança (Ω) não está aqui de propósito. </a:t>
            </a:r>
            <a:r>
              <a:rPr sz="1150" b="0">
                <a:solidFill>
                  <a:srgbClr val="93A9BC"/>
                </a:solidFill>
                <a:latin typeface="Segoe UI"/>
              </a:rPr>
              <a:t>A fórmula dela é o slide 5: a régua de coerência e estabilidade do próprio mercado.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2333"/>
            </a:gs>
            <a:gs pos="100000">
              <a:srgbClr val="06101A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sA2_0"/>
          <p:cNvSpPr txBox="1"/>
          <p:nvPr/>
        </p:nvSpPr>
        <p:spPr>
          <a:xfrm>
            <a:off x="822960" y="29260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80">
                <a:solidFill>
                  <a:srgbClr val="F5A623"/>
                </a:solidFill>
                <a:latin typeface="Segoe UI"/>
              </a:rPr>
              <a:t>KAIRÓS</a:t>
            </a:r>
            <a:r>
              <a:rPr sz="1500" b="0" spc="80">
                <a:solidFill>
                  <a:srgbClr val="E8EDF2"/>
                </a:solidFill>
                <a:latin typeface="Segoe UI"/>
              </a:rPr>
              <a:t>   Apêndice · o teto de risco, e as 8 configurações</a:t>
            </a:r>
          </a:p>
        </p:txBody>
      </p:sp>
      <p:sp>
        <p:nvSpPr>
          <p:cNvPr id="3" name="sA2_1"/>
          <p:cNvSpPr txBox="1"/>
          <p:nvPr/>
        </p:nvSpPr>
        <p:spPr>
          <a:xfrm>
            <a:off x="8988552" y="347472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8299"/>
                </a:solidFill>
                <a:latin typeface="Segoe UI"/>
              </a:rPr>
              <a:t>A2</a:t>
            </a:r>
          </a:p>
        </p:txBody>
      </p:sp>
      <p:cxnSp>
        <p:nvCxnSpPr>
          <p:cNvPr id="4" name="sA2_2"/>
          <p:cNvCxnSpPr/>
          <p:nvPr/>
        </p:nvCxnSpPr>
        <p:spPr>
          <a:xfrm>
            <a:off x="822960" y="768096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A2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A2_4"/>
          <p:cNvCxnSpPr/>
          <p:nvPr/>
        </p:nvCxnSpPr>
        <p:spPr>
          <a:xfrm>
            <a:off x="822960" y="6291072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A2_5"/>
          <p:cNvSpPr txBox="1"/>
          <p:nvPr/>
        </p:nvSpPr>
        <p:spPr>
          <a:xfrm>
            <a:off x="822960" y="6382512"/>
            <a:ext cx="10543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8299"/>
                </a:solidFill>
                <a:latin typeface="Segoe UI"/>
              </a:rPr>
              <a:t>Apêndice — fora dos 6 minutos, mostrado só se perguntarem.   </a:t>
            </a:r>
            <a:r>
              <a:rPr sz="850" b="0">
                <a:solidFill>
                  <a:srgbClr val="9BAEC0"/>
                </a:solidFill>
                <a:latin typeface="Segoe UI"/>
              </a:rPr>
              <a:t>scripts/slides_apendice_pptx.py</a:t>
            </a:r>
          </a:p>
        </p:txBody>
      </p:sp>
      <p:sp>
        <p:nvSpPr>
          <p:cNvPr id="8" name="sA2_6"/>
          <p:cNvSpPr txBox="1"/>
          <p:nvPr/>
        </p:nvSpPr>
        <p:spPr>
          <a:xfrm>
            <a:off x="822960" y="1042415"/>
            <a:ext cx="4846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ENCOLHENDO A CARTEIRA INTEIRA</a:t>
            </a:r>
          </a:p>
        </p:txBody>
      </p:sp>
      <p:sp>
        <p:nvSpPr>
          <p:cNvPr id="9" name="sA2_7"/>
          <p:cNvSpPr txBox="1"/>
          <p:nvPr/>
        </p:nvSpPr>
        <p:spPr>
          <a:xfrm>
            <a:off x="822960" y="1389888"/>
            <a:ext cx="2505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LIMITE</a:t>
            </a:r>
          </a:p>
        </p:txBody>
      </p:sp>
      <p:sp>
        <p:nvSpPr>
          <p:cNvPr id="10" name="sA2_8"/>
          <p:cNvSpPr txBox="1"/>
          <p:nvPr/>
        </p:nvSpPr>
        <p:spPr>
          <a:xfrm>
            <a:off x="3328415" y="1389888"/>
            <a:ext cx="11704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RETORNO</a:t>
            </a:r>
          </a:p>
        </p:txBody>
      </p:sp>
      <p:sp>
        <p:nvSpPr>
          <p:cNvPr id="11" name="sA2_9"/>
          <p:cNvSpPr txBox="1"/>
          <p:nvPr/>
        </p:nvSpPr>
        <p:spPr>
          <a:xfrm>
            <a:off x="4498848" y="1389888"/>
            <a:ext cx="11704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VS ÍNDICE</a:t>
            </a:r>
          </a:p>
        </p:txBody>
      </p:sp>
      <p:cxnSp>
        <p:nvCxnSpPr>
          <p:cNvPr id="12" name="sA2_10"/>
          <p:cNvCxnSpPr/>
          <p:nvPr/>
        </p:nvCxnSpPr>
        <p:spPr>
          <a:xfrm>
            <a:off x="822960" y="1609344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A2_11"/>
          <p:cNvSpPr txBox="1"/>
          <p:nvPr/>
        </p:nvSpPr>
        <p:spPr>
          <a:xfrm>
            <a:off x="822960" y="1700784"/>
            <a:ext cx="2505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1</a:t>
            </a:r>
          </a:p>
        </p:txBody>
      </p:sp>
      <p:sp>
        <p:nvSpPr>
          <p:cNvPr id="14" name="sA2_12"/>
          <p:cNvSpPr txBox="1"/>
          <p:nvPr/>
        </p:nvSpPr>
        <p:spPr>
          <a:xfrm>
            <a:off x="3328415" y="1700784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+15,3%</a:t>
            </a:r>
          </a:p>
        </p:txBody>
      </p:sp>
      <p:sp>
        <p:nvSpPr>
          <p:cNvPr id="15" name="sA2_13"/>
          <p:cNvSpPr txBox="1"/>
          <p:nvPr/>
        </p:nvSpPr>
        <p:spPr>
          <a:xfrm>
            <a:off x="4498848" y="1700784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299"/>
                </a:solidFill>
                <a:latin typeface="Segoe UI"/>
              </a:rPr>
              <a:t>−14,9 pp</a:t>
            </a:r>
          </a:p>
        </p:txBody>
      </p:sp>
      <p:cxnSp>
        <p:nvCxnSpPr>
          <p:cNvPr id="16" name="sA2_14"/>
          <p:cNvCxnSpPr/>
          <p:nvPr/>
        </p:nvCxnSpPr>
        <p:spPr>
          <a:xfrm>
            <a:off x="822960" y="1883664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A2_15"/>
          <p:cNvSpPr txBox="1"/>
          <p:nvPr/>
        </p:nvSpPr>
        <p:spPr>
          <a:xfrm>
            <a:off x="822960" y="1975104"/>
            <a:ext cx="2505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2</a:t>
            </a:r>
          </a:p>
        </p:txBody>
      </p:sp>
      <p:sp>
        <p:nvSpPr>
          <p:cNvPr id="18" name="sA2_16"/>
          <p:cNvSpPr txBox="1"/>
          <p:nvPr/>
        </p:nvSpPr>
        <p:spPr>
          <a:xfrm>
            <a:off x="3328415" y="1975104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+18,8%</a:t>
            </a:r>
          </a:p>
        </p:txBody>
      </p:sp>
      <p:sp>
        <p:nvSpPr>
          <p:cNvPr id="19" name="sA2_17"/>
          <p:cNvSpPr txBox="1"/>
          <p:nvPr/>
        </p:nvSpPr>
        <p:spPr>
          <a:xfrm>
            <a:off x="4498848" y="1975104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299"/>
                </a:solidFill>
                <a:latin typeface="Segoe UI"/>
              </a:rPr>
              <a:t>−11,4 pp</a:t>
            </a:r>
          </a:p>
        </p:txBody>
      </p:sp>
      <p:cxnSp>
        <p:nvCxnSpPr>
          <p:cNvPr id="20" name="sA2_18"/>
          <p:cNvCxnSpPr/>
          <p:nvPr/>
        </p:nvCxnSpPr>
        <p:spPr>
          <a:xfrm>
            <a:off x="822960" y="2157984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A2_19"/>
          <p:cNvSpPr txBox="1"/>
          <p:nvPr/>
        </p:nvSpPr>
        <p:spPr>
          <a:xfrm>
            <a:off x="822960" y="2249424"/>
            <a:ext cx="2505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3</a:t>
            </a:r>
          </a:p>
        </p:txBody>
      </p:sp>
      <p:sp>
        <p:nvSpPr>
          <p:cNvPr id="22" name="sA2_20"/>
          <p:cNvSpPr txBox="1"/>
          <p:nvPr/>
        </p:nvSpPr>
        <p:spPr>
          <a:xfrm>
            <a:off x="3328415" y="2249424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+23,8%</a:t>
            </a:r>
          </a:p>
        </p:txBody>
      </p:sp>
      <p:sp>
        <p:nvSpPr>
          <p:cNvPr id="23" name="sA2_21"/>
          <p:cNvSpPr txBox="1"/>
          <p:nvPr/>
        </p:nvSpPr>
        <p:spPr>
          <a:xfrm>
            <a:off x="4498848" y="2249424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299"/>
                </a:solidFill>
                <a:latin typeface="Segoe UI"/>
              </a:rPr>
              <a:t>−6,4 pp</a:t>
            </a:r>
          </a:p>
        </p:txBody>
      </p:sp>
      <p:cxnSp>
        <p:nvCxnSpPr>
          <p:cNvPr id="24" name="sA2_22"/>
          <p:cNvCxnSpPr/>
          <p:nvPr/>
        </p:nvCxnSpPr>
        <p:spPr>
          <a:xfrm>
            <a:off x="822960" y="2432303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A2_23"/>
          <p:cNvSpPr txBox="1"/>
          <p:nvPr/>
        </p:nvSpPr>
        <p:spPr>
          <a:xfrm>
            <a:off x="822960" y="2523744"/>
            <a:ext cx="2505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5</a:t>
            </a:r>
          </a:p>
        </p:txBody>
      </p:sp>
      <p:sp>
        <p:nvSpPr>
          <p:cNvPr id="26" name="sA2_24"/>
          <p:cNvSpPr txBox="1"/>
          <p:nvPr/>
        </p:nvSpPr>
        <p:spPr>
          <a:xfrm>
            <a:off x="3328415" y="2523744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+28,3%</a:t>
            </a:r>
          </a:p>
        </p:txBody>
      </p:sp>
      <p:sp>
        <p:nvSpPr>
          <p:cNvPr id="27" name="sA2_25"/>
          <p:cNvSpPr txBox="1"/>
          <p:nvPr/>
        </p:nvSpPr>
        <p:spPr>
          <a:xfrm>
            <a:off x="4498848" y="2523744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299"/>
                </a:solidFill>
                <a:latin typeface="Segoe UI"/>
              </a:rPr>
              <a:t>−1,8 pp</a:t>
            </a:r>
          </a:p>
        </p:txBody>
      </p:sp>
      <p:cxnSp>
        <p:nvCxnSpPr>
          <p:cNvPr id="28" name="sA2_26"/>
          <p:cNvCxnSpPr/>
          <p:nvPr/>
        </p:nvCxnSpPr>
        <p:spPr>
          <a:xfrm>
            <a:off x="822960" y="2706623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A2_27"/>
          <p:cNvSpPr txBox="1"/>
          <p:nvPr/>
        </p:nvSpPr>
        <p:spPr>
          <a:xfrm>
            <a:off x="822960" y="3017520"/>
            <a:ext cx="484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Corta tudo pelo mesmo fator, inclusive a parte que é mercado. Num ano em que o índice subiu 30%, vender índice custa caro sozinho — sem ter nada a ver com a qualidade das apostas.</a:t>
            </a:r>
          </a:p>
        </p:txBody>
      </p:sp>
      <p:sp>
        <p:nvSpPr>
          <p:cNvPr id="30" name="sA2_28"/>
          <p:cNvSpPr txBox="1"/>
          <p:nvPr/>
        </p:nvSpPr>
        <p:spPr>
          <a:xfrm>
            <a:off x="6519672" y="1042415"/>
            <a:ext cx="4846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4FC3A1"/>
                </a:solidFill>
                <a:latin typeface="Segoe UI"/>
              </a:rPr>
              <a:t>ENCOLHENDO SÓ O DESVIO  ·  A NOSSA</a:t>
            </a:r>
          </a:p>
        </p:txBody>
      </p:sp>
      <p:sp>
        <p:nvSpPr>
          <p:cNvPr id="31" name="sA2_29"/>
          <p:cNvSpPr txBox="1"/>
          <p:nvPr/>
        </p:nvSpPr>
        <p:spPr>
          <a:xfrm>
            <a:off x="6519672" y="1389888"/>
            <a:ext cx="2505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LIMITE</a:t>
            </a:r>
          </a:p>
        </p:txBody>
      </p:sp>
      <p:sp>
        <p:nvSpPr>
          <p:cNvPr id="32" name="sA2_30"/>
          <p:cNvSpPr txBox="1"/>
          <p:nvPr/>
        </p:nvSpPr>
        <p:spPr>
          <a:xfrm>
            <a:off x="9025128" y="1389888"/>
            <a:ext cx="11704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RETORNO</a:t>
            </a:r>
          </a:p>
        </p:txBody>
      </p:sp>
      <p:sp>
        <p:nvSpPr>
          <p:cNvPr id="33" name="sA2_31"/>
          <p:cNvSpPr txBox="1"/>
          <p:nvPr/>
        </p:nvSpPr>
        <p:spPr>
          <a:xfrm>
            <a:off x="10195559" y="1389888"/>
            <a:ext cx="11704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VS ÍNDICE</a:t>
            </a:r>
          </a:p>
        </p:txBody>
      </p:sp>
      <p:cxnSp>
        <p:nvCxnSpPr>
          <p:cNvPr id="34" name="sA2_32"/>
          <p:cNvCxnSpPr/>
          <p:nvPr/>
        </p:nvCxnSpPr>
        <p:spPr>
          <a:xfrm>
            <a:off x="6519672" y="1609344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A2_33"/>
          <p:cNvSpPr txBox="1"/>
          <p:nvPr/>
        </p:nvSpPr>
        <p:spPr>
          <a:xfrm>
            <a:off x="6519672" y="1700784"/>
            <a:ext cx="2505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FC3A1"/>
                </a:solidFill>
                <a:latin typeface="Segoe UI"/>
              </a:rPr>
              <a:t>teto 1</a:t>
            </a:r>
          </a:p>
        </p:txBody>
      </p:sp>
      <p:sp>
        <p:nvSpPr>
          <p:cNvPr id="36" name="sA2_34"/>
          <p:cNvSpPr txBox="1"/>
          <p:nvPr/>
        </p:nvSpPr>
        <p:spPr>
          <a:xfrm>
            <a:off x="9025128" y="1700784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FC3A1"/>
                </a:solidFill>
                <a:latin typeface="Segoe UI"/>
              </a:rPr>
              <a:t>+33,2%</a:t>
            </a:r>
          </a:p>
        </p:txBody>
      </p:sp>
      <p:sp>
        <p:nvSpPr>
          <p:cNvPr id="37" name="sA2_35"/>
          <p:cNvSpPr txBox="1"/>
          <p:nvPr/>
        </p:nvSpPr>
        <p:spPr>
          <a:xfrm>
            <a:off x="10195559" y="1700784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FC3A1"/>
                </a:solidFill>
                <a:latin typeface="Segoe UI"/>
              </a:rPr>
              <a:t>+3,0 pp</a:t>
            </a:r>
          </a:p>
        </p:txBody>
      </p:sp>
      <p:cxnSp>
        <p:nvCxnSpPr>
          <p:cNvPr id="38" name="sA2_36"/>
          <p:cNvCxnSpPr/>
          <p:nvPr/>
        </p:nvCxnSpPr>
        <p:spPr>
          <a:xfrm>
            <a:off x="6519672" y="1883664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sA2_37"/>
          <p:cNvSpPr txBox="1"/>
          <p:nvPr/>
        </p:nvSpPr>
        <p:spPr>
          <a:xfrm>
            <a:off x="6519672" y="1975104"/>
            <a:ext cx="2505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2</a:t>
            </a:r>
          </a:p>
        </p:txBody>
      </p:sp>
      <p:sp>
        <p:nvSpPr>
          <p:cNvPr id="40" name="sA2_38"/>
          <p:cNvSpPr txBox="1"/>
          <p:nvPr/>
        </p:nvSpPr>
        <p:spPr>
          <a:xfrm>
            <a:off x="9025128" y="1975104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+36,5%</a:t>
            </a:r>
          </a:p>
        </p:txBody>
      </p:sp>
      <p:sp>
        <p:nvSpPr>
          <p:cNvPr id="41" name="sA2_39"/>
          <p:cNvSpPr txBox="1"/>
          <p:nvPr/>
        </p:nvSpPr>
        <p:spPr>
          <a:xfrm>
            <a:off x="10195559" y="1975104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299"/>
                </a:solidFill>
                <a:latin typeface="Segoe UI"/>
              </a:rPr>
              <a:t>+6,4 pp</a:t>
            </a:r>
          </a:p>
        </p:txBody>
      </p:sp>
      <p:cxnSp>
        <p:nvCxnSpPr>
          <p:cNvPr id="42" name="sA2_40"/>
          <p:cNvCxnSpPr/>
          <p:nvPr/>
        </p:nvCxnSpPr>
        <p:spPr>
          <a:xfrm>
            <a:off x="6519672" y="2157984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sA2_41"/>
          <p:cNvSpPr txBox="1"/>
          <p:nvPr/>
        </p:nvSpPr>
        <p:spPr>
          <a:xfrm>
            <a:off x="6519672" y="2249424"/>
            <a:ext cx="2505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3</a:t>
            </a:r>
          </a:p>
        </p:txBody>
      </p:sp>
      <p:sp>
        <p:nvSpPr>
          <p:cNvPr id="44" name="sA2_42"/>
          <p:cNvSpPr txBox="1"/>
          <p:nvPr/>
        </p:nvSpPr>
        <p:spPr>
          <a:xfrm>
            <a:off x="9025128" y="2249424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+38,9%</a:t>
            </a:r>
          </a:p>
        </p:txBody>
      </p:sp>
      <p:sp>
        <p:nvSpPr>
          <p:cNvPr id="45" name="sA2_43"/>
          <p:cNvSpPr txBox="1"/>
          <p:nvPr/>
        </p:nvSpPr>
        <p:spPr>
          <a:xfrm>
            <a:off x="10195559" y="2249424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299"/>
                </a:solidFill>
                <a:latin typeface="Segoe UI"/>
              </a:rPr>
              <a:t>+8,8 pp</a:t>
            </a:r>
          </a:p>
        </p:txBody>
      </p:sp>
      <p:cxnSp>
        <p:nvCxnSpPr>
          <p:cNvPr id="46" name="sA2_44"/>
          <p:cNvCxnSpPr/>
          <p:nvPr/>
        </p:nvCxnSpPr>
        <p:spPr>
          <a:xfrm>
            <a:off x="6519672" y="2432303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sA2_45"/>
          <p:cNvSpPr txBox="1"/>
          <p:nvPr/>
        </p:nvSpPr>
        <p:spPr>
          <a:xfrm>
            <a:off x="6519672" y="2523744"/>
            <a:ext cx="2505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5</a:t>
            </a:r>
          </a:p>
        </p:txBody>
      </p:sp>
      <p:sp>
        <p:nvSpPr>
          <p:cNvPr id="48" name="sA2_46"/>
          <p:cNvSpPr txBox="1"/>
          <p:nvPr/>
        </p:nvSpPr>
        <p:spPr>
          <a:xfrm>
            <a:off x="9025128" y="2523744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+45,8%</a:t>
            </a:r>
          </a:p>
        </p:txBody>
      </p:sp>
      <p:sp>
        <p:nvSpPr>
          <p:cNvPr id="49" name="sA2_47"/>
          <p:cNvSpPr txBox="1"/>
          <p:nvPr/>
        </p:nvSpPr>
        <p:spPr>
          <a:xfrm>
            <a:off x="10195559" y="2523744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299"/>
                </a:solidFill>
                <a:latin typeface="Segoe UI"/>
              </a:rPr>
              <a:t>+15,7 pp</a:t>
            </a:r>
          </a:p>
        </p:txBody>
      </p:sp>
      <p:cxnSp>
        <p:nvCxnSpPr>
          <p:cNvPr id="50" name="sA2_48"/>
          <p:cNvCxnSpPr/>
          <p:nvPr/>
        </p:nvCxnSpPr>
        <p:spPr>
          <a:xfrm>
            <a:off x="6519672" y="2706623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sA2_49"/>
          <p:cNvSpPr txBox="1"/>
          <p:nvPr/>
        </p:nvSpPr>
        <p:spPr>
          <a:xfrm>
            <a:off x="6519672" y="3017520"/>
            <a:ext cx="484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Limita só o quanto a carteira se afasta do índice e entrega a perna de mercado inteira. É o escopo da entrega — e a linha que usamos é a MAIS APERTADA da tabela, não a de melhor número.</a:t>
            </a:r>
          </a:p>
        </p:txBody>
      </p:sp>
      <p:sp>
        <p:nvSpPr>
          <p:cNvPr id="52" name="sA2_50"/>
          <p:cNvSpPr txBox="1"/>
          <p:nvPr/>
        </p:nvSpPr>
        <p:spPr>
          <a:xfrm>
            <a:off x="822960" y="4041648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POR QUE ISSO NÃO É ESCOLHER O QUE FICOU BOM</a:t>
            </a:r>
          </a:p>
        </p:txBody>
      </p:sp>
      <p:sp>
        <p:nvSpPr>
          <p:cNvPr id="53" name="sA2_51"/>
          <p:cNvSpPr txBox="1"/>
          <p:nvPr/>
        </p:nvSpPr>
        <p:spPr>
          <a:xfrm>
            <a:off x="822960" y="4352544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A regra veio antes.</a:t>
            </a:r>
            <a:r>
              <a:rPr sz="1050" b="0">
                <a:solidFill>
                  <a:srgbClr val="93A9BC"/>
                </a:solidFill>
                <a:latin typeface="Segoe UI"/>
              </a:rPr>
              <a:t> O escopo e o nível foram fixados antes de rodar o backtest, com plano B escrito. Nenhuma linha desta tabela foi escolhida depois.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Publicamos as oito.</a:t>
            </a:r>
            <a:r>
              <a:rPr sz="1050" b="0">
                <a:solidFill>
                  <a:srgbClr val="93A9BC"/>
                </a:solidFill>
                <a:latin typeface="Segoe UI"/>
              </a:rPr>
              <a:t> A alternativa honesta a escolher uma configuração é mostrar a grade inteira — inclusive as quatro em que perdemos do índice.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E ficamos na mais apertada.</a:t>
            </a:r>
            <a:r>
              <a:rPr sz="1050" b="0">
                <a:solidFill>
                  <a:srgbClr val="93A9BC"/>
                </a:solidFill>
                <a:latin typeface="Segoe UI"/>
              </a:rPr>
              <a:t> Afrouxar o limite melhoraria o número em toda a coluna. Não afrouxamos.</a:t>
            </a:r>
          </a:p>
        </p:txBody>
      </p:sp>
      <p:sp>
        <p:nvSpPr>
          <p:cNvPr id="54" name="sA2_52"/>
          <p:cNvSpPr/>
          <p:nvPr/>
        </p:nvSpPr>
        <p:spPr>
          <a:xfrm>
            <a:off x="6245352" y="4078224"/>
            <a:ext cx="45720" cy="138988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A2_53"/>
          <p:cNvSpPr txBox="1"/>
          <p:nvPr/>
        </p:nvSpPr>
        <p:spPr>
          <a:xfrm>
            <a:off x="6464808" y="4041648"/>
            <a:ext cx="490118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O escopo vale 18 pontos, e é mecânico. </a:t>
            </a:r>
            <a:r>
              <a:rPr sz="1150" b="0">
                <a:solidFill>
                  <a:srgbClr val="93A9BC"/>
                </a:solidFill>
                <a:latin typeface="Segoe UI"/>
              </a:rPr>
              <a:t>A diferença entre as duas tabelas no mesmo limite não vem das apostas: vem de uma delas vender índice e a outra não. Por ser uma escolha tão pesada, ela é a que mais precisava ser fixada antes.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2333"/>
            </a:gs>
            <a:gs pos="100000">
              <a:srgbClr val="06101A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sA3_0"/>
          <p:cNvSpPr txBox="1"/>
          <p:nvPr/>
        </p:nvSpPr>
        <p:spPr>
          <a:xfrm>
            <a:off x="822960" y="29260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80">
                <a:solidFill>
                  <a:srgbClr val="F5A623"/>
                </a:solidFill>
                <a:latin typeface="Segoe UI"/>
              </a:rPr>
              <a:t>KAIRÓS</a:t>
            </a:r>
            <a:r>
              <a:rPr sz="1500" b="0" spc="80">
                <a:solidFill>
                  <a:srgbClr val="E8EDF2"/>
                </a:solidFill>
                <a:latin typeface="Segoe UI"/>
              </a:rPr>
              <a:t>   Apêndice · a camada tática por dentro</a:t>
            </a:r>
          </a:p>
        </p:txBody>
      </p:sp>
      <p:sp>
        <p:nvSpPr>
          <p:cNvPr id="3" name="sA3_1"/>
          <p:cNvSpPr txBox="1"/>
          <p:nvPr/>
        </p:nvSpPr>
        <p:spPr>
          <a:xfrm>
            <a:off x="8988552" y="347472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8299"/>
                </a:solidFill>
                <a:latin typeface="Segoe UI"/>
              </a:rPr>
              <a:t>A3</a:t>
            </a:r>
          </a:p>
        </p:txBody>
      </p:sp>
      <p:cxnSp>
        <p:nvCxnSpPr>
          <p:cNvPr id="4" name="sA3_2"/>
          <p:cNvCxnSpPr/>
          <p:nvPr/>
        </p:nvCxnSpPr>
        <p:spPr>
          <a:xfrm>
            <a:off x="822960" y="768096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A3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A3_4"/>
          <p:cNvCxnSpPr/>
          <p:nvPr/>
        </p:nvCxnSpPr>
        <p:spPr>
          <a:xfrm>
            <a:off x="822960" y="6291072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A3_5"/>
          <p:cNvSpPr txBox="1"/>
          <p:nvPr/>
        </p:nvSpPr>
        <p:spPr>
          <a:xfrm>
            <a:off x="822960" y="6382512"/>
            <a:ext cx="10543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8299"/>
                </a:solidFill>
                <a:latin typeface="Segoe UI"/>
              </a:rPr>
              <a:t>Apêndice — fora dos 6 minutos, mostrado só se perguntarem.   </a:t>
            </a:r>
            <a:r>
              <a:rPr sz="850" b="0">
                <a:solidFill>
                  <a:srgbClr val="9BAEC0"/>
                </a:solidFill>
                <a:latin typeface="Segoe UI"/>
              </a:rPr>
              <a:t>scripts/slides_apendice_pptx.py</a:t>
            </a:r>
          </a:p>
        </p:txBody>
      </p:sp>
      <p:sp>
        <p:nvSpPr>
          <p:cNvPr id="8" name="sA3_6"/>
          <p:cNvSpPr/>
          <p:nvPr/>
        </p:nvSpPr>
        <p:spPr>
          <a:xfrm>
            <a:off x="822960" y="1005840"/>
            <a:ext cx="3291840" cy="1691640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scaled="0" ang="5400000"/>
          </a:gra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A3_7"/>
          <p:cNvSpPr/>
          <p:nvPr/>
        </p:nvSpPr>
        <p:spPr>
          <a:xfrm>
            <a:off x="1005840" y="1207008"/>
            <a:ext cx="45720" cy="1289304"/>
          </a:xfrm>
          <a:prstGeom prst="roundRect">
            <a:avLst>
              <a:gd name="adj" fmla="val 50000"/>
            </a:avLst>
          </a:prstGeom>
          <a:solidFill>
            <a:srgbClr val="4FC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A3_8"/>
          <p:cNvSpPr txBox="1"/>
          <p:nvPr/>
        </p:nvSpPr>
        <p:spPr>
          <a:xfrm>
            <a:off x="1225296" y="1207008"/>
            <a:ext cx="27066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FC3A1"/>
                </a:solidFill>
                <a:latin typeface="Segoe UI"/>
              </a:rPr>
              <a:t>+42,6 pp</a:t>
            </a:r>
          </a:p>
        </p:txBody>
      </p:sp>
      <p:sp>
        <p:nvSpPr>
          <p:cNvPr id="11" name="sA3_9"/>
          <p:cNvSpPr txBox="1"/>
          <p:nvPr/>
        </p:nvSpPr>
        <p:spPr>
          <a:xfrm>
            <a:off x="1225296" y="1755648"/>
            <a:ext cx="27066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Sozinha, fora da carteira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93A9BC"/>
                </a:solidFill>
                <a:latin typeface="Segoe UI"/>
              </a:rPr>
              <a:t>327 pregões ativos · acerta a direção em 54% deles · e sem os três melhores dias sobe para +64 pp</a:t>
            </a:r>
          </a:p>
        </p:txBody>
      </p:sp>
      <p:sp>
        <p:nvSpPr>
          <p:cNvPr id="12" name="sA3_10"/>
          <p:cNvSpPr/>
          <p:nvPr/>
        </p:nvSpPr>
        <p:spPr>
          <a:xfrm>
            <a:off x="4343400" y="1005840"/>
            <a:ext cx="3291840" cy="1691640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scaled="0" ang="5400000"/>
          </a:gra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A3_11"/>
          <p:cNvSpPr/>
          <p:nvPr/>
        </p:nvSpPr>
        <p:spPr>
          <a:xfrm>
            <a:off x="4526280" y="1207008"/>
            <a:ext cx="45720" cy="128930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A3_12"/>
          <p:cNvSpPr txBox="1"/>
          <p:nvPr/>
        </p:nvSpPr>
        <p:spPr>
          <a:xfrm>
            <a:off x="4745736" y="1207008"/>
            <a:ext cx="27066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−2,9 pp</a:t>
            </a:r>
          </a:p>
        </p:txBody>
      </p:sp>
      <p:sp>
        <p:nvSpPr>
          <p:cNvPr id="15" name="sA3_13"/>
          <p:cNvSpPr txBox="1"/>
          <p:nvPr/>
        </p:nvSpPr>
        <p:spPr>
          <a:xfrm>
            <a:off x="4745736" y="1755648"/>
            <a:ext cx="27066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Ao entrar na carteira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93A9BC"/>
                </a:solidFill>
                <a:latin typeface="Segoe UI"/>
              </a:rPr>
              <a:t>O excesso sobre o índice cai de +6,0 pp para +3,0 pp. Não é contradição — é divisão de um orçamento fixo de risco.</a:t>
            </a:r>
          </a:p>
        </p:txBody>
      </p:sp>
      <p:sp>
        <p:nvSpPr>
          <p:cNvPr id="16" name="sA3_14"/>
          <p:cNvSpPr/>
          <p:nvPr/>
        </p:nvSpPr>
        <p:spPr>
          <a:xfrm>
            <a:off x="822960" y="2980944"/>
            <a:ext cx="45720" cy="7498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A3_15"/>
          <p:cNvSpPr txBox="1"/>
          <p:nvPr/>
        </p:nvSpPr>
        <p:spPr>
          <a:xfrm>
            <a:off x="1042416" y="2944368"/>
            <a:ext cx="65928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Diga assim, se perguntarem: </a:t>
            </a:r>
            <a:r>
              <a:rPr sz="1150" b="0">
                <a:solidFill>
                  <a:srgbClr val="93A9BC"/>
                </a:solidFill>
                <a:latin typeface="Segoe UI"/>
              </a:rPr>
              <a:t>“o limite de risco é fixo. Quando a camada tática entra, ela não soma — ela divide. Nessa janela, o que ela deslocou valia um pouco mais do que o que ela trouxe.”</a:t>
            </a:r>
          </a:p>
        </p:txBody>
      </p:sp>
      <p:sp>
        <p:nvSpPr>
          <p:cNvPr id="18" name="sA3_16"/>
          <p:cNvSpPr txBox="1"/>
          <p:nvPr/>
        </p:nvSpPr>
        <p:spPr>
          <a:xfrm>
            <a:off x="8074152" y="1005840"/>
            <a:ext cx="3291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POR QUE ELA NÃO CABE</a:t>
            </a:r>
          </a:p>
        </p:txBody>
      </p:sp>
      <p:sp>
        <p:nvSpPr>
          <p:cNvPr id="19" name="sA3_17"/>
          <p:cNvSpPr txBox="1"/>
          <p:nvPr/>
        </p:nvSpPr>
        <p:spPr>
          <a:xfrm>
            <a:off x="8074152" y="1389888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9BC"/>
                </a:solidFill>
                <a:latin typeface="Segoe UI"/>
              </a:rPr>
              <a:t>O limite de risco da carteira inteira</a:t>
            </a:r>
          </a:p>
        </p:txBody>
      </p:sp>
      <p:sp>
        <p:nvSpPr>
          <p:cNvPr id="20" name="sA3_18"/>
          <p:cNvSpPr/>
          <p:nvPr/>
        </p:nvSpPr>
        <p:spPr>
          <a:xfrm>
            <a:off x="8074152" y="1627632"/>
            <a:ext cx="3291840" cy="201168"/>
          </a:xfrm>
          <a:prstGeom prst="roundRect">
            <a:avLst>
              <a:gd name="adj" fmla="val 11000"/>
            </a:avLst>
          </a:prstGeom>
          <a:solidFill>
            <a:srgbClr val="6B8299"/>
          </a:soli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A3_19"/>
          <p:cNvSpPr/>
          <p:nvPr/>
        </p:nvSpPr>
        <p:spPr>
          <a:xfrm>
            <a:off x="8074152" y="1627632"/>
            <a:ext cx="1296000" cy="201168"/>
          </a:xfrm>
          <a:prstGeom prst="roundRect">
            <a:avLst>
              <a:gd name="adj" fmla="val 11000"/>
            </a:avLst>
          </a:prstGeom>
          <a:solidFill>
            <a:srgbClr val="9BAEC0"/>
          </a:soli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A3_20"/>
          <p:cNvSpPr txBox="1"/>
          <p:nvPr/>
        </p:nvSpPr>
        <p:spPr>
          <a:xfrm>
            <a:off x="8074152" y="1883664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BAEC0"/>
                </a:solidFill>
                <a:latin typeface="Segoe UI"/>
              </a:rPr>
              <a:t>1,0</a:t>
            </a:r>
          </a:p>
        </p:txBody>
      </p:sp>
      <p:sp>
        <p:nvSpPr>
          <p:cNvPr id="23" name="sA3_21"/>
          <p:cNvSpPr txBox="1"/>
          <p:nvPr/>
        </p:nvSpPr>
        <p:spPr>
          <a:xfrm>
            <a:off x="8074152" y="2121408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9BC"/>
                </a:solidFill>
                <a:latin typeface="Segoe UI"/>
              </a:rPr>
              <a:t>O que a camada tática pede sozinha</a:t>
            </a:r>
          </a:p>
        </p:txBody>
      </p:sp>
      <p:sp>
        <p:nvSpPr>
          <p:cNvPr id="24" name="sA3_22"/>
          <p:cNvSpPr/>
          <p:nvPr/>
        </p:nvSpPr>
        <p:spPr>
          <a:xfrm>
            <a:off x="8074152" y="2359152"/>
            <a:ext cx="3291840" cy="201168"/>
          </a:xfrm>
          <a:prstGeom prst="roundRect">
            <a:avLst>
              <a:gd name="adj" fmla="val 11000"/>
            </a:avLst>
          </a:prstGeom>
          <a:solidFill>
            <a:srgbClr val="6B8299"/>
          </a:soli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A3_23"/>
          <p:cNvSpPr/>
          <p:nvPr/>
        </p:nvSpPr>
        <p:spPr>
          <a:xfrm>
            <a:off x="8074152" y="2359152"/>
            <a:ext cx="3291840" cy="201168"/>
          </a:xfrm>
          <a:prstGeom prst="roundRect">
            <a:avLst>
              <a:gd name="adj" fmla="val 11000"/>
            </a:avLst>
          </a:prstGeom>
          <a:solidFill>
            <a:srgbClr val="F5A623"/>
          </a:soli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A3_24"/>
          <p:cNvSpPr txBox="1"/>
          <p:nvPr/>
        </p:nvSpPr>
        <p:spPr>
          <a:xfrm>
            <a:off x="8074152" y="2615184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2,54</a:t>
            </a:r>
          </a:p>
        </p:txBody>
      </p:sp>
      <p:sp>
        <p:nvSpPr>
          <p:cNvPr id="27" name="sA3_25"/>
          <p:cNvSpPr txBox="1"/>
          <p:nvPr/>
        </p:nvSpPr>
        <p:spPr>
          <a:xfrm>
            <a:off x="8074152" y="283464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Em 80% dos dias ativos o pedido dela sozinho já não cabe — então o corte encolhe também as outras apostas.</a:t>
            </a:r>
          </a:p>
        </p:txBody>
      </p:sp>
      <p:sp>
        <p:nvSpPr>
          <p:cNvPr id="28" name="sA3_26"/>
          <p:cNvSpPr txBox="1"/>
          <p:nvPr/>
        </p:nvSpPr>
        <p:spPr>
          <a:xfrm>
            <a:off x="822960" y="4041648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E AFROUXAR O LIMITE RESOLVERIA? NÃO</a:t>
            </a:r>
          </a:p>
        </p:txBody>
      </p:sp>
      <p:sp>
        <p:nvSpPr>
          <p:cNvPr id="29" name="sA3_27"/>
          <p:cNvSpPr txBox="1"/>
          <p:nvPr/>
        </p:nvSpPr>
        <p:spPr>
          <a:xfrm>
            <a:off x="822960" y="4297680"/>
            <a:ext cx="27797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LIMITE DE RISCO</a:t>
            </a:r>
          </a:p>
        </p:txBody>
      </p:sp>
      <p:sp>
        <p:nvSpPr>
          <p:cNvPr id="30" name="sA3_28"/>
          <p:cNvSpPr txBox="1"/>
          <p:nvPr/>
        </p:nvSpPr>
        <p:spPr>
          <a:xfrm>
            <a:off x="3602735" y="4297680"/>
            <a:ext cx="11704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EFEITO</a:t>
            </a:r>
          </a:p>
        </p:txBody>
      </p:sp>
      <p:sp>
        <p:nvSpPr>
          <p:cNvPr id="31" name="sA3_29"/>
          <p:cNvSpPr txBox="1"/>
          <p:nvPr/>
        </p:nvSpPr>
        <p:spPr>
          <a:xfrm>
            <a:off x="4773168" y="4297680"/>
            <a:ext cx="11704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/>
            </a:r>
          </a:p>
        </p:txBody>
      </p:sp>
      <p:cxnSp>
        <p:nvCxnSpPr>
          <p:cNvPr id="32" name="sA3_30"/>
          <p:cNvCxnSpPr/>
          <p:nvPr/>
        </p:nvCxnSpPr>
        <p:spPr>
          <a:xfrm>
            <a:off x="822960" y="4498848"/>
            <a:ext cx="512064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A3_31"/>
          <p:cNvSpPr txBox="1"/>
          <p:nvPr/>
        </p:nvSpPr>
        <p:spPr>
          <a:xfrm>
            <a:off x="822960" y="4590288"/>
            <a:ext cx="2779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1</a:t>
            </a:r>
          </a:p>
        </p:txBody>
      </p:sp>
      <p:sp>
        <p:nvSpPr>
          <p:cNvPr id="34" name="sA3_32"/>
          <p:cNvSpPr txBox="1"/>
          <p:nvPr/>
        </p:nvSpPr>
        <p:spPr>
          <a:xfrm>
            <a:off x="3602735" y="4590288"/>
            <a:ext cx="1170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−2,94 pp</a:t>
            </a:r>
          </a:p>
        </p:txBody>
      </p:sp>
      <p:sp>
        <p:nvSpPr>
          <p:cNvPr id="35" name="sA3_33"/>
          <p:cNvSpPr txBox="1"/>
          <p:nvPr/>
        </p:nvSpPr>
        <p:spPr>
          <a:xfrm>
            <a:off x="4773168" y="4590288"/>
            <a:ext cx="1170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299"/>
                </a:solidFill>
                <a:latin typeface="Segoe UI"/>
              </a:rPr>
              <a:t/>
            </a:r>
          </a:p>
        </p:txBody>
      </p:sp>
      <p:cxnSp>
        <p:nvCxnSpPr>
          <p:cNvPr id="36" name="sA3_34"/>
          <p:cNvCxnSpPr/>
          <p:nvPr/>
        </p:nvCxnSpPr>
        <p:spPr>
          <a:xfrm>
            <a:off x="822960" y="4754880"/>
            <a:ext cx="512064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A3_35"/>
          <p:cNvSpPr txBox="1"/>
          <p:nvPr/>
        </p:nvSpPr>
        <p:spPr>
          <a:xfrm>
            <a:off x="822960" y="4846320"/>
            <a:ext cx="2779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2</a:t>
            </a:r>
          </a:p>
        </p:txBody>
      </p:sp>
      <p:sp>
        <p:nvSpPr>
          <p:cNvPr id="38" name="sA3_36"/>
          <p:cNvSpPr txBox="1"/>
          <p:nvPr/>
        </p:nvSpPr>
        <p:spPr>
          <a:xfrm>
            <a:off x="3602735" y="4846320"/>
            <a:ext cx="1170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−6,75 pp</a:t>
            </a:r>
          </a:p>
        </p:txBody>
      </p:sp>
      <p:sp>
        <p:nvSpPr>
          <p:cNvPr id="39" name="sA3_37"/>
          <p:cNvSpPr txBox="1"/>
          <p:nvPr/>
        </p:nvSpPr>
        <p:spPr>
          <a:xfrm>
            <a:off x="4773168" y="4846320"/>
            <a:ext cx="1170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299"/>
                </a:solidFill>
                <a:latin typeface="Segoe UI"/>
              </a:rPr>
              <a:t/>
            </a:r>
          </a:p>
        </p:txBody>
      </p:sp>
      <p:cxnSp>
        <p:nvCxnSpPr>
          <p:cNvPr id="40" name="sA3_38"/>
          <p:cNvCxnSpPr/>
          <p:nvPr/>
        </p:nvCxnSpPr>
        <p:spPr>
          <a:xfrm>
            <a:off x="822960" y="5010912"/>
            <a:ext cx="512064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sA3_39"/>
          <p:cNvSpPr txBox="1"/>
          <p:nvPr/>
        </p:nvSpPr>
        <p:spPr>
          <a:xfrm>
            <a:off x="822960" y="5102352"/>
            <a:ext cx="2779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3</a:t>
            </a:r>
          </a:p>
        </p:txBody>
      </p:sp>
      <p:sp>
        <p:nvSpPr>
          <p:cNvPr id="42" name="sA3_40"/>
          <p:cNvSpPr txBox="1"/>
          <p:nvPr/>
        </p:nvSpPr>
        <p:spPr>
          <a:xfrm>
            <a:off x="3602735" y="5102352"/>
            <a:ext cx="1170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−8,90 pp</a:t>
            </a:r>
          </a:p>
        </p:txBody>
      </p:sp>
      <p:sp>
        <p:nvSpPr>
          <p:cNvPr id="43" name="sA3_41"/>
          <p:cNvSpPr txBox="1"/>
          <p:nvPr/>
        </p:nvSpPr>
        <p:spPr>
          <a:xfrm>
            <a:off x="4773168" y="5102352"/>
            <a:ext cx="1170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299"/>
                </a:solidFill>
                <a:latin typeface="Segoe UI"/>
              </a:rPr>
              <a:t/>
            </a:r>
          </a:p>
        </p:txBody>
      </p:sp>
      <p:cxnSp>
        <p:nvCxnSpPr>
          <p:cNvPr id="44" name="sA3_42"/>
          <p:cNvCxnSpPr/>
          <p:nvPr/>
        </p:nvCxnSpPr>
        <p:spPr>
          <a:xfrm>
            <a:off x="822960" y="5266944"/>
            <a:ext cx="512064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sA3_43"/>
          <p:cNvSpPr txBox="1"/>
          <p:nvPr/>
        </p:nvSpPr>
        <p:spPr>
          <a:xfrm>
            <a:off x="822960" y="5358384"/>
            <a:ext cx="2779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5</a:t>
            </a:r>
          </a:p>
        </p:txBody>
      </p:sp>
      <p:sp>
        <p:nvSpPr>
          <p:cNvPr id="46" name="sA3_44"/>
          <p:cNvSpPr txBox="1"/>
          <p:nvPr/>
        </p:nvSpPr>
        <p:spPr>
          <a:xfrm>
            <a:off x="3602735" y="5358384"/>
            <a:ext cx="1170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+3,82 pp</a:t>
            </a:r>
          </a:p>
        </p:txBody>
      </p:sp>
      <p:sp>
        <p:nvSpPr>
          <p:cNvPr id="47" name="sA3_45"/>
          <p:cNvSpPr txBox="1"/>
          <p:nvPr/>
        </p:nvSpPr>
        <p:spPr>
          <a:xfrm>
            <a:off x="4773168" y="5358384"/>
            <a:ext cx="1170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299"/>
                </a:solidFill>
                <a:latin typeface="Segoe UI"/>
              </a:rPr>
              <a:t/>
            </a:r>
          </a:p>
        </p:txBody>
      </p:sp>
      <p:cxnSp>
        <p:nvCxnSpPr>
          <p:cNvPr id="48" name="sA3_46"/>
          <p:cNvCxnSpPr/>
          <p:nvPr/>
        </p:nvCxnSpPr>
        <p:spPr>
          <a:xfrm>
            <a:off x="822960" y="5522976"/>
            <a:ext cx="512064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sA3_47"/>
          <p:cNvSpPr txBox="1"/>
          <p:nvPr/>
        </p:nvSpPr>
        <p:spPr>
          <a:xfrm>
            <a:off x="822960" y="5577840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O efeito piora até o teto 3 e só depois vira. Um padrão assim não se lê como 'a camada perde' nem como 'ela só disputa espaço' — e escolher o limite que fica bom seria exatamente o overfit que a gente diz evitar.</a:t>
            </a:r>
          </a:p>
        </p:txBody>
      </p:sp>
      <p:sp>
        <p:nvSpPr>
          <p:cNvPr id="50" name="sA3_48"/>
          <p:cNvSpPr/>
          <p:nvPr/>
        </p:nvSpPr>
        <p:spPr>
          <a:xfrm>
            <a:off x="6245352" y="4078224"/>
            <a:ext cx="45720" cy="932688"/>
          </a:xfrm>
          <a:prstGeom prst="roundRect">
            <a:avLst>
              <a:gd name="adj" fmla="val 50000"/>
            </a:avLst>
          </a:prstGeom>
          <a:solidFill>
            <a:srgbClr val="4FC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A3_49"/>
          <p:cNvSpPr txBox="1"/>
          <p:nvPr/>
        </p:nvSpPr>
        <p:spPr>
          <a:xfrm>
            <a:off x="6464808" y="4041648"/>
            <a:ext cx="490118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Ela entrou por mecanismo, não por lucro. </a:t>
            </a:r>
            <a:r>
              <a:rPr sz="1150" b="0">
                <a:solidFill>
                  <a:srgbClr val="93A9BC"/>
                </a:solidFill>
                <a:latin typeface="Segoe UI"/>
              </a:rPr>
              <a:t>Lê o movimento da probabilidade, não o nível; nenhum parâmetro foi escolhido olhando resultado. Prejuízo não reprova — e o custo dessa decisão está medido acima.</a:t>
            </a:r>
          </a:p>
        </p:txBody>
      </p:sp>
      <p:sp>
        <p:nvSpPr>
          <p:cNvPr id="52" name="sA3_50"/>
          <p:cNvSpPr/>
          <p:nvPr/>
        </p:nvSpPr>
        <p:spPr>
          <a:xfrm>
            <a:off x="6245352" y="5266944"/>
            <a:ext cx="45720" cy="93268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A3_51"/>
          <p:cNvSpPr txBox="1"/>
          <p:nvPr/>
        </p:nvSpPr>
        <p:spPr>
          <a:xfrm>
            <a:off x="6464808" y="5230368"/>
            <a:ext cx="490118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O único teste fora da amostra do projeto. </a:t>
            </a:r>
            <a:r>
              <a:rPr sz="1150" b="0">
                <a:solidFill>
                  <a:srgbClr val="93A9BC"/>
                </a:solidFill>
                <a:latin typeface="Segoe UI"/>
              </a:rPr>
              <a:t>A aposta da Câmara repete o comportamento em um mercado parecido, que não foi usado para construí-la. É o teste mais forte que temos, e é o único.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2333"/>
            </a:gs>
            <a:gs pos="100000">
              <a:srgbClr val="06101A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sA4_0"/>
          <p:cNvSpPr txBox="1"/>
          <p:nvPr/>
        </p:nvSpPr>
        <p:spPr>
          <a:xfrm>
            <a:off x="822960" y="29260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80">
                <a:solidFill>
                  <a:srgbClr val="F5A623"/>
                </a:solidFill>
                <a:latin typeface="Segoe UI"/>
              </a:rPr>
              <a:t>KAIRÓS</a:t>
            </a:r>
            <a:r>
              <a:rPr sz="1500" b="0" spc="80">
                <a:solidFill>
                  <a:srgbClr val="E8EDF2"/>
                </a:solidFill>
                <a:latin typeface="Segoe UI"/>
              </a:rPr>
              <a:t>   Apêndice · robustez, concentração e cauda</a:t>
            </a:r>
          </a:p>
        </p:txBody>
      </p:sp>
      <p:sp>
        <p:nvSpPr>
          <p:cNvPr id="3" name="sA4_1"/>
          <p:cNvSpPr txBox="1"/>
          <p:nvPr/>
        </p:nvSpPr>
        <p:spPr>
          <a:xfrm>
            <a:off x="8988552" y="347472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8299"/>
                </a:solidFill>
                <a:latin typeface="Segoe UI"/>
              </a:rPr>
              <a:t>A4</a:t>
            </a:r>
          </a:p>
        </p:txBody>
      </p:sp>
      <p:cxnSp>
        <p:nvCxnSpPr>
          <p:cNvPr id="4" name="sA4_2"/>
          <p:cNvCxnSpPr/>
          <p:nvPr/>
        </p:nvCxnSpPr>
        <p:spPr>
          <a:xfrm>
            <a:off x="822960" y="768096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A4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A4_4"/>
          <p:cNvCxnSpPr/>
          <p:nvPr/>
        </p:nvCxnSpPr>
        <p:spPr>
          <a:xfrm>
            <a:off x="822960" y="6291072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A4_5"/>
          <p:cNvSpPr txBox="1"/>
          <p:nvPr/>
        </p:nvSpPr>
        <p:spPr>
          <a:xfrm>
            <a:off x="822960" y="6382512"/>
            <a:ext cx="10543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8299"/>
                </a:solidFill>
                <a:latin typeface="Segoe UI"/>
              </a:rPr>
              <a:t>Apêndice — fora dos 6 minutos, mostrado só se perguntarem.   </a:t>
            </a:r>
            <a:r>
              <a:rPr sz="850" b="0">
                <a:solidFill>
                  <a:srgbClr val="9BAEC0"/>
                </a:solidFill>
                <a:latin typeface="Segoe UI"/>
              </a:rPr>
              <a:t>scripts/slides_apendice_pptx.py</a:t>
            </a:r>
          </a:p>
        </p:txBody>
      </p:sp>
      <p:sp>
        <p:nvSpPr>
          <p:cNvPr id="8" name="sA4_6"/>
          <p:cNvSpPr txBox="1"/>
          <p:nvPr/>
        </p:nvSpPr>
        <p:spPr>
          <a:xfrm>
            <a:off x="822960" y="1042415"/>
            <a:ext cx="3246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SEM OS TRÊS MAIORES DIAS</a:t>
            </a:r>
          </a:p>
        </p:txBody>
      </p:sp>
      <p:sp>
        <p:nvSpPr>
          <p:cNvPr id="9" name="sA4_7"/>
          <p:cNvSpPr txBox="1"/>
          <p:nvPr/>
        </p:nvSpPr>
        <p:spPr>
          <a:xfrm>
            <a:off x="822960" y="1389888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APOSTA</a:t>
            </a:r>
          </a:p>
        </p:txBody>
      </p:sp>
      <p:sp>
        <p:nvSpPr>
          <p:cNvPr id="10" name="sA4_8"/>
          <p:cNvSpPr txBox="1"/>
          <p:nvPr/>
        </p:nvSpPr>
        <p:spPr>
          <a:xfrm>
            <a:off x="2331720" y="1389888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SOMA</a:t>
            </a:r>
          </a:p>
        </p:txBody>
      </p:sp>
      <p:sp>
        <p:nvSpPr>
          <p:cNvPr id="11" name="sA4_9"/>
          <p:cNvSpPr txBox="1"/>
          <p:nvPr/>
        </p:nvSpPr>
        <p:spPr>
          <a:xfrm>
            <a:off x="3200400" y="1389888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SEM 3</a:t>
            </a:r>
          </a:p>
        </p:txBody>
      </p:sp>
      <p:cxnSp>
        <p:nvCxnSpPr>
          <p:cNvPr id="12" name="sA4_10"/>
          <p:cNvCxnSpPr/>
          <p:nvPr/>
        </p:nvCxnSpPr>
        <p:spPr>
          <a:xfrm>
            <a:off x="822960" y="1591056"/>
            <a:ext cx="32461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A4_11"/>
          <p:cNvSpPr txBox="1"/>
          <p:nvPr/>
        </p:nvSpPr>
        <p:spPr>
          <a:xfrm>
            <a:off x="822960" y="1682496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Incerteza</a:t>
            </a:r>
          </a:p>
        </p:txBody>
      </p:sp>
      <p:sp>
        <p:nvSpPr>
          <p:cNvPr id="14" name="sA4_12"/>
          <p:cNvSpPr txBox="1"/>
          <p:nvPr/>
        </p:nvSpPr>
        <p:spPr>
          <a:xfrm>
            <a:off x="2331720" y="1682496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+3,9 pp</a:t>
            </a:r>
          </a:p>
        </p:txBody>
      </p:sp>
      <p:sp>
        <p:nvSpPr>
          <p:cNvPr id="15" name="sA4_13"/>
          <p:cNvSpPr txBox="1"/>
          <p:nvPr/>
        </p:nvSpPr>
        <p:spPr>
          <a:xfrm>
            <a:off x="3200400" y="1682496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8299"/>
                </a:solidFill>
                <a:latin typeface="Segoe UI"/>
              </a:rPr>
              <a:t>−0,5 pp</a:t>
            </a:r>
          </a:p>
        </p:txBody>
      </p:sp>
      <p:cxnSp>
        <p:nvCxnSpPr>
          <p:cNvPr id="16" name="sA4_14"/>
          <p:cNvCxnSpPr/>
          <p:nvPr/>
        </p:nvCxnSpPr>
        <p:spPr>
          <a:xfrm>
            <a:off x="822960" y="1847088"/>
            <a:ext cx="32461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A4_15"/>
          <p:cNvSpPr txBox="1"/>
          <p:nvPr/>
        </p:nvSpPr>
        <p:spPr>
          <a:xfrm>
            <a:off x="822960" y="1938528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Trajetória</a:t>
            </a:r>
          </a:p>
        </p:txBody>
      </p:sp>
      <p:sp>
        <p:nvSpPr>
          <p:cNvPr id="18" name="sA4_16"/>
          <p:cNvSpPr txBox="1"/>
          <p:nvPr/>
        </p:nvSpPr>
        <p:spPr>
          <a:xfrm>
            <a:off x="2331720" y="1938528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−1,4 pp</a:t>
            </a:r>
          </a:p>
        </p:txBody>
      </p:sp>
      <p:sp>
        <p:nvSpPr>
          <p:cNvPr id="19" name="sA4_17"/>
          <p:cNvSpPr txBox="1"/>
          <p:nvPr/>
        </p:nvSpPr>
        <p:spPr>
          <a:xfrm>
            <a:off x="3200400" y="1938528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8299"/>
                </a:solidFill>
                <a:latin typeface="Segoe UI"/>
              </a:rPr>
              <a:t>+2,9 pp</a:t>
            </a:r>
          </a:p>
        </p:txBody>
      </p:sp>
      <p:cxnSp>
        <p:nvCxnSpPr>
          <p:cNvPr id="20" name="sA4_18"/>
          <p:cNvCxnSpPr/>
          <p:nvPr/>
        </p:nvCxnSpPr>
        <p:spPr>
          <a:xfrm>
            <a:off x="822960" y="2103120"/>
            <a:ext cx="32461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A4_19"/>
          <p:cNvSpPr txBox="1"/>
          <p:nvPr/>
        </p:nvSpPr>
        <p:spPr>
          <a:xfrm>
            <a:off x="822960" y="2194560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As duas juntas</a:t>
            </a:r>
          </a:p>
        </p:txBody>
      </p:sp>
      <p:sp>
        <p:nvSpPr>
          <p:cNvPr id="22" name="sA4_20"/>
          <p:cNvSpPr txBox="1"/>
          <p:nvPr/>
        </p:nvSpPr>
        <p:spPr>
          <a:xfrm>
            <a:off x="2331720" y="2194560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+2,2 pp</a:t>
            </a:r>
          </a:p>
        </p:txBody>
      </p:sp>
      <p:sp>
        <p:nvSpPr>
          <p:cNvPr id="23" name="sA4_21"/>
          <p:cNvSpPr txBox="1"/>
          <p:nvPr/>
        </p:nvSpPr>
        <p:spPr>
          <a:xfrm>
            <a:off x="3200400" y="2194560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8299"/>
                </a:solidFill>
                <a:latin typeface="Segoe UI"/>
              </a:rPr>
              <a:t>+2,5 pp</a:t>
            </a:r>
          </a:p>
        </p:txBody>
      </p:sp>
      <p:cxnSp>
        <p:nvCxnSpPr>
          <p:cNvPr id="24" name="sA4_22"/>
          <p:cNvCxnSpPr/>
          <p:nvPr/>
        </p:nvCxnSpPr>
        <p:spPr>
          <a:xfrm>
            <a:off x="822960" y="2359152"/>
            <a:ext cx="32461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A4_23"/>
          <p:cNvSpPr txBox="1"/>
          <p:nvPr/>
        </p:nvSpPr>
        <p:spPr>
          <a:xfrm>
            <a:off x="822960" y="2578608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A aposta de incerteza vira negativa sem os três maiores dias — e isso foi escrito ANTES de ligá-la. O acerto de direção das duas é de 48% e 49%: cara ou coroa.</a:t>
            </a:r>
          </a:p>
        </p:txBody>
      </p:sp>
      <p:sp>
        <p:nvSpPr>
          <p:cNvPr id="26" name="sA4_24"/>
          <p:cNvSpPr txBox="1"/>
          <p:nvPr/>
        </p:nvSpPr>
        <p:spPr>
          <a:xfrm>
            <a:off x="4434840" y="1042415"/>
            <a:ext cx="3246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SE CORRIGIRMOS O VIÉS DE AZARÃO</a:t>
            </a:r>
          </a:p>
        </p:txBody>
      </p:sp>
      <p:sp>
        <p:nvSpPr>
          <p:cNvPr id="27" name="sA4_25"/>
          <p:cNvSpPr txBox="1"/>
          <p:nvPr/>
        </p:nvSpPr>
        <p:spPr>
          <a:xfrm>
            <a:off x="4434840" y="1389888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CORREÇÃO</a:t>
            </a:r>
          </a:p>
        </p:txBody>
      </p:sp>
      <p:sp>
        <p:nvSpPr>
          <p:cNvPr id="28" name="sA4_26"/>
          <p:cNvSpPr txBox="1"/>
          <p:nvPr/>
        </p:nvSpPr>
        <p:spPr>
          <a:xfrm>
            <a:off x="5943600" y="1389888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VS ÍNDICE</a:t>
            </a:r>
          </a:p>
        </p:txBody>
      </p:sp>
      <p:sp>
        <p:nvSpPr>
          <p:cNvPr id="29" name="sA4_27"/>
          <p:cNvSpPr txBox="1"/>
          <p:nvPr/>
        </p:nvSpPr>
        <p:spPr>
          <a:xfrm>
            <a:off x="6812280" y="1389888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/>
            </a:r>
          </a:p>
        </p:txBody>
      </p:sp>
      <p:cxnSp>
        <p:nvCxnSpPr>
          <p:cNvPr id="30" name="sA4_28"/>
          <p:cNvCxnSpPr/>
          <p:nvPr/>
        </p:nvCxnSpPr>
        <p:spPr>
          <a:xfrm>
            <a:off x="4434840" y="1591056"/>
            <a:ext cx="3246119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A4_29"/>
          <p:cNvSpPr txBox="1"/>
          <p:nvPr/>
        </p:nvSpPr>
        <p:spPr>
          <a:xfrm>
            <a:off x="4434840" y="1682496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γ = 1,0</a:t>
            </a:r>
          </a:p>
        </p:txBody>
      </p:sp>
      <p:sp>
        <p:nvSpPr>
          <p:cNvPr id="32" name="sA4_30"/>
          <p:cNvSpPr txBox="1"/>
          <p:nvPr/>
        </p:nvSpPr>
        <p:spPr>
          <a:xfrm>
            <a:off x="5943600" y="1682496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+3,0 pp</a:t>
            </a:r>
          </a:p>
        </p:txBody>
      </p:sp>
      <p:sp>
        <p:nvSpPr>
          <p:cNvPr id="33" name="sA4_31"/>
          <p:cNvSpPr txBox="1"/>
          <p:nvPr/>
        </p:nvSpPr>
        <p:spPr>
          <a:xfrm>
            <a:off x="6812280" y="1682496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8299"/>
                </a:solidFill>
                <a:latin typeface="Segoe UI"/>
              </a:rPr>
              <a:t/>
            </a:r>
          </a:p>
        </p:txBody>
      </p:sp>
      <p:cxnSp>
        <p:nvCxnSpPr>
          <p:cNvPr id="34" name="sA4_32"/>
          <p:cNvCxnSpPr/>
          <p:nvPr/>
        </p:nvCxnSpPr>
        <p:spPr>
          <a:xfrm>
            <a:off x="4434840" y="1847088"/>
            <a:ext cx="3246119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A4_33"/>
          <p:cNvSpPr txBox="1"/>
          <p:nvPr/>
        </p:nvSpPr>
        <p:spPr>
          <a:xfrm>
            <a:off x="4434840" y="1938528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γ = 1,1</a:t>
            </a:r>
          </a:p>
        </p:txBody>
      </p:sp>
      <p:sp>
        <p:nvSpPr>
          <p:cNvPr id="36" name="sA4_34"/>
          <p:cNvSpPr txBox="1"/>
          <p:nvPr/>
        </p:nvSpPr>
        <p:spPr>
          <a:xfrm>
            <a:off x="5943600" y="1938528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+3,6 pp</a:t>
            </a:r>
          </a:p>
        </p:txBody>
      </p:sp>
      <p:sp>
        <p:nvSpPr>
          <p:cNvPr id="37" name="sA4_35"/>
          <p:cNvSpPr txBox="1"/>
          <p:nvPr/>
        </p:nvSpPr>
        <p:spPr>
          <a:xfrm>
            <a:off x="6812280" y="1938528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8299"/>
                </a:solidFill>
                <a:latin typeface="Segoe UI"/>
              </a:rPr>
              <a:t/>
            </a:r>
          </a:p>
        </p:txBody>
      </p:sp>
      <p:cxnSp>
        <p:nvCxnSpPr>
          <p:cNvPr id="38" name="sA4_36"/>
          <p:cNvCxnSpPr/>
          <p:nvPr/>
        </p:nvCxnSpPr>
        <p:spPr>
          <a:xfrm>
            <a:off x="4434840" y="2103120"/>
            <a:ext cx="3246119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sA4_37"/>
          <p:cNvSpPr txBox="1"/>
          <p:nvPr/>
        </p:nvSpPr>
        <p:spPr>
          <a:xfrm>
            <a:off x="4434840" y="2194560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γ = 1,25</a:t>
            </a:r>
          </a:p>
        </p:txBody>
      </p:sp>
      <p:sp>
        <p:nvSpPr>
          <p:cNvPr id="40" name="sA4_38"/>
          <p:cNvSpPr txBox="1"/>
          <p:nvPr/>
        </p:nvSpPr>
        <p:spPr>
          <a:xfrm>
            <a:off x="5943600" y="2194560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+3,9 pp</a:t>
            </a:r>
          </a:p>
        </p:txBody>
      </p:sp>
      <p:sp>
        <p:nvSpPr>
          <p:cNvPr id="41" name="sA4_39"/>
          <p:cNvSpPr txBox="1"/>
          <p:nvPr/>
        </p:nvSpPr>
        <p:spPr>
          <a:xfrm>
            <a:off x="6812280" y="2194560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8299"/>
                </a:solidFill>
                <a:latin typeface="Segoe UI"/>
              </a:rPr>
              <a:t/>
            </a:r>
          </a:p>
        </p:txBody>
      </p:sp>
      <p:cxnSp>
        <p:nvCxnSpPr>
          <p:cNvPr id="42" name="sA4_40"/>
          <p:cNvCxnSpPr/>
          <p:nvPr/>
        </p:nvCxnSpPr>
        <p:spPr>
          <a:xfrm>
            <a:off x="4434840" y="2359152"/>
            <a:ext cx="3246119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sA4_41"/>
          <p:cNvSpPr txBox="1"/>
          <p:nvPr/>
        </p:nvSpPr>
        <p:spPr>
          <a:xfrm>
            <a:off x="4434840" y="2578608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Apostadores pagam caro demais no azarão. Não corrigimos esse viés no resultado principal — e corrigir só melhoraria o número. A conclusão não depende disso.</a:t>
            </a:r>
          </a:p>
        </p:txBody>
      </p:sp>
      <p:sp>
        <p:nvSpPr>
          <p:cNvPr id="44" name="sA4_42"/>
          <p:cNvSpPr txBox="1"/>
          <p:nvPr/>
        </p:nvSpPr>
        <p:spPr>
          <a:xfrm>
            <a:off x="8119872" y="1042415"/>
            <a:ext cx="3246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CAPTURA DE ALTA E DE QUEDA</a:t>
            </a:r>
          </a:p>
        </p:txBody>
      </p:sp>
      <p:sp>
        <p:nvSpPr>
          <p:cNvPr id="45" name="sA4_43"/>
          <p:cNvSpPr txBox="1"/>
          <p:nvPr/>
        </p:nvSpPr>
        <p:spPr>
          <a:xfrm>
            <a:off x="8119872" y="1389888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NO DIA EM QUE</a:t>
            </a:r>
          </a:p>
        </p:txBody>
      </p:sp>
      <p:sp>
        <p:nvSpPr>
          <p:cNvPr id="46" name="sA4_44"/>
          <p:cNvSpPr txBox="1"/>
          <p:nvPr/>
        </p:nvSpPr>
        <p:spPr>
          <a:xfrm>
            <a:off x="9628632" y="1389888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CAPTURA</a:t>
            </a:r>
          </a:p>
        </p:txBody>
      </p:sp>
      <p:sp>
        <p:nvSpPr>
          <p:cNvPr id="47" name="sA4_45"/>
          <p:cNvSpPr txBox="1"/>
          <p:nvPr/>
        </p:nvSpPr>
        <p:spPr>
          <a:xfrm>
            <a:off x="10497312" y="1389888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/>
            </a:r>
          </a:p>
        </p:txBody>
      </p:sp>
      <p:cxnSp>
        <p:nvCxnSpPr>
          <p:cNvPr id="48" name="sA4_46"/>
          <p:cNvCxnSpPr/>
          <p:nvPr/>
        </p:nvCxnSpPr>
        <p:spPr>
          <a:xfrm>
            <a:off x="8119872" y="1591056"/>
            <a:ext cx="32461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sA4_47"/>
          <p:cNvSpPr txBox="1"/>
          <p:nvPr/>
        </p:nvSpPr>
        <p:spPr>
          <a:xfrm>
            <a:off x="8119872" y="1682496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dias de alta</a:t>
            </a:r>
          </a:p>
        </p:txBody>
      </p:sp>
      <p:sp>
        <p:nvSpPr>
          <p:cNvPr id="50" name="sA4_48"/>
          <p:cNvSpPr txBox="1"/>
          <p:nvPr/>
        </p:nvSpPr>
        <p:spPr>
          <a:xfrm>
            <a:off x="9628632" y="1682496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95%</a:t>
            </a:r>
          </a:p>
        </p:txBody>
      </p:sp>
      <p:sp>
        <p:nvSpPr>
          <p:cNvPr id="51" name="sA4_49"/>
          <p:cNvSpPr txBox="1"/>
          <p:nvPr/>
        </p:nvSpPr>
        <p:spPr>
          <a:xfrm>
            <a:off x="10497312" y="1682496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8299"/>
                </a:solidFill>
                <a:latin typeface="Segoe UI"/>
              </a:rPr>
              <a:t/>
            </a:r>
          </a:p>
        </p:txBody>
      </p:sp>
      <p:cxnSp>
        <p:nvCxnSpPr>
          <p:cNvPr id="52" name="sA4_50"/>
          <p:cNvCxnSpPr/>
          <p:nvPr/>
        </p:nvCxnSpPr>
        <p:spPr>
          <a:xfrm>
            <a:off x="8119872" y="1847088"/>
            <a:ext cx="32461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sA4_51"/>
          <p:cNvSpPr txBox="1"/>
          <p:nvPr/>
        </p:nvSpPr>
        <p:spPr>
          <a:xfrm>
            <a:off x="8119872" y="1938528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dias de baixa</a:t>
            </a:r>
          </a:p>
        </p:txBody>
      </p:sp>
      <p:sp>
        <p:nvSpPr>
          <p:cNvPr id="54" name="sA4_52"/>
          <p:cNvSpPr txBox="1"/>
          <p:nvPr/>
        </p:nvSpPr>
        <p:spPr>
          <a:xfrm>
            <a:off x="9628632" y="1938528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91%</a:t>
            </a:r>
          </a:p>
        </p:txBody>
      </p:sp>
      <p:sp>
        <p:nvSpPr>
          <p:cNvPr id="55" name="sA4_53"/>
          <p:cNvSpPr txBox="1"/>
          <p:nvPr/>
        </p:nvSpPr>
        <p:spPr>
          <a:xfrm>
            <a:off x="10497312" y="1938528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8299"/>
                </a:solidFill>
                <a:latin typeface="Segoe UI"/>
              </a:rPr>
              <a:t/>
            </a:r>
          </a:p>
        </p:txBody>
      </p:sp>
      <p:cxnSp>
        <p:nvCxnSpPr>
          <p:cNvPr id="56" name="sA4_54"/>
          <p:cNvCxnSpPr/>
          <p:nvPr/>
        </p:nvCxnSpPr>
        <p:spPr>
          <a:xfrm>
            <a:off x="8119872" y="2103120"/>
            <a:ext cx="32461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sA4_55"/>
          <p:cNvSpPr txBox="1"/>
          <p:nvPr/>
        </p:nvSpPr>
        <p:spPr>
          <a:xfrm>
            <a:off x="8119872" y="2194560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5% piores dias</a:t>
            </a:r>
          </a:p>
        </p:txBody>
      </p:sp>
      <p:sp>
        <p:nvSpPr>
          <p:cNvPr id="58" name="sA4_56"/>
          <p:cNvSpPr txBox="1"/>
          <p:nvPr/>
        </p:nvSpPr>
        <p:spPr>
          <a:xfrm>
            <a:off x="9628632" y="2194560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98%</a:t>
            </a:r>
          </a:p>
        </p:txBody>
      </p:sp>
      <p:sp>
        <p:nvSpPr>
          <p:cNvPr id="59" name="sA4_57"/>
          <p:cNvSpPr txBox="1"/>
          <p:nvPr/>
        </p:nvSpPr>
        <p:spPr>
          <a:xfrm>
            <a:off x="10497312" y="2194560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8299"/>
                </a:solidFill>
                <a:latin typeface="Segoe UI"/>
              </a:rPr>
              <a:t/>
            </a:r>
          </a:p>
        </p:txBody>
      </p:sp>
      <p:cxnSp>
        <p:nvCxnSpPr>
          <p:cNvPr id="60" name="sA4_58"/>
          <p:cNvCxnSpPr/>
          <p:nvPr/>
        </p:nvCxnSpPr>
        <p:spPr>
          <a:xfrm>
            <a:off x="8119872" y="2359152"/>
            <a:ext cx="32461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sA4_59"/>
          <p:cNvSpPr txBox="1"/>
          <p:nvPr/>
        </p:nvSpPr>
        <p:spPr>
          <a:xfrm>
            <a:off x="8119872" y="2450592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5% melhores dias</a:t>
            </a:r>
          </a:p>
        </p:txBody>
      </p:sp>
      <p:sp>
        <p:nvSpPr>
          <p:cNvPr id="62" name="sA4_60"/>
          <p:cNvSpPr txBox="1"/>
          <p:nvPr/>
        </p:nvSpPr>
        <p:spPr>
          <a:xfrm>
            <a:off x="9628632" y="2450592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90%</a:t>
            </a:r>
          </a:p>
        </p:txBody>
      </p:sp>
      <p:sp>
        <p:nvSpPr>
          <p:cNvPr id="63" name="sA4_61"/>
          <p:cNvSpPr txBox="1"/>
          <p:nvPr/>
        </p:nvSpPr>
        <p:spPr>
          <a:xfrm>
            <a:off x="10497312" y="2450592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8299"/>
                </a:solidFill>
                <a:latin typeface="Segoe UI"/>
              </a:rPr>
              <a:t/>
            </a:r>
          </a:p>
        </p:txBody>
      </p:sp>
      <p:cxnSp>
        <p:nvCxnSpPr>
          <p:cNvPr id="64" name="sA4_62"/>
          <p:cNvCxnSpPr/>
          <p:nvPr/>
        </p:nvCxnSpPr>
        <p:spPr>
          <a:xfrm>
            <a:off x="8119872" y="2615184"/>
            <a:ext cx="32461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sA4_63"/>
          <p:cNvSpPr txBox="1"/>
          <p:nvPr/>
        </p:nvSpPr>
        <p:spPr>
          <a:xfrm>
            <a:off x="8119872" y="283464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No dia comum a carteira cai um pouco menos que o índice. Nos dias extremos a vantagem some: caímos quase igual e subimos menos.</a:t>
            </a:r>
          </a:p>
        </p:txBody>
      </p:sp>
      <p:sp>
        <p:nvSpPr>
          <p:cNvPr id="66" name="sA4_64"/>
          <p:cNvSpPr txBox="1"/>
          <p:nvPr/>
        </p:nvSpPr>
        <p:spPr>
          <a:xfrm>
            <a:off x="822960" y="4041648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E O GANHO DE TRÊS PONTOS — É SORTE?</a:t>
            </a:r>
          </a:p>
        </p:txBody>
      </p:sp>
      <p:sp>
        <p:nvSpPr>
          <p:cNvPr id="67" name="sA4_65"/>
          <p:cNvSpPr txBox="1"/>
          <p:nvPr/>
        </p:nvSpPr>
        <p:spPr>
          <a:xfrm>
            <a:off x="822960" y="4352544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Pode ser, e não temos como provar o contrário.</a:t>
            </a:r>
            <a:r>
              <a:rPr sz="1050" b="0">
                <a:solidFill>
                  <a:srgbClr val="93A9BC"/>
                </a:solidFill>
                <a:latin typeface="Segoe UI"/>
              </a:rPr>
              <a:t> O teste dá 0,62 e o mínimo para se afirmar algo é 2. Com um ano e meio de dados, chegar lá é matematicamente impossível.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Não é um mês sortudo.</a:t>
            </a:r>
            <a:r>
              <a:rPr sz="1050" b="0">
                <a:solidFill>
                  <a:srgbClr val="93A9BC"/>
                </a:solidFill>
                <a:latin typeface="Segoe UI"/>
              </a:rPr>
              <a:t> A carteira bateu o índice em 11 dos 19 meses do período.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O que defendemos é o método.</a:t>
            </a:r>
            <a:r>
              <a:rPr sz="1050" b="0">
                <a:solidFill>
                  <a:srgbClr val="93A9BC"/>
                </a:solidFill>
                <a:latin typeface="Segoe UI"/>
              </a:rPr>
              <a:t> Cada peça foi escolhida por um motivo escrito antes de medir — e nenhuma aposta foi cortada por dar prejuízo.</a:t>
            </a:r>
          </a:p>
        </p:txBody>
      </p:sp>
      <p:sp>
        <p:nvSpPr>
          <p:cNvPr id="68" name="sA4_66"/>
          <p:cNvSpPr/>
          <p:nvPr/>
        </p:nvSpPr>
        <p:spPr>
          <a:xfrm>
            <a:off x="6245352" y="4078224"/>
            <a:ext cx="45720" cy="93268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A4_67"/>
          <p:cNvSpPr txBox="1"/>
          <p:nvPr/>
        </p:nvSpPr>
        <p:spPr>
          <a:xfrm>
            <a:off x="6464808" y="4041648"/>
            <a:ext cx="490118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O custo não decide o resultado. </a:t>
            </a:r>
            <a:r>
              <a:rPr sz="1150" b="0">
                <a:solidFill>
                  <a:srgbClr val="93A9BC"/>
                </a:solidFill>
                <a:latin typeface="Segoe UI"/>
              </a:rPr>
              <a:t>Supomos 2 bps por lado. O custo teria de ser 11 vezes maior para zerar o ganho — e testamos negociar menos, sem melhora.</a:t>
            </a:r>
          </a:p>
        </p:txBody>
      </p:sp>
      <p:sp>
        <p:nvSpPr>
          <p:cNvPr id="70" name="sA4_68"/>
          <p:cNvSpPr/>
          <p:nvPr/>
        </p:nvSpPr>
        <p:spPr>
          <a:xfrm>
            <a:off x="6245352" y="5266944"/>
            <a:ext cx="45720" cy="932688"/>
          </a:xfrm>
          <a:prstGeom prst="roundRect">
            <a:avLst>
              <a:gd name="adj" fmla="val 50000"/>
            </a:avLst>
          </a:prstGeom>
          <a:solidFill>
            <a:srgbClr val="4FC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A4_69"/>
          <p:cNvSpPr txBox="1"/>
          <p:nvPr/>
        </p:nvSpPr>
        <p:spPr>
          <a:xfrm>
            <a:off x="6464808" y="5230368"/>
            <a:ext cx="490118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Alfa e beta, para quem pedir. </a:t>
            </a:r>
            <a:r>
              <a:rPr sz="1150" b="0">
                <a:solidFill>
                  <a:srgbClr val="93A9BC"/>
                </a:solidFill>
                <a:latin typeface="Segoe UI"/>
              </a:rPr>
              <a:t>Beta de 0,95 e alfa de +2,57% ao ano, pela regressão diária contra o S&amp;P 500, com taxa livre de risco zero para os dois lados.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